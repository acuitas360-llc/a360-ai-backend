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0" r:id="rId4"/>
    <p:sldMasterId id="2147483688" r:id="rId5"/>
  </p:sldMasterIdLst>
  <p:notesMasterIdLst>
    <p:notesMasterId r:id="rId15"/>
  </p:notesMasterIdLst>
  <p:sldIdLst>
    <p:sldId id="2147483547" r:id="rId6"/>
    <p:sldId id="2147483616" r:id="rId7"/>
    <p:sldId id="2147483610" r:id="rId8"/>
    <p:sldId id="2147483605" r:id="rId9"/>
    <p:sldId id="2147483614" r:id="rId10"/>
    <p:sldId id="2147483613" r:id="rId11"/>
    <p:sldId id="2147483600" r:id="rId12"/>
    <p:sldId id="2147483602" r:id="rId13"/>
    <p:sldId id="2147483611" r:id="rId14"/>
  </p:sldIdLst>
  <p:sldSz cx="12192000" cy="6858000"/>
  <p:notesSz cx="7102475" cy="9388475"/>
  <p:embeddedFontLst>
    <p:embeddedFont>
      <p:font typeface="Aptos Narrow" panose="020B0004020202020204" pitchFamily="34" charset="0"/>
      <p:regular r:id="rId16"/>
      <p:bold r:id="rId17"/>
      <p:italic r:id="rId18"/>
      <p:boldItalic r:id="rId19"/>
    </p:embeddedFont>
    <p:embeddedFont>
      <p:font typeface="Arial Narrow" panose="020B06060202020A0204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Trebuchet MS" panose="020B060302020202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24" userDrawn="1">
          <p15:clr>
            <a:srgbClr val="A4A3A4"/>
          </p15:clr>
        </p15:guide>
        <p15:guide id="2" pos="7152" userDrawn="1">
          <p15:clr>
            <a:srgbClr val="A4A3A4"/>
          </p15:clr>
        </p15:guide>
        <p15:guide id="3" pos="7008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4C0C8E1A-9A56-B773-E3B5-13DF4EB98CC4}" name="Elizabeth Babler" initials="EB" userId="S::elizabeth.babler@inizio.com::bdcbaa7f-3ccc-4881-8eb6-d0c030bc4c71" providerId="AD"/>
  <p188:author id="{183C2833-E076-B7A0-076E-5E1F601370DC}" name="Claire Behringer" initials="CB" userId="S::claire.behringer@inizio.com::1f8988b2-03a7-4fcd-8240-315834270127" providerId="AD"/>
  <p188:author id="{06CBDF3A-882C-8BC2-7AB4-26959512346A}" name="Tiffanie Stewart" initials="TS" userId="S::Tiffanie.Stewart2@inizio.com::8e261415-07da-40cd-8916-a36e38205e2d" providerId="AD"/>
  <p188:author id="{AAAE0C49-5E92-1B53-E2EF-2F2121661672}" name="Bob Cuddihy" initials="BC" userId="S::bcuddihy@crinetics.com::230bf2b7-8cb8-4f06-a80b-c20d9c222eb6" providerId="AD"/>
  <p188:author id="{0260A556-3533-CE96-3C1E-BCF311504E68}" name="Aditi Agrawal" initials="" userId="S::aagrawal@acuitas360.com::6d33deb7-60e6-433e-a889-685e1f770fa0" providerId="AD"/>
  <p188:author id="{38857D59-31B6-65BD-CD6F-181CF625CB7A}" name="Presheet Patkar" initials="PP" userId="S::presheet.patkar@inizio.com::9b660a59-9504-4196-a904-289c34038ad2" providerId="AD"/>
  <p188:author id="{C5EF9C70-86FE-929F-6D6F-2714C0589535}" name="Jenty Okeyo" initials="JO" userId="S::jokeyo@crinetics.com::107bd752-cce8-447d-9540-6011594884be" providerId="AD"/>
  <p188:author id="{3290EE84-9738-CF16-4266-3BB3A8EC7DAD}" name="Mustafa  Hakimi" initials="" userId="S::Mhakimi@acuitas360.com::0e426034-7260-490d-8ab9-bf1f750d6c9d" providerId="AD"/>
  <p188:author id="{1A137494-F420-02C8-8423-DF5B4241DDC1}" name="Tiffanie Stewart" initials="" userId="S::tstewart@crinetics.com::ce30eff5-8901-413c-b364-517e20c4ea55" providerId="AD"/>
  <p188:author id="{D1B5BE9E-94D3-7E7D-A7F1-E20D70FC89F4}" name="Scott Struthers" initials="SS" userId="S::sstruthers@crinetics.com::9101af3f-d067-4d1f-80c2-45d6bd022005" providerId="AD"/>
  <p188:author id="{FC3A19D5-F5FC-FFBC-5C76-028A9CF5C20A}" name="Ganadhar Reddy" initials="GR" userId="S::Greddy@acuitas360.com::b910b586-a944-479f-a296-2270f4facc79" providerId="AD"/>
  <p188:author id="{62B1D0E8-55B0-197C-D02F-A2B744F0D0F7}" name="Claire Behringer" initials="CB" userId="S::Claire.Behringer@inizio.com::1f8988b2-03a7-4fcd-8240-3158342701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5508"/>
    <a:srgbClr val="00B050"/>
    <a:srgbClr val="339933"/>
    <a:srgbClr val="1C8A9E"/>
    <a:srgbClr val="847F7F"/>
    <a:srgbClr val="B86C6C"/>
    <a:srgbClr val="D96A9D"/>
    <a:srgbClr val="FF7C80"/>
    <a:srgbClr val="FFCC99"/>
    <a:srgbClr val="EAB9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A256CB-AE32-47CC-8D96-EBDD8ED159E1}" v="2" dt="2026-03-21T13:47:21.267"/>
  </p1510:revLst>
</p1510:revInfo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624"/>
        <p:guide pos="7152"/>
        <p:guide pos="7008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5_CEC91DA9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E_7E1E3E27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E_7E1E3E27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E_7E1E3E27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E_7E1E3E27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E_7E1E3E27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E_7E1E3E27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2_1715723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2_171572386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2_171572387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2_171572388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B_3F9FC775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DB_3F9FC7759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856998298255028E-2"/>
          <c:y val="5.3180816724393475E-2"/>
          <c:w val="0.89926551710289138"/>
          <c:h val="0.814559638378536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Acromegaly Diagnosed Patients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&gt;=15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0.45053218087006214</c:v>
                </c:pt>
                <c:pt idx="1">
                  <c:v>0.11375812558039861</c:v>
                </c:pt>
                <c:pt idx="2">
                  <c:v>5.8932780912922353E-2</c:v>
                </c:pt>
                <c:pt idx="3">
                  <c:v>3.8895635402528751E-2</c:v>
                </c:pt>
                <c:pt idx="4">
                  <c:v>2.9877134081005785E-2</c:v>
                </c:pt>
                <c:pt idx="5">
                  <c:v>2.4216015429673547E-2</c:v>
                </c:pt>
                <c:pt idx="6">
                  <c:v>1.9572826630473605E-2</c:v>
                </c:pt>
                <c:pt idx="7">
                  <c:v>1.6519037074076721E-2</c:v>
                </c:pt>
                <c:pt idx="8">
                  <c:v>1.5536824058861348E-2</c:v>
                </c:pt>
                <c:pt idx="9">
                  <c:v>1.3661690120722908E-2</c:v>
                </c:pt>
                <c:pt idx="10">
                  <c:v>1.2215158225587542E-2</c:v>
                </c:pt>
                <c:pt idx="11">
                  <c:v>1.1161511536538325E-2</c:v>
                </c:pt>
                <c:pt idx="12">
                  <c:v>9.8399885706121869E-3</c:v>
                </c:pt>
                <c:pt idx="13">
                  <c:v>8.964926066147582E-3</c:v>
                </c:pt>
                <c:pt idx="14">
                  <c:v>0.17631616544038861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7B-473C-AD9B-EB8A0D3498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Treated Patients (Drug treatment or Surgery)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&gt;=15</c:v>
                </c:pt>
              </c:strCache>
            </c:strRef>
          </c:cat>
          <c:val>
            <c:numRef>
              <c:f>Sheet1!$C$2:$C$16</c:f>
              <c:numCache>
                <c:formatCode>0%</c:formatCode>
                <c:ptCount val="15"/>
                <c:pt idx="0">
                  <c:v>4.905707550539324E-2</c:v>
                </c:pt>
                <c:pt idx="1">
                  <c:v>1.6608329166369028E-2</c:v>
                </c:pt>
                <c:pt idx="2">
                  <c:v>1.1679405671833702E-2</c:v>
                </c:pt>
                <c:pt idx="3">
                  <c:v>8.6256161154368172E-3</c:v>
                </c:pt>
                <c:pt idx="4">
                  <c:v>7.5719694263875993E-3</c:v>
                </c:pt>
                <c:pt idx="5">
                  <c:v>7.429102078719909E-3</c:v>
                </c:pt>
                <c:pt idx="6">
                  <c:v>6.3933138081291524E-3</c:v>
                </c:pt>
                <c:pt idx="7">
                  <c:v>5.5718265590399317E-3</c:v>
                </c:pt>
                <c:pt idx="8">
                  <c:v>5.7325523251660834E-3</c:v>
                </c:pt>
                <c:pt idx="9">
                  <c:v>5.5896849774983931E-3</c:v>
                </c:pt>
                <c:pt idx="10">
                  <c:v>5.6254018144153151E-3</c:v>
                </c:pt>
                <c:pt idx="11">
                  <c:v>4.9646403314522469E-3</c:v>
                </c:pt>
                <c:pt idx="12">
                  <c:v>4.87534823915994E-3</c:v>
                </c:pt>
                <c:pt idx="13">
                  <c:v>4.3753125223230235E-3</c:v>
                </c:pt>
                <c:pt idx="14">
                  <c:v>0.1211872276591185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77B-473C-AD9B-EB8A0D3498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6960048"/>
        <c:axId val="1286961968"/>
      </c:barChart>
      <c:catAx>
        <c:axId val="12869600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/>
                  <a:t>No. of acromegaly diagnosis codes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961968"/>
        <c:crosses val="autoZero"/>
        <c:auto val="1"/>
        <c:lblAlgn val="ctr"/>
        <c:lblOffset val="100"/>
        <c:noMultiLvlLbl val="0"/>
      </c:catAx>
      <c:valAx>
        <c:axId val="128696196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/>
                  <a:t>% Patients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960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29587707786526"/>
          <c:y val="8.9869281045751634E-2"/>
          <c:w val="0.84350967847769032"/>
          <c:h val="0.7188043590139467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IGF1 Test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30</c:v>
                </c:pt>
                <c:pt idx="1">
                  <c:v>60</c:v>
                </c:pt>
                <c:pt idx="2">
                  <c:v>90</c:v>
                </c:pt>
                <c:pt idx="3">
                  <c:v>120</c:v>
                </c:pt>
                <c:pt idx="4">
                  <c:v>150</c:v>
                </c:pt>
                <c:pt idx="5">
                  <c:v>180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0.1659016393442623</c:v>
                </c:pt>
                <c:pt idx="1">
                  <c:v>0.27540983606557379</c:v>
                </c:pt>
                <c:pt idx="2">
                  <c:v>0.36655737704918034</c:v>
                </c:pt>
                <c:pt idx="3">
                  <c:v>0.43213114754098358</c:v>
                </c:pt>
                <c:pt idx="4">
                  <c:v>0.47213114754098362</c:v>
                </c:pt>
                <c:pt idx="5">
                  <c:v>0.50360655737704918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93-4589-956A-42BF4CA6DA9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60098447"/>
        <c:axId val="1260093167"/>
      </c:lineChart>
      <c:catAx>
        <c:axId val="1260098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3167"/>
        <c:crosses val="autoZero"/>
        <c:auto val="1"/>
        <c:lblAlgn val="ctr"/>
        <c:lblOffset val="100"/>
        <c:noMultiLvlLbl val="0"/>
      </c:catAx>
      <c:valAx>
        <c:axId val="12600931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84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35143263342082"/>
          <c:y val="8.504901960784314E-2"/>
          <c:w val="0.84350967847769032"/>
          <c:h val="0.707284751170809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Endo visit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30</c:v>
                </c:pt>
                <c:pt idx="1">
                  <c:v>60</c:v>
                </c:pt>
                <c:pt idx="2">
                  <c:v>90</c:v>
                </c:pt>
                <c:pt idx="3">
                  <c:v>120</c:v>
                </c:pt>
                <c:pt idx="4">
                  <c:v>150</c:v>
                </c:pt>
                <c:pt idx="5">
                  <c:v>180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0.40065573770491802</c:v>
                </c:pt>
                <c:pt idx="1">
                  <c:v>0.53836065573770486</c:v>
                </c:pt>
                <c:pt idx="2">
                  <c:v>0.62360655737704918</c:v>
                </c:pt>
                <c:pt idx="3">
                  <c:v>0.67540983606557381</c:v>
                </c:pt>
                <c:pt idx="4">
                  <c:v>0.70032786885245901</c:v>
                </c:pt>
                <c:pt idx="5">
                  <c:v>0.71147540983606561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87-4D9D-99FD-F2538CE0EF9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60098447"/>
        <c:axId val="1260093167"/>
      </c:lineChart>
      <c:catAx>
        <c:axId val="1260098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3167"/>
        <c:crosses val="autoZero"/>
        <c:auto val="1"/>
        <c:lblAlgn val="ctr"/>
        <c:lblOffset val="100"/>
        <c:noMultiLvlLbl val="0"/>
      </c:catAx>
      <c:valAx>
        <c:axId val="12600931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84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29587707786526"/>
          <c:y val="8.9869281045751634E-2"/>
          <c:w val="0.84350967847769032"/>
          <c:h val="0.702464489732900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Pituitary Surgery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30</c:v>
                </c:pt>
                <c:pt idx="1">
                  <c:v>60</c:v>
                </c:pt>
                <c:pt idx="2">
                  <c:v>90</c:v>
                </c:pt>
                <c:pt idx="3">
                  <c:v>120</c:v>
                </c:pt>
                <c:pt idx="4">
                  <c:v>150</c:v>
                </c:pt>
                <c:pt idx="5">
                  <c:v>180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8.1311475409836062E-2</c:v>
                </c:pt>
                <c:pt idx="1">
                  <c:v>0.16262295081967212</c:v>
                </c:pt>
                <c:pt idx="2">
                  <c:v>0.2262295081967213</c:v>
                </c:pt>
                <c:pt idx="3">
                  <c:v>0.26622950819672131</c:v>
                </c:pt>
                <c:pt idx="4">
                  <c:v>0.28918032786885245</c:v>
                </c:pt>
                <c:pt idx="5">
                  <c:v>0.30163934426229511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93-450D-9D94-D5335896CF5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60098447"/>
        <c:axId val="1260093167"/>
      </c:lineChart>
      <c:catAx>
        <c:axId val="1260098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3167"/>
        <c:crosses val="autoZero"/>
        <c:auto val="1"/>
        <c:lblAlgn val="ctr"/>
        <c:lblOffset val="100"/>
        <c:noMultiLvlLbl val="0"/>
      </c:catAx>
      <c:valAx>
        <c:axId val="12600931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84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29587707786526"/>
          <c:y val="8.5049019607843113E-2"/>
          <c:w val="0.84350967847769032"/>
          <c:h val="0.699114816530286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Neuro visit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30</c:v>
                </c:pt>
                <c:pt idx="1">
                  <c:v>60</c:v>
                </c:pt>
                <c:pt idx="2">
                  <c:v>90</c:v>
                </c:pt>
                <c:pt idx="3">
                  <c:v>120</c:v>
                </c:pt>
                <c:pt idx="4">
                  <c:v>150</c:v>
                </c:pt>
                <c:pt idx="5">
                  <c:v>180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0.29311475409836063</c:v>
                </c:pt>
                <c:pt idx="1">
                  <c:v>0.41508196721311474</c:v>
                </c:pt>
                <c:pt idx="2">
                  <c:v>0.47213114754098362</c:v>
                </c:pt>
                <c:pt idx="3">
                  <c:v>0.5049180327868853</c:v>
                </c:pt>
                <c:pt idx="4">
                  <c:v>0.52655737704918038</c:v>
                </c:pt>
                <c:pt idx="5">
                  <c:v>0.54426229508196722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A2-4496-ACCB-14F07F6F92A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60098447"/>
        <c:axId val="1260093167"/>
      </c:lineChart>
      <c:catAx>
        <c:axId val="1260098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3167"/>
        <c:crosses val="autoZero"/>
        <c:auto val="1"/>
        <c:lblAlgn val="ctr"/>
        <c:lblOffset val="100"/>
        <c:noMultiLvlLbl val="0"/>
      </c:catAx>
      <c:valAx>
        <c:axId val="12600931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84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29587707786526"/>
          <c:y val="8.9869281045751634E-2"/>
          <c:w val="0.84350967847769032"/>
          <c:h val="0.702464489732900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 Blood Test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30</c:v>
                </c:pt>
                <c:pt idx="1">
                  <c:v>60</c:v>
                </c:pt>
                <c:pt idx="2">
                  <c:v>90</c:v>
                </c:pt>
                <c:pt idx="3">
                  <c:v>120</c:v>
                </c:pt>
                <c:pt idx="4">
                  <c:v>150</c:v>
                </c:pt>
                <c:pt idx="5">
                  <c:v>180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0.1501639344262295</c:v>
                </c:pt>
                <c:pt idx="1">
                  <c:v>0.23475409836065575</c:v>
                </c:pt>
                <c:pt idx="2">
                  <c:v>0.29704918032786887</c:v>
                </c:pt>
                <c:pt idx="3">
                  <c:v>0.33049180327868855</c:v>
                </c:pt>
                <c:pt idx="4">
                  <c:v>0.36262295081967211</c:v>
                </c:pt>
                <c:pt idx="5">
                  <c:v>0.38819672131147542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15-4BBA-973B-776E5F1C55C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60098447"/>
        <c:axId val="1260093167"/>
      </c:lineChart>
      <c:catAx>
        <c:axId val="1260098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3167"/>
        <c:crosses val="autoZero"/>
        <c:auto val="1"/>
        <c:lblAlgn val="ctr"/>
        <c:lblOffset val="100"/>
        <c:noMultiLvlLbl val="0"/>
      </c:catAx>
      <c:valAx>
        <c:axId val="12600931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84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29587707786526"/>
          <c:y val="8.9869281045751634E-2"/>
          <c:w val="0.84350967847769032"/>
          <c:h val="0.694294555092378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2nd Acro Dx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30</c:v>
                </c:pt>
                <c:pt idx="1">
                  <c:v>60</c:v>
                </c:pt>
                <c:pt idx="2">
                  <c:v>90</c:v>
                </c:pt>
                <c:pt idx="3">
                  <c:v>120</c:v>
                </c:pt>
                <c:pt idx="4">
                  <c:v>150</c:v>
                </c:pt>
                <c:pt idx="5">
                  <c:v>180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0.65508196721311474</c:v>
                </c:pt>
                <c:pt idx="1">
                  <c:v>0.80983606557377052</c:v>
                </c:pt>
                <c:pt idx="2">
                  <c:v>0.88393442622950824</c:v>
                </c:pt>
                <c:pt idx="3">
                  <c:v>0.92131147540983604</c:v>
                </c:pt>
                <c:pt idx="4">
                  <c:v>0.939672131147541</c:v>
                </c:pt>
                <c:pt idx="5">
                  <c:v>0.95868852459016396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2F-4D09-9F67-8CDEB0F84EF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60098447"/>
        <c:axId val="1260093167"/>
      </c:lineChart>
      <c:catAx>
        <c:axId val="1260098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3167"/>
        <c:crosses val="autoZero"/>
        <c:auto val="1"/>
        <c:lblAlgn val="ctr"/>
        <c:lblOffset val="100"/>
        <c:noMultiLvlLbl val="0"/>
      </c:catAx>
      <c:valAx>
        <c:axId val="12600931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098447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42516451357338"/>
          <c:y val="4.782098544622275E-2"/>
          <c:w val="0.50647302300764774"/>
          <c:h val="0.8188993016992841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#HCPs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D80-4693-A3E6-C0B9FB44518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D80-4693-A3E6-C0B9FB44518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D80-4693-A3E6-C0B9FB44518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CB-44F3-815B-595910128A1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D80-4693-A3E6-C0B9FB44518A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FFCB-44F3-815B-595910128A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  <c:pt idx="4">
                  <c:v>No Tier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</c:v>
                </c:pt>
                <c:pt idx="1">
                  <c:v>160</c:v>
                </c:pt>
                <c:pt idx="2">
                  <c:v>191</c:v>
                </c:pt>
                <c:pt idx="3">
                  <c:v>17</c:v>
                </c:pt>
                <c:pt idx="4">
                  <c:v>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CB-44F3-815B-595910128A1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3422313483915129E-2"/>
          <c:y val="0.87027387835964909"/>
          <c:w val="0.90000000000000013"/>
          <c:h val="0.113125848803320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42516451357338"/>
          <c:y val="4.782098544622275E-2"/>
          <c:w val="0.50647302300764774"/>
          <c:h val="0.8188993016992841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#HCPs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DC-43BD-BD8A-AC3FFEAD61F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DC-43BD-BD8A-AC3FFEAD61F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DDC-43BD-BD8A-AC3FFEAD61F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DDC-43BD-BD8A-AC3FFEAD61F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DDC-43BD-BD8A-AC3FFEAD61F2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5DDC-43BD-BD8A-AC3FFEAD61F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  <c:pt idx="4">
                  <c:v>No Tier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</c:v>
                </c:pt>
                <c:pt idx="1">
                  <c:v>99</c:v>
                </c:pt>
                <c:pt idx="2">
                  <c:v>129</c:v>
                </c:pt>
                <c:pt idx="3">
                  <c:v>21</c:v>
                </c:pt>
                <c:pt idx="4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DDC-43BD-BD8A-AC3FFEAD61F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3422313483915129E-2"/>
          <c:y val="0.87027387835964909"/>
          <c:w val="0.90000000000000013"/>
          <c:h val="0.113125848803320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42516451357338"/>
          <c:y val="4.782098544622275E-2"/>
          <c:w val="0.50647302300764774"/>
          <c:h val="0.8188993016992841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#HCPs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912-4A30-9516-99BCDB8A824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</c:f>
              <c:strCache>
                <c:ptCount val="1"/>
                <c:pt idx="0">
                  <c:v>Endos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768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912-4A30-9516-99BCDB8A824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7580730263865914"/>
          <c:w val="0.90000000000000013"/>
          <c:h val="0.113125848803320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42516451357338"/>
          <c:y val="4.782098544622275E-2"/>
          <c:w val="0.50647302300764774"/>
          <c:h val="0.8188993016992841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#HCPs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86-40DA-B905-CDBCD750D33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886-40DA-B905-CDBCD750D33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886-40DA-B905-CDBCD750D33B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1886-40DA-B905-CDBCD750D33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Endos</c:v>
                </c:pt>
                <c:pt idx="1">
                  <c:v>Neuros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512</c:v>
                </c:pt>
                <c:pt idx="1">
                  <c:v>24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886-40DA-B905-CDBCD750D33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031485284052019"/>
          <c:y val="0.87027387835964909"/>
          <c:w val="0.56461327857631749"/>
          <c:h val="0.113125848803320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PTC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  <c:pt idx="4">
                  <c:v>Non Tier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0.5</c:v>
                </c:pt>
                <c:pt idx="1">
                  <c:v>0.21875</c:v>
                </c:pt>
                <c:pt idx="2">
                  <c:v>0.12041884816753927</c:v>
                </c:pt>
                <c:pt idx="3">
                  <c:v>0</c:v>
                </c:pt>
                <c:pt idx="4">
                  <c:v>0.13694267515923567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D6-4197-8F46-FDF75161C7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Non-PTC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  <c:pt idx="4">
                  <c:v>Non Tier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0.5</c:v>
                </c:pt>
                <c:pt idx="1">
                  <c:v>0.78125</c:v>
                </c:pt>
                <c:pt idx="2">
                  <c:v>0.87958115183246077</c:v>
                </c:pt>
                <c:pt idx="3">
                  <c:v>1</c:v>
                </c:pt>
                <c:pt idx="4">
                  <c:v>0.86305732484076436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D6-4197-8F46-FDF75161C7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5822704"/>
        <c:axId val="545836144"/>
      </c:barChart>
      <c:catAx>
        <c:axId val="54582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5836144"/>
        <c:crosses val="autoZero"/>
        <c:auto val="1"/>
        <c:lblAlgn val="ctr"/>
        <c:lblOffset val="100"/>
        <c:noMultiLvlLbl val="0"/>
      </c:catAx>
      <c:valAx>
        <c:axId val="545836144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58227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PTC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  <c:pt idx="4">
                  <c:v>Non Tier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0.40540540540540543</c:v>
                </c:pt>
                <c:pt idx="1">
                  <c:v>0.16161616161616163</c:v>
                </c:pt>
                <c:pt idx="2">
                  <c:v>0.13953488372093023</c:v>
                </c:pt>
                <c:pt idx="3">
                  <c:v>0</c:v>
                </c:pt>
                <c:pt idx="4">
                  <c:v>0.12831858407079647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50-4937-928F-9B924FAEE6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Non-PTC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  <c:pt idx="4">
                  <c:v>Non Tier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0.59459459459459463</c:v>
                </c:pt>
                <c:pt idx="1">
                  <c:v>0.83838383838383834</c:v>
                </c:pt>
                <c:pt idx="2">
                  <c:v>0.86046511627906974</c:v>
                </c:pt>
                <c:pt idx="3">
                  <c:v>1</c:v>
                </c:pt>
                <c:pt idx="4">
                  <c:v>0.87168141592920356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50-4937-928F-9B924FAEE6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5822704"/>
        <c:axId val="545836144"/>
      </c:barChart>
      <c:catAx>
        <c:axId val="54582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5836144"/>
        <c:crosses val="autoZero"/>
        <c:auto val="1"/>
        <c:lblAlgn val="ctr"/>
        <c:lblOffset val="100"/>
        <c:noMultiLvlLbl val="0"/>
      </c:catAx>
      <c:valAx>
        <c:axId val="545836144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58227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E41F7857-2095-804F-AA36-BC5A00406BD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9AEBB1C-8C04-9A45-A405-256FB41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43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D0FC3-1D05-D126-D392-13E08952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78D64-ED52-B34A-44DC-33EE22748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4410C-52A4-CDC9-9BE4-5EBA910DA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42BDE-8B3E-F370-5664-1E230D54F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EBB1C-8C04-9A45-A405-256FB411B8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72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4846-566E-1A89-75E4-17064CF5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9FBCA-76C9-C53E-76E1-B3A58D31E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5CEF1-4C1E-F454-DC57-67AFDB4FB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D3AEC-F3CF-05D4-B662-CD2A3C934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EBB1C-8C04-9A45-A405-256FB411B8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57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EBB1C-8C04-9A45-A405-256FB411B8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60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EBB1C-8C04-9A45-A405-256FB411B8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86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molecule&#10;&#10;Description automatically generated">
            <a:extLst>
              <a:ext uri="{FF2B5EF4-FFF2-40B4-BE49-F238E27FC236}">
                <a16:creationId xmlns:a16="http://schemas.microsoft.com/office/drawing/2014/main" id="{B668FC82-0973-E31A-E82D-53751FFE80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C5292D5-AE95-40D0-85D1-DA555A36C46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76269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6541BC-995A-47BE-460C-B80ACC2C3329}"/>
              </a:ext>
            </a:extLst>
          </p:cNvPr>
          <p:cNvSpPr/>
          <p:nvPr userDrawn="1"/>
        </p:nvSpPr>
        <p:spPr>
          <a:xfrm>
            <a:off x="-8570" y="0"/>
            <a:ext cx="12200570" cy="6858000"/>
          </a:xfrm>
          <a:prstGeom prst="rect">
            <a:avLst/>
          </a:prstGeom>
          <a:gradFill>
            <a:gsLst>
              <a:gs pos="44000">
                <a:schemeClr val="accent3">
                  <a:alpha val="0"/>
                </a:schemeClr>
              </a:gs>
              <a:gs pos="100000">
                <a:schemeClr val="bg2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F1AEC6-1063-BD39-93D5-FA2252D02F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209677" y="1891496"/>
            <a:ext cx="3648075" cy="128002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6240BC1-3A2F-DF1A-35B1-57B32508D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086" y="3171522"/>
            <a:ext cx="6836228" cy="9546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818185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65EB9-5276-9645-921B-BD2F781836EB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BDEBB-A305-1341-9612-7FCF495C96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2939"/>
            <a:ext cx="4185492" cy="3489189"/>
          </a:xfrm>
        </p:spPr>
        <p:txBody>
          <a:bodyPr anchor="b" anchorCtr="0"/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A80FC-284A-4A14-8074-DB346FD85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5600" y="1600200"/>
            <a:ext cx="4472848" cy="3687896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/>
              <a:t>Agenda items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459D7E-39A4-354B-8070-8431911E5C04}"/>
              </a:ext>
            </a:extLst>
          </p:cNvPr>
          <p:cNvCxnSpPr>
            <a:cxnSpLocks/>
          </p:cNvCxnSpPr>
          <p:nvPr userDrawn="1"/>
        </p:nvCxnSpPr>
        <p:spPr>
          <a:xfrm>
            <a:off x="609600" y="3660223"/>
            <a:ext cx="1187669" cy="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F550265-FFB4-EF87-550C-7FDB385649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7609" y="6294658"/>
            <a:ext cx="1038091" cy="365760"/>
          </a:xfrm>
          <a:prstGeom prst="rect">
            <a:avLst/>
          </a:prstGeom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DD3C027-FE6B-D991-05F4-C66C7D41C8BE}"/>
              </a:ext>
            </a:extLst>
          </p:cNvPr>
          <p:cNvSpPr txBox="1">
            <a:spLocks/>
          </p:cNvSpPr>
          <p:nvPr userDrawn="1"/>
        </p:nvSpPr>
        <p:spPr>
          <a:xfrm>
            <a:off x="496300" y="6405760"/>
            <a:ext cx="1919288" cy="186906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177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1963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26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0845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25F31-61A5-46D0-A44C-ABDB8FF6D2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316415"/>
            <a:ext cx="10972800" cy="4481513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  <a:lvl3pPr marL="461963" indent="-228600">
              <a:buClr>
                <a:schemeClr val="bg2"/>
              </a:buClr>
              <a:buSzPct val="70000"/>
              <a:buFont typeface="Courier New" panose="02070309020205020404" pitchFamily="49" charset="0"/>
              <a:buChar char="o"/>
              <a:defRPr/>
            </a:lvl3pPr>
            <a:lvl4pPr marL="682625" indent="-228600">
              <a:buClr>
                <a:schemeClr val="bg2"/>
              </a:buClr>
              <a:buSzPct val="70000"/>
              <a:buFont typeface="Courier New" panose="02070309020205020404" pitchFamily="49" charset="0"/>
              <a:buChar char="o"/>
              <a:defRPr/>
            </a:lvl4pPr>
            <a:lvl5pPr marL="914400" indent="-228600">
              <a:buClr>
                <a:schemeClr val="bg2"/>
              </a:buClr>
              <a:buSzPct val="70000"/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F2302C-1952-F8CD-8AD1-6D1FC00CDE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7609" y="6294658"/>
            <a:ext cx="1038091" cy="3657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05E84B2-31FF-58B9-47F8-A44E687C27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357050"/>
            <a:ext cx="10972800" cy="573737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817BC68-8780-67BF-3DB2-1D1D686BB8B2}"/>
              </a:ext>
            </a:extLst>
          </p:cNvPr>
          <p:cNvSpPr txBox="1">
            <a:spLocks/>
          </p:cNvSpPr>
          <p:nvPr userDrawn="1"/>
        </p:nvSpPr>
        <p:spPr>
          <a:xfrm>
            <a:off x="496300" y="6405760"/>
            <a:ext cx="1919288" cy="186906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177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1963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26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83835F-531F-FF4D-84F4-3BE74D2904D7}" type="slidenum">
              <a:rPr lang="en-US" sz="900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9792889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B0D74A-DA90-DCE3-EBF8-36E1B95B97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7609" y="6294658"/>
            <a:ext cx="1038091" cy="3657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8474484-4254-BFFC-8D5B-C5544EA3DA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357050"/>
            <a:ext cx="10972800" cy="573737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9F870AA-5328-3CCB-3526-AD16F827559C}"/>
              </a:ext>
            </a:extLst>
          </p:cNvPr>
          <p:cNvSpPr txBox="1">
            <a:spLocks/>
          </p:cNvSpPr>
          <p:nvPr userDrawn="1"/>
        </p:nvSpPr>
        <p:spPr>
          <a:xfrm>
            <a:off x="496300" y="6405760"/>
            <a:ext cx="1919288" cy="186906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177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1963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26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83835F-531F-FF4D-84F4-3BE74D2904D7}" type="slidenum">
              <a:rPr lang="en-US" sz="900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05407369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BC19-3AA6-5D4C-B7BD-27EB4CCAB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357050"/>
            <a:ext cx="10972800" cy="573737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793DFA-DE4E-D83B-C113-A5ACEB2B98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7609" y="6294658"/>
            <a:ext cx="1038091" cy="3657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BE6CB0D-BA43-C239-0E95-389115B57ED0}"/>
              </a:ext>
            </a:extLst>
          </p:cNvPr>
          <p:cNvSpPr/>
          <p:nvPr userDrawn="1"/>
        </p:nvSpPr>
        <p:spPr>
          <a:xfrm>
            <a:off x="0" y="506503"/>
            <a:ext cx="457200" cy="731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DF65943B-A6CA-25AC-611A-554433553C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188243"/>
            <a:ext cx="10972800" cy="4481513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  <a:lvl3pPr marL="461963" indent="-228600">
              <a:buClr>
                <a:schemeClr val="bg2"/>
              </a:buClr>
              <a:buSzPct val="70000"/>
              <a:buFont typeface="Courier New" panose="02070309020205020404" pitchFamily="49" charset="0"/>
              <a:buChar char="o"/>
              <a:defRPr/>
            </a:lvl3pPr>
            <a:lvl4pPr marL="682625" indent="-228600">
              <a:buClr>
                <a:schemeClr val="bg2"/>
              </a:buClr>
              <a:buSzPct val="70000"/>
              <a:buFont typeface="Courier New" panose="02070309020205020404" pitchFamily="49" charset="0"/>
              <a:buChar char="o"/>
              <a:defRPr/>
            </a:lvl4pPr>
            <a:lvl5pPr marL="914400" indent="-228600">
              <a:buClr>
                <a:schemeClr val="bg2"/>
              </a:buClr>
              <a:buSzPct val="70000"/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53EA8AB-0E9B-94B6-043D-DFC17F2B6668}"/>
              </a:ext>
            </a:extLst>
          </p:cNvPr>
          <p:cNvSpPr txBox="1">
            <a:spLocks/>
          </p:cNvSpPr>
          <p:nvPr userDrawn="1"/>
        </p:nvSpPr>
        <p:spPr>
          <a:xfrm>
            <a:off x="496300" y="6405760"/>
            <a:ext cx="1919288" cy="186906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177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1963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26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83835F-531F-FF4D-84F4-3BE74D2904D7}" type="slidenum">
              <a:rPr lang="en-US" sz="900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17935128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65BE76-119C-4CA1-8F76-1BB0DD3DE97E}"/>
              </a:ext>
            </a:extLst>
          </p:cNvPr>
          <p:cNvSpPr/>
          <p:nvPr userDrawn="1"/>
        </p:nvSpPr>
        <p:spPr>
          <a:xfrm>
            <a:off x="0" y="0"/>
            <a:ext cx="12192000" cy="4006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BDEBB-A305-1341-9612-7FCF495C96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06727"/>
            <a:ext cx="10972799" cy="1325563"/>
          </a:xfrm>
        </p:spPr>
        <p:txBody>
          <a:bodyPr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slide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A80FC-284A-4A14-8074-DB346FD85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364610"/>
            <a:ext cx="6507163" cy="170568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Divider slide 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62B889-EBB0-B8F4-FAA2-8531ED054C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7609" y="6294658"/>
            <a:ext cx="1038091" cy="3657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E4B032E-5DC0-83D3-EA50-F20BB8B3A377}"/>
              </a:ext>
            </a:extLst>
          </p:cNvPr>
          <p:cNvSpPr/>
          <p:nvPr userDrawn="1"/>
        </p:nvSpPr>
        <p:spPr>
          <a:xfrm>
            <a:off x="635727" y="3494141"/>
            <a:ext cx="457200" cy="731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E5DAB80-99EA-2C41-269D-1A2B8543CC87}"/>
              </a:ext>
            </a:extLst>
          </p:cNvPr>
          <p:cNvSpPr txBox="1">
            <a:spLocks/>
          </p:cNvSpPr>
          <p:nvPr userDrawn="1"/>
        </p:nvSpPr>
        <p:spPr>
          <a:xfrm>
            <a:off x="496300" y="6405760"/>
            <a:ext cx="1919288" cy="186906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177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1963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26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83835F-531F-FF4D-84F4-3BE74D2904D7}" type="slidenum">
              <a:rPr lang="en-US" sz="900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99435677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683FCC-4287-6986-B991-BC1557F6C0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7609" y="6294658"/>
            <a:ext cx="1038091" cy="365760"/>
          </a:xfrm>
          <a:prstGeom prst="rect">
            <a:avLst/>
          </a:prstGeom>
        </p:spPr>
      </p:pic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4F9CA7E-7B10-3FCB-CC1A-E707AC46B23B}"/>
              </a:ext>
            </a:extLst>
          </p:cNvPr>
          <p:cNvSpPr txBox="1">
            <a:spLocks/>
          </p:cNvSpPr>
          <p:nvPr userDrawn="1"/>
        </p:nvSpPr>
        <p:spPr>
          <a:xfrm>
            <a:off x="496300" y="6405760"/>
            <a:ext cx="1919288" cy="186906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177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1963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26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83835F-531F-FF4D-84F4-3BE74D2904D7}" type="slidenum">
              <a:rPr lang="en-US" sz="900" smtClean="0"/>
              <a:pPr/>
              <a:t>‹#›</a:t>
            </a:fld>
            <a:r>
              <a:rPr lang="en-US" sz="900"/>
              <a:t>    </a:t>
            </a:r>
            <a:r>
              <a:rPr lang="en-US" sz="900" b="1">
                <a:solidFill>
                  <a:schemeClr val="bg2">
                    <a:lumMod val="60000"/>
                    <a:lumOff val="40000"/>
                  </a:schemeClr>
                </a:solidFill>
              </a:rPr>
              <a:t> |    </a:t>
            </a:r>
            <a:r>
              <a:rPr lang="en-US" sz="90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33936213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-up of a molecule&#10;&#10;Description automatically generated">
            <a:extLst>
              <a:ext uri="{FF2B5EF4-FFF2-40B4-BE49-F238E27FC236}">
                <a16:creationId xmlns:a16="http://schemas.microsoft.com/office/drawing/2014/main" id="{9B902F38-E5D3-F212-F3EC-93C127ED7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5B49C2B-EEED-C404-A7BC-A597D8207BA8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44000">
                <a:schemeClr val="accent3">
                  <a:alpha val="0"/>
                </a:schemeClr>
              </a:gs>
              <a:gs pos="100000">
                <a:schemeClr val="bg2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593F2B-8524-A817-6433-238709A550FE}"/>
              </a:ext>
            </a:extLst>
          </p:cNvPr>
          <p:cNvSpPr txBox="1">
            <a:spLocks/>
          </p:cNvSpPr>
          <p:nvPr userDrawn="1"/>
        </p:nvSpPr>
        <p:spPr>
          <a:xfrm>
            <a:off x="6096000" y="3718364"/>
            <a:ext cx="5000625" cy="5357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b="1" cap="none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ECEDA4-83BF-FFD7-7DD2-B5A46B504B69}"/>
              </a:ext>
            </a:extLst>
          </p:cNvPr>
          <p:cNvSpPr/>
          <p:nvPr userDrawn="1"/>
        </p:nvSpPr>
        <p:spPr>
          <a:xfrm>
            <a:off x="10596561" y="3443540"/>
            <a:ext cx="457200" cy="731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514ACC-9D49-C62A-616A-1A6D1D4071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850842" y="2366683"/>
            <a:ext cx="2202919" cy="77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2221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BC19-3AA6-5D4C-B7BD-27EB4CCA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912FE-7909-4C29-8FBB-88A366033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3111" y="6356350"/>
            <a:ext cx="3059290" cy="5016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F2812-C955-47BB-A1A7-3495DEAE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356350"/>
            <a:ext cx="1320800" cy="50164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33376138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BC19-3AA6-5D4C-B7BD-27EB4CCA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912FE-7909-4C29-8FBB-88A366033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3111" y="6356350"/>
            <a:ext cx="3059290" cy="5016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2681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25F31-61A5-46D0-A44C-ABDB8FF6D2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10972800" cy="4481513"/>
          </a:xfrm>
        </p:spPr>
        <p:txBody>
          <a:bodyPr/>
          <a:lstStyle>
            <a:lvl3pPr marL="461963" indent="-228600">
              <a:buSzPct val="70000"/>
              <a:buFont typeface="Courier New" panose="02070309020205020404" pitchFamily="49" charset="0"/>
              <a:buChar char="o"/>
              <a:defRPr/>
            </a:lvl3pPr>
            <a:lvl4pPr marL="682625" indent="-228600">
              <a:buSzPct val="70000"/>
              <a:buFont typeface="Courier New" panose="02070309020205020404" pitchFamily="49" charset="0"/>
              <a:buChar char="o"/>
              <a:defRPr/>
            </a:lvl4pPr>
            <a:lvl5pPr marL="914400" indent="-228600">
              <a:buSzPct val="70000"/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EDE6C3-797B-4B31-94E2-19D1F16F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23B4F-E450-44A2-8E10-994E2D19A1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23111" y="6356350"/>
            <a:ext cx="3059290" cy="5016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19530-D6A8-40C6-B9D0-7893388F6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" y="6356350"/>
            <a:ext cx="1320800" cy="501649"/>
          </a:xfrm>
          <a:prstGeom prst="rect">
            <a:avLst/>
          </a:prstGeom>
        </p:spPr>
        <p:txBody>
          <a:bodyPr/>
          <a:lstStyle/>
          <a:p>
            <a:r>
              <a:rPr lang="en-US"/>
              <a:t>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BD3C2F-CAD8-4BA2-990F-D32B2ECA03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6127345"/>
            <a:ext cx="5486400" cy="194873"/>
          </a:xfrm>
        </p:spPr>
        <p:txBody>
          <a:bodyPr anchor="b"/>
          <a:lstStyle>
            <a:lvl1pPr>
              <a:defRPr sz="1000"/>
            </a:lvl1pPr>
          </a:lstStyle>
          <a:p>
            <a:pPr lvl="0"/>
            <a:r>
              <a:rPr lang="en-US"/>
              <a:t>Source / Footnote: Placeholder</a:t>
            </a:r>
          </a:p>
        </p:txBody>
      </p:sp>
    </p:spTree>
    <p:extLst>
      <p:ext uri="{BB962C8B-B14F-4D97-AF65-F5344CB8AC3E}">
        <p14:creationId xmlns:p14="http://schemas.microsoft.com/office/powerpoint/2010/main" val="289488591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C899E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9E285E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0226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25F31-61A5-46D0-A44C-ABDB8FF6D2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10972800" cy="4481513"/>
          </a:xfrm>
        </p:spPr>
        <p:txBody>
          <a:bodyPr/>
          <a:lstStyle>
            <a:lvl3pPr marL="461963" indent="-228600">
              <a:buSzPct val="70000"/>
              <a:buFont typeface="Courier New" panose="02070309020205020404" pitchFamily="49" charset="0"/>
              <a:buChar char="o"/>
              <a:defRPr/>
            </a:lvl3pPr>
            <a:lvl4pPr marL="682625" indent="-228600">
              <a:buSzPct val="70000"/>
              <a:buFont typeface="Courier New" panose="02070309020205020404" pitchFamily="49" charset="0"/>
              <a:buChar char="o"/>
              <a:defRPr/>
            </a:lvl4pPr>
            <a:lvl5pPr marL="914400" indent="-228600">
              <a:buSzPct val="70000"/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EDE6C3-797B-4B31-94E2-19D1F16F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23B4F-E450-44A2-8E10-994E2D19A1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19530-D6A8-40C6-B9D0-7893388F6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BD3C2F-CAD8-4BA2-990F-D32B2ECA03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6127345"/>
            <a:ext cx="5486400" cy="194873"/>
          </a:xfrm>
        </p:spPr>
        <p:txBody>
          <a:bodyPr anchor="b"/>
          <a:lstStyle>
            <a:lvl1pPr>
              <a:defRPr sz="1000"/>
            </a:lvl1pPr>
          </a:lstStyle>
          <a:p>
            <a:pPr lvl="0"/>
            <a:r>
              <a:rPr lang="en-US"/>
              <a:t>Source / Footnote: Placeholder</a:t>
            </a:r>
          </a:p>
        </p:txBody>
      </p:sp>
    </p:spTree>
    <p:extLst>
      <p:ext uri="{BB962C8B-B14F-4D97-AF65-F5344CB8AC3E}">
        <p14:creationId xmlns:p14="http://schemas.microsoft.com/office/powerpoint/2010/main" val="413649716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indoor, table, sitting, glasses&#10;&#10;Description automatically generated">
            <a:extLst>
              <a:ext uri="{FF2B5EF4-FFF2-40B4-BE49-F238E27FC236}">
                <a16:creationId xmlns:a16="http://schemas.microsoft.com/office/drawing/2014/main" id="{E565C7D6-44C9-3C5A-00FB-1D2539BAEE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552172-FFF2-85C0-9B2E-1E89D5FE0094}"/>
              </a:ext>
            </a:extLst>
          </p:cNvPr>
          <p:cNvSpPr/>
          <p:nvPr userDrawn="1"/>
        </p:nvSpPr>
        <p:spPr>
          <a:xfrm>
            <a:off x="-8570" y="0"/>
            <a:ext cx="12200570" cy="6858000"/>
          </a:xfrm>
          <a:prstGeom prst="rect">
            <a:avLst/>
          </a:prstGeom>
          <a:gradFill>
            <a:gsLst>
              <a:gs pos="41000">
                <a:schemeClr val="accent3">
                  <a:alpha val="0"/>
                </a:schemeClr>
              </a:gs>
              <a:gs pos="100000">
                <a:schemeClr val="bg2">
                  <a:alpha val="54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F1AEC6-1063-BD39-93D5-FA2252D02F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209677" y="1891496"/>
            <a:ext cx="3648074" cy="128002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6240BC1-3A2F-DF1A-35B1-57B32508D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086" y="3686479"/>
            <a:ext cx="6293199" cy="954628"/>
          </a:xfrm>
        </p:spPr>
        <p:txBody>
          <a:bodyPr anchor="t"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9156393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indoor, table, sitting, glasses&#10;&#10;Description automatically generated">
            <a:extLst>
              <a:ext uri="{FF2B5EF4-FFF2-40B4-BE49-F238E27FC236}">
                <a16:creationId xmlns:a16="http://schemas.microsoft.com/office/drawing/2014/main" id="{E668D22C-A9C5-A870-64B4-5AA0CD5B49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0664" r="1154"/>
          <a:stretch/>
        </p:blipFill>
        <p:spPr>
          <a:xfrm>
            <a:off x="0" y="0"/>
            <a:ext cx="7093527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ADA995-1CD8-8547-F566-CE7D0E2EE30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3000">
                <a:schemeClr val="accent3">
                  <a:alpha val="0"/>
                </a:schemeClr>
              </a:gs>
              <a:gs pos="100000">
                <a:schemeClr val="bg2">
                  <a:alpha val="54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593F2B-8524-A817-6433-238709A550FE}"/>
              </a:ext>
            </a:extLst>
          </p:cNvPr>
          <p:cNvSpPr txBox="1">
            <a:spLocks/>
          </p:cNvSpPr>
          <p:nvPr userDrawn="1"/>
        </p:nvSpPr>
        <p:spPr>
          <a:xfrm>
            <a:off x="6096000" y="3718364"/>
            <a:ext cx="5000625" cy="5357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b="1" cap="none">
                <a:solidFill>
                  <a:schemeClr val="bg2"/>
                </a:solidFill>
              </a:rPr>
              <a:t>Thank You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ECEDA4-83BF-FFD7-7DD2-B5A46B504B69}"/>
              </a:ext>
            </a:extLst>
          </p:cNvPr>
          <p:cNvSpPr/>
          <p:nvPr userDrawn="1"/>
        </p:nvSpPr>
        <p:spPr>
          <a:xfrm>
            <a:off x="10596561" y="3443540"/>
            <a:ext cx="457200" cy="731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514ACC-9D49-C62A-616A-1A6D1D4071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50842" y="2366683"/>
            <a:ext cx="2202918" cy="77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2657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B0D74A-DA90-DCE3-EBF8-36E1B95B97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7609" y="6294658"/>
            <a:ext cx="1038091" cy="3657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8474484-4254-BFFC-8D5B-C5544EA3DA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357050"/>
            <a:ext cx="10972800" cy="573737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9F870AA-5328-3CCB-3526-AD16F827559C}"/>
              </a:ext>
            </a:extLst>
          </p:cNvPr>
          <p:cNvSpPr txBox="1">
            <a:spLocks/>
          </p:cNvSpPr>
          <p:nvPr userDrawn="1"/>
        </p:nvSpPr>
        <p:spPr>
          <a:xfrm>
            <a:off x="496300" y="6405760"/>
            <a:ext cx="1919288" cy="186906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177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1963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26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83835F-531F-FF4D-84F4-3BE74D2904D7}" type="slidenum">
              <a:rPr lang="en-US" sz="900" smtClean="0"/>
              <a:pPr/>
              <a:t>‹#›</a:t>
            </a:fld>
            <a:endParaRPr lang="en-US" sz="90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5B247DB-64C2-B360-70E3-28244ED96D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8680" y="6425601"/>
            <a:ext cx="9639300" cy="194873"/>
          </a:xfrm>
        </p:spPr>
        <p:txBody>
          <a:bodyPr anchor="ctr" anchorCtr="0"/>
          <a:lstStyle>
            <a:lvl1pPr>
              <a:lnSpc>
                <a:spcPct val="95000"/>
              </a:lnSpc>
              <a:spcBef>
                <a:spcPts val="0"/>
              </a:spcBef>
              <a:defRPr sz="900"/>
            </a:lvl1pPr>
          </a:lstStyle>
          <a:p>
            <a:pPr lvl="0"/>
            <a:r>
              <a:rPr lang="en-US"/>
              <a:t>Source / Footnote: Placeholder</a:t>
            </a:r>
          </a:p>
        </p:txBody>
      </p:sp>
    </p:spTree>
    <p:extLst>
      <p:ext uri="{BB962C8B-B14F-4D97-AF65-F5344CB8AC3E}">
        <p14:creationId xmlns:p14="http://schemas.microsoft.com/office/powerpoint/2010/main" val="4146828225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341FCE-8F7C-1047-A124-55BC82FE35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A5E1E4-5100-BC4C-BCF7-58CD66F889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52716" y="4532547"/>
            <a:ext cx="7429684" cy="535700"/>
          </a:xfrm>
        </p:spPr>
        <p:txBody>
          <a:bodyPr lIns="0" tIns="0" rIns="0" bIns="0" anchor="b" anchorCtr="0">
            <a:noAutofit/>
          </a:bodyPr>
          <a:lstStyle>
            <a:lvl1pPr algn="l">
              <a:defRPr sz="3200" cap="all" baseline="0"/>
            </a:lvl1pPr>
          </a:lstStyle>
          <a:p>
            <a:r>
              <a:rPr lang="en-US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2780B-7BA9-964A-93E4-081A6BE49C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52716" y="5068247"/>
            <a:ext cx="7429684" cy="43396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XX.XX.XX Presented by XXXXXXX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6AF9E5-62DD-2C4E-9843-279EA6AE31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0636" y="2298033"/>
            <a:ext cx="4457703" cy="156410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764FB5-193E-F64E-8AA3-74309DDA21EE}"/>
              </a:ext>
            </a:extLst>
          </p:cNvPr>
          <p:cNvCxnSpPr>
            <a:cxnSpLocks/>
          </p:cNvCxnSpPr>
          <p:nvPr userDrawn="1"/>
        </p:nvCxnSpPr>
        <p:spPr>
          <a:xfrm>
            <a:off x="4152716" y="3989553"/>
            <a:ext cx="8051038" cy="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FA626-8292-43B7-8C7E-4366D0BA0C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9860666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30930-1DEB-A44D-B48B-2D0B9BAB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47339" y="6356350"/>
            <a:ext cx="4635062" cy="5016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 CRINETICS PHARMACEUTICALS  |  </a:t>
            </a:r>
            <a:fld id="{2620BBE4-9059-A049-9F6E-995201CB82F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12CBFE-5D1D-4C21-BD35-262039406839}"/>
              </a:ext>
            </a:extLst>
          </p:cNvPr>
          <p:cNvSpPr txBox="1"/>
          <p:nvPr userDrawn="1"/>
        </p:nvSpPr>
        <p:spPr>
          <a:xfrm>
            <a:off x="609600" y="1615868"/>
            <a:ext cx="10972800" cy="224676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The content of this presentation is proprietary and confidential information of Crinetics Pharmaceuticals.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It is not intended to be distributed to any third party without the written consent of Crinetics Pharmaceuticals. </a:t>
            </a:r>
          </a:p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614AA7-E1DC-44DF-AF15-8DFBD07D8CA6}"/>
              </a:ext>
            </a:extLst>
          </p:cNvPr>
          <p:cNvSpPr txBox="1"/>
          <p:nvPr userDrawn="1"/>
        </p:nvSpPr>
        <p:spPr>
          <a:xfrm>
            <a:off x="609599" y="298439"/>
            <a:ext cx="10972802" cy="954628"/>
          </a:xfrm>
          <a:prstGeom prst="rect">
            <a:avLst/>
          </a:prstGeom>
          <a:noFill/>
        </p:spPr>
        <p:txBody>
          <a:bodyPr wrap="square" lIns="0" rIns="0" rtlCol="0" anchor="b">
            <a:noAutofit/>
          </a:bodyPr>
          <a:lstStyle/>
          <a:p>
            <a:pPr algn="l"/>
            <a:r>
              <a:rPr lang="en-US" sz="3400">
                <a:solidFill>
                  <a:schemeClr val="bg2"/>
                </a:solidFill>
              </a:rPr>
              <a:t>Confidential Disclaimer 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5285E8F-6987-4C4B-B243-47A044D27E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7289424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65EB9-5276-9645-921B-BD2F781836EB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BDEBB-A305-1341-9612-7FCF495C96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2939"/>
            <a:ext cx="4185492" cy="3489189"/>
          </a:xfrm>
        </p:spPr>
        <p:txBody>
          <a:bodyPr anchor="b" anchorCtr="0"/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A80FC-284A-4A14-8074-DB346FD85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5600" y="1600200"/>
            <a:ext cx="4472848" cy="3687896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/>
              <a:t>Agenda items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459D7E-39A4-354B-8070-8431911E5C04}"/>
              </a:ext>
            </a:extLst>
          </p:cNvPr>
          <p:cNvCxnSpPr>
            <a:cxnSpLocks/>
          </p:cNvCxnSpPr>
          <p:nvPr userDrawn="1"/>
        </p:nvCxnSpPr>
        <p:spPr>
          <a:xfrm>
            <a:off x="609600" y="3660223"/>
            <a:ext cx="1187669" cy="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F31511-818F-4598-AFC0-7ED62DB361B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365067" y="6356350"/>
            <a:ext cx="3217334" cy="5016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4D487C-0028-410C-B96F-A85B514F98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044993545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25F31-61A5-46D0-A44C-ABDB8FF6D2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10972800" cy="4481513"/>
          </a:xfrm>
        </p:spPr>
        <p:txBody>
          <a:bodyPr/>
          <a:lstStyle>
            <a:lvl3pPr marL="461963" indent="-228600">
              <a:buSzPct val="70000"/>
              <a:buFont typeface="Courier New" panose="02070309020205020404" pitchFamily="49" charset="0"/>
              <a:buChar char="o"/>
              <a:defRPr/>
            </a:lvl3pPr>
            <a:lvl4pPr marL="682625" indent="-228600">
              <a:buSzPct val="70000"/>
              <a:buFont typeface="Courier New" panose="02070309020205020404" pitchFamily="49" charset="0"/>
              <a:buChar char="o"/>
              <a:defRPr/>
            </a:lvl4pPr>
            <a:lvl5pPr marL="914400" indent="-228600">
              <a:buSzPct val="70000"/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EDE6C3-797B-4B31-94E2-19D1F16F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23B4F-E450-44A2-8E10-994E2D19A1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19530-D6A8-40C6-B9D0-7893388F6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BD3C2F-CAD8-4BA2-990F-D32B2ECA03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6127345"/>
            <a:ext cx="5486400" cy="194873"/>
          </a:xfrm>
        </p:spPr>
        <p:txBody>
          <a:bodyPr anchor="b"/>
          <a:lstStyle>
            <a:lvl1pPr>
              <a:defRPr sz="1000"/>
            </a:lvl1pPr>
          </a:lstStyle>
          <a:p>
            <a:pPr lvl="0"/>
            <a:r>
              <a:rPr lang="en-US"/>
              <a:t>Source / Footnote: Placeholder</a:t>
            </a:r>
          </a:p>
        </p:txBody>
      </p:sp>
    </p:spTree>
    <p:extLst>
      <p:ext uri="{BB962C8B-B14F-4D97-AF65-F5344CB8AC3E}">
        <p14:creationId xmlns:p14="http://schemas.microsoft.com/office/powerpoint/2010/main" val="98394057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BC19-3AA6-5D4C-B7BD-27EB4CCA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912FE-7909-4C29-8FBB-88A366033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F2812-C955-47BB-A1A7-3495DEAE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816C609-123F-4CD7-A11E-BFCF8D2DFD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6127345"/>
            <a:ext cx="5486400" cy="194873"/>
          </a:xfrm>
        </p:spPr>
        <p:txBody>
          <a:bodyPr anchor="b"/>
          <a:lstStyle>
            <a:lvl1pPr>
              <a:defRPr sz="1000"/>
            </a:lvl1pPr>
          </a:lstStyle>
          <a:p>
            <a:pPr lvl="0"/>
            <a:r>
              <a:rPr lang="en-US"/>
              <a:t>Source / Footnote: Placeholder</a:t>
            </a:r>
          </a:p>
        </p:txBody>
      </p:sp>
    </p:spTree>
    <p:extLst>
      <p:ext uri="{BB962C8B-B14F-4D97-AF65-F5344CB8AC3E}">
        <p14:creationId xmlns:p14="http://schemas.microsoft.com/office/powerpoint/2010/main" val="3811090071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BC19-3AA6-5D4C-B7BD-27EB4CCAB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912FE-7909-4C29-8FBB-88A366033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F2812-C955-47BB-A1A7-3495DEAE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695F1-9C98-4655-BA1D-316CA6A759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600200"/>
            <a:ext cx="10972800" cy="47097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Slide Subtitle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A9C6EAB-3B79-4465-B81C-2275C1FEA5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6127345"/>
            <a:ext cx="5486400" cy="194873"/>
          </a:xfrm>
        </p:spPr>
        <p:txBody>
          <a:bodyPr anchor="b"/>
          <a:lstStyle>
            <a:lvl1pPr>
              <a:defRPr sz="1000"/>
            </a:lvl1pPr>
          </a:lstStyle>
          <a:p>
            <a:pPr lvl="0"/>
            <a:r>
              <a:rPr lang="en-US"/>
              <a:t>Source / Footnote: Placeholder</a:t>
            </a:r>
          </a:p>
        </p:txBody>
      </p:sp>
    </p:spTree>
    <p:extLst>
      <p:ext uri="{BB962C8B-B14F-4D97-AF65-F5344CB8AC3E}">
        <p14:creationId xmlns:p14="http://schemas.microsoft.com/office/powerpoint/2010/main" val="243852899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25F31-61A5-46D0-A44C-ABDB8FF6D2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10972800" cy="4481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EDE6C3-797B-4B31-94E2-19D1F16F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23B4F-E450-44A2-8E10-994E2D19A1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19530-D6A8-40C6-B9D0-7893388F6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553528609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65BE76-119C-4CA1-8F76-1BB0DD3DE97E}"/>
              </a:ext>
            </a:extLst>
          </p:cNvPr>
          <p:cNvSpPr/>
          <p:nvPr userDrawn="1"/>
        </p:nvSpPr>
        <p:spPr>
          <a:xfrm>
            <a:off x="0" y="0"/>
            <a:ext cx="12192000" cy="4006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BDEBB-A305-1341-9612-7FCF495C96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06727"/>
            <a:ext cx="10972799" cy="1325563"/>
          </a:xfrm>
        </p:spPr>
        <p:txBody>
          <a:bodyPr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slide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A80FC-284A-4A14-8074-DB346FD85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364610"/>
            <a:ext cx="6507163" cy="170568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Divider slide subtitle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94875-796C-4690-B8C5-7446E540048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1398D-99C3-4762-80AE-37D98991FE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721590724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04D2-91F9-AB42-A250-E7A9F133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EA61F-4CEF-4B40-B70D-990CD308D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181600" cy="4481513"/>
          </a:xfrm>
        </p:spPr>
        <p:txBody>
          <a:bodyPr/>
          <a:lstStyle>
            <a:lvl3pPr marL="461963" indent="-228600">
              <a:buSzPct val="70000"/>
              <a:buFont typeface="Courier New" panose="02070309020205020404" pitchFamily="49" charset="0"/>
              <a:buChar char="o"/>
              <a:defRPr/>
            </a:lvl3pPr>
            <a:lvl4pPr marL="682625" indent="-228600">
              <a:buSzPct val="70000"/>
              <a:buFont typeface="Courier New" panose="02070309020205020404" pitchFamily="49" charset="0"/>
              <a:buChar char="o"/>
              <a:defRPr/>
            </a:lvl4pPr>
            <a:lvl5pPr marL="914400" indent="-228600">
              <a:buSzPct val="70000"/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DFF81-269D-D54A-B5A1-EE87A0B9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0" y="1600200"/>
            <a:ext cx="5181600" cy="4481513"/>
          </a:xfrm>
        </p:spPr>
        <p:txBody>
          <a:bodyPr/>
          <a:lstStyle>
            <a:lvl3pPr marL="461963" indent="-228600">
              <a:buSzPct val="70000"/>
              <a:buFont typeface="Courier New" panose="02070309020205020404" pitchFamily="49" charset="0"/>
              <a:buChar char="o"/>
              <a:defRPr/>
            </a:lvl3pPr>
            <a:lvl4pPr marL="682625" indent="-228600">
              <a:buSzPct val="70000"/>
              <a:buFont typeface="Courier New" panose="02070309020205020404" pitchFamily="49" charset="0"/>
              <a:buChar char="o"/>
              <a:defRPr/>
            </a:lvl4pPr>
            <a:lvl5pPr marL="914400" indent="-228600">
              <a:buSzPct val="70000"/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5BF28-6711-4668-B0D0-E69012853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97849-5315-4A71-963D-B9993232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02042CC-02EF-4A4F-90AC-7F9F784A8C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6127345"/>
            <a:ext cx="5486400" cy="194873"/>
          </a:xfrm>
        </p:spPr>
        <p:txBody>
          <a:bodyPr anchor="b"/>
          <a:lstStyle>
            <a:lvl1pPr>
              <a:defRPr sz="1000"/>
            </a:lvl1pPr>
          </a:lstStyle>
          <a:p>
            <a:pPr lvl="0"/>
            <a:r>
              <a:rPr lang="en-US"/>
              <a:t>Source / Footnote: Placeholder</a:t>
            </a:r>
          </a:p>
        </p:txBody>
      </p:sp>
    </p:spTree>
    <p:extLst>
      <p:ext uri="{BB962C8B-B14F-4D97-AF65-F5344CB8AC3E}">
        <p14:creationId xmlns:p14="http://schemas.microsoft.com/office/powerpoint/2010/main" val="2334095167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0FAA0-6868-5E4D-9466-FEE382AFA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5157787" cy="7381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FAA36-5A23-7547-8BD9-0FF3687D1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505075"/>
            <a:ext cx="5157787" cy="3576638"/>
          </a:xfrm>
        </p:spPr>
        <p:txBody>
          <a:bodyPr/>
          <a:lstStyle>
            <a:lvl3pPr marL="461963" indent="-228600">
              <a:buSzPct val="70000"/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E3057-F197-F346-A89D-1DF37D24B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99212" y="1600201"/>
            <a:ext cx="5183188" cy="7381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6DF260-22BD-E340-8870-E22A2BF94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99212" y="2505075"/>
            <a:ext cx="5183188" cy="3576638"/>
          </a:xfrm>
        </p:spPr>
        <p:txBody>
          <a:bodyPr/>
          <a:lstStyle>
            <a:lvl3pPr marL="461963" indent="-228600">
              <a:buSzPct val="70000"/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0217069-3A94-4151-A45C-40E13263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117E21-9384-4519-A5CF-C3630CB09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A0C0D4-BB9E-4640-B443-3AD2E3CD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CB38781-4814-41F2-B110-292DFF93E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6127345"/>
            <a:ext cx="5486400" cy="194873"/>
          </a:xfrm>
        </p:spPr>
        <p:txBody>
          <a:bodyPr anchor="b"/>
          <a:lstStyle>
            <a:lvl1pPr>
              <a:defRPr sz="1000"/>
            </a:lvl1pPr>
          </a:lstStyle>
          <a:p>
            <a:pPr lvl="0"/>
            <a:r>
              <a:rPr lang="en-US"/>
              <a:t>Source / Footnote: Placeholder</a:t>
            </a:r>
          </a:p>
        </p:txBody>
      </p:sp>
    </p:spTree>
    <p:extLst>
      <p:ext uri="{BB962C8B-B14F-4D97-AF65-F5344CB8AC3E}">
        <p14:creationId xmlns:p14="http://schemas.microsoft.com/office/powerpoint/2010/main" val="382530862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04D2-91F9-AB42-A250-E7A9F133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EA61F-4CEF-4B40-B70D-990CD308D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181600" cy="4576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DFF81-269D-D54A-B5A1-EE87A0B9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0" y="1600200"/>
            <a:ext cx="5181600" cy="4576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5BF28-6711-4668-B0D0-E69012853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97849-5315-4A71-963D-B9993232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0645096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0FAA0-6868-5E4D-9466-FEE382AFA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5157787" cy="7381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FAA36-5A23-7547-8BD9-0FF3687D1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E3057-F197-F346-A89D-1DF37D24B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99212" y="1600201"/>
            <a:ext cx="5183188" cy="7381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6DF260-22BD-E340-8870-E22A2BF94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9921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0217069-3A94-4151-A45C-40E13263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117E21-9384-4519-A5CF-C3630CB09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A0C0D4-BB9E-4640-B443-3AD2E3CD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52632560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0FAA0-6868-5E4D-9466-FEE382AFA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010638"/>
            <a:ext cx="5157787" cy="4709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FAA36-5A23-7547-8BD9-0FF3687D1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644047"/>
            <a:ext cx="5157787" cy="35456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E3057-F197-F346-A89D-1DF37D24B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99212" y="2010638"/>
            <a:ext cx="5183188" cy="4709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6DF260-22BD-E340-8870-E22A2BF94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99212" y="2644047"/>
            <a:ext cx="5183188" cy="35456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0217069-3A94-4151-A45C-40E13263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117E21-9384-4519-A5CF-C3630CB09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A0C0D4-BB9E-4640-B443-3AD2E3CD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90C91F1-B4DE-4B7C-ACE9-7F345688B4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600200"/>
            <a:ext cx="10972800" cy="47097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699529951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0FAA0-6868-5E4D-9466-FEE382AFA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010638"/>
            <a:ext cx="5157787" cy="4709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FAA36-5A23-7547-8BD9-0FF3687D1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644048"/>
            <a:ext cx="5157787" cy="3437666"/>
          </a:xfrm>
        </p:spPr>
        <p:txBody>
          <a:bodyPr/>
          <a:lstStyle>
            <a:lvl3pPr marL="461963" indent="-228600">
              <a:buSzPct val="70000"/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E3057-F197-F346-A89D-1DF37D24B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99212" y="2010638"/>
            <a:ext cx="5183188" cy="4709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6DF260-22BD-E340-8870-E22A2BF94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99212" y="2644048"/>
            <a:ext cx="5183188" cy="3437666"/>
          </a:xfrm>
        </p:spPr>
        <p:txBody>
          <a:bodyPr/>
          <a:lstStyle>
            <a:lvl3pPr marL="461963" indent="-228600">
              <a:buSzPct val="70000"/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0217069-3A94-4151-A45C-40E13263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117E21-9384-4519-A5CF-C3630CB09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A0C0D4-BB9E-4640-B443-3AD2E3CD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90C91F1-B4DE-4B7C-ACE9-7F345688B4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600200"/>
            <a:ext cx="10972800" cy="47097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Slide 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DDEB7D0-EB35-42B3-9F79-2E26498D8F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6127345"/>
            <a:ext cx="5486400" cy="194873"/>
          </a:xfrm>
        </p:spPr>
        <p:txBody>
          <a:bodyPr anchor="b"/>
          <a:lstStyle>
            <a:lvl1pPr>
              <a:defRPr sz="1000"/>
            </a:lvl1pPr>
          </a:lstStyle>
          <a:p>
            <a:pPr lvl="0"/>
            <a:r>
              <a:rPr lang="en-US"/>
              <a:t>Source / Footnote: Placeholder</a:t>
            </a:r>
          </a:p>
        </p:txBody>
      </p:sp>
    </p:spTree>
    <p:extLst>
      <p:ext uri="{BB962C8B-B14F-4D97-AF65-F5344CB8AC3E}">
        <p14:creationId xmlns:p14="http://schemas.microsoft.com/office/powerpoint/2010/main" val="3217229712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D520597-D5E3-4C6A-BFF7-C0BCCCDACFC6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C75075-1385-4E02-9E1B-F42E5F58F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2A946D-2440-4067-BB89-2DEB1B83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18201443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7E5A69-2607-724C-AF39-8F0450AF69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A5E1E4-5100-BC4C-BCF7-58CD66F889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52716" y="4242566"/>
            <a:ext cx="6013260" cy="535700"/>
          </a:xfrm>
        </p:spPr>
        <p:txBody>
          <a:bodyPr lIns="0" tIns="0" rIns="0" bIns="0" anchor="t" anchorCtr="0">
            <a:noAutofit/>
          </a:bodyPr>
          <a:lstStyle>
            <a:lvl1pPr algn="l">
              <a:defRPr sz="3200" cap="all" baseline="0"/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6AF9E5-62DD-2C4E-9843-279EA6AE31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0636" y="2298033"/>
            <a:ext cx="4457703" cy="156410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764FB5-193E-F64E-8AA3-74309DDA21EE}"/>
              </a:ext>
            </a:extLst>
          </p:cNvPr>
          <p:cNvCxnSpPr>
            <a:cxnSpLocks/>
          </p:cNvCxnSpPr>
          <p:nvPr userDrawn="1"/>
        </p:nvCxnSpPr>
        <p:spPr>
          <a:xfrm>
            <a:off x="4152716" y="3989553"/>
            <a:ext cx="8051038" cy="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047AA-415B-4D31-9075-397D49550C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52716" y="4778375"/>
            <a:ext cx="6013634" cy="15763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Presenter contact info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CF0B74-388D-4473-BD61-A51AABF75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4371761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NO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35577" y="210711"/>
            <a:ext cx="11320847" cy="756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sz="2600" b="1">
                <a:solidFill>
                  <a:schemeClr val="tx1">
                    <a:lumMod val="65000"/>
                    <a:lumOff val="35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[INSERT TITLE]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35577" y="782258"/>
            <a:ext cx="11320847" cy="476596"/>
          </a:xfrm>
          <a:prstGeom prst="rect">
            <a:avLst/>
          </a:prstGeom>
        </p:spPr>
        <p:txBody>
          <a:bodyPr lIns="45720" tIns="0" rIns="0" bIns="0" anchor="ctr"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09570" indent="0">
              <a:buNone/>
              <a:defRPr sz="2133">
                <a:solidFill>
                  <a:schemeClr val="bg1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219140" indent="0">
              <a:buNone/>
              <a:defRPr sz="2133">
                <a:solidFill>
                  <a:schemeClr val="bg1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828709" indent="0">
              <a:buNone/>
              <a:defRPr sz="2133">
                <a:solidFill>
                  <a:schemeClr val="bg1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438278" indent="0">
              <a:buNone/>
              <a:defRPr sz="2133">
                <a:solidFill>
                  <a:schemeClr val="bg1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[INSERT TOP-LINE]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22A78E-6B4B-408C-903C-C27D5E7ECE43}"/>
              </a:ext>
            </a:extLst>
          </p:cNvPr>
          <p:cNvCxnSpPr/>
          <p:nvPr userDrawn="1"/>
        </p:nvCxnSpPr>
        <p:spPr>
          <a:xfrm flipH="1">
            <a:off x="439806" y="6318985"/>
            <a:ext cx="11320847" cy="0"/>
          </a:xfrm>
          <a:prstGeom prst="line">
            <a:avLst/>
          </a:prstGeom>
          <a:ln w="12700" cap="rnd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6CC43-49E1-4459-B201-CFB4D4C13B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93116" y="6375545"/>
            <a:ext cx="7422383" cy="42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lang="en-US" sz="900" b="0" i="0" kern="1200" baseline="0" dirty="0" smtClean="0">
                <a:solidFill>
                  <a:schemeClr val="bg1">
                    <a:lumMod val="50000"/>
                  </a:schemeClr>
                </a:solidFill>
                <a:latin typeface="Helvetica" panose="020B0604020202020204" pitchFamily="34" charset="0"/>
                <a:ea typeface="Open Sans" charset="0"/>
                <a:cs typeface="Helvetica" panose="020B0604020202020204" pitchFamily="34" charset="0"/>
              </a:defRPr>
            </a:lvl1pPr>
            <a:lvl2pPr>
              <a:defRPr lang="en-US" sz="900" b="0" i="0" kern="1200" baseline="0" dirty="0" smtClean="0">
                <a:solidFill>
                  <a:schemeClr val="bg1">
                    <a:lumMod val="50000"/>
                  </a:schemeClr>
                </a:solidFill>
                <a:latin typeface="Helvetica" panose="020B0604020202020204" pitchFamily="34" charset="0"/>
                <a:ea typeface="Open Sans" charset="0"/>
                <a:cs typeface="Helvetica" panose="020B0604020202020204" pitchFamily="34" charset="0"/>
              </a:defRPr>
            </a:lvl2pPr>
            <a:lvl3pPr>
              <a:defRPr lang="en-US" sz="900" b="0" i="0" kern="1200" baseline="0" dirty="0" smtClean="0">
                <a:solidFill>
                  <a:schemeClr val="bg1">
                    <a:lumMod val="50000"/>
                  </a:schemeClr>
                </a:solidFill>
                <a:latin typeface="Helvetica" panose="020B0604020202020204" pitchFamily="34" charset="0"/>
                <a:ea typeface="Open Sans" charset="0"/>
                <a:cs typeface="Helvetica" panose="020B0604020202020204" pitchFamily="34" charset="0"/>
              </a:defRPr>
            </a:lvl3pPr>
            <a:lvl4pPr>
              <a:defRPr lang="en-US" sz="900" b="0" i="0" kern="1200" baseline="0" dirty="0" smtClean="0">
                <a:solidFill>
                  <a:schemeClr val="bg1">
                    <a:lumMod val="50000"/>
                  </a:schemeClr>
                </a:solidFill>
                <a:latin typeface="Helvetica" panose="020B0604020202020204" pitchFamily="34" charset="0"/>
                <a:ea typeface="Open Sans" charset="0"/>
                <a:cs typeface="Helvetica" panose="020B0604020202020204" pitchFamily="34" charset="0"/>
              </a:defRPr>
            </a:lvl4pPr>
            <a:lvl5pPr>
              <a:defRPr lang="en-US" sz="900" b="0" i="0" kern="1200" baseline="0" dirty="0" smtClean="0">
                <a:solidFill>
                  <a:schemeClr val="bg1">
                    <a:lumMod val="50000"/>
                  </a:schemeClr>
                </a:solidFill>
                <a:latin typeface="Helvetica" panose="020B0604020202020204" pitchFamily="34" charset="0"/>
                <a:ea typeface="Open Sans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/>
              <a:t>Source: TBD.</a:t>
            </a:r>
          </a:p>
        </p:txBody>
      </p:sp>
    </p:spTree>
    <p:extLst>
      <p:ext uri="{BB962C8B-B14F-4D97-AF65-F5344CB8AC3E}">
        <p14:creationId xmlns:p14="http://schemas.microsoft.com/office/powerpoint/2010/main" val="37801958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Mini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771" y="363802"/>
            <a:ext cx="10055871" cy="1369545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76792" y="6363465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6AA6C1F-55E1-4717-A695-77C533C9C0D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5E02F1-5BD2-4A4B-962B-4FD3DA6F9D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417" y="6363465"/>
            <a:ext cx="1543199" cy="40825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BA3D4E-8570-4CCC-BE33-F317A047E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771" y="1733346"/>
            <a:ext cx="10076524" cy="4397620"/>
          </a:xfrm>
        </p:spPr>
        <p:txBody>
          <a:bodyPr/>
          <a:lstStyle>
            <a:lvl1pPr marL="398463" indent="-398463">
              <a:buClr>
                <a:schemeClr val="accent1"/>
              </a:buClr>
              <a:buSzPct val="90000"/>
              <a:buFont typeface="Wingdings" panose="05000000000000000000" pitchFamily="2" charset="2"/>
              <a:buChar char=""/>
              <a:defRPr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57250" indent="-342900">
              <a:buClr>
                <a:schemeClr val="accent1"/>
              </a:buClr>
              <a:buSzPct val="80000"/>
              <a:buFont typeface="Wingdings" pitchFamily="2" charset="2"/>
              <a:buChar char="Ø"/>
              <a:defRPr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chemeClr val="accent1"/>
              </a:buClr>
              <a:buSzPct val="80000"/>
              <a:buFont typeface="Wingdings" pitchFamily="2" charset="2"/>
              <a:buChar char="§"/>
              <a:defRPr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chemeClr val="accent1"/>
              </a:buClr>
              <a:buSzPct val="80000"/>
              <a:buFont typeface="Arial" panose="020B0604020202020204" pitchFamily="34" charset="0"/>
              <a:buChar char="­"/>
              <a:defRPr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071528-0C62-A34D-A4A8-07C5C73121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252" y="-9939"/>
            <a:ext cx="1205472" cy="687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987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1D3470-0EC7-2C47-A407-23FFF6A052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5599" y="465138"/>
            <a:ext cx="10302628" cy="88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 i="0">
                <a:solidFill>
                  <a:srgbClr val="F8981D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3600" b="1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914400" indent="0">
              <a:buNone/>
              <a:defRPr sz="3600" b="1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1371600" indent="0">
              <a:buNone/>
              <a:defRPr sz="3600" b="1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828800" indent="0">
              <a:buNone/>
              <a:defRPr sz="3600" b="1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Headline goes here.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0892F8F-2894-2949-A855-0556A84312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668" y="1386840"/>
            <a:ext cx="6307524" cy="889000"/>
          </a:xfrm>
          <a:prstGeom prst="rect">
            <a:avLst/>
          </a:prstGeo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3600" b="1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914400" indent="0">
              <a:buNone/>
              <a:defRPr sz="3600" b="1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1371600" indent="0">
              <a:buNone/>
              <a:defRPr sz="3600" b="1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828800" indent="0">
              <a:buNone/>
              <a:defRPr sz="3600" b="1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Quote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228D41C-AC99-6440-A05A-904FE29DF6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7303" y="2498725"/>
            <a:ext cx="6307137" cy="2509838"/>
          </a:xfrm>
          <a:prstGeom prst="rect">
            <a:avLst/>
          </a:prstGeom>
        </p:spPr>
        <p:txBody>
          <a:bodyPr/>
          <a:lstStyle>
            <a:lvl1pPr>
              <a:buClr>
                <a:srgbClr val="F8981D"/>
              </a:buClr>
              <a:defRPr sz="32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F8981D"/>
              </a:buClr>
              <a:defRPr sz="2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F8981D"/>
              </a:buClr>
              <a:defRPr sz="24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F8981D"/>
              </a:buClr>
              <a:defRPr sz="2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F68A3D"/>
              </a:buClr>
              <a:defRPr sz="2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0CC99-874F-BF42-A1BF-37BC2B05A76A}"/>
              </a:ext>
            </a:extLst>
          </p:cNvPr>
          <p:cNvSpPr txBox="1"/>
          <p:nvPr userDrawn="1"/>
        </p:nvSpPr>
        <p:spPr>
          <a:xfrm>
            <a:off x="5890260" y="6363652"/>
            <a:ext cx="411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F8E52EA-AA67-3B46-B0A8-3B035118A5A6}" type="slidenum">
              <a:rPr lang="en-US" sz="1200" b="1" i="0" smtClean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pPr algn="ctr"/>
              <a:t>‹#›</a:t>
            </a:fld>
            <a:endParaRPr lang="en-US" sz="1200" b="1" i="0">
              <a:solidFill>
                <a:schemeClr val="bg1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0543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36CB6C-5E3A-4C6A-AE2F-82F2DF4C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53941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BC19-3AA6-5D4C-B7BD-27EB4CCAB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912FE-7909-4C29-8FBB-88A366033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F2812-C955-47BB-A1A7-3495DEAE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695F1-9C98-4655-BA1D-316CA6A759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600200"/>
            <a:ext cx="10972800" cy="47097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352931519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410559D-9178-A64B-BF1D-443D4B915D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54" y="0"/>
            <a:ext cx="12192000" cy="6872158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A5E1E4-5100-BC4C-BCF7-58CD66F889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52716" y="4242566"/>
            <a:ext cx="6013260" cy="535700"/>
          </a:xfrm>
        </p:spPr>
        <p:txBody>
          <a:bodyPr lIns="0" tIns="0" rIns="0" bIns="0" anchor="t" anchorCtr="0">
            <a:noAutofit/>
          </a:bodyPr>
          <a:lstStyle>
            <a:lvl1pPr algn="l">
              <a:defRPr sz="3200" cap="all" baseline="0"/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6AF9E5-62DD-2C4E-9843-279EA6AE31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0636" y="2298033"/>
            <a:ext cx="4457703" cy="156410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764FB5-193E-F64E-8AA3-74309DDA21EE}"/>
              </a:ext>
            </a:extLst>
          </p:cNvPr>
          <p:cNvCxnSpPr>
            <a:cxnSpLocks/>
          </p:cNvCxnSpPr>
          <p:nvPr userDrawn="1"/>
        </p:nvCxnSpPr>
        <p:spPr>
          <a:xfrm>
            <a:off x="4152716" y="3989553"/>
            <a:ext cx="8051038" cy="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047AA-415B-4D31-9075-397D49550C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52716" y="4778375"/>
            <a:ext cx="6013634" cy="15763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Presenter contact info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CF0B74-388D-4473-BD61-A51AABF75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17212545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5596-955C-C54E-8EFA-F33D8B61FC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67"/>
            </a:lvl1pPr>
          </a:lstStyle>
          <a:p>
            <a:r>
              <a:rPr lang="en-US"/>
              <a:t>Click to edit Master title style: Arial, 20pt, Bold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85263E-FBAE-7A45-AC9F-78A816F18B2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60BAC71-FF53-364F-93A1-30AE3AB4D6FB}" type="slidenum">
              <a:rPr lang="en-US" smtClean="0"/>
              <a:pPr/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31443535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BC19-3AA6-5D4C-B7BD-27EB4CCA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912FE-7909-4C29-8FBB-88A366033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F2812-C955-47BB-A1A7-3495DEAE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1604687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48">
            <a:extLst>
              <a:ext uri="{FF2B5EF4-FFF2-40B4-BE49-F238E27FC236}">
                <a16:creationId xmlns:a16="http://schemas.microsoft.com/office/drawing/2014/main" id="{D127D48E-3E09-48C7-AB33-FBD643EFA5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3914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50">
            <a:extLst>
              <a:ext uri="{FF2B5EF4-FFF2-40B4-BE49-F238E27FC236}">
                <a16:creationId xmlns:a16="http://schemas.microsoft.com/office/drawing/2014/main" id="{A1B91BF4-B790-4F67-98EB-FE905527BF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3914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CCA5F33F-1634-427F-92BF-99A5ED52A4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34076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50">
            <a:extLst>
              <a:ext uri="{FF2B5EF4-FFF2-40B4-BE49-F238E27FC236}">
                <a16:creationId xmlns:a16="http://schemas.microsoft.com/office/drawing/2014/main" id="{084F28D2-C99C-44DC-95CF-A18847F3B6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4076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8">
            <a:extLst>
              <a:ext uri="{FF2B5EF4-FFF2-40B4-BE49-F238E27FC236}">
                <a16:creationId xmlns:a16="http://schemas.microsoft.com/office/drawing/2014/main" id="{2402522A-E098-4FB5-B454-D6FC98D90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4238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50">
            <a:extLst>
              <a:ext uri="{FF2B5EF4-FFF2-40B4-BE49-F238E27FC236}">
                <a16:creationId xmlns:a16="http://schemas.microsoft.com/office/drawing/2014/main" id="{18CF51EA-CDE2-4AA1-83CB-9DC6E212C3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44238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FE2BFCE7-D8D1-42B7-97F2-78B1D2CB5F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54400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50">
            <a:extLst>
              <a:ext uri="{FF2B5EF4-FFF2-40B4-BE49-F238E27FC236}">
                <a16:creationId xmlns:a16="http://schemas.microsoft.com/office/drawing/2014/main" id="{0C4E8DE7-5691-4470-BC2C-F9F6532248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54400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BC6ED5-DBEC-4BA5-9BFE-9A5E0ED8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484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  <p15:guide id="2" pos="3840">
          <p15:clr>
            <a:srgbClr val="FBAE40"/>
          </p15:clr>
        </p15:guide>
        <p15:guide id="3" pos="5760">
          <p15:clr>
            <a:srgbClr val="FBAE40"/>
          </p15:clr>
        </p15:guide>
        <p15:guide id="4" pos="3984">
          <p15:clr>
            <a:srgbClr val="5ACBF0"/>
          </p15:clr>
        </p15:guide>
        <p15:guide id="5" pos="3696">
          <p15:clr>
            <a:srgbClr val="5ACBF0"/>
          </p15:clr>
        </p15:guide>
        <p15:guide id="6" pos="2064">
          <p15:clr>
            <a:srgbClr val="5ACBF0"/>
          </p15:clr>
        </p15:guide>
        <p15:guide id="7" pos="1776">
          <p15:clr>
            <a:srgbClr val="5ACBF0"/>
          </p15:clr>
        </p15:guide>
        <p15:guide id="8" pos="5616">
          <p15:clr>
            <a:srgbClr val="5ACBF0"/>
          </p15:clr>
        </p15:guide>
        <p15:guide id="9" pos="5904">
          <p15:clr>
            <a:srgbClr val="5ACBF0"/>
          </p15:clr>
        </p15:guide>
        <p15:guide id="10" pos="144">
          <p15:clr>
            <a:srgbClr val="5ACBF0"/>
          </p15:clr>
        </p15:guide>
        <p15:guide id="11" orient="horz" pos="4176">
          <p15:clr>
            <a:srgbClr val="5ACBF0"/>
          </p15:clr>
        </p15:guide>
        <p15:guide id="12" pos="7536">
          <p15:clr>
            <a:srgbClr val="5ACBF0"/>
          </p15:clr>
        </p15:guide>
        <p15:guide id="13" orient="horz" pos="144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48">
            <a:extLst>
              <a:ext uri="{FF2B5EF4-FFF2-40B4-BE49-F238E27FC236}">
                <a16:creationId xmlns:a16="http://schemas.microsoft.com/office/drawing/2014/main" id="{C6E48CAB-F1C0-4E71-9686-C02A967E92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182" y="4014522"/>
            <a:ext cx="1182118" cy="302186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35" name="Text Placeholder 50">
            <a:extLst>
              <a:ext uri="{FF2B5EF4-FFF2-40B4-BE49-F238E27FC236}">
                <a16:creationId xmlns:a16="http://schemas.microsoft.com/office/drawing/2014/main" id="{7C226081-D459-4A68-9B23-0C804E6A63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182" y="4486178"/>
            <a:ext cx="1182118" cy="118310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C32AE455-05F0-44FA-98C4-73D9C60DF8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39103" y="4014522"/>
            <a:ext cx="1208897" cy="302186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3C3FB663-073E-458E-A31A-B15112A0D37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839103" y="4486178"/>
            <a:ext cx="1182118" cy="118310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8">
            <a:extLst>
              <a:ext uri="{FF2B5EF4-FFF2-40B4-BE49-F238E27FC236}">
                <a16:creationId xmlns:a16="http://schemas.microsoft.com/office/drawing/2014/main" id="{91332113-C9A3-4B1F-A973-C30104497D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2024" y="4014522"/>
            <a:ext cx="1181099" cy="302186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53" name="Text Placeholder 50">
            <a:extLst>
              <a:ext uri="{FF2B5EF4-FFF2-40B4-BE49-F238E27FC236}">
                <a16:creationId xmlns:a16="http://schemas.microsoft.com/office/drawing/2014/main" id="{CDAC2DE8-0B23-47D4-A121-018184C5D2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222024" y="4486178"/>
            <a:ext cx="1182118" cy="118310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8">
            <a:extLst>
              <a:ext uri="{FF2B5EF4-FFF2-40B4-BE49-F238E27FC236}">
                <a16:creationId xmlns:a16="http://schemas.microsoft.com/office/drawing/2014/main" id="{AE8613EE-32F0-4251-809B-6B9907E226C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04944" y="4014522"/>
            <a:ext cx="1181099" cy="302186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55" name="Text Placeholder 50">
            <a:extLst>
              <a:ext uri="{FF2B5EF4-FFF2-40B4-BE49-F238E27FC236}">
                <a16:creationId xmlns:a16="http://schemas.microsoft.com/office/drawing/2014/main" id="{6E9683DA-61F6-48A0-9453-C03FB97940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04944" y="4486178"/>
            <a:ext cx="1182118" cy="118310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8">
            <a:extLst>
              <a:ext uri="{FF2B5EF4-FFF2-40B4-BE49-F238E27FC236}">
                <a16:creationId xmlns:a16="http://schemas.microsoft.com/office/drawing/2014/main" id="{53C09CD9-E6F6-4AA3-968A-491D1568E73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55230" y="4014522"/>
            <a:ext cx="1181099" cy="302186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4457D5F2-D7AE-44A9-847A-D20086BCCC2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55230" y="4486178"/>
            <a:ext cx="1182118" cy="118310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8">
            <a:extLst>
              <a:ext uri="{FF2B5EF4-FFF2-40B4-BE49-F238E27FC236}">
                <a16:creationId xmlns:a16="http://schemas.microsoft.com/office/drawing/2014/main" id="{4FBE8211-41BE-41C2-B826-94FD55BC0AA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38151" y="4014522"/>
            <a:ext cx="1181098" cy="302186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18C75666-F3E0-4AD7-8C05-FEFFEAE1D10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38151" y="4486178"/>
            <a:ext cx="1182118" cy="118310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48">
            <a:extLst>
              <a:ext uri="{FF2B5EF4-FFF2-40B4-BE49-F238E27FC236}">
                <a16:creationId xmlns:a16="http://schemas.microsoft.com/office/drawing/2014/main" id="{66478F13-D9B8-4439-9B08-804CD6848EB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321072" y="4014522"/>
            <a:ext cx="1181098" cy="302186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1" name="Text Placeholder 50">
            <a:extLst>
              <a:ext uri="{FF2B5EF4-FFF2-40B4-BE49-F238E27FC236}">
                <a16:creationId xmlns:a16="http://schemas.microsoft.com/office/drawing/2014/main" id="{08844405-957A-4970-A2B6-D161FED665F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321072" y="4486178"/>
            <a:ext cx="1182118" cy="118310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48">
            <a:extLst>
              <a:ext uri="{FF2B5EF4-FFF2-40B4-BE49-F238E27FC236}">
                <a16:creationId xmlns:a16="http://schemas.microsoft.com/office/drawing/2014/main" id="{6F067D31-AE61-48F0-A497-1908DC77F08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703992" y="4014522"/>
            <a:ext cx="1181098" cy="302186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3" name="Text Placeholder 50">
            <a:extLst>
              <a:ext uri="{FF2B5EF4-FFF2-40B4-BE49-F238E27FC236}">
                <a16:creationId xmlns:a16="http://schemas.microsoft.com/office/drawing/2014/main" id="{5B4A526A-A40E-4B7D-94EC-5FDCAD2EAD8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0703992" y="4486178"/>
            <a:ext cx="1182118" cy="118310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67390-01C5-4A4E-AF7F-79E8DB2B2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0779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  <p15:guide id="2" pos="3840">
          <p15:clr>
            <a:srgbClr val="FBAE40"/>
          </p15:clr>
        </p15:guide>
        <p15:guide id="3" pos="5760">
          <p15:clr>
            <a:srgbClr val="FBAE40"/>
          </p15:clr>
        </p15:guide>
        <p15:guide id="4" pos="3984">
          <p15:clr>
            <a:srgbClr val="5ACBF0"/>
          </p15:clr>
        </p15:guide>
        <p15:guide id="5" pos="3696">
          <p15:clr>
            <a:srgbClr val="5ACBF0"/>
          </p15:clr>
        </p15:guide>
        <p15:guide id="6" pos="2064">
          <p15:clr>
            <a:srgbClr val="5ACBF0"/>
          </p15:clr>
        </p15:guide>
        <p15:guide id="7" pos="1776">
          <p15:clr>
            <a:srgbClr val="5ACBF0"/>
          </p15:clr>
        </p15:guide>
        <p15:guide id="8" pos="5616">
          <p15:clr>
            <a:srgbClr val="5ACBF0"/>
          </p15:clr>
        </p15:guide>
        <p15:guide id="9" pos="5904">
          <p15:clr>
            <a:srgbClr val="5ACBF0"/>
          </p15:clr>
        </p15:guide>
        <p15:guide id="10" pos="144">
          <p15:clr>
            <a:srgbClr val="5ACBF0"/>
          </p15:clr>
        </p15:guide>
        <p15:guide id="11" orient="horz" pos="4176">
          <p15:clr>
            <a:srgbClr val="5ACBF0"/>
          </p15:clr>
        </p15:guide>
        <p15:guide id="12" pos="7536">
          <p15:clr>
            <a:srgbClr val="5ACBF0"/>
          </p15:clr>
        </p15:guide>
        <p15:guide id="13" orient="horz" pos="144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14742123-85C4-4775-80AC-721BD7C16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80060" y="1776098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E1001174-581F-41A6-864B-D3BE932C2E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0060" y="2111375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8">
            <a:extLst>
              <a:ext uri="{FF2B5EF4-FFF2-40B4-BE49-F238E27FC236}">
                <a16:creationId xmlns:a16="http://schemas.microsoft.com/office/drawing/2014/main" id="{2B649793-2AFC-43EE-8172-0EAB326F11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74540" y="1776098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3" name="Text Placeholder 50">
            <a:extLst>
              <a:ext uri="{FF2B5EF4-FFF2-40B4-BE49-F238E27FC236}">
                <a16:creationId xmlns:a16="http://schemas.microsoft.com/office/drawing/2014/main" id="{5B27745F-27CA-45D0-BE8E-A9C3B168F4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74540" y="2111375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8">
            <a:extLst>
              <a:ext uri="{FF2B5EF4-FFF2-40B4-BE49-F238E27FC236}">
                <a16:creationId xmlns:a16="http://schemas.microsoft.com/office/drawing/2014/main" id="{58782C77-F426-4586-AF09-D07E1E8737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97900" y="1776098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Text Placeholder 50">
            <a:extLst>
              <a:ext uri="{FF2B5EF4-FFF2-40B4-BE49-F238E27FC236}">
                <a16:creationId xmlns:a16="http://schemas.microsoft.com/office/drawing/2014/main" id="{E04DA729-6A59-4BC5-8955-DF4D12F125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97900" y="2111375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8">
            <a:extLst>
              <a:ext uri="{FF2B5EF4-FFF2-40B4-BE49-F238E27FC236}">
                <a16:creationId xmlns:a16="http://schemas.microsoft.com/office/drawing/2014/main" id="{F6AF03D4-E441-4447-876C-A1B030223E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0060" y="2914739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679D428E-9700-4E19-8364-70006C3E76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80060" y="3254810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8">
            <a:extLst>
              <a:ext uri="{FF2B5EF4-FFF2-40B4-BE49-F238E27FC236}">
                <a16:creationId xmlns:a16="http://schemas.microsoft.com/office/drawing/2014/main" id="{5B64A0D9-EA5C-4EC1-981A-0FD223A62F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74540" y="2914739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7F9CD6F4-7AEE-42A4-B26D-96BE3E9003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74540" y="3254810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48">
            <a:extLst>
              <a:ext uri="{FF2B5EF4-FFF2-40B4-BE49-F238E27FC236}">
                <a16:creationId xmlns:a16="http://schemas.microsoft.com/office/drawing/2014/main" id="{82EA5B58-66CC-4197-BAC3-D0A39558DB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7900" y="2914739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50">
            <a:extLst>
              <a:ext uri="{FF2B5EF4-FFF2-40B4-BE49-F238E27FC236}">
                <a16:creationId xmlns:a16="http://schemas.microsoft.com/office/drawing/2014/main" id="{B76C47B4-A585-4CAC-933A-2E6D1938D1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97900" y="3254810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48">
            <a:extLst>
              <a:ext uri="{FF2B5EF4-FFF2-40B4-BE49-F238E27FC236}">
                <a16:creationId xmlns:a16="http://schemas.microsoft.com/office/drawing/2014/main" id="{563D0C18-5125-4D0F-B46D-76AE182B3F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80060" y="4057987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50">
            <a:extLst>
              <a:ext uri="{FF2B5EF4-FFF2-40B4-BE49-F238E27FC236}">
                <a16:creationId xmlns:a16="http://schemas.microsoft.com/office/drawing/2014/main" id="{10634501-CE83-42B9-8572-5C6B737108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80060" y="4392591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48">
            <a:extLst>
              <a:ext uri="{FF2B5EF4-FFF2-40B4-BE49-F238E27FC236}">
                <a16:creationId xmlns:a16="http://schemas.microsoft.com/office/drawing/2014/main" id="{54844B85-1B28-4340-AA8C-10A0C2A36C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74540" y="4057987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50">
            <a:extLst>
              <a:ext uri="{FF2B5EF4-FFF2-40B4-BE49-F238E27FC236}">
                <a16:creationId xmlns:a16="http://schemas.microsoft.com/office/drawing/2014/main" id="{31BB84F0-3823-46DB-BCEF-5EF3F8E680C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74540" y="4392591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48">
            <a:extLst>
              <a:ext uri="{FF2B5EF4-FFF2-40B4-BE49-F238E27FC236}">
                <a16:creationId xmlns:a16="http://schemas.microsoft.com/office/drawing/2014/main" id="{D4D4EE7B-E029-47B3-BC18-D53E810711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7900" y="4057987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7" name="Text Placeholder 50">
            <a:extLst>
              <a:ext uri="{FF2B5EF4-FFF2-40B4-BE49-F238E27FC236}">
                <a16:creationId xmlns:a16="http://schemas.microsoft.com/office/drawing/2014/main" id="{C088BE45-14DC-4551-A5FC-93D0BA99188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697900" y="4392591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48">
            <a:extLst>
              <a:ext uri="{FF2B5EF4-FFF2-40B4-BE49-F238E27FC236}">
                <a16:creationId xmlns:a16="http://schemas.microsoft.com/office/drawing/2014/main" id="{120E072F-4FF5-422F-B7FD-BE3DF02601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80060" y="5231920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9" name="Text Placeholder 50">
            <a:extLst>
              <a:ext uri="{FF2B5EF4-FFF2-40B4-BE49-F238E27FC236}">
                <a16:creationId xmlns:a16="http://schemas.microsoft.com/office/drawing/2014/main" id="{E73E6162-F4E3-4F6D-BA12-6B5918E23B8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80060" y="5566524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48">
            <a:extLst>
              <a:ext uri="{FF2B5EF4-FFF2-40B4-BE49-F238E27FC236}">
                <a16:creationId xmlns:a16="http://schemas.microsoft.com/office/drawing/2014/main" id="{C9938F8E-67A2-401C-882C-ED04C7E522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74540" y="5231920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1" name="Text Placeholder 50">
            <a:extLst>
              <a:ext uri="{FF2B5EF4-FFF2-40B4-BE49-F238E27FC236}">
                <a16:creationId xmlns:a16="http://schemas.microsoft.com/office/drawing/2014/main" id="{E683DBE3-DCA5-4538-A253-E60ED2C4B62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74540" y="5566524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48">
            <a:extLst>
              <a:ext uri="{FF2B5EF4-FFF2-40B4-BE49-F238E27FC236}">
                <a16:creationId xmlns:a16="http://schemas.microsoft.com/office/drawing/2014/main" id="{6F8B9E2C-BE06-4536-A348-4640A2DA1B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7900" y="5231920"/>
            <a:ext cx="2159000" cy="30218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3" name="Text Placeholder 50">
            <a:extLst>
              <a:ext uri="{FF2B5EF4-FFF2-40B4-BE49-F238E27FC236}">
                <a16:creationId xmlns:a16="http://schemas.microsoft.com/office/drawing/2014/main" id="{B9A57CE7-FAE2-490F-A8F8-402B5F3A744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697900" y="5566524"/>
            <a:ext cx="217963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11859-7CC8-480B-BA0E-18BB16B3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275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4">
          <p15:clr>
            <a:srgbClr val="FBAE40"/>
          </p15:clr>
        </p15:guide>
        <p15:guide id="2" pos="5112">
          <p15:clr>
            <a:srgbClr val="FBAE40"/>
          </p15:clr>
        </p15:guide>
        <p15:guide id="4" pos="5256">
          <p15:clr>
            <a:srgbClr val="5ACBF0"/>
          </p15:clr>
        </p15:guide>
        <p15:guide id="5" pos="4968">
          <p15:clr>
            <a:srgbClr val="5ACBF0"/>
          </p15:clr>
        </p15:guide>
        <p15:guide id="6" pos="2688">
          <p15:clr>
            <a:srgbClr val="5ACBF0"/>
          </p15:clr>
        </p15:guide>
        <p15:guide id="7" pos="2400">
          <p15:clr>
            <a:srgbClr val="5ACBF0"/>
          </p15:clr>
        </p15:guide>
        <p15:guide id="10" pos="144">
          <p15:clr>
            <a:srgbClr val="5ACBF0"/>
          </p15:clr>
        </p15:guide>
        <p15:guide id="11" orient="horz" pos="4176">
          <p15:clr>
            <a:srgbClr val="5ACBF0"/>
          </p15:clr>
        </p15:guide>
        <p15:guide id="12" pos="7536">
          <p15:clr>
            <a:srgbClr val="5ACBF0"/>
          </p15:clr>
        </p15:guide>
        <p15:guide id="13" orient="horz" pos="144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423400" cy="994122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F37F0B"/>
              </a:buClr>
              <a:buFont typeface="Arial" pitchFamily="34" charset="0"/>
              <a:buChar char="►"/>
              <a:defRPr sz="1200"/>
            </a:lvl1pPr>
            <a:lvl2pPr>
              <a:buClr>
                <a:srgbClr val="F37F0B"/>
              </a:buClr>
              <a:defRPr sz="1000"/>
            </a:lvl2pPr>
            <a:lvl3pPr marL="1143000" indent="-228600">
              <a:buClr>
                <a:srgbClr val="F37F0B"/>
              </a:buClr>
              <a:buFont typeface="Arial" pitchFamily="34" charset="0"/>
              <a:buChar char="•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Line 4"/>
          <p:cNvSpPr>
            <a:spLocks noChangeShapeType="1"/>
          </p:cNvSpPr>
          <p:nvPr userDrawn="1"/>
        </p:nvSpPr>
        <p:spPr bwMode="auto">
          <a:xfrm>
            <a:off x="624421" y="1341438"/>
            <a:ext cx="9408583" cy="0"/>
          </a:xfrm>
          <a:prstGeom prst="line">
            <a:avLst/>
          </a:prstGeom>
          <a:noFill/>
          <a:ln w="9525">
            <a:solidFill>
              <a:srgbClr val="F37F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800"/>
          </a:p>
        </p:txBody>
      </p:sp>
      <p:sp>
        <p:nvSpPr>
          <p:cNvPr id="8" name="Rectangle 8"/>
          <p:cNvSpPr>
            <a:spLocks noChangeArrowheads="1"/>
          </p:cNvSpPr>
          <p:nvPr userDrawn="1"/>
        </p:nvSpPr>
        <p:spPr bwMode="auto">
          <a:xfrm>
            <a:off x="0" y="6597650"/>
            <a:ext cx="12192000" cy="260350"/>
          </a:xfrm>
          <a:prstGeom prst="rect">
            <a:avLst/>
          </a:prstGeom>
          <a:solidFill>
            <a:srgbClr val="F37F0B"/>
          </a:solidFill>
          <a:ln>
            <a:noFill/>
          </a:ln>
        </p:spPr>
        <p:txBody>
          <a:bodyPr wrap="none" anchor="ctr"/>
          <a:lstStyle/>
          <a:p>
            <a:endParaRPr lang="en-GB" sz="1800"/>
          </a:p>
        </p:txBody>
      </p:sp>
      <p:pic>
        <p:nvPicPr>
          <p:cNvPr id="9" name="Picture 9" descr="Consulting 40mm LR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98347" y="201613"/>
            <a:ext cx="1261857" cy="121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1376588" y="6622628"/>
            <a:ext cx="815365" cy="2353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90CEAED-3A45-4074-81F5-5211D8F4EF1E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9963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694" y="1286359"/>
            <a:ext cx="11338560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8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0B52641-50EA-4144-BFFB-D91EE3074789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35577" y="782258"/>
            <a:ext cx="11320847" cy="476596"/>
          </a:xfrm>
          <a:prstGeom prst="rect">
            <a:avLst/>
          </a:prstGeom>
        </p:spPr>
        <p:txBody>
          <a:bodyPr lIns="45720" tIns="0" rIns="0" bIns="0" anchor="ctr"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09570" indent="0">
              <a:buNone/>
              <a:defRPr sz="2133">
                <a:solidFill>
                  <a:schemeClr val="bg1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219140" indent="0">
              <a:buNone/>
              <a:defRPr sz="2133">
                <a:solidFill>
                  <a:schemeClr val="bg1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828709" indent="0">
              <a:buNone/>
              <a:defRPr sz="2133">
                <a:solidFill>
                  <a:schemeClr val="bg1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438278" indent="0">
              <a:buNone/>
              <a:defRPr sz="2133">
                <a:solidFill>
                  <a:schemeClr val="bg1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[INSERT PROJECT TITLE]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E5D8FB-1B7C-4821-AB3B-E4D995DE7D35}"/>
              </a:ext>
            </a:extLst>
          </p:cNvPr>
          <p:cNvCxnSpPr/>
          <p:nvPr userDrawn="1"/>
        </p:nvCxnSpPr>
        <p:spPr>
          <a:xfrm flipH="1">
            <a:off x="439806" y="6318985"/>
            <a:ext cx="11320847" cy="0"/>
          </a:xfrm>
          <a:prstGeom prst="line">
            <a:avLst/>
          </a:prstGeom>
          <a:ln w="12700" cap="rnd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2C24199-6AAE-4C78-A823-61DD4DB5905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9806" y="1400175"/>
            <a:ext cx="11316617" cy="6657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 lang="en-US" sz="2400" dirty="0">
                <a:solidFill>
                  <a:schemeClr val="lt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[INSERT SECTION NAME]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F84BA093-21C9-486D-BB8D-CA91F643A2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806" y="2214326"/>
            <a:ext cx="11316617" cy="6657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 lang="en-US" sz="2400" dirty="0">
                <a:solidFill>
                  <a:schemeClr val="lt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[INSERT SECTION NAME]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E743A6A9-03B8-407F-95D0-BB65B068B9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806" y="3028477"/>
            <a:ext cx="11316617" cy="6657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 lang="en-US" sz="2400" dirty="0">
                <a:solidFill>
                  <a:schemeClr val="lt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[INSERT SECTION NAME]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568278DE-07D7-4F0D-B3E6-10EF0D3C69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806" y="3842628"/>
            <a:ext cx="11316617" cy="6657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 lang="en-US" sz="2400" dirty="0">
                <a:solidFill>
                  <a:schemeClr val="lt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[INSERT SECTION NAME]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2FB7454A-0B40-4FE6-8117-BE4CCAE31B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9806" y="4656779"/>
            <a:ext cx="11316617" cy="6657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 lang="en-US" sz="2400" dirty="0">
                <a:solidFill>
                  <a:schemeClr val="lt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[INSERT SECTION NAME]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D60761B2-55AC-4FC5-8927-4ED1734037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9806" y="5470930"/>
            <a:ext cx="11316617" cy="6657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 lang="en-US" sz="2400" dirty="0" smtClean="0"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 lang="en-US" sz="2400" dirty="0">
                <a:solidFill>
                  <a:schemeClr val="lt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[INSERT SECTION NAME]</a:t>
            </a:r>
          </a:p>
        </p:txBody>
      </p:sp>
    </p:spTree>
    <p:extLst>
      <p:ext uri="{BB962C8B-B14F-4D97-AF65-F5344CB8AC3E}">
        <p14:creationId xmlns:p14="http://schemas.microsoft.com/office/powerpoint/2010/main" val="9282145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D670F5D-3170-A244-B8FE-3440C5F2C9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877017" y="0"/>
            <a:ext cx="9144000" cy="1399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br>
              <a:rPr lang="en-US" altLang="en-US"/>
            </a:br>
            <a:r>
              <a:rPr lang="en-US" alt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856DEEC-F8BF-EC49-9FA0-86929ACA1DE3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09600" y="1669022"/>
            <a:ext cx="1105088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16384CA-9CE4-774F-B4D6-29FCB0D72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0488" y="6368082"/>
            <a:ext cx="458176" cy="238973"/>
          </a:xfrm>
          <a:prstGeom prst="rect">
            <a:avLst/>
          </a:prstGeom>
        </p:spPr>
        <p:txBody>
          <a:bodyPr/>
          <a:lstStyle>
            <a:lvl1pPr>
              <a:defRPr sz="900" b="0" i="0">
                <a:latin typeface="Century Gothic Regular" charset="0"/>
              </a:defRPr>
            </a:lvl1pPr>
          </a:lstStyle>
          <a:p>
            <a:fld id="{52D91C05-9029-4B66-B30C-A037EDB5A2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82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34" Type="http://schemas.openxmlformats.org/officeDocument/2006/relationships/tags" Target="../tags/tag1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36" Type="http://schemas.openxmlformats.org/officeDocument/2006/relationships/image" Target="../media/image7.emf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47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6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411F2-34BC-794B-A46A-49028ECD7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067"/>
            <a:ext cx="10972800" cy="95462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DCEC5-D60D-494A-8AA6-C428D6409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4706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42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7" r:id="rId16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31775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61963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2625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pos="7296">
          <p15:clr>
            <a:srgbClr val="F26B43"/>
          </p15:clr>
        </p15:guide>
        <p15:guide id="5" orient="horz" pos="4003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3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A07C32B-AF72-8887-B114-B5820A07AB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3293607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473" imgH="476" progId="TCLayout.ActiveDocument.1">
                  <p:embed/>
                </p:oleObj>
              </mc:Choice>
              <mc:Fallback>
                <p:oleObj name="think-cell Slide" r:id="rId35" imgW="473" imgH="47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07C32B-AF72-8887-B114-B5820A07AB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E2D80F75-4B31-4AB3-BC16-9400C6915252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411F2-34BC-794B-A46A-49028ECD7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4956"/>
            <a:ext cx="10972800" cy="95462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DCEC5-D60D-494A-8AA6-C428D6409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4706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18C9E-B41F-9E42-86A7-6630BA2FB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23111" y="6356350"/>
            <a:ext cx="3059290" cy="50165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 CRINETICS PHARMACEUTICALS  |  </a:t>
            </a:r>
            <a:fld id="{6683835F-531F-FF4D-84F4-3BE74D2904D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3F0C9A0-8748-4173-A079-4617780AC109}"/>
              </a:ext>
            </a:extLst>
          </p:cNvPr>
          <p:cNvCxnSpPr>
            <a:cxnSpLocks/>
          </p:cNvCxnSpPr>
          <p:nvPr userDrawn="1"/>
        </p:nvCxnSpPr>
        <p:spPr>
          <a:xfrm>
            <a:off x="609600" y="1284101"/>
            <a:ext cx="748553" cy="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D7A98-9959-43B8-9AD8-32110E4F5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1320800" cy="50164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>
              <a:defRPr lang="en-US" sz="1200" smtClean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69746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31775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61963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2625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pos="7296">
          <p15:clr>
            <a:srgbClr val="F26B43"/>
          </p15:clr>
        </p15:guide>
        <p15:guide id="5" orient="horz" pos="4003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38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chart" Target="../charts/char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notesSlide" Target="../notesSlides/notesSlide2.xml"/><Relationship Id="rId7" Type="http://schemas.openxmlformats.org/officeDocument/2006/relationships/chart" Target="../charts/chart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AC29-8065-64CC-D74E-784D6D8F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/>
              <a:t>Newly Diagnosed Acromegaly Patient identification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3060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29A13-F513-35B2-1737-227856AC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0162CC-FEBD-C7BA-D5A4-3864D031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2"/>
                </a:solidFill>
              </a:rPr>
              <a:t>Current and Near Future SF Data and Alerts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B37E0D-D876-7325-809A-399D5AA3FEFD}"/>
              </a:ext>
            </a:extLst>
          </p:cNvPr>
          <p:cNvGraphicFramePr>
            <a:graphicFrameLocks noGrp="1"/>
          </p:cNvGraphicFramePr>
          <p:nvPr/>
        </p:nvGraphicFramePr>
        <p:xfrm>
          <a:off x="609601" y="936068"/>
          <a:ext cx="10972798" cy="4985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2622">
                  <a:extLst>
                    <a:ext uri="{9D8B030D-6E8A-4147-A177-3AD203B41FA5}">
                      <a16:colId xmlns:a16="http://schemas.microsoft.com/office/drawing/2014/main" val="1779861718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3751822032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3010984427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1372386538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2793112602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722987386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787746667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3826114885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2715775257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1976292329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1391714541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2619471043"/>
                    </a:ext>
                  </a:extLst>
                </a:gridCol>
                <a:gridCol w="750848">
                  <a:extLst>
                    <a:ext uri="{9D8B030D-6E8A-4147-A177-3AD203B41FA5}">
                      <a16:colId xmlns:a16="http://schemas.microsoft.com/office/drawing/2014/main" val="50674456"/>
                    </a:ext>
                  </a:extLst>
                </a:gridCol>
              </a:tblGrid>
              <a:tr h="572692">
                <a:tc rowSpan="2">
                  <a:txBody>
                    <a:bodyPr/>
                    <a:lstStyle/>
                    <a:p>
                      <a:pPr marL="220345" lvl="3" indent="0" algn="ctr" defTabSz="914400" rtl="0" eaLnBrk="1" fontAlgn="ctr" latinLnBrk="0" hangingPunct="1">
                        <a:buNone/>
                      </a:pPr>
                      <a:r>
                        <a:rPr lang="en-US" sz="1400" b="1" i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Data Intelligence/    Alerts to SF</a:t>
                      </a: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Q1’ 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Q2’ 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Q3’ 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Q4’ 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794369"/>
                  </a:ext>
                </a:extLst>
              </a:tr>
              <a:tr h="57269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Jan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Feb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Mar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Apr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May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Jun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Jul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Aug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Sep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Nov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433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Currently Treated Patients (R24M)</a:t>
                      </a: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3011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Newly Initiated patients on </a:t>
                      </a:r>
                      <a:r>
                        <a:rPr lang="en-US" sz="1050" b="1" i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Mycapssa</a:t>
                      </a:r>
                      <a:r>
                        <a:rPr lang="en-US" sz="1050" b="1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5919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Recently Discontinued patients on </a:t>
                      </a:r>
                      <a:r>
                        <a:rPr lang="en-US" sz="1050" b="1" i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Mycapssa</a:t>
                      </a:r>
                      <a:endParaRPr lang="en-US" sz="1050" b="1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33426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Newly Diagnosed and Treatment Naïve Patients (R24M)</a:t>
                      </a: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42257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IGF1 Test</a:t>
                      </a: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44342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Short Term Therapy discontinued Patients</a:t>
                      </a: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81" marR="5981" marT="5981" marB="0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870339"/>
                  </a:ext>
                </a:extLst>
              </a:tr>
            </a:tbl>
          </a:graphicData>
        </a:graphic>
      </p:graphicFrame>
      <p:sp>
        <p:nvSpPr>
          <p:cNvPr id="7" name="Arrow: Chevron 6">
            <a:extLst>
              <a:ext uri="{FF2B5EF4-FFF2-40B4-BE49-F238E27FC236}">
                <a16:creationId xmlns:a16="http://schemas.microsoft.com/office/drawing/2014/main" id="{064DCC0A-D4C5-ECC0-BA52-C7AF13BBFCB2}"/>
              </a:ext>
            </a:extLst>
          </p:cNvPr>
          <p:cNvSpPr/>
          <p:nvPr/>
        </p:nvSpPr>
        <p:spPr>
          <a:xfrm>
            <a:off x="2819221" y="4126721"/>
            <a:ext cx="709270" cy="182880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Graphic 8" descr="Race Flag with solid fill">
            <a:extLst>
              <a:ext uri="{FF2B5EF4-FFF2-40B4-BE49-F238E27FC236}">
                <a16:creationId xmlns:a16="http://schemas.microsoft.com/office/drawing/2014/main" id="{D3B0A362-1DED-5777-1409-C38DB3FF84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1833" y="4077566"/>
            <a:ext cx="281189" cy="281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872C7E-131D-23C3-DA2F-6217ED8B86A2}"/>
              </a:ext>
            </a:extLst>
          </p:cNvPr>
          <p:cNvSpPr txBox="1"/>
          <p:nvPr/>
        </p:nvSpPr>
        <p:spPr>
          <a:xfrm>
            <a:off x="3982735" y="4300711"/>
            <a:ext cx="58907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fontAlgn="ctr"/>
            <a:r>
              <a:rPr lang="en-US" sz="800" b="1" i="1">
                <a:solidFill>
                  <a:schemeClr val="accent6"/>
                </a:solidFill>
                <a:latin typeface="Trebuchet MS" panose="020B0603020202020204" pitchFamily="34" charset="0"/>
              </a:rPr>
              <a:t>Go live</a:t>
            </a:r>
          </a:p>
          <a:p>
            <a:pPr algn="ctr" fontAlgn="ctr"/>
            <a:r>
              <a:rPr lang="en-US" sz="800" b="1" i="1">
                <a:solidFill>
                  <a:schemeClr val="accent6"/>
                </a:solidFill>
                <a:latin typeface="Trebuchet MS" panose="020B0603020202020204" pitchFamily="34" charset="0"/>
              </a:rPr>
              <a:t>(2/27)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F8FE0-9F69-62A0-59AD-C2935770F5E4}"/>
              </a:ext>
            </a:extLst>
          </p:cNvPr>
          <p:cNvSpPr/>
          <p:nvPr/>
        </p:nvSpPr>
        <p:spPr>
          <a:xfrm>
            <a:off x="8560310" y="6010177"/>
            <a:ext cx="914400" cy="2743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Data analysis &amp; Rule design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94EB48E9-6CB9-88D6-C31C-8F5E60C43C64}"/>
              </a:ext>
            </a:extLst>
          </p:cNvPr>
          <p:cNvSpPr/>
          <p:nvPr/>
        </p:nvSpPr>
        <p:spPr>
          <a:xfrm>
            <a:off x="3686195" y="4126721"/>
            <a:ext cx="274320" cy="182880"/>
          </a:xfrm>
          <a:prstGeom prst="chevron">
            <a:avLst/>
          </a:prstGeom>
          <a:solidFill>
            <a:srgbClr val="FF9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6657F3-C3C3-3DB1-E525-832AC71ED17D}"/>
              </a:ext>
            </a:extLst>
          </p:cNvPr>
          <p:cNvSpPr/>
          <p:nvPr/>
        </p:nvSpPr>
        <p:spPr>
          <a:xfrm>
            <a:off x="9474710" y="6011954"/>
            <a:ext cx="914400" cy="274320"/>
          </a:xfrm>
          <a:prstGeom prst="rect">
            <a:avLst/>
          </a:prstGeom>
          <a:solidFill>
            <a:srgbClr val="FF9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Building Framework</a:t>
            </a:r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E7B5A6F-56C9-A4EC-56F7-74534E8A13FF}"/>
              </a:ext>
            </a:extLst>
          </p:cNvPr>
          <p:cNvSpPr/>
          <p:nvPr/>
        </p:nvSpPr>
        <p:spPr>
          <a:xfrm>
            <a:off x="3528244" y="4117577"/>
            <a:ext cx="185563" cy="182880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2F6B49D0-3B18-DBC0-7F4D-8FCCD5E74986}"/>
              </a:ext>
            </a:extLst>
          </p:cNvPr>
          <p:cNvSpPr/>
          <p:nvPr/>
        </p:nvSpPr>
        <p:spPr>
          <a:xfrm>
            <a:off x="4301522" y="4120727"/>
            <a:ext cx="7117048" cy="182880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i="1">
                <a:solidFill>
                  <a:schemeClr val="accent6"/>
                </a:solidFill>
                <a:latin typeface="Trebuchet MS" panose="020B0603020202020204" pitchFamily="34" charset="0"/>
              </a:rPr>
              <a:t>Alerts Roll out to Field every month</a:t>
            </a:r>
            <a:endParaRPr lang="en-US">
              <a:solidFill>
                <a:schemeClr val="accent6"/>
              </a:solidFill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4D269C49-1BB0-72A6-5173-E05C626204BE}"/>
              </a:ext>
            </a:extLst>
          </p:cNvPr>
          <p:cNvSpPr/>
          <p:nvPr/>
        </p:nvSpPr>
        <p:spPr>
          <a:xfrm>
            <a:off x="5840730" y="4744385"/>
            <a:ext cx="5577840" cy="182880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i="1">
                <a:solidFill>
                  <a:schemeClr val="accent6"/>
                </a:solidFill>
                <a:latin typeface="Trebuchet MS" panose="020B0603020202020204" pitchFamily="34" charset="0"/>
              </a:rPr>
              <a:t>Alerts Roll out to Field every month</a:t>
            </a:r>
            <a:endParaRPr lang="en-US" sz="900">
              <a:solidFill>
                <a:schemeClr val="accent6"/>
              </a:solidFill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DB847832-3296-ECD9-A7CA-0DF8C7EB7CF6}"/>
              </a:ext>
            </a:extLst>
          </p:cNvPr>
          <p:cNvSpPr/>
          <p:nvPr/>
        </p:nvSpPr>
        <p:spPr>
          <a:xfrm>
            <a:off x="3917286" y="4765003"/>
            <a:ext cx="1094741" cy="179077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1" name="Graphic 20" descr="Race Flag with solid fill">
            <a:extLst>
              <a:ext uri="{FF2B5EF4-FFF2-40B4-BE49-F238E27FC236}">
                <a16:creationId xmlns:a16="http://schemas.microsoft.com/office/drawing/2014/main" id="{6F21E92C-73E4-7CD2-3C9F-A6EE5C2CF9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8702" y="4696114"/>
            <a:ext cx="281189" cy="28118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FEE119C-FCE5-7FBF-D71C-5E754429C4F2}"/>
              </a:ext>
            </a:extLst>
          </p:cNvPr>
          <p:cNvSpPr txBox="1"/>
          <p:nvPr/>
        </p:nvSpPr>
        <p:spPr>
          <a:xfrm>
            <a:off x="5351447" y="4923075"/>
            <a:ext cx="8441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800" b="1" i="1">
                <a:solidFill>
                  <a:schemeClr val="accent6"/>
                </a:solidFill>
                <a:latin typeface="Trebuchet MS" panose="020B0603020202020204" pitchFamily="34" charset="0"/>
              </a:rPr>
              <a:t>Go live</a:t>
            </a:r>
          </a:p>
          <a:p>
            <a:pPr algn="ctr"/>
            <a:r>
              <a:rPr lang="en-US" sz="800" b="1" i="1">
                <a:solidFill>
                  <a:schemeClr val="accent6"/>
                </a:solidFill>
                <a:latin typeface="Trebuchet MS" panose="020B0603020202020204" pitchFamily="34" charset="0"/>
              </a:rPr>
              <a:t>(4/30)</a:t>
            </a:r>
            <a:endParaRPr lang="en-US" sz="800">
              <a:solidFill>
                <a:schemeClr val="accent6"/>
              </a:solidFill>
            </a:endParaRPr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EC864126-B4EF-3D1E-16B7-2D3067E6A8C1}"/>
              </a:ext>
            </a:extLst>
          </p:cNvPr>
          <p:cNvSpPr/>
          <p:nvPr/>
        </p:nvSpPr>
        <p:spPr>
          <a:xfrm>
            <a:off x="5008020" y="4749628"/>
            <a:ext cx="185563" cy="182880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3E52A11A-513F-CA0A-4834-ECD69BC40D34}"/>
              </a:ext>
            </a:extLst>
          </p:cNvPr>
          <p:cNvSpPr/>
          <p:nvPr/>
        </p:nvSpPr>
        <p:spPr>
          <a:xfrm>
            <a:off x="4648675" y="5379843"/>
            <a:ext cx="1073183" cy="182880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1" name="Graphic 30" descr="Race Flag with solid fill">
            <a:extLst>
              <a:ext uri="{FF2B5EF4-FFF2-40B4-BE49-F238E27FC236}">
                <a16:creationId xmlns:a16="http://schemas.microsoft.com/office/drawing/2014/main" id="{8A1568A3-61E8-AB80-4730-211D9CE20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2533" y="5330689"/>
            <a:ext cx="281189" cy="28118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667201D-C46F-F48F-7A56-8A9CB5E847E3}"/>
              </a:ext>
            </a:extLst>
          </p:cNvPr>
          <p:cNvSpPr txBox="1"/>
          <p:nvPr/>
        </p:nvSpPr>
        <p:spPr>
          <a:xfrm>
            <a:off x="6101922" y="5574869"/>
            <a:ext cx="8441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800" b="1" i="1">
                <a:solidFill>
                  <a:schemeClr val="accent6"/>
                </a:solidFill>
                <a:latin typeface="Trebuchet MS" panose="020B0603020202020204" pitchFamily="34" charset="0"/>
              </a:rPr>
              <a:t>Go live</a:t>
            </a:r>
          </a:p>
          <a:p>
            <a:pPr algn="ctr"/>
            <a:r>
              <a:rPr lang="en-US" sz="800" b="1" i="1">
                <a:solidFill>
                  <a:schemeClr val="accent6"/>
                </a:solidFill>
                <a:latin typeface="Trebuchet MS" panose="020B0603020202020204" pitchFamily="34" charset="0"/>
              </a:rPr>
              <a:t>(5/29)</a:t>
            </a:r>
            <a:endParaRPr lang="en-US" sz="800">
              <a:solidFill>
                <a:schemeClr val="accent6"/>
              </a:solidFill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BA2634FA-71F4-43AE-8C36-BDABFD23956D}"/>
              </a:ext>
            </a:extLst>
          </p:cNvPr>
          <p:cNvSpPr/>
          <p:nvPr/>
        </p:nvSpPr>
        <p:spPr>
          <a:xfrm>
            <a:off x="5916385" y="5379843"/>
            <a:ext cx="274320" cy="182880"/>
          </a:xfrm>
          <a:prstGeom prst="chevron">
            <a:avLst/>
          </a:prstGeom>
          <a:solidFill>
            <a:srgbClr val="FF9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179A7C1F-2BB9-C929-7135-E2820FDF9933}"/>
              </a:ext>
            </a:extLst>
          </p:cNvPr>
          <p:cNvSpPr/>
          <p:nvPr/>
        </p:nvSpPr>
        <p:spPr>
          <a:xfrm>
            <a:off x="5731002" y="5370699"/>
            <a:ext cx="185563" cy="182880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59A2AE6F-FECF-A108-5F4C-809B5CE1F701}"/>
              </a:ext>
            </a:extLst>
          </p:cNvPr>
          <p:cNvSpPr/>
          <p:nvPr/>
        </p:nvSpPr>
        <p:spPr>
          <a:xfrm>
            <a:off x="6554220" y="5370699"/>
            <a:ext cx="4864349" cy="179047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i="1">
                <a:solidFill>
                  <a:schemeClr val="accent6"/>
                </a:solidFill>
                <a:latin typeface="Trebuchet MS" panose="020B0603020202020204" pitchFamily="34" charset="0"/>
              </a:rPr>
              <a:t>Alerts Roll out to Field every month</a:t>
            </a:r>
            <a:endParaRPr lang="en-US" sz="900">
              <a:solidFill>
                <a:schemeClr val="accent6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FA4FDD-8D23-8B2B-5FB1-D42D9ACD2924}"/>
              </a:ext>
            </a:extLst>
          </p:cNvPr>
          <p:cNvSpPr/>
          <p:nvPr/>
        </p:nvSpPr>
        <p:spPr>
          <a:xfrm>
            <a:off x="10389110" y="6010177"/>
            <a:ext cx="914400" cy="2698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SF Data &amp; Alerts Roll out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7FA41814-8E48-CBB0-36E9-74253BAE6F18}"/>
              </a:ext>
            </a:extLst>
          </p:cNvPr>
          <p:cNvSpPr/>
          <p:nvPr/>
        </p:nvSpPr>
        <p:spPr>
          <a:xfrm>
            <a:off x="5167227" y="4765003"/>
            <a:ext cx="281189" cy="182880"/>
          </a:xfrm>
          <a:prstGeom prst="chevron">
            <a:avLst/>
          </a:prstGeom>
          <a:solidFill>
            <a:srgbClr val="FF9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D6C256B5-0B3D-CD21-0A49-74B530FA81DF}"/>
              </a:ext>
            </a:extLst>
          </p:cNvPr>
          <p:cNvSpPr/>
          <p:nvPr/>
        </p:nvSpPr>
        <p:spPr>
          <a:xfrm>
            <a:off x="2731770" y="2287636"/>
            <a:ext cx="8686800" cy="182880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i="1">
                <a:solidFill>
                  <a:schemeClr val="accent6"/>
                </a:solidFill>
                <a:latin typeface="Trebuchet MS" panose="020B0603020202020204" pitchFamily="34" charset="0"/>
              </a:rPr>
              <a:t>Ongoing : Data update to Field every Quarter</a:t>
            </a:r>
            <a:endParaRPr lang="en-US">
              <a:solidFill>
                <a:schemeClr val="accent6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57300D0-F449-D3F5-5EC4-53162FD432DC}"/>
              </a:ext>
            </a:extLst>
          </p:cNvPr>
          <p:cNvSpPr/>
          <p:nvPr/>
        </p:nvSpPr>
        <p:spPr>
          <a:xfrm>
            <a:off x="2731770" y="2952994"/>
            <a:ext cx="8686800" cy="182880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i="1">
                <a:solidFill>
                  <a:schemeClr val="accent6"/>
                </a:solidFill>
                <a:latin typeface="Trebuchet MS" panose="020B0603020202020204" pitchFamily="34" charset="0"/>
              </a:rPr>
              <a:t>Ongoing : Alerts getting Roll out to Field every month</a:t>
            </a:r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631C8904-2A3A-8CCE-4ADC-F4EA6F589106}"/>
              </a:ext>
            </a:extLst>
          </p:cNvPr>
          <p:cNvSpPr/>
          <p:nvPr/>
        </p:nvSpPr>
        <p:spPr>
          <a:xfrm>
            <a:off x="2731770" y="3573830"/>
            <a:ext cx="8686800" cy="182880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i="1">
                <a:solidFill>
                  <a:schemeClr val="accent6"/>
                </a:solidFill>
                <a:latin typeface="Trebuchet MS" panose="020B0603020202020204" pitchFamily="34" charset="0"/>
              </a:rPr>
              <a:t>Ongoing : Alerts getting Roll out to Field every month</a:t>
            </a:r>
            <a:endParaRPr lang="en-US">
              <a:solidFill>
                <a:schemeClr val="accent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3141BC-2F6D-0FB8-95D9-037E9E06DE4B}"/>
              </a:ext>
            </a:extLst>
          </p:cNvPr>
          <p:cNvSpPr txBox="1"/>
          <p:nvPr/>
        </p:nvSpPr>
        <p:spPr>
          <a:xfrm>
            <a:off x="5448879" y="5565135"/>
            <a:ext cx="914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800" b="1" i="1">
                <a:solidFill>
                  <a:schemeClr val="accent6"/>
                </a:solidFill>
                <a:latin typeface="Trebuchet MS" panose="020B0603020202020204" pitchFamily="34" charset="0"/>
              </a:rPr>
              <a:t>Review with HQ team</a:t>
            </a:r>
            <a:endParaRPr lang="en-US" sz="800">
              <a:solidFill>
                <a:schemeClr val="accent6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9A0828-CA24-0EA5-C64B-BE5B4D833D27}"/>
              </a:ext>
            </a:extLst>
          </p:cNvPr>
          <p:cNvSpPr txBox="1"/>
          <p:nvPr/>
        </p:nvSpPr>
        <p:spPr>
          <a:xfrm>
            <a:off x="4698609" y="4932219"/>
            <a:ext cx="90427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800" b="1" i="1">
                <a:solidFill>
                  <a:schemeClr val="accent6"/>
                </a:solidFill>
                <a:latin typeface="Trebuchet MS" panose="020B0603020202020204" pitchFamily="34" charset="0"/>
              </a:rPr>
              <a:t>Review with HQ team</a:t>
            </a:r>
            <a:endParaRPr lang="en-US" sz="800">
              <a:solidFill>
                <a:schemeClr val="accent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AFAF46-7CCB-5BC5-EBA1-9CCF8304B04F}"/>
              </a:ext>
            </a:extLst>
          </p:cNvPr>
          <p:cNvSpPr txBox="1"/>
          <p:nvPr/>
        </p:nvSpPr>
        <p:spPr>
          <a:xfrm>
            <a:off x="3196673" y="4292995"/>
            <a:ext cx="904271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800" b="1" i="1">
                <a:solidFill>
                  <a:schemeClr val="accent6"/>
                </a:solidFill>
                <a:latin typeface="Trebuchet MS" panose="020B0603020202020204" pitchFamily="34" charset="0"/>
              </a:rPr>
              <a:t>Review with HQ team</a:t>
            </a:r>
            <a:endParaRPr lang="en-US" sz="8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00125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704A7B-F6BD-E37B-4695-79D7F536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2"/>
                </a:solidFill>
              </a:rPr>
              <a:t>Why We Need a Newly Diagnosed Acromegaly Patient Trigger Framework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A16945-B946-3A07-EA9C-D712C67ADB45}"/>
              </a:ext>
            </a:extLst>
          </p:cNvPr>
          <p:cNvCxnSpPr>
            <a:cxnSpLocks/>
          </p:cNvCxnSpPr>
          <p:nvPr/>
        </p:nvCxnSpPr>
        <p:spPr>
          <a:xfrm>
            <a:off x="609600" y="1259136"/>
            <a:ext cx="4105275" cy="0"/>
          </a:xfrm>
          <a:prstGeom prst="line">
            <a:avLst/>
          </a:prstGeom>
          <a:ln w="19050">
            <a:solidFill>
              <a:schemeClr val="accent4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3BC55F4-44E8-388A-083E-0A1860985E78}"/>
              </a:ext>
            </a:extLst>
          </p:cNvPr>
          <p:cNvSpPr/>
          <p:nvPr/>
        </p:nvSpPr>
        <p:spPr>
          <a:xfrm>
            <a:off x="702733" y="1484063"/>
            <a:ext cx="3200400" cy="4709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1795" lvl="3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  <a:p>
            <a:pPr marL="391795" lvl="3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  <a:p>
            <a:pPr marL="391795" lvl="3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  <a:p>
            <a:pPr marL="391795" lvl="3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Current </a:t>
            </a:r>
            <a:r>
              <a:rPr lang="en-US" sz="1400" err="1">
                <a:solidFill>
                  <a:schemeClr val="tx1"/>
                </a:solidFill>
              </a:rPr>
              <a:t>Palsonify</a:t>
            </a:r>
            <a:r>
              <a:rPr lang="en-US" sz="1400">
                <a:solidFill>
                  <a:schemeClr val="tx1"/>
                </a:solidFill>
              </a:rPr>
              <a:t> Sales Force targeting and Marketing outreach primarily focus on currently treated acromegaly patients</a:t>
            </a:r>
          </a:p>
          <a:p>
            <a:pPr marL="220345" lvl="3"/>
            <a:endParaRPr lang="en-US" sz="1400">
              <a:solidFill>
                <a:schemeClr val="tx1"/>
              </a:solidFill>
            </a:endParaRPr>
          </a:p>
          <a:p>
            <a:pPr marL="391795" lvl="3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There is an opportunity to expand the outreach focus to additional patient archetypes, including newly diagnosed treatment-naïve patients and discontinued patients (both short-term and long-term)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2859E3-1ED4-24BB-00E2-29A2A003302A}"/>
              </a:ext>
            </a:extLst>
          </p:cNvPr>
          <p:cNvSpPr/>
          <p:nvPr/>
        </p:nvSpPr>
        <p:spPr>
          <a:xfrm>
            <a:off x="4343400" y="1484063"/>
            <a:ext cx="3566160" cy="47095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1795" lvl="3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  <a:p>
            <a:pPr marL="391795" lvl="3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  <a:p>
            <a:pPr marL="391795" lvl="3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To leverage Komodo patient claims data for early identification of newly diagnosed patients in their journey</a:t>
            </a:r>
          </a:p>
          <a:p>
            <a:pPr marL="220345" lvl="3"/>
            <a:endParaRPr lang="en-US" sz="1400">
              <a:solidFill>
                <a:schemeClr val="tx1"/>
              </a:solidFill>
            </a:endParaRPr>
          </a:p>
          <a:p>
            <a:pPr marL="391795" lvl="3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To establish a “confirmation criterion” for acromegaly patients beyond just one diagnosis code, using supporting evidence from Endo visits, IGF1/GH Testing, imaging, and diagnosis patterns can be explored</a:t>
            </a:r>
          </a:p>
          <a:p>
            <a:pPr marL="623570" lvl="4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A single diagnosis code alone is insufficient to reliably confirm true acromegaly patient (</a:t>
            </a:r>
            <a:r>
              <a:rPr lang="en-US" sz="1400" i="1">
                <a:solidFill>
                  <a:schemeClr val="tx1"/>
                </a:solidFill>
              </a:rPr>
              <a:t>Details in slide 3</a:t>
            </a:r>
            <a:r>
              <a:rPr lang="en-US" sz="14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3D8165-5EB3-B327-3789-A4C248E31C9D}"/>
              </a:ext>
            </a:extLst>
          </p:cNvPr>
          <p:cNvSpPr/>
          <p:nvPr/>
        </p:nvSpPr>
        <p:spPr>
          <a:xfrm>
            <a:off x="8288869" y="1484064"/>
            <a:ext cx="3200400" cy="470952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0345" lvl="3"/>
            <a:endParaRPr lang="en-US" sz="1200">
              <a:solidFill>
                <a:schemeClr val="tx1"/>
              </a:solidFill>
            </a:endParaRPr>
          </a:p>
          <a:p>
            <a:pPr marL="391795" lvl="3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  <a:p>
            <a:pPr marL="391795" lvl="3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A data-driven framework that can confidently identify newly diagnosed patients on a regular cadence</a:t>
            </a:r>
          </a:p>
          <a:p>
            <a:pPr marL="220345" lvl="3"/>
            <a:endParaRPr lang="en-US" sz="1400">
              <a:solidFill>
                <a:schemeClr val="tx1"/>
              </a:solidFill>
            </a:endParaRPr>
          </a:p>
          <a:p>
            <a:pPr marL="391795" lvl="3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This will enable </a:t>
            </a:r>
            <a:r>
              <a:rPr lang="en-US" sz="1400" err="1">
                <a:solidFill>
                  <a:schemeClr val="tx1"/>
                </a:solidFill>
              </a:rPr>
              <a:t>Palsonify</a:t>
            </a:r>
            <a:r>
              <a:rPr lang="en-US" sz="1400">
                <a:solidFill>
                  <a:schemeClr val="tx1"/>
                </a:solidFill>
              </a:rPr>
              <a:t> HQ team to relay lead time triggers related to Newly Dx Patients to Sales Force and Marketing team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A1F2AA-8DC3-4D61-C386-C9C4956361F7}"/>
              </a:ext>
            </a:extLst>
          </p:cNvPr>
          <p:cNvSpPr/>
          <p:nvPr/>
        </p:nvSpPr>
        <p:spPr>
          <a:xfrm>
            <a:off x="4343382" y="1484064"/>
            <a:ext cx="3566160" cy="4452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0345" lvl="3" indent="0">
              <a:buNone/>
            </a:pPr>
            <a:r>
              <a:rPr lang="en-US" sz="1400" b="1" i="1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7EA85D-08AD-0C54-D0B2-A36354625FC0}"/>
              </a:ext>
            </a:extLst>
          </p:cNvPr>
          <p:cNvSpPr/>
          <p:nvPr/>
        </p:nvSpPr>
        <p:spPr>
          <a:xfrm>
            <a:off x="702729" y="1484064"/>
            <a:ext cx="3200398" cy="44520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0345" lvl="3" indent="0">
              <a:buNone/>
            </a:pPr>
            <a:r>
              <a:rPr lang="en-US" sz="1400" b="1" i="1">
                <a:solidFill>
                  <a:schemeClr val="bg1"/>
                </a:solidFill>
              </a:rPr>
              <a:t>Situation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ECF506-6401-C438-8D66-5D243800F0D3}"/>
              </a:ext>
            </a:extLst>
          </p:cNvPr>
          <p:cNvSpPr/>
          <p:nvPr/>
        </p:nvSpPr>
        <p:spPr>
          <a:xfrm>
            <a:off x="8288853" y="1484064"/>
            <a:ext cx="3200398" cy="44520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0345" lvl="3" indent="0">
              <a:buNone/>
            </a:pPr>
            <a:r>
              <a:rPr lang="en-US" sz="1400" b="1" i="1">
                <a:solidFill>
                  <a:schemeClr val="bg1"/>
                </a:solidFill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141356965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9DE5E87-3D50-95D6-BA5F-7485F2D102B6}"/>
              </a:ext>
            </a:extLst>
          </p:cNvPr>
          <p:cNvGraphicFramePr/>
          <p:nvPr/>
        </p:nvGraphicFramePr>
        <p:xfrm>
          <a:off x="633603" y="1513274"/>
          <a:ext cx="8208729" cy="4438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B22633A0-FC6F-FFAD-533B-42D1C42278C7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5442876" y="1645285"/>
            <a:ext cx="179388" cy="133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DB286FC-21DB-6138-A206-39D9E58C0881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5673064" y="1640523"/>
            <a:ext cx="15017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177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1963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26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Overall Acromegaly Diagnosed Patients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EEC3CC-896B-B6B8-692C-394DC8EB32F3}"/>
              </a:ext>
            </a:extLst>
          </p:cNvPr>
          <p:cNvSpPr txBox="1"/>
          <p:nvPr/>
        </p:nvSpPr>
        <p:spPr>
          <a:xfrm>
            <a:off x="5438865" y="2057269"/>
            <a:ext cx="2238459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100" b="1"/>
              <a:t>Total acro dx patients: </a:t>
            </a:r>
            <a:r>
              <a:rPr lang="en-US" sz="1100"/>
              <a:t>~56k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743F91-C40D-BF8E-ED00-143542697B9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5440007" y="1858067"/>
            <a:ext cx="179388" cy="1333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71C2588-D698-6179-D5AE-83F1664B487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5670195" y="1853305"/>
            <a:ext cx="15017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177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1963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2625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Treated Patients (Drug treatment or Surgery)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10ADD5-FD57-4793-37B0-BE6E5128FC36}"/>
              </a:ext>
            </a:extLst>
          </p:cNvPr>
          <p:cNvSpPr/>
          <p:nvPr/>
        </p:nvSpPr>
        <p:spPr>
          <a:xfrm>
            <a:off x="2230327" y="1919231"/>
            <a:ext cx="1805016" cy="9021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Share of patients with lower confidence of acromegaly: ~</a:t>
            </a:r>
            <a:r>
              <a:rPr lang="en-US" sz="1100" b="1">
                <a:solidFill>
                  <a:srgbClr val="FFFFFF"/>
                </a:solidFill>
                <a:latin typeface="Montserrat"/>
              </a:rPr>
              <a:t>35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k (62%)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25EFA48F-0EE1-6E70-5EB6-683D247ABA41}"/>
              </a:ext>
            </a:extLst>
          </p:cNvPr>
          <p:cNvSpPr/>
          <p:nvPr/>
        </p:nvSpPr>
        <p:spPr>
          <a:xfrm>
            <a:off x="1574272" y="2157852"/>
            <a:ext cx="147652" cy="2548299"/>
          </a:xfrm>
          <a:prstGeom prst="rightBrace">
            <a:avLst/>
          </a:prstGeom>
          <a:ln w="12700">
            <a:solidFill>
              <a:schemeClr val="accent4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C86D499-CF5A-00E1-F69E-21393C554DCD}"/>
              </a:ext>
            </a:extLst>
          </p:cNvPr>
          <p:cNvCxnSpPr>
            <a:cxnSpLocks/>
            <a:stCxn id="27" idx="1"/>
            <a:endCxn id="26" idx="1"/>
          </p:cNvCxnSpPr>
          <p:nvPr/>
        </p:nvCxnSpPr>
        <p:spPr>
          <a:xfrm rot="10800000" flipH="1">
            <a:off x="1721923" y="2370320"/>
            <a:ext cx="508403" cy="1061682"/>
          </a:xfrm>
          <a:prstGeom prst="bentConnector5">
            <a:avLst>
              <a:gd name="adj1" fmla="val 62951"/>
              <a:gd name="adj2" fmla="val 34746"/>
              <a:gd name="adj3" fmla="val 62855"/>
            </a:avLst>
          </a:prstGeom>
          <a:ln w="12700">
            <a:solidFill>
              <a:schemeClr val="accent4"/>
            </a:solidFill>
            <a:miter lim="800000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ight Brace 28">
            <a:extLst>
              <a:ext uri="{FF2B5EF4-FFF2-40B4-BE49-F238E27FC236}">
                <a16:creationId xmlns:a16="http://schemas.microsoft.com/office/drawing/2014/main" id="{D77F0CDB-C164-BB94-0C22-D5D31C3F08ED}"/>
              </a:ext>
            </a:extLst>
          </p:cNvPr>
          <p:cNvSpPr/>
          <p:nvPr/>
        </p:nvSpPr>
        <p:spPr>
          <a:xfrm>
            <a:off x="2046208" y="4509023"/>
            <a:ext cx="147652" cy="503983"/>
          </a:xfrm>
          <a:prstGeom prst="rightBrace">
            <a:avLst/>
          </a:prstGeom>
          <a:ln w="12700">
            <a:solidFill>
              <a:schemeClr val="accent4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4CEF30B-E211-DB46-E822-F9B983EAADB8}"/>
              </a:ext>
            </a:extLst>
          </p:cNvPr>
          <p:cNvCxnSpPr>
            <a:cxnSpLocks/>
            <a:stCxn id="29" idx="1"/>
          </p:cNvCxnSpPr>
          <p:nvPr/>
        </p:nvCxnSpPr>
        <p:spPr>
          <a:xfrm rot="10800000" flipH="1">
            <a:off x="2193860" y="2821409"/>
            <a:ext cx="256732" cy="1939606"/>
          </a:xfrm>
          <a:prstGeom prst="bentConnector4">
            <a:avLst>
              <a:gd name="adj1" fmla="val 28494"/>
              <a:gd name="adj2" fmla="val 56496"/>
            </a:avLst>
          </a:prstGeom>
          <a:ln w="12700">
            <a:solidFill>
              <a:schemeClr val="accent4"/>
            </a:solidFill>
            <a:miter lim="800000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Brace 30">
            <a:extLst>
              <a:ext uri="{FF2B5EF4-FFF2-40B4-BE49-F238E27FC236}">
                <a16:creationId xmlns:a16="http://schemas.microsoft.com/office/drawing/2014/main" id="{E8B065EF-59D1-0057-71B5-DAE42C9C3B9E}"/>
              </a:ext>
            </a:extLst>
          </p:cNvPr>
          <p:cNvSpPr/>
          <p:nvPr/>
        </p:nvSpPr>
        <p:spPr>
          <a:xfrm>
            <a:off x="2531415" y="4937275"/>
            <a:ext cx="147651" cy="166860"/>
          </a:xfrm>
          <a:prstGeom prst="rightBrace">
            <a:avLst/>
          </a:prstGeom>
          <a:ln w="12700">
            <a:solidFill>
              <a:schemeClr val="accent4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E65AD59-F308-4135-8C5A-0FCC1AEA5C59}"/>
              </a:ext>
            </a:extLst>
          </p:cNvPr>
          <p:cNvCxnSpPr>
            <a:cxnSpLocks/>
            <a:stCxn id="31" idx="1"/>
          </p:cNvCxnSpPr>
          <p:nvPr/>
        </p:nvCxnSpPr>
        <p:spPr>
          <a:xfrm rot="10800000" flipH="1">
            <a:off x="2679066" y="2821409"/>
            <a:ext cx="274446" cy="2199296"/>
          </a:xfrm>
          <a:prstGeom prst="bentConnector4">
            <a:avLst>
              <a:gd name="adj1" fmla="val 16659"/>
              <a:gd name="adj2" fmla="val 51897"/>
            </a:avLst>
          </a:prstGeom>
          <a:ln w="12700">
            <a:solidFill>
              <a:schemeClr val="accent4"/>
            </a:solidFill>
            <a:miter lim="800000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F5915ED-08DA-582E-363C-3DAF28E18231}"/>
              </a:ext>
            </a:extLst>
          </p:cNvPr>
          <p:cNvSpPr txBox="1">
            <a:spLocks/>
          </p:cNvSpPr>
          <p:nvPr/>
        </p:nvSpPr>
        <p:spPr>
          <a:xfrm>
            <a:off x="683114" y="1275558"/>
            <a:ext cx="7820025" cy="18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/>
            </a:lvl1pPr>
            <a:lvl2pPr marL="231775" lvl="1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2pPr>
            <a:lvl3pPr marL="461963" lvl="2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/>
            </a:lvl3pPr>
            <a:lvl4pPr marL="682625" lvl="3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/>
            </a:lvl4pPr>
            <a:lvl5pPr marL="914400" lvl="4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% of patients by their corresponding absolute # of acromegaly diagnosis codes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6D99A4-031B-3F38-2DCF-A048122DCB6B}"/>
              </a:ext>
            </a:extLst>
          </p:cNvPr>
          <p:cNvSpPr txBox="1"/>
          <p:nvPr/>
        </p:nvSpPr>
        <p:spPr>
          <a:xfrm>
            <a:off x="633603" y="231263"/>
            <a:ext cx="109247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chemeClr val="bg2"/>
                </a:solidFill>
              </a:rPr>
              <a:t>Having at least 4 Acromegaly Diagnosis Codes Serves as a Strong Diagnostic Confidence Indicator</a:t>
            </a:r>
          </a:p>
        </p:txBody>
      </p:sp>
      <p:sp>
        <p:nvSpPr>
          <p:cNvPr id="70" name="4. Footnote">
            <a:extLst>
              <a:ext uri="{FF2B5EF4-FFF2-40B4-BE49-F238E27FC236}">
                <a16:creationId xmlns:a16="http://schemas.microsoft.com/office/drawing/2014/main" id="{A8EE8EB4-C125-814D-866B-6C1978DFAB1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848318" y="6496062"/>
            <a:ext cx="10972800" cy="26821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/>
          <a:p>
            <a:pPr marL="104775" indent="-104775">
              <a:buClr>
                <a:schemeClr val="tx1"/>
              </a:buClr>
              <a:buFontTx/>
              <a:buAutoNum type="arabicPeriod"/>
            </a:pPr>
            <a:r>
              <a:rPr lang="en-US" sz="600"/>
              <a:t>Source: KOMODO Open claims data based on patients having acromegaly ICD-10 diagnostic codes (E22.0) </a:t>
            </a:r>
          </a:p>
          <a:p>
            <a:pPr marL="104775" indent="-104775">
              <a:buClr>
                <a:schemeClr val="tx1"/>
              </a:buClr>
              <a:buFontTx/>
              <a:buAutoNum type="arabicPeriod"/>
            </a:pPr>
            <a:r>
              <a:rPr lang="en-US" sz="600"/>
              <a:t>Time period:  October 2015 till September 2025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9C6960A-073D-A093-4F11-E334C74F8FBF}"/>
              </a:ext>
            </a:extLst>
          </p:cNvPr>
          <p:cNvCxnSpPr>
            <a:cxnSpLocks/>
          </p:cNvCxnSpPr>
          <p:nvPr/>
        </p:nvCxnSpPr>
        <p:spPr>
          <a:xfrm>
            <a:off x="779907" y="939149"/>
            <a:ext cx="4105275" cy="0"/>
          </a:xfrm>
          <a:prstGeom prst="line">
            <a:avLst/>
          </a:prstGeom>
          <a:ln w="19050">
            <a:solidFill>
              <a:schemeClr val="accent4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FF1E275-255D-7A54-EED9-47DB9249170C}"/>
              </a:ext>
            </a:extLst>
          </p:cNvPr>
          <p:cNvSpPr txBox="1">
            <a:spLocks/>
          </p:cNvSpPr>
          <p:nvPr/>
        </p:nvSpPr>
        <p:spPr>
          <a:xfrm>
            <a:off x="9080847" y="2199242"/>
            <a:ext cx="2330866" cy="16778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/>
            </a:lvl1pPr>
            <a:lvl2pPr marL="231775" lvl="1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2pPr>
            <a:lvl3pPr marL="461963" lvl="2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/>
            </a:lvl3pPr>
            <a:lvl4pPr marL="682625" lvl="3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/>
            </a:lvl4pPr>
            <a:lvl5pPr marL="914400" lvl="4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>
              <a:solidFill>
                <a:srgbClr val="333333">
                  <a:lumMod val="50000"/>
                </a:srgb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3817DC-F7B7-9A46-7C83-A41B70A582E0}"/>
              </a:ext>
            </a:extLst>
          </p:cNvPr>
          <p:cNvSpPr/>
          <p:nvPr/>
        </p:nvSpPr>
        <p:spPr>
          <a:xfrm>
            <a:off x="9350735" y="2380544"/>
            <a:ext cx="2330866" cy="250690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1"/>
                </a:solidFill>
              </a:rPr>
              <a:t>Around 62% of acromegaly diagnosed patients are considered to have low diagnostic confidence, defined by having &lt; 4 diagnosis codes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1"/>
                </a:solidFill>
              </a:rPr>
              <a:t>Median time to 4</a:t>
            </a:r>
            <a:r>
              <a:rPr lang="en-US" sz="1100" baseline="30000">
                <a:solidFill>
                  <a:schemeClr val="bg1"/>
                </a:solidFill>
              </a:rPr>
              <a:t>th</a:t>
            </a:r>
            <a:r>
              <a:rPr lang="en-US" sz="1100">
                <a:solidFill>
                  <a:schemeClr val="bg1"/>
                </a:solidFill>
              </a:rPr>
              <a:t> Acro diagnosis is ~5 to 6 months post 1</a:t>
            </a:r>
            <a:r>
              <a:rPr lang="en-US" sz="1100" baseline="30000">
                <a:solidFill>
                  <a:schemeClr val="bg1"/>
                </a:solidFill>
              </a:rPr>
              <a:t>st</a:t>
            </a:r>
            <a:r>
              <a:rPr lang="en-US" sz="1100">
                <a:solidFill>
                  <a:schemeClr val="bg1"/>
                </a:solidFill>
              </a:rPr>
              <a:t> Acro diagnosis</a:t>
            </a:r>
          </a:p>
        </p:txBody>
      </p:sp>
    </p:spTree>
    <p:extLst>
      <p:ext uri="{BB962C8B-B14F-4D97-AF65-F5344CB8AC3E}">
        <p14:creationId xmlns:p14="http://schemas.microsoft.com/office/powerpoint/2010/main" val="346928682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F71A-C4A2-6CC4-DC81-89514B713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6B926C-3E26-EFFC-3AAD-B5F73094A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57050"/>
            <a:ext cx="11140438" cy="338555"/>
          </a:xfrm>
        </p:spPr>
        <p:txBody>
          <a:bodyPr/>
          <a:lstStyle/>
          <a:p>
            <a:r>
              <a:rPr lang="en-US" sz="2400" b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Confirmation criterion</a:t>
            </a:r>
          </a:p>
        </p:txBody>
      </p:sp>
      <p:sp>
        <p:nvSpPr>
          <p:cNvPr id="14" name="4. Footnote">
            <a:extLst>
              <a:ext uri="{FF2B5EF4-FFF2-40B4-BE49-F238E27FC236}">
                <a16:creationId xmlns:a16="http://schemas.microsoft.com/office/drawing/2014/main" id="{00058991-AC97-A95E-E65F-E778CF7D161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865251" y="6500950"/>
            <a:ext cx="10972800" cy="26821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/>
          <a:p>
            <a:pPr marL="104775" indent="-104775">
              <a:buClr>
                <a:schemeClr val="tx1"/>
              </a:buClr>
              <a:buFontTx/>
              <a:buAutoNum type="arabicPeriod"/>
            </a:pPr>
            <a:r>
              <a:rPr lang="en-US" sz="500"/>
              <a:t>Source: KOMODO Open claims data based on patients having acromegaly ICD-10 diagnostic codes (E22.0) </a:t>
            </a:r>
          </a:p>
          <a:p>
            <a:pPr marL="104775" indent="-104775">
              <a:buClr>
                <a:schemeClr val="tx1"/>
              </a:buClr>
              <a:buFontTx/>
              <a:buAutoNum type="arabicPeriod"/>
            </a:pPr>
            <a:r>
              <a:rPr lang="en-US" sz="500"/>
              <a:t>Time period:  October 2015 till September 2025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198BEE-794E-DCDD-E9F4-ADB598827BF7}"/>
              </a:ext>
            </a:extLst>
          </p:cNvPr>
          <p:cNvCxnSpPr>
            <a:cxnSpLocks/>
          </p:cNvCxnSpPr>
          <p:nvPr/>
        </p:nvCxnSpPr>
        <p:spPr>
          <a:xfrm>
            <a:off x="685800" y="759603"/>
            <a:ext cx="4105275" cy="0"/>
          </a:xfrm>
          <a:prstGeom prst="line">
            <a:avLst/>
          </a:prstGeom>
          <a:ln w="19050">
            <a:solidFill>
              <a:schemeClr val="accent4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F20F67C-9F27-83F1-0915-81621EB12755}"/>
              </a:ext>
            </a:extLst>
          </p:cNvPr>
          <p:cNvSpPr/>
          <p:nvPr/>
        </p:nvSpPr>
        <p:spPr>
          <a:xfrm>
            <a:off x="685800" y="1373739"/>
            <a:ext cx="2860964" cy="463785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>
                <a:solidFill>
                  <a:schemeClr val="tx1"/>
                </a:solidFill>
              </a:rPr>
              <a:t>To move beyond reliance on a single diagnosis code, we developed a confirmation criterion for identifying true acromegaly patients. We analyzed newly diagnosed acromegaly patients in R24M (n = 7.6K) and tracked their  </a:t>
            </a:r>
          </a:p>
          <a:p>
            <a:r>
              <a:rPr lang="en-US" sz="1050">
                <a:solidFill>
                  <a:schemeClr val="tx1"/>
                </a:solidFill>
              </a:rPr>
              <a:t>6-month journey following the first acromegaly diagnosis, which served as our study period. During this forward-looking window, we evaluated key clinical events, including: Second acromegaly diagnosis, Pituitary surgery, Endocrinologist visit, IGF-1 test, GH test, Neurologist visit.</a:t>
            </a:r>
          </a:p>
          <a:p>
            <a:endParaRPr lang="en-US" sz="1050">
              <a:solidFill>
                <a:schemeClr val="tx1"/>
              </a:solidFill>
            </a:endParaRPr>
          </a:p>
          <a:p>
            <a:r>
              <a:rPr lang="en-US" sz="1050">
                <a:solidFill>
                  <a:schemeClr val="tx1"/>
                </a:solidFill>
              </a:rPr>
              <a:t>We observed that patients meeting specific combinations of these criteria were significantly more likely to progress into the confirmed acromegaly patient pool, defined as patients with ≥4 acromegaly diagnosis codes (n=1.5 K)</a:t>
            </a:r>
          </a:p>
        </p:txBody>
      </p: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A0B98D88-1DA7-832E-1CA4-9131904DB4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8706138"/>
              </p:ext>
            </p:extLst>
          </p:nvPr>
        </p:nvGraphicFramePr>
        <p:xfrm>
          <a:off x="7764634" y="2915425"/>
          <a:ext cx="36576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04A5F35E-0476-8996-73AF-B29883A089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0495389"/>
              </p:ext>
            </p:extLst>
          </p:nvPr>
        </p:nvGraphicFramePr>
        <p:xfrm>
          <a:off x="7764636" y="1030424"/>
          <a:ext cx="36576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837F3079-B5FB-D530-8B0F-CE9C6DFD52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3699290"/>
              </p:ext>
            </p:extLst>
          </p:nvPr>
        </p:nvGraphicFramePr>
        <p:xfrm>
          <a:off x="3770316" y="2904158"/>
          <a:ext cx="36576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D70431B1-CBF2-6435-5342-018799D7F8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4070378"/>
              </p:ext>
            </p:extLst>
          </p:nvPr>
        </p:nvGraphicFramePr>
        <p:xfrm>
          <a:off x="3770315" y="4758927"/>
          <a:ext cx="36576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88658080-8AFE-6091-CD87-820028A75A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5100996"/>
              </p:ext>
            </p:extLst>
          </p:nvPr>
        </p:nvGraphicFramePr>
        <p:xfrm>
          <a:off x="7764634" y="4759960"/>
          <a:ext cx="36576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8C876A1F-5148-E727-BC62-1D5DB3A5C3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0280807"/>
              </p:ext>
            </p:extLst>
          </p:nvPr>
        </p:nvGraphicFramePr>
        <p:xfrm>
          <a:off x="3777888" y="1057334"/>
          <a:ext cx="36576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B3954B64-05A6-B586-1919-384C998E4E7C}"/>
              </a:ext>
            </a:extLst>
          </p:cNvPr>
          <p:cNvSpPr/>
          <p:nvPr/>
        </p:nvSpPr>
        <p:spPr>
          <a:xfrm>
            <a:off x="7764633" y="2749358"/>
            <a:ext cx="3657599" cy="182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/>
              <a:t>IGF1 Blood Test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5CC1B9-CB30-8054-1B0E-7595B5209AE0}"/>
              </a:ext>
            </a:extLst>
          </p:cNvPr>
          <p:cNvSpPr/>
          <p:nvPr/>
        </p:nvSpPr>
        <p:spPr>
          <a:xfrm>
            <a:off x="7764633" y="865492"/>
            <a:ext cx="3657599" cy="182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/>
              <a:t>Endo visit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3354E93-71B8-32B1-019E-E7FAC45ECCF5}"/>
              </a:ext>
            </a:extLst>
          </p:cNvPr>
          <p:cNvSpPr/>
          <p:nvPr/>
        </p:nvSpPr>
        <p:spPr>
          <a:xfrm>
            <a:off x="3777889" y="2729223"/>
            <a:ext cx="3657599" cy="182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/>
              <a:t>Pituitary Surgery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4537B6-5D64-84E7-F5A2-7AB90F255C69}"/>
              </a:ext>
            </a:extLst>
          </p:cNvPr>
          <p:cNvSpPr/>
          <p:nvPr/>
        </p:nvSpPr>
        <p:spPr>
          <a:xfrm>
            <a:off x="3770315" y="4595153"/>
            <a:ext cx="3657599" cy="182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/>
              <a:t>Neuro visit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FA01128-E387-2B3F-AA7D-1E788870044F}"/>
              </a:ext>
            </a:extLst>
          </p:cNvPr>
          <p:cNvSpPr/>
          <p:nvPr/>
        </p:nvSpPr>
        <p:spPr>
          <a:xfrm>
            <a:off x="7764633" y="4598976"/>
            <a:ext cx="3657599" cy="182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/>
              <a:t>GH Blood Test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B161F-F058-FB79-6F15-79A3C22CD62D}"/>
              </a:ext>
            </a:extLst>
          </p:cNvPr>
          <p:cNvSpPr/>
          <p:nvPr/>
        </p:nvSpPr>
        <p:spPr>
          <a:xfrm>
            <a:off x="3788218" y="877518"/>
            <a:ext cx="3657600" cy="182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/>
              <a:t>2</a:t>
            </a:r>
            <a:r>
              <a:rPr lang="en-US" sz="900" baseline="30000"/>
              <a:t>nd</a:t>
            </a:r>
            <a:r>
              <a:rPr lang="en-US" sz="900"/>
              <a:t> Acro Dx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4AD48A-ACFD-B34B-A29B-CCA0F92B8F73}"/>
              </a:ext>
            </a:extLst>
          </p:cNvPr>
          <p:cNvSpPr txBox="1"/>
          <p:nvPr/>
        </p:nvSpPr>
        <p:spPr>
          <a:xfrm>
            <a:off x="4907508" y="2430848"/>
            <a:ext cx="13702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Days post 1</a:t>
            </a:r>
            <a:r>
              <a:rPr lang="en-US" sz="800" baseline="30000">
                <a:solidFill>
                  <a:schemeClr val="accent2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 Acro Dx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40B532-AE07-8764-0E57-3A96CFD29AB6}"/>
              </a:ext>
            </a:extLst>
          </p:cNvPr>
          <p:cNvSpPr txBox="1"/>
          <p:nvPr/>
        </p:nvSpPr>
        <p:spPr>
          <a:xfrm>
            <a:off x="8908304" y="2409536"/>
            <a:ext cx="13702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Days post 1</a:t>
            </a:r>
            <a:r>
              <a:rPr lang="en-US" sz="800" baseline="30000">
                <a:solidFill>
                  <a:schemeClr val="accent2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 Acro Dx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38F221-1034-DA0D-FB39-F5D6B614A840}"/>
              </a:ext>
            </a:extLst>
          </p:cNvPr>
          <p:cNvSpPr txBox="1"/>
          <p:nvPr/>
        </p:nvSpPr>
        <p:spPr>
          <a:xfrm>
            <a:off x="4931892" y="4285616"/>
            <a:ext cx="13702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Days post 1</a:t>
            </a:r>
            <a:r>
              <a:rPr lang="en-US" sz="800" baseline="30000">
                <a:solidFill>
                  <a:schemeClr val="accent2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 Acro Dx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29ED43-4671-D29E-D7C5-3E2D304BBF43}"/>
              </a:ext>
            </a:extLst>
          </p:cNvPr>
          <p:cNvSpPr txBox="1"/>
          <p:nvPr/>
        </p:nvSpPr>
        <p:spPr>
          <a:xfrm>
            <a:off x="8908303" y="4298835"/>
            <a:ext cx="13702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Days post 1</a:t>
            </a:r>
            <a:r>
              <a:rPr lang="en-US" sz="800" baseline="30000">
                <a:solidFill>
                  <a:schemeClr val="accent2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 Acro Dx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9FF7F8-05E7-5724-6394-888B246565DB}"/>
              </a:ext>
            </a:extLst>
          </p:cNvPr>
          <p:cNvSpPr txBox="1"/>
          <p:nvPr/>
        </p:nvSpPr>
        <p:spPr>
          <a:xfrm>
            <a:off x="4931892" y="6132682"/>
            <a:ext cx="13702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Days post 1</a:t>
            </a:r>
            <a:r>
              <a:rPr lang="en-US" sz="800" baseline="30000">
                <a:solidFill>
                  <a:schemeClr val="accent2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 Acro Dx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0562FE-3C18-F8B5-2E56-CB53754DE5F4}"/>
              </a:ext>
            </a:extLst>
          </p:cNvPr>
          <p:cNvSpPr txBox="1"/>
          <p:nvPr/>
        </p:nvSpPr>
        <p:spPr>
          <a:xfrm>
            <a:off x="8910970" y="6153604"/>
            <a:ext cx="13702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Days post 1</a:t>
            </a:r>
            <a:r>
              <a:rPr lang="en-US" sz="800" baseline="30000">
                <a:solidFill>
                  <a:schemeClr val="accent2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800">
                <a:solidFill>
                  <a:schemeClr val="accent2">
                    <a:lumMod val="60000"/>
                    <a:lumOff val="40000"/>
                  </a:schemeClr>
                </a:solidFill>
              </a:rPr>
              <a:t> Acro Dx</a:t>
            </a:r>
          </a:p>
        </p:txBody>
      </p:sp>
    </p:spTree>
    <p:extLst>
      <p:ext uri="{BB962C8B-B14F-4D97-AF65-F5344CB8AC3E}">
        <p14:creationId xmlns:p14="http://schemas.microsoft.com/office/powerpoint/2010/main" val="211591120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C14016-7E20-4EAE-808C-4EC20DEA8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339443"/>
              </p:ext>
            </p:extLst>
          </p:nvPr>
        </p:nvGraphicFramePr>
        <p:xfrm>
          <a:off x="1383776" y="955836"/>
          <a:ext cx="9424448" cy="400624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44782">
                  <a:extLst>
                    <a:ext uri="{9D8B030D-6E8A-4147-A177-3AD203B41FA5}">
                      <a16:colId xmlns:a16="http://schemas.microsoft.com/office/drawing/2014/main" val="685093135"/>
                    </a:ext>
                  </a:extLst>
                </a:gridCol>
                <a:gridCol w="1387702">
                  <a:extLst>
                    <a:ext uri="{9D8B030D-6E8A-4147-A177-3AD203B41FA5}">
                      <a16:colId xmlns:a16="http://schemas.microsoft.com/office/drawing/2014/main" val="3301564243"/>
                    </a:ext>
                  </a:extLst>
                </a:gridCol>
                <a:gridCol w="1497991">
                  <a:extLst>
                    <a:ext uri="{9D8B030D-6E8A-4147-A177-3AD203B41FA5}">
                      <a16:colId xmlns:a16="http://schemas.microsoft.com/office/drawing/2014/main" val="3203187231"/>
                    </a:ext>
                  </a:extLst>
                </a:gridCol>
                <a:gridCol w="1497991">
                  <a:extLst>
                    <a:ext uri="{9D8B030D-6E8A-4147-A177-3AD203B41FA5}">
                      <a16:colId xmlns:a16="http://schemas.microsoft.com/office/drawing/2014/main" val="938441273"/>
                    </a:ext>
                  </a:extLst>
                </a:gridCol>
                <a:gridCol w="1497991">
                  <a:extLst>
                    <a:ext uri="{9D8B030D-6E8A-4147-A177-3AD203B41FA5}">
                      <a16:colId xmlns:a16="http://schemas.microsoft.com/office/drawing/2014/main" val="3221839705"/>
                    </a:ext>
                  </a:extLst>
                </a:gridCol>
                <a:gridCol w="1497991">
                  <a:extLst>
                    <a:ext uri="{9D8B030D-6E8A-4147-A177-3AD203B41FA5}">
                      <a16:colId xmlns:a16="http://schemas.microsoft.com/office/drawing/2014/main" val="4101215715"/>
                    </a:ext>
                  </a:extLst>
                </a:gridCol>
              </a:tblGrid>
              <a:tr h="3268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Combinations</a:t>
                      </a:r>
                      <a:endParaRPr sz="1000" b="1" kern="120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j-lt"/>
                        </a:rPr>
                        <a:t>#Patients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j-lt"/>
                        </a:rPr>
                        <a:t>%Patients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j-lt"/>
                        </a:rPr>
                        <a:t>% Conversion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j-lt"/>
                        </a:rPr>
                        <a:t>#Patients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j-lt"/>
                        </a:rPr>
                        <a:t>%Patients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66901"/>
                  </a:ext>
                </a:extLst>
              </a:tr>
              <a:tr h="49531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 visit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IGF1 Test &amp; Pituitary surgery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0947652"/>
                  </a:ext>
                </a:extLst>
              </a:tr>
              <a:tr h="4336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 visit &amp; Pituitary surgery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4808134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 visit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IGF1 Test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5291199"/>
                  </a:ext>
                </a:extLst>
              </a:tr>
              <a:tr h="4703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IGF1 Test &amp; Pituitary surgery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286223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Pituitary surgery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509957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 visit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4635007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2252636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IGF1 Test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59095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Other</a:t>
                      </a:r>
                      <a:r>
                        <a:rPr lang="en-US" sz="900" b="0" baseline="30000"/>
                        <a:t>1</a:t>
                      </a:r>
                      <a:endParaRPr lang="en-US" sz="900" b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526514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ctr"/>
                      <a:r>
                        <a:rPr lang="en-US" sz="900" b="1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82597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941D6E-5248-49A7-A08C-B22287A95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03868"/>
              </p:ext>
            </p:extLst>
          </p:nvPr>
        </p:nvGraphicFramePr>
        <p:xfrm>
          <a:off x="1615440" y="5048317"/>
          <a:ext cx="8961120" cy="160179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44256">
                  <a:extLst>
                    <a:ext uri="{9D8B030D-6E8A-4147-A177-3AD203B41FA5}">
                      <a16:colId xmlns:a16="http://schemas.microsoft.com/office/drawing/2014/main" val="974550934"/>
                    </a:ext>
                  </a:extLst>
                </a:gridCol>
                <a:gridCol w="1319480">
                  <a:extLst>
                    <a:ext uri="{9D8B030D-6E8A-4147-A177-3AD203B41FA5}">
                      <a16:colId xmlns:a16="http://schemas.microsoft.com/office/drawing/2014/main" val="2902869643"/>
                    </a:ext>
                  </a:extLst>
                </a:gridCol>
                <a:gridCol w="1424346">
                  <a:extLst>
                    <a:ext uri="{9D8B030D-6E8A-4147-A177-3AD203B41FA5}">
                      <a16:colId xmlns:a16="http://schemas.microsoft.com/office/drawing/2014/main" val="810957796"/>
                    </a:ext>
                  </a:extLst>
                </a:gridCol>
                <a:gridCol w="1424346">
                  <a:extLst>
                    <a:ext uri="{9D8B030D-6E8A-4147-A177-3AD203B41FA5}">
                      <a16:colId xmlns:a16="http://schemas.microsoft.com/office/drawing/2014/main" val="1712422656"/>
                    </a:ext>
                  </a:extLst>
                </a:gridCol>
                <a:gridCol w="1424346">
                  <a:extLst>
                    <a:ext uri="{9D8B030D-6E8A-4147-A177-3AD203B41FA5}">
                      <a16:colId xmlns:a16="http://schemas.microsoft.com/office/drawing/2014/main" val="3440750789"/>
                    </a:ext>
                  </a:extLst>
                </a:gridCol>
                <a:gridCol w="1424346">
                  <a:extLst>
                    <a:ext uri="{9D8B030D-6E8A-4147-A177-3AD203B41FA5}">
                      <a16:colId xmlns:a16="http://schemas.microsoft.com/office/drawing/2014/main" val="2438309966"/>
                    </a:ext>
                  </a:extLst>
                </a:gridCol>
              </a:tblGrid>
              <a:tr h="3497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Criteria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#Patients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%Patients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% Conversion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#Patients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%Patients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5431059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Criteria #1: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 visit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IGF1 Test / Pituitary surgery</a:t>
                      </a: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0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51%</a:t>
                      </a:r>
                    </a:p>
                  </a:txBody>
                  <a:tcPr marL="7620" marR="7620" marT="7620" marB="0" anchor="ctr">
                    <a:lnR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2164221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Criteria#2: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 visit  / Pituitary surgery 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9%</a:t>
                      </a: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0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326</a:t>
                      </a: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21%</a:t>
                      </a:r>
                    </a:p>
                  </a:txBody>
                  <a:tcPr marL="7620" marR="7620" marT="7620" marB="0" anchor="ctr">
                    <a:lnR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600910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244B0763-07B4-3674-1321-2131C74AF198}"/>
              </a:ext>
            </a:extLst>
          </p:cNvPr>
          <p:cNvSpPr/>
          <p:nvPr/>
        </p:nvSpPr>
        <p:spPr>
          <a:xfrm>
            <a:off x="6549829" y="6173102"/>
            <a:ext cx="822960" cy="365760"/>
          </a:xfrm>
          <a:prstGeom prst="rightArrow">
            <a:avLst>
              <a:gd name="adj1" fmla="val 53704"/>
              <a:gd name="adj2" fmla="val 5713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50%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050A3EC-33D2-BD53-4A27-FB6C9CC16229}"/>
              </a:ext>
            </a:extLst>
          </p:cNvPr>
          <p:cNvSpPr/>
          <p:nvPr/>
        </p:nvSpPr>
        <p:spPr>
          <a:xfrm>
            <a:off x="6549829" y="5562752"/>
            <a:ext cx="822960" cy="365760"/>
          </a:xfrm>
          <a:prstGeom prst="rightArrow">
            <a:avLst>
              <a:gd name="adj1" fmla="val 50000"/>
              <a:gd name="adj2" fmla="val 5692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74%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F948FB-CB5D-648E-950B-0E31EACC9E9F}"/>
              </a:ext>
            </a:extLst>
          </p:cNvPr>
          <p:cNvSpPr/>
          <p:nvPr/>
        </p:nvSpPr>
        <p:spPr>
          <a:xfrm>
            <a:off x="1244598" y="1329281"/>
            <a:ext cx="9690962" cy="1303866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2B8F90-1BC2-3077-84D0-F0DFC912CBE8}"/>
              </a:ext>
            </a:extLst>
          </p:cNvPr>
          <p:cNvSpPr/>
          <p:nvPr/>
        </p:nvSpPr>
        <p:spPr>
          <a:xfrm>
            <a:off x="1244599" y="2702346"/>
            <a:ext cx="9690962" cy="1014536"/>
          </a:xfrm>
          <a:prstGeom prst="rect">
            <a:avLst/>
          </a:prstGeom>
          <a:noFill/>
          <a:ln w="28575">
            <a:solidFill>
              <a:srgbClr val="97550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4BE6EAB9-E4D4-1D62-A22B-54B7D97DDB92}"/>
              </a:ext>
            </a:extLst>
          </p:cNvPr>
          <p:cNvSpPr/>
          <p:nvPr/>
        </p:nvSpPr>
        <p:spPr>
          <a:xfrm>
            <a:off x="351198" y="4402657"/>
            <a:ext cx="968574" cy="1994614"/>
          </a:xfrm>
          <a:prstGeom prst="curvedRightArrow">
            <a:avLst>
              <a:gd name="adj1" fmla="val 30087"/>
              <a:gd name="adj2" fmla="val 53523"/>
              <a:gd name="adj3" fmla="val 3577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FAB2C246-FB67-8937-0BAC-6434652D7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6" y="153452"/>
            <a:ext cx="11006666" cy="338555"/>
          </a:xfrm>
        </p:spPr>
        <p:txBody>
          <a:bodyPr/>
          <a:lstStyle/>
          <a:p>
            <a:r>
              <a:rPr lang="en-US" sz="2000" b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Combinations Evaluated and Recommended Path Forward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FFE93B-5B7C-B921-69FC-D5D7E85CA82F}"/>
              </a:ext>
            </a:extLst>
          </p:cNvPr>
          <p:cNvCxnSpPr>
            <a:cxnSpLocks/>
          </p:cNvCxnSpPr>
          <p:nvPr/>
        </p:nvCxnSpPr>
        <p:spPr>
          <a:xfrm>
            <a:off x="638709" y="500872"/>
            <a:ext cx="4055980" cy="0"/>
          </a:xfrm>
          <a:prstGeom prst="line">
            <a:avLst/>
          </a:prstGeom>
          <a:ln w="19050">
            <a:solidFill>
              <a:schemeClr val="accent4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5DCEE65-272F-7B43-9626-770E7672811D}"/>
              </a:ext>
            </a:extLst>
          </p:cNvPr>
          <p:cNvSpPr txBox="1"/>
          <p:nvPr/>
        </p:nvSpPr>
        <p:spPr>
          <a:xfrm>
            <a:off x="638709" y="6708153"/>
            <a:ext cx="828143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4775" indent="-104775">
              <a:buClr>
                <a:schemeClr val="tx1"/>
              </a:buClr>
              <a:buFontTx/>
              <a:buAutoNum type="arabicPeriod"/>
            </a:pPr>
            <a:r>
              <a:rPr lang="en-US" sz="600">
                <a:solidFill>
                  <a:srgbClr val="333333"/>
                </a:solidFill>
              </a:rPr>
              <a:t>Other: Patients either have </a:t>
            </a:r>
            <a:r>
              <a:rPr lang="en-US" sz="600"/>
              <a:t>2nd Acro Dx</a:t>
            </a:r>
            <a:r>
              <a:rPr lang="en-US" sz="600">
                <a:solidFill>
                  <a:srgbClr val="333333"/>
                </a:solidFill>
              </a:rPr>
              <a:t>, </a:t>
            </a:r>
            <a:r>
              <a:rPr lang="en-US" sz="600"/>
              <a:t>2nd Acro Dx &amp;IGF1 Test, only Pituitary surgery, only IGF1 Test, only Endo visit, Endo visit, Neuro visit &amp; Pituitary surgery etc.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D4BFAB-BD18-F13B-C300-D51F85724503}"/>
              </a:ext>
            </a:extLst>
          </p:cNvPr>
          <p:cNvSpPr/>
          <p:nvPr/>
        </p:nvSpPr>
        <p:spPr>
          <a:xfrm>
            <a:off x="3332907" y="594005"/>
            <a:ext cx="3108960" cy="361864"/>
          </a:xfrm>
          <a:prstGeom prst="roundRect">
            <a:avLst>
              <a:gd name="adj" fmla="val 791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Less Confident Pool</a:t>
            </a:r>
          </a:p>
          <a:p>
            <a:pPr algn="ctr">
              <a:defRPr/>
            </a:pPr>
            <a:r>
              <a:rPr lang="en-US" sz="800">
                <a:solidFill>
                  <a:sysClr val="windowText" lastClr="000000"/>
                </a:solidFill>
              </a:rPr>
              <a:t>Patients who are newly diagnosed in R24M</a:t>
            </a: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n = 7558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1E4AFA9-99D6-51B6-02FF-6E282EB02497}"/>
              </a:ext>
            </a:extLst>
          </p:cNvPr>
          <p:cNvSpPr/>
          <p:nvPr/>
        </p:nvSpPr>
        <p:spPr>
          <a:xfrm>
            <a:off x="7699264" y="586234"/>
            <a:ext cx="3108960" cy="365760"/>
          </a:xfrm>
          <a:prstGeom prst="roundRect">
            <a:avLst>
              <a:gd name="adj" fmla="val 7918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Confident Pool</a:t>
            </a:r>
          </a:p>
          <a:p>
            <a:pPr algn="ctr">
              <a:defRPr/>
            </a:pPr>
            <a:r>
              <a:rPr lang="en-US" sz="800">
                <a:solidFill>
                  <a:srgbClr val="FFFFFF"/>
                </a:solidFill>
              </a:rPr>
              <a:t>Patients with at least 4 Acro Dx</a:t>
            </a: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n = 1525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829776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8377A6-8F07-8C9C-81E7-971680A19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000" b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Recommendation on HCPs to reach for Patients meeting criteria#1 and criteria#2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0BA232-4172-B6AD-7BED-E06C08910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654397"/>
              </p:ext>
            </p:extLst>
          </p:nvPr>
        </p:nvGraphicFramePr>
        <p:xfrm>
          <a:off x="381000" y="1325212"/>
          <a:ext cx="11429999" cy="4430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456">
                  <a:extLst>
                    <a:ext uri="{9D8B030D-6E8A-4147-A177-3AD203B41FA5}">
                      <a16:colId xmlns:a16="http://schemas.microsoft.com/office/drawing/2014/main" val="1405465835"/>
                    </a:ext>
                  </a:extLst>
                </a:gridCol>
                <a:gridCol w="2117175">
                  <a:extLst>
                    <a:ext uri="{9D8B030D-6E8A-4147-A177-3AD203B41FA5}">
                      <a16:colId xmlns:a16="http://schemas.microsoft.com/office/drawing/2014/main" val="4155907489"/>
                    </a:ext>
                  </a:extLst>
                </a:gridCol>
                <a:gridCol w="812505">
                  <a:extLst>
                    <a:ext uri="{9D8B030D-6E8A-4147-A177-3AD203B41FA5}">
                      <a16:colId xmlns:a16="http://schemas.microsoft.com/office/drawing/2014/main" val="3744356033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3444187678"/>
                    </a:ext>
                  </a:extLst>
                </a:gridCol>
                <a:gridCol w="2948697">
                  <a:extLst>
                    <a:ext uri="{9D8B030D-6E8A-4147-A177-3AD203B41FA5}">
                      <a16:colId xmlns:a16="http://schemas.microsoft.com/office/drawing/2014/main" val="2167947487"/>
                    </a:ext>
                  </a:extLst>
                </a:gridCol>
                <a:gridCol w="1848854">
                  <a:extLst>
                    <a:ext uri="{9D8B030D-6E8A-4147-A177-3AD203B41FA5}">
                      <a16:colId xmlns:a16="http://schemas.microsoft.com/office/drawing/2014/main" val="613974839"/>
                    </a:ext>
                  </a:extLst>
                </a:gridCol>
              </a:tblGrid>
              <a:tr h="724148"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Patient 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Cohort 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HCPs mapped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Recommended HCP to reach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Overlap with SF Targets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Action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5236989"/>
                  </a:ext>
                </a:extLst>
              </a:tr>
              <a:tr h="182035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Criteria #1: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 visit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IGF1 Test / Pituitary surgery</a:t>
                      </a: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000" b="1"/>
                        <a:t>(n=1053)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Patients meeting the below criteria within first 6 months of 1</a:t>
                      </a:r>
                      <a:r>
                        <a:rPr lang="en-US" sz="10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Acro Dx</a:t>
                      </a:r>
                    </a:p>
                    <a:p>
                      <a:pPr marL="742950" lvl="1" indent="-285750" algn="l" defTabSz="914400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</a:t>
                      </a:r>
                    </a:p>
                    <a:p>
                      <a:pPr marL="742950" lvl="1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 visit &amp; </a:t>
                      </a:r>
                    </a:p>
                    <a:p>
                      <a:pPr marL="742950" lvl="1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IGF1 Test / Pituitary surgery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N=768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Recent Endo that patient visited at the time of meeting the 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Overlap with SF Targets:</a:t>
                      </a:r>
                    </a:p>
                    <a:p>
                      <a:pPr marL="628650" lvl="1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~60% of Triggered HCP belongs to SF target list</a:t>
                      </a:r>
                    </a:p>
                    <a:p>
                      <a:pPr marL="628650" lvl="1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40% HCPs who are not part of SF target list, ~45% of them are co-located with SF targets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Prescribing HCPs</a:t>
                      </a:r>
                    </a:p>
                    <a:p>
                      <a:pPr marL="628650" lvl="1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57% of Triggered HCPs are also prescribing HCPs for the patients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SF outreach for targets?</a:t>
                      </a:r>
                    </a:p>
                    <a:p>
                      <a:pPr marL="171450" lvl="1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Non-targets? (SF reach, RTE, NPP?)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595460"/>
                  </a:ext>
                </a:extLst>
              </a:tr>
              <a:tr h="18862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Criteria#2: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 visit  / Pituitary surgery </a:t>
                      </a:r>
                    </a:p>
                    <a:p>
                      <a:pPr marL="0" algn="ctr" defTabSz="914400" rtl="0" eaLnBrk="1" latinLnBrk="0" hangingPunct="1"/>
                      <a:r>
                        <a:rPr lang="en-IN" sz="1000" b="1"/>
                        <a:t>(n=646)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Patients meeting the below criteria within first 6 months of 1</a:t>
                      </a:r>
                      <a:r>
                        <a:rPr lang="en-US" sz="10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Acro Dx</a:t>
                      </a:r>
                    </a:p>
                    <a:p>
                      <a:pPr marL="742950" lvl="1" indent="-285750" algn="l" defTabSz="914400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Acro Dx &amp;</a:t>
                      </a:r>
                    </a:p>
                    <a:p>
                      <a:pPr marL="742950" lvl="1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 visit  / Pituitary surgery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N=549</a:t>
                      </a:r>
                    </a:p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 the time of meeting the criteria, 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 patient visited Endo, reach to Recent Endo that patient visited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 not, reach to the HCP who performed the pituitary surgery on the patient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Overlap with SF Targets:</a:t>
                      </a:r>
                    </a:p>
                    <a:p>
                      <a:pPr marL="628650" lvl="1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~60% of Triggered HCP belongs to SF target list</a:t>
                      </a:r>
                    </a:p>
                    <a:p>
                      <a:pPr marL="628650" lvl="1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40% HCPs who are not part of SF target list, ~42% of them are co-located with SF targets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Prescribing HCPs</a:t>
                      </a:r>
                    </a:p>
                    <a:p>
                      <a:pPr marL="628650" lvl="1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68% of Triggered HCPs are also prescribing HCPs for the patients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SF outreach for targets?</a:t>
                      </a:r>
                    </a:p>
                    <a:p>
                      <a:pPr marL="171450" lvl="1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Non-targets? (SF reach, RTE, NPP?)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671704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BE438E-92A4-1DDF-58D8-0EDF3BF6D950}"/>
              </a:ext>
            </a:extLst>
          </p:cNvPr>
          <p:cNvCxnSpPr>
            <a:cxnSpLocks/>
          </p:cNvCxnSpPr>
          <p:nvPr/>
        </p:nvCxnSpPr>
        <p:spPr>
          <a:xfrm>
            <a:off x="609601" y="751475"/>
            <a:ext cx="4105275" cy="0"/>
          </a:xfrm>
          <a:prstGeom prst="line">
            <a:avLst/>
          </a:prstGeom>
          <a:ln w="19050">
            <a:solidFill>
              <a:schemeClr val="accent4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49904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BBF350-D216-B621-67E6-2A4156D42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Deep dive into Recommended HCPs to reach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00178-113A-3400-74BD-2D18B4B6C629}"/>
              </a:ext>
            </a:extLst>
          </p:cNvPr>
          <p:cNvSpPr/>
          <p:nvPr/>
        </p:nvSpPr>
        <p:spPr>
          <a:xfrm>
            <a:off x="609601" y="1728216"/>
            <a:ext cx="1301495" cy="10698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Criteria#1 </a:t>
            </a:r>
            <a:r>
              <a:rPr lang="en-IN" sz="1400">
                <a:solidFill>
                  <a:schemeClr val="tx1"/>
                </a:solidFill>
              </a:rPr>
              <a:t>Patients</a:t>
            </a:r>
          </a:p>
          <a:p>
            <a:pPr algn="ctr"/>
            <a:endParaRPr lang="en-IN" sz="1400">
              <a:solidFill>
                <a:schemeClr val="tx1"/>
              </a:solidFill>
            </a:endParaRPr>
          </a:p>
          <a:p>
            <a:pPr algn="ctr"/>
            <a:r>
              <a:rPr lang="en-IN" sz="1400">
                <a:solidFill>
                  <a:schemeClr val="tx1"/>
                </a:solidFill>
              </a:rPr>
              <a:t>(n=1053)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AB381-F07B-7ED7-8ADC-5FB20D83A64E}"/>
              </a:ext>
            </a:extLst>
          </p:cNvPr>
          <p:cNvSpPr/>
          <p:nvPr/>
        </p:nvSpPr>
        <p:spPr>
          <a:xfrm>
            <a:off x="609601" y="4541520"/>
            <a:ext cx="1301495" cy="10698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Criteria#2</a:t>
            </a:r>
          </a:p>
          <a:p>
            <a:pPr algn="ctr"/>
            <a:r>
              <a:rPr lang="en-IN" sz="1400">
                <a:solidFill>
                  <a:schemeClr val="tx1"/>
                </a:solidFill>
              </a:rPr>
              <a:t>Patients</a:t>
            </a:r>
          </a:p>
          <a:p>
            <a:pPr algn="ctr"/>
            <a:endParaRPr lang="en-IN" sz="1400">
              <a:solidFill>
                <a:schemeClr val="tx1"/>
              </a:solidFill>
            </a:endParaRPr>
          </a:p>
          <a:p>
            <a:pPr algn="ctr"/>
            <a:r>
              <a:rPr lang="en-IN" sz="1400">
                <a:solidFill>
                  <a:schemeClr val="tx1"/>
                </a:solidFill>
              </a:rPr>
              <a:t>(n=646)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66A4352-7057-7D6C-8993-FA7AB619E28A}"/>
              </a:ext>
            </a:extLst>
          </p:cNvPr>
          <p:cNvSpPr/>
          <p:nvPr/>
        </p:nvSpPr>
        <p:spPr>
          <a:xfrm>
            <a:off x="1984248" y="2130552"/>
            <a:ext cx="649224" cy="265176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err="1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8CF3F3E-8C2F-02CB-95FF-D79AECDA9422}"/>
              </a:ext>
            </a:extLst>
          </p:cNvPr>
          <p:cNvSpPr/>
          <p:nvPr/>
        </p:nvSpPr>
        <p:spPr>
          <a:xfrm>
            <a:off x="1984248" y="4943856"/>
            <a:ext cx="649224" cy="265176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err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138D4A-E9D6-8373-0978-722D3243D5C3}"/>
              </a:ext>
            </a:extLst>
          </p:cNvPr>
          <p:cNvSpPr/>
          <p:nvPr/>
        </p:nvSpPr>
        <p:spPr>
          <a:xfrm>
            <a:off x="2843784" y="1728216"/>
            <a:ext cx="1446627" cy="10698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Mapped HCPs</a:t>
            </a:r>
          </a:p>
          <a:p>
            <a:pPr algn="ctr"/>
            <a:endParaRPr lang="en-IN" sz="1400">
              <a:solidFill>
                <a:schemeClr val="tx1"/>
              </a:solidFill>
            </a:endParaRPr>
          </a:p>
          <a:p>
            <a:pPr algn="ctr"/>
            <a:r>
              <a:rPr lang="en-IN" sz="1400">
                <a:solidFill>
                  <a:schemeClr val="tx1"/>
                </a:solidFill>
              </a:rPr>
              <a:t>(n=768)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60253F-46CC-A604-7EB1-26968A25F3AE}"/>
              </a:ext>
            </a:extLst>
          </p:cNvPr>
          <p:cNvSpPr/>
          <p:nvPr/>
        </p:nvSpPr>
        <p:spPr>
          <a:xfrm>
            <a:off x="2843784" y="4541520"/>
            <a:ext cx="1446627" cy="10698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Mapped HCPs</a:t>
            </a:r>
          </a:p>
          <a:p>
            <a:pPr algn="ctr"/>
            <a:endParaRPr lang="en-IN" sz="1400">
              <a:solidFill>
                <a:schemeClr val="tx1"/>
              </a:solidFill>
            </a:endParaRPr>
          </a:p>
          <a:p>
            <a:pPr algn="ctr"/>
            <a:r>
              <a:rPr lang="en-IN" sz="1400">
                <a:solidFill>
                  <a:schemeClr val="tx1"/>
                </a:solidFill>
              </a:rPr>
              <a:t>(n=549)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5E71054-69FB-E653-740E-D16A272C5989}"/>
              </a:ext>
            </a:extLst>
          </p:cNvPr>
          <p:cNvSpPr/>
          <p:nvPr/>
        </p:nvSpPr>
        <p:spPr>
          <a:xfrm>
            <a:off x="4440936" y="2130552"/>
            <a:ext cx="649224" cy="265176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err="1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1B76A03-0A7B-F770-A1E1-E852F0542520}"/>
              </a:ext>
            </a:extLst>
          </p:cNvPr>
          <p:cNvSpPr/>
          <p:nvPr/>
        </p:nvSpPr>
        <p:spPr>
          <a:xfrm>
            <a:off x="4440936" y="4943856"/>
            <a:ext cx="649224" cy="265176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err="1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2F97E36-BCAC-3FF0-7247-69C4B71EBA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14897"/>
              </p:ext>
            </p:extLst>
          </p:nvPr>
        </p:nvGraphicFramePr>
        <p:xfrm>
          <a:off x="4948428" y="1392700"/>
          <a:ext cx="3710940" cy="2295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6A97AB3-30EA-FE99-FF4B-CAFC454C5CCA}"/>
              </a:ext>
            </a:extLst>
          </p:cNvPr>
          <p:cNvSpPr txBox="1"/>
          <p:nvPr/>
        </p:nvSpPr>
        <p:spPr>
          <a:xfrm>
            <a:off x="5421630" y="1153469"/>
            <a:ext cx="2764536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IN" sz="1400" b="1"/>
              <a:t>HCPs by Sale Force Tiers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1E111D7-962F-3E71-4ECD-9FDD1B94F7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6089729"/>
              </p:ext>
            </p:extLst>
          </p:nvPr>
        </p:nvGraphicFramePr>
        <p:xfrm>
          <a:off x="4948428" y="4205807"/>
          <a:ext cx="3710940" cy="2295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2B4E3E8-574C-7D0C-8146-15B5F8EC0D71}"/>
              </a:ext>
            </a:extLst>
          </p:cNvPr>
          <p:cNvSpPr txBox="1"/>
          <p:nvPr/>
        </p:nvSpPr>
        <p:spPr>
          <a:xfrm>
            <a:off x="8512683" y="3966576"/>
            <a:ext cx="2764536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IN" sz="1400" b="1"/>
              <a:t>HCPs by Specialty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84CE0E-6978-BE80-30DC-B011A6DFCFF5}"/>
              </a:ext>
            </a:extLst>
          </p:cNvPr>
          <p:cNvCxnSpPr/>
          <p:nvPr/>
        </p:nvCxnSpPr>
        <p:spPr>
          <a:xfrm flipV="1">
            <a:off x="609601" y="3730752"/>
            <a:ext cx="11076431" cy="96049"/>
          </a:xfrm>
          <a:prstGeom prst="line">
            <a:avLst/>
          </a:prstGeom>
          <a:ln w="12700">
            <a:solidFill>
              <a:schemeClr val="bg2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27B64615-82D1-94FD-F07A-F46FC44B9D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1201420"/>
              </p:ext>
            </p:extLst>
          </p:nvPr>
        </p:nvGraphicFramePr>
        <p:xfrm>
          <a:off x="8211693" y="1413725"/>
          <a:ext cx="3710940" cy="2295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6527AD86-0CB8-EA99-C3DC-38CEEE30BA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6051945"/>
              </p:ext>
            </p:extLst>
          </p:nvPr>
        </p:nvGraphicFramePr>
        <p:xfrm>
          <a:off x="8211693" y="4205807"/>
          <a:ext cx="3710940" cy="2295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D84A7E4-3FD9-02A1-7DD5-BC0FD4CA87B0}"/>
              </a:ext>
            </a:extLst>
          </p:cNvPr>
          <p:cNvSpPr txBox="1"/>
          <p:nvPr/>
        </p:nvSpPr>
        <p:spPr>
          <a:xfrm>
            <a:off x="8512683" y="1166611"/>
            <a:ext cx="2764536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IN" sz="1400" b="1"/>
              <a:t>HCPs by Specialty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BCFF4F-A401-11A0-9655-54A7C21079AF}"/>
              </a:ext>
            </a:extLst>
          </p:cNvPr>
          <p:cNvSpPr txBox="1"/>
          <p:nvPr/>
        </p:nvSpPr>
        <p:spPr>
          <a:xfrm>
            <a:off x="5443728" y="3981746"/>
            <a:ext cx="2764536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IN" sz="1400" b="1"/>
              <a:t>HCPs by Sale Force Tiers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D6B0B9E0-BBC1-A480-F35C-4D54B0186172}"/>
              </a:ext>
            </a:extLst>
          </p:cNvPr>
          <p:cNvSpPr/>
          <p:nvPr/>
        </p:nvSpPr>
        <p:spPr>
          <a:xfrm>
            <a:off x="4427553" y="2578301"/>
            <a:ext cx="1325213" cy="486365"/>
          </a:xfrm>
          <a:prstGeom prst="wedgeRectCallout">
            <a:avLst>
              <a:gd name="adj1" fmla="val 55919"/>
              <a:gd name="adj2" fmla="val -944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43% of No Tier are co-located with Sales targets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55CD4ECC-00FA-AACB-881E-FEB68F099DD6}"/>
              </a:ext>
            </a:extLst>
          </p:cNvPr>
          <p:cNvSpPr/>
          <p:nvPr/>
        </p:nvSpPr>
        <p:spPr>
          <a:xfrm>
            <a:off x="4456176" y="5371559"/>
            <a:ext cx="1303430" cy="496187"/>
          </a:xfrm>
          <a:prstGeom prst="wedgeRectCallout">
            <a:avLst>
              <a:gd name="adj1" fmla="val 57447"/>
              <a:gd name="adj2" fmla="val -8991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42% of No Tier are co-located with Sales targets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DDDF7BB5-7BC3-259A-A2CE-BDCE99847CD6}"/>
              </a:ext>
            </a:extLst>
          </p:cNvPr>
          <p:cNvSpPr/>
          <p:nvPr/>
        </p:nvSpPr>
        <p:spPr>
          <a:xfrm>
            <a:off x="10757058" y="2721336"/>
            <a:ext cx="1325213" cy="486365"/>
          </a:xfrm>
          <a:prstGeom prst="wedgeRectCallout">
            <a:avLst>
              <a:gd name="adj1" fmla="val -68281"/>
              <a:gd name="adj2" fmla="val -6440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57% of triggering Endos are also the prescribing Endo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51C03B83-6F58-DA5A-7752-9D4BB6BC482B}"/>
              </a:ext>
            </a:extLst>
          </p:cNvPr>
          <p:cNvSpPr/>
          <p:nvPr/>
        </p:nvSpPr>
        <p:spPr>
          <a:xfrm>
            <a:off x="10757057" y="5624563"/>
            <a:ext cx="1325213" cy="486365"/>
          </a:xfrm>
          <a:prstGeom prst="wedgeRectCallout">
            <a:avLst>
              <a:gd name="adj1" fmla="val -68281"/>
              <a:gd name="adj2" fmla="val -6440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68% of triggering Endos are also the prescribing Endo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2E0EA3-B97A-2DC4-1CD4-7DE4C351886B}"/>
              </a:ext>
            </a:extLst>
          </p:cNvPr>
          <p:cNvCxnSpPr>
            <a:cxnSpLocks/>
          </p:cNvCxnSpPr>
          <p:nvPr/>
        </p:nvCxnSpPr>
        <p:spPr>
          <a:xfrm>
            <a:off x="609601" y="835802"/>
            <a:ext cx="4105275" cy="0"/>
          </a:xfrm>
          <a:prstGeom prst="line">
            <a:avLst/>
          </a:prstGeom>
          <a:ln w="19050">
            <a:solidFill>
              <a:schemeClr val="accent4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8146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376D45B-0DBD-8D16-872C-8E109814643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94700499"/>
              </p:ext>
            </p:extLst>
          </p:nvPr>
        </p:nvGraphicFramePr>
        <p:xfrm>
          <a:off x="609601" y="2020824"/>
          <a:ext cx="5096256" cy="3054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8DB9D7F-EF63-2580-B751-187E69E24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74013"/>
            <a:ext cx="10972800" cy="369824"/>
          </a:xfrm>
        </p:spPr>
        <p:txBody>
          <a:bodyPr/>
          <a:lstStyle/>
          <a:p>
            <a:r>
              <a:rPr lang="en-US" sz="2400" b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PTC VS NON-PTC 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767520BE-347F-8C8E-7719-989B09E84F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0009095"/>
              </p:ext>
            </p:extLst>
          </p:nvPr>
        </p:nvGraphicFramePr>
        <p:xfrm>
          <a:off x="6486143" y="2020824"/>
          <a:ext cx="5096256" cy="3054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1C24240-C8F3-5B83-E42E-3D1DD465F89A}"/>
              </a:ext>
            </a:extLst>
          </p:cNvPr>
          <p:cNvSpPr/>
          <p:nvPr/>
        </p:nvSpPr>
        <p:spPr>
          <a:xfrm>
            <a:off x="609600" y="1651001"/>
            <a:ext cx="5096255" cy="3698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/>
              <a:t>Criteria #1 :  </a:t>
            </a:r>
            <a:r>
              <a:rPr lang="en-US" sz="1050"/>
              <a:t>2nd Acro Dx &amp; Endo visit &amp; IGF1 Test / Pituitary surgery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6D93A-3820-6ED2-D18D-1F0D92D5A415}"/>
              </a:ext>
            </a:extLst>
          </p:cNvPr>
          <p:cNvSpPr/>
          <p:nvPr/>
        </p:nvSpPr>
        <p:spPr>
          <a:xfrm>
            <a:off x="6486142" y="1651001"/>
            <a:ext cx="5096256" cy="3698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/>
              <a:t>Criteria #2 :  </a:t>
            </a:r>
            <a:r>
              <a:rPr lang="en-US" sz="1050"/>
              <a:t>2nd Acro Dx &amp; Endo visit / Pituitary surgery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392094-027D-D3A9-8E75-FB95F640A308}"/>
              </a:ext>
            </a:extLst>
          </p:cNvPr>
          <p:cNvCxnSpPr>
            <a:cxnSpLocks/>
          </p:cNvCxnSpPr>
          <p:nvPr/>
        </p:nvCxnSpPr>
        <p:spPr>
          <a:xfrm>
            <a:off x="609600" y="855570"/>
            <a:ext cx="4105275" cy="0"/>
          </a:xfrm>
          <a:prstGeom prst="line">
            <a:avLst/>
          </a:prstGeom>
          <a:ln w="19050">
            <a:solidFill>
              <a:schemeClr val="accent4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43589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Ly2v14pyIDqCK1SjEQr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jcL.yqlzvsaGHYI8EGv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Ly2v14pyIDqCK1SjEQr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jcL.yqlzvsaGHYI8EGv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4. Footnote"/>
</p:tagLst>
</file>

<file path=ppt/theme/theme1.xml><?xml version="1.0" encoding="utf-8"?>
<a:theme xmlns:a="http://schemas.openxmlformats.org/drawingml/2006/main" name="1_Crinetics Template">
  <a:themeElements>
    <a:clrScheme name="Crinetics">
      <a:dk1>
        <a:srgbClr val="333333"/>
      </a:dk1>
      <a:lt1>
        <a:srgbClr val="FFFFFF"/>
      </a:lt1>
      <a:dk2>
        <a:srgbClr val="AEABAB"/>
      </a:dk2>
      <a:lt2>
        <a:srgbClr val="1C8A9E"/>
      </a:lt2>
      <a:accent1>
        <a:srgbClr val="1C8A9E"/>
      </a:accent1>
      <a:accent2>
        <a:srgbClr val="333333"/>
      </a:accent2>
      <a:accent3>
        <a:srgbClr val="1C5E6B"/>
      </a:accent3>
      <a:accent4>
        <a:srgbClr val="F5A64A"/>
      </a:accent4>
      <a:accent5>
        <a:srgbClr val="9E285E"/>
      </a:accent5>
      <a:accent6>
        <a:srgbClr val="633030"/>
      </a:accent6>
      <a:hlink>
        <a:srgbClr val="1C8A9E"/>
      </a:hlink>
      <a:folHlink>
        <a:srgbClr val="1C8A9E"/>
      </a:folHlink>
    </a:clrScheme>
    <a:fontScheme name="Crinetics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4"/>
          </a:solidFill>
          <a:miter lim="800000"/>
          <a:headEnd type="none" w="med" len="med"/>
          <a:tailEnd type="none" w="med" len="med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RIN_Corporate Template_FINAL_10.12.20" id="{CCBDADFB-0AF5-4CE7-BCC3-27CD22243145}" vid="{F9790D4D-3F3E-4B8F-9611-930BEA05D4B9}"/>
    </a:ext>
  </a:extLst>
</a:theme>
</file>

<file path=ppt/theme/theme2.xml><?xml version="1.0" encoding="utf-8"?>
<a:theme xmlns:a="http://schemas.openxmlformats.org/drawingml/2006/main" name="Crinetics Template">
  <a:themeElements>
    <a:clrScheme name="Crinetics">
      <a:dk1>
        <a:srgbClr val="333333"/>
      </a:dk1>
      <a:lt1>
        <a:srgbClr val="FFFFFF"/>
      </a:lt1>
      <a:dk2>
        <a:srgbClr val="AEABAB"/>
      </a:dk2>
      <a:lt2>
        <a:srgbClr val="1C8A9E"/>
      </a:lt2>
      <a:accent1>
        <a:srgbClr val="1C8A9E"/>
      </a:accent1>
      <a:accent2>
        <a:srgbClr val="333333"/>
      </a:accent2>
      <a:accent3>
        <a:srgbClr val="1C5E6B"/>
      </a:accent3>
      <a:accent4>
        <a:srgbClr val="F5A64A"/>
      </a:accent4>
      <a:accent5>
        <a:srgbClr val="9E285E"/>
      </a:accent5>
      <a:accent6>
        <a:srgbClr val="633030"/>
      </a:accent6>
      <a:hlink>
        <a:srgbClr val="1C8A9E"/>
      </a:hlink>
      <a:folHlink>
        <a:srgbClr val="1C8A9E"/>
      </a:folHlink>
    </a:clrScheme>
    <a:fontScheme name="Crinetics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4"/>
          </a:solidFill>
          <a:miter lim="800000"/>
          <a:headEnd type="none" w="med" len="med"/>
          <a:tailEnd type="none" w="med" len="med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1DE1360C76F4449800E75830338613" ma:contentTypeVersion="20" ma:contentTypeDescription="Create a new document." ma:contentTypeScope="" ma:versionID="cc4b3906aeb38b79b16dec72b9bb035a">
  <xsd:schema xmlns:xsd="http://www.w3.org/2001/XMLSchema" xmlns:xs="http://www.w3.org/2001/XMLSchema" xmlns:p="http://schemas.microsoft.com/office/2006/metadata/properties" xmlns:ns1="http://schemas.microsoft.com/sharepoint/v3" xmlns:ns2="6e7f7057-f7ec-4a25-829b-6848d5962be4" xmlns:ns3="decf26a9-df33-4f1b-98d7-78eeb594ca23" targetNamespace="http://schemas.microsoft.com/office/2006/metadata/properties" ma:root="true" ma:fieldsID="817890fbeccc1a65c1602005e7288ce0" ns1:_="" ns2:_="" ns3:_="">
    <xsd:import namespace="http://schemas.microsoft.com/sharepoint/v3"/>
    <xsd:import namespace="6e7f7057-f7ec-4a25-829b-6848d5962be4"/>
    <xsd:import namespace="decf26a9-df33-4f1b-98d7-78eeb594ca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TaxKeywordTaxHTField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f7057-f7ec-4a25-829b-6848d5962b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6da36a2-4477-4531-83ec-181c0b8cf9f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cf26a9-df33-4f1b-98d7-78eeb594ca2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c2d3907-7c90-4bc9-aa77-da445007c597}" ma:internalName="TaxCatchAll" ma:showField="CatchAllData" ma:web="decf26a9-df33-4f1b-98d7-78eeb594ca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25" nillable="true" ma:taxonomy="true" ma:internalName="TaxKeywordTaxHTField" ma:taxonomyFieldName="TaxKeyword" ma:displayName="Enterprise Keywords" ma:fieldId="{23f27201-bee3-471e-b2e7-b64fd8b7ca38}" ma:taxonomyMulti="true" ma:sspId="16da36a2-4477-4531-83ec-181c0b8cf9f5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KeywordTaxHTField xmlns="decf26a9-df33-4f1b-98d7-78eeb594ca23">
      <Terms xmlns="http://schemas.microsoft.com/office/infopath/2007/PartnerControls"/>
    </TaxKeywordTaxHTField>
    <_ip_UnifiedCompliancePolicyProperties xmlns="http://schemas.microsoft.com/sharepoint/v3" xsi:nil="true"/>
    <lcf76f155ced4ddcb4097134ff3c332f xmlns="6e7f7057-f7ec-4a25-829b-6848d5962be4">
      <Terms xmlns="http://schemas.microsoft.com/office/infopath/2007/PartnerControls"/>
    </lcf76f155ced4ddcb4097134ff3c332f>
    <TaxCatchAll xmlns="decf26a9-df33-4f1b-98d7-78eeb594ca23" xsi:nil="true"/>
  </documentManagement>
</p:properties>
</file>

<file path=customXml/itemProps1.xml><?xml version="1.0" encoding="utf-8"?>
<ds:datastoreItem xmlns:ds="http://schemas.openxmlformats.org/officeDocument/2006/customXml" ds:itemID="{8ECC4B98-6E7A-483F-8B0B-2D227807603A}">
  <ds:schemaRefs>
    <ds:schemaRef ds:uri="6e7f7057-f7ec-4a25-829b-6848d5962be4"/>
    <ds:schemaRef ds:uri="decf26a9-df33-4f1b-98d7-78eeb594ca2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8B0E9D4-4DF0-463A-9636-328996D954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85AB33-1F3C-4238-9997-0984FE9D3460}">
  <ds:schemaRefs>
    <ds:schemaRef ds:uri="6e7f7057-f7ec-4a25-829b-6848d5962be4"/>
    <ds:schemaRef ds:uri="decf26a9-df33-4f1b-98d7-78eeb594ca2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97d58c70-a9f4-4aa8-b28f-f833520dc90c}" enabled="0" method="" siteId="{97d58c70-a9f4-4aa8-b28f-f833520dc90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</Slides>
  <Notes>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1_Crinetics Template</vt:lpstr>
      <vt:lpstr>Crinetics Template</vt:lpstr>
      <vt:lpstr>Newly Diagnosed Acromegaly Patient identification</vt:lpstr>
      <vt:lpstr>Current and Near Future SF Data and Alerts</vt:lpstr>
      <vt:lpstr>Why We Need a Newly Diagnosed Acromegaly Patient Trigger Framework</vt:lpstr>
      <vt:lpstr>PowerPoint Presentation</vt:lpstr>
      <vt:lpstr>Confirmation criterion</vt:lpstr>
      <vt:lpstr>Combinations Evaluated and Recommended Path Forward</vt:lpstr>
      <vt:lpstr>Recommendation on HCPs to reach for Patients meeting criteria#1 and criteria#2</vt:lpstr>
      <vt:lpstr>Deep dive into Recommended HCPs to reach</vt:lpstr>
      <vt:lpstr>PTC VS NON-PTC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Paltusotine compendium</dc:title>
  <dc:creator>Tiffanie Stewart</dc:creator>
  <cp:revision>2</cp:revision>
  <dcterms:created xsi:type="dcterms:W3CDTF">2024-08-20T18:56:06Z</dcterms:created>
  <dcterms:modified xsi:type="dcterms:W3CDTF">2026-03-23T14:58:46Z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6570300.00000000</vt:lpwstr>
  </property>
  <property fmtid="{D5CDD505-2E9C-101B-9397-08002B2CF9AE}" pid="3" name="xd_ProgID">
    <vt:lpwstr/>
  </property>
  <property fmtid="{D5CDD505-2E9C-101B-9397-08002B2CF9AE}" pid="4" name="ContentTypeId">
    <vt:lpwstr>0x0101006F1DE1360C76F4449800E75830338613</vt:lpwstr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MediaServiceImageTags">
    <vt:lpwstr/>
  </property>
  <property fmtid="{D5CDD505-2E9C-101B-9397-08002B2CF9AE}" pid="11" name="TaxKeyword">
    <vt:lpwstr/>
  </property>
</Properties>
</file>