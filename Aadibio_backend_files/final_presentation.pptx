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47472" y="164592"/>
            <a:ext cx="4572000" cy="219456"/>
          </a:xfrm>
          <a:prstGeom prst="rect">
            <a:avLst/>
          </a:prstGeom>
          <a:noFill/>
        </p:spPr>
        <p:txBody>
          <a:bodyPr wrap="none">
            <a:spAutoFit/>
          </a:bodyPr>
          <a:lstStyle/>
          <a:p>
            <a:pPr algn="l"/>
            <a:r>
              <a:rPr sz="800" b="1" i="0" spc="250">
                <a:solidFill>
                  <a:srgbClr val="00859D"/>
                </a:solidFill>
                <a:latin typeface="Calibri"/>
              </a:rPr>
              <a:t>BUSINESS QUESTION</a:t>
            </a:r>
          </a:p>
        </p:txBody>
      </p:sp>
      <p:sp>
        <p:nvSpPr>
          <p:cNvPr id="3" name="TextBox 2"/>
          <p:cNvSpPr txBox="1"/>
          <p:nvPr/>
        </p:nvSpPr>
        <p:spPr>
          <a:xfrm>
            <a:off x="347472" y="384048"/>
            <a:ext cx="8522207" cy="438912"/>
          </a:xfrm>
          <a:prstGeom prst="rect">
            <a:avLst/>
          </a:prstGeom>
          <a:noFill/>
        </p:spPr>
        <p:txBody>
          <a:bodyPr wrap="square">
            <a:spAutoFit/>
          </a:bodyPr>
          <a:lstStyle/>
          <a:p>
            <a:pPr algn="l"/>
            <a:r>
              <a:rPr sz="1400" b="1" i="0">
                <a:solidFill>
                  <a:srgbClr val="000000"/>
                </a:solidFill>
                <a:latin typeface="Helvetica"/>
              </a:rPr>
              <a:t>What Are the Top 25 Accounts?</a:t>
            </a:r>
          </a:p>
        </p:txBody>
      </p:sp>
      <p:sp>
        <p:nvSpPr>
          <p:cNvPr id="4" name="Rectangle 3"/>
          <p:cNvSpPr/>
          <p:nvPr/>
        </p:nvSpPr>
        <p:spPr>
          <a:xfrm>
            <a:off x="347472" y="859536"/>
            <a:ext cx="8522207" cy="27432"/>
          </a:xfrm>
          <a:prstGeom prst="rect">
            <a:avLst/>
          </a:prstGeom>
          <a:solidFill>
            <a:srgbClr val="008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960120"/>
            <a:ext cx="5751575" cy="3323844"/>
          </a:xfrm>
          <a:prstGeom prst="rect">
            <a:avLst/>
          </a:prstGeom>
          <a:solidFill>
            <a:srgbClr val="EAF5F7"/>
          </a:solidFill>
          <a:ln w="9525">
            <a:solidFill>
              <a:srgbClr val="BF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95613"/>
            <a:ext cx="201168" cy="949452"/>
          </a:xfrm>
          <a:prstGeom prst="rect">
            <a:avLst/>
          </a:prstGeom>
          <a:noFill/>
        </p:spPr>
        <p:txBody>
          <a:bodyPr wrap="none">
            <a:spAutoFit/>
          </a:bodyPr>
          <a:lstStyle/>
          <a:p>
            <a:r>
              <a:rPr sz="800">
                <a:solidFill>
                  <a:srgbClr val="00859D"/>
                </a:solidFill>
                <a:latin typeface="Calibri"/>
              </a:rPr>
              <a:t>●</a:t>
            </a:r>
          </a:p>
        </p:txBody>
      </p:sp>
      <p:sp>
        <p:nvSpPr>
          <p:cNvPr id="7" name="TextBox 6"/>
          <p:cNvSpPr txBox="1"/>
          <p:nvPr/>
        </p:nvSpPr>
        <p:spPr>
          <a:xfrm>
            <a:off x="749808" y="1124712"/>
            <a:ext cx="5212079" cy="949452"/>
          </a:xfrm>
          <a:prstGeom prst="rect">
            <a:avLst/>
          </a:prstGeom>
          <a:noFill/>
        </p:spPr>
        <p:txBody>
          <a:bodyPr wrap="square">
            <a:spAutoFit/>
          </a:bodyPr>
          <a:lstStyle/>
          <a:p>
            <a:pPr algn="l"/>
            <a:r>
              <a:rPr sz="1300" b="0">
                <a:solidFill>
                  <a:srgbClr val="000000"/>
                </a:solidFill>
                <a:latin typeface="Calibri"/>
              </a:rPr>
              <a:t>Texas Oncology PA leads with 409 vials, ahead of Memorial Sloan Kettering Cancer Center Group at 301 and Stanford Health Care at 272.</a:t>
            </a:r>
          </a:p>
        </p:txBody>
      </p:sp>
      <p:sp>
        <p:nvSpPr>
          <p:cNvPr id="8" name="TextBox 7"/>
          <p:cNvSpPr txBox="1"/>
          <p:nvPr/>
        </p:nvSpPr>
        <p:spPr>
          <a:xfrm>
            <a:off x="548640" y="2336505"/>
            <a:ext cx="201168" cy="949452"/>
          </a:xfrm>
          <a:prstGeom prst="rect">
            <a:avLst/>
          </a:prstGeom>
          <a:noFill/>
        </p:spPr>
        <p:txBody>
          <a:bodyPr wrap="none">
            <a:spAutoFit/>
          </a:bodyPr>
          <a:lstStyle/>
          <a:p>
            <a:r>
              <a:rPr sz="800">
                <a:solidFill>
                  <a:srgbClr val="00859D"/>
                </a:solidFill>
                <a:latin typeface="Calibri"/>
              </a:rPr>
              <a:t>●</a:t>
            </a:r>
          </a:p>
        </p:txBody>
      </p:sp>
      <p:sp>
        <p:nvSpPr>
          <p:cNvPr id="9" name="TextBox 8"/>
          <p:cNvSpPr txBox="1"/>
          <p:nvPr/>
        </p:nvSpPr>
        <p:spPr>
          <a:xfrm>
            <a:off x="749808" y="2165604"/>
            <a:ext cx="5212079" cy="949452"/>
          </a:xfrm>
          <a:prstGeom prst="rect">
            <a:avLst/>
          </a:prstGeom>
          <a:noFill/>
        </p:spPr>
        <p:txBody>
          <a:bodyPr wrap="square">
            <a:spAutoFit/>
          </a:bodyPr>
          <a:lstStyle/>
          <a:p>
            <a:pPr algn="l"/>
            <a:r>
              <a:rPr sz="1300" b="0">
                <a:solidFill>
                  <a:srgbClr val="000000"/>
                </a:solidFill>
                <a:latin typeface="Calibri"/>
              </a:rPr>
              <a:t>A pronounced top tier is evident: 146 vials separate first from fifth place, with Duke Health at 193, and the top six end at 175 vials with University of Texas.</a:t>
            </a:r>
          </a:p>
        </p:txBody>
      </p:sp>
      <p:sp>
        <p:nvSpPr>
          <p:cNvPr id="10" name="TextBox 9"/>
          <p:cNvSpPr txBox="1"/>
          <p:nvPr/>
        </p:nvSpPr>
        <p:spPr>
          <a:xfrm>
            <a:off x="548640" y="3377397"/>
            <a:ext cx="201168" cy="949452"/>
          </a:xfrm>
          <a:prstGeom prst="rect">
            <a:avLst/>
          </a:prstGeom>
          <a:noFill/>
        </p:spPr>
        <p:txBody>
          <a:bodyPr wrap="none">
            <a:spAutoFit/>
          </a:bodyPr>
          <a:lstStyle/>
          <a:p>
            <a:r>
              <a:rPr sz="800">
                <a:solidFill>
                  <a:srgbClr val="00859D"/>
                </a:solidFill>
                <a:latin typeface="Calibri"/>
              </a:rPr>
              <a:t>●</a:t>
            </a:r>
          </a:p>
        </p:txBody>
      </p:sp>
      <p:sp>
        <p:nvSpPr>
          <p:cNvPr id="11" name="TextBox 10"/>
          <p:cNvSpPr txBox="1"/>
          <p:nvPr/>
        </p:nvSpPr>
        <p:spPr>
          <a:xfrm>
            <a:off x="749808" y="3206496"/>
            <a:ext cx="5212079" cy="949452"/>
          </a:xfrm>
          <a:prstGeom prst="rect">
            <a:avLst/>
          </a:prstGeom>
          <a:noFill/>
        </p:spPr>
        <p:txBody>
          <a:bodyPr wrap="square">
            <a:spAutoFit/>
          </a:bodyPr>
          <a:lstStyle/>
          <a:p>
            <a:pPr algn="l"/>
            <a:r>
              <a:rPr sz="1300" b="0">
                <a:solidFill>
                  <a:srgbClr val="000000"/>
                </a:solidFill>
                <a:latin typeface="Calibri"/>
              </a:rPr>
              <a:t>The lower half is tightly packed, with 100 vials marking the upper-middle tier and multiple ties near the bottom, including 96 and 94 vials.</a:t>
            </a:r>
          </a:p>
        </p:txBody>
      </p:sp>
      <p:sp>
        <p:nvSpPr>
          <p:cNvPr id="12" name="Rectangle 11"/>
          <p:cNvSpPr/>
          <p:nvPr/>
        </p:nvSpPr>
        <p:spPr>
          <a:xfrm>
            <a:off x="6263639" y="960120"/>
            <a:ext cx="2606040" cy="1022604"/>
          </a:xfrm>
          <a:prstGeom prst="rect">
            <a:avLst/>
          </a:prstGeom>
          <a:solidFill>
            <a:srgbClr val="F2F8FA"/>
          </a:solidFill>
          <a:ln w="9525">
            <a:solidFill>
              <a:srgbClr val="BF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39" y="960120"/>
            <a:ext cx="54864" cy="1022604"/>
          </a:xfrm>
          <a:prstGeom prst="rect">
            <a:avLst/>
          </a:prstGeom>
          <a:solidFill>
            <a:srgbClr val="008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1655" y="1051560"/>
            <a:ext cx="2441448" cy="228600"/>
          </a:xfrm>
          <a:prstGeom prst="rect">
            <a:avLst/>
          </a:prstGeom>
          <a:noFill/>
        </p:spPr>
        <p:txBody>
          <a:bodyPr wrap="square">
            <a:spAutoFit/>
          </a:bodyPr>
          <a:lstStyle/>
          <a:p>
            <a:pPr algn="l"/>
            <a:r>
              <a:rPr sz="900" b="1" spc="220">
                <a:solidFill>
                  <a:srgbClr val="005666"/>
                </a:solidFill>
                <a:latin typeface="Calibri"/>
              </a:rPr>
              <a:t>National Account Metric</a:t>
            </a:r>
          </a:p>
        </p:txBody>
      </p:sp>
      <p:sp>
        <p:nvSpPr>
          <p:cNvPr id="15" name="TextBox 14"/>
          <p:cNvSpPr txBox="1"/>
          <p:nvPr/>
        </p:nvSpPr>
        <p:spPr>
          <a:xfrm>
            <a:off x="6391655" y="1325880"/>
            <a:ext cx="2441448" cy="638556"/>
          </a:xfrm>
          <a:prstGeom prst="rect">
            <a:avLst/>
          </a:prstGeom>
          <a:noFill/>
        </p:spPr>
        <p:txBody>
          <a:bodyPr wrap="square">
            <a:spAutoFit/>
          </a:bodyPr>
          <a:lstStyle/>
          <a:p>
            <a:pPr algn="l"/>
            <a:r>
              <a:rPr sz="1400" b="1">
                <a:solidFill>
                  <a:srgbClr val="000000"/>
                </a:solidFill>
                <a:latin typeface="Helvetica"/>
              </a:rPr>
              <a:t>409 → 88</a:t>
            </a:r>
          </a:p>
        </p:txBody>
      </p:sp>
      <p:sp>
        <p:nvSpPr>
          <p:cNvPr id="16" name="TextBox 15"/>
          <p:cNvSpPr txBox="1"/>
          <p:nvPr/>
        </p:nvSpPr>
        <p:spPr>
          <a:xfrm>
            <a:off x="6318503" y="1690116"/>
            <a:ext cx="2496312" cy="256032"/>
          </a:xfrm>
          <a:prstGeom prst="rect">
            <a:avLst/>
          </a:prstGeom>
          <a:noFill/>
        </p:spPr>
        <p:txBody>
          <a:bodyPr wrap="square">
            <a:spAutoFit/>
          </a:bodyPr>
          <a:lstStyle/>
          <a:p>
            <a:pPr algn="l"/>
            <a:r>
              <a:rPr sz="700" i="1">
                <a:solidFill>
                  <a:srgbClr val="8C8C8C"/>
                </a:solidFill>
                <a:latin typeface="Calibri"/>
              </a:rPr>
              <a:t>Range of demand volume across the ranked top 25 parent accounts.</a:t>
            </a:r>
          </a:p>
        </p:txBody>
      </p:sp>
      <p:sp>
        <p:nvSpPr>
          <p:cNvPr id="17" name="Rectangle 16"/>
          <p:cNvSpPr/>
          <p:nvPr/>
        </p:nvSpPr>
        <p:spPr>
          <a:xfrm>
            <a:off x="6263639" y="2110740"/>
            <a:ext cx="2606040" cy="1022604"/>
          </a:xfrm>
          <a:prstGeom prst="rect">
            <a:avLst/>
          </a:prstGeom>
          <a:solidFill>
            <a:srgbClr val="F2F8FA"/>
          </a:solidFill>
          <a:ln w="9525">
            <a:solidFill>
              <a:srgbClr val="BF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39" y="2110740"/>
            <a:ext cx="54864" cy="1022604"/>
          </a:xfrm>
          <a:prstGeom prst="rect">
            <a:avLst/>
          </a:prstGeom>
          <a:solidFill>
            <a:srgbClr val="ECA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5" y="2202180"/>
            <a:ext cx="2441448" cy="228600"/>
          </a:xfrm>
          <a:prstGeom prst="rect">
            <a:avLst/>
          </a:prstGeom>
          <a:noFill/>
        </p:spPr>
        <p:txBody>
          <a:bodyPr wrap="square">
            <a:spAutoFit/>
          </a:bodyPr>
          <a:lstStyle/>
          <a:p>
            <a:pPr algn="l"/>
            <a:r>
              <a:rPr sz="900" b="1" spc="220">
                <a:solidFill>
                  <a:srgbClr val="005666"/>
                </a:solidFill>
                <a:latin typeface="Calibri"/>
              </a:rPr>
              <a:t>Top Tier Cutoff</a:t>
            </a:r>
          </a:p>
        </p:txBody>
      </p:sp>
      <p:sp>
        <p:nvSpPr>
          <p:cNvPr id="20" name="TextBox 19"/>
          <p:cNvSpPr txBox="1"/>
          <p:nvPr/>
        </p:nvSpPr>
        <p:spPr>
          <a:xfrm>
            <a:off x="6391655" y="2476500"/>
            <a:ext cx="2441448" cy="638556"/>
          </a:xfrm>
          <a:prstGeom prst="rect">
            <a:avLst/>
          </a:prstGeom>
          <a:noFill/>
        </p:spPr>
        <p:txBody>
          <a:bodyPr wrap="square">
            <a:spAutoFit/>
          </a:bodyPr>
          <a:lstStyle/>
          <a:p>
            <a:pPr algn="l"/>
            <a:r>
              <a:rPr sz="1400" b="1">
                <a:solidFill>
                  <a:srgbClr val="000000"/>
                </a:solidFill>
                <a:latin typeface="Helvetica"/>
              </a:rPr>
              <a:t>175 vials</a:t>
            </a:r>
          </a:p>
        </p:txBody>
      </p:sp>
      <p:sp>
        <p:nvSpPr>
          <p:cNvPr id="21" name="TextBox 20"/>
          <p:cNvSpPr txBox="1"/>
          <p:nvPr/>
        </p:nvSpPr>
        <p:spPr>
          <a:xfrm>
            <a:off x="6318503" y="2840736"/>
            <a:ext cx="2496312" cy="256032"/>
          </a:xfrm>
          <a:prstGeom prst="rect">
            <a:avLst/>
          </a:prstGeom>
          <a:noFill/>
        </p:spPr>
        <p:txBody>
          <a:bodyPr wrap="square">
            <a:spAutoFit/>
          </a:bodyPr>
          <a:lstStyle/>
          <a:p>
            <a:pPr algn="l"/>
            <a:r>
              <a:rPr sz="700" i="1">
                <a:solidFill>
                  <a:srgbClr val="8C8C8C"/>
                </a:solidFill>
                <a:latin typeface="Calibri"/>
              </a:rPr>
              <a:t>Minimum demand volume required to rank within the top six accounts.</a:t>
            </a:r>
          </a:p>
        </p:txBody>
      </p:sp>
      <p:sp>
        <p:nvSpPr>
          <p:cNvPr id="22" name="Rectangle 21"/>
          <p:cNvSpPr/>
          <p:nvPr/>
        </p:nvSpPr>
        <p:spPr>
          <a:xfrm>
            <a:off x="6263639" y="3261360"/>
            <a:ext cx="2606040" cy="1022604"/>
          </a:xfrm>
          <a:prstGeom prst="rect">
            <a:avLst/>
          </a:prstGeom>
          <a:solidFill>
            <a:srgbClr val="F2F8FA"/>
          </a:solidFill>
          <a:ln w="9525">
            <a:solidFill>
              <a:srgbClr val="BF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39" y="3261360"/>
            <a:ext cx="54864" cy="1022604"/>
          </a:xfrm>
          <a:prstGeom prst="rect">
            <a:avLst/>
          </a:prstGeom>
          <a:solidFill>
            <a:srgbClr val="E2F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5" y="3352800"/>
            <a:ext cx="2441448" cy="228600"/>
          </a:xfrm>
          <a:prstGeom prst="rect">
            <a:avLst/>
          </a:prstGeom>
          <a:noFill/>
        </p:spPr>
        <p:txBody>
          <a:bodyPr wrap="square">
            <a:spAutoFit/>
          </a:bodyPr>
          <a:lstStyle/>
          <a:p>
            <a:pPr algn="l"/>
            <a:r>
              <a:rPr sz="900" b="1" spc="220">
                <a:solidFill>
                  <a:srgbClr val="005666"/>
                </a:solidFill>
                <a:latin typeface="Calibri"/>
              </a:rPr>
              <a:t>Upper-Middle Tier Floor</a:t>
            </a:r>
          </a:p>
        </p:txBody>
      </p:sp>
      <p:sp>
        <p:nvSpPr>
          <p:cNvPr id="25" name="TextBox 24"/>
          <p:cNvSpPr txBox="1"/>
          <p:nvPr/>
        </p:nvSpPr>
        <p:spPr>
          <a:xfrm>
            <a:off x="6391655" y="3627120"/>
            <a:ext cx="2441448" cy="638556"/>
          </a:xfrm>
          <a:prstGeom prst="rect">
            <a:avLst/>
          </a:prstGeom>
          <a:noFill/>
        </p:spPr>
        <p:txBody>
          <a:bodyPr wrap="square">
            <a:spAutoFit/>
          </a:bodyPr>
          <a:lstStyle/>
          <a:p>
            <a:pPr algn="l"/>
            <a:r>
              <a:rPr sz="1400" b="1">
                <a:solidFill>
                  <a:srgbClr val="000000"/>
                </a:solidFill>
                <a:latin typeface="Helvetica"/>
              </a:rPr>
              <a:t>100 vials</a:t>
            </a:r>
          </a:p>
        </p:txBody>
      </p:sp>
      <p:sp>
        <p:nvSpPr>
          <p:cNvPr id="26" name="TextBox 25"/>
          <p:cNvSpPr txBox="1"/>
          <p:nvPr/>
        </p:nvSpPr>
        <p:spPr>
          <a:xfrm>
            <a:off x="6318503" y="3991356"/>
            <a:ext cx="2496312" cy="256032"/>
          </a:xfrm>
          <a:prstGeom prst="rect">
            <a:avLst/>
          </a:prstGeom>
          <a:noFill/>
        </p:spPr>
        <p:txBody>
          <a:bodyPr wrap="square">
            <a:spAutoFit/>
          </a:bodyPr>
          <a:lstStyle/>
          <a:p>
            <a:pPr algn="l"/>
            <a:r>
              <a:rPr sz="700" i="1">
                <a:solidFill>
                  <a:srgbClr val="8C8C8C"/>
                </a:solidFill>
                <a:latin typeface="Calibri"/>
              </a:rPr>
              <a:t>Demand threshold marking the lower edge of the upper-middle ranked accounts.</a:t>
            </a:r>
          </a:p>
        </p:txBody>
      </p:sp>
      <p:sp>
        <p:nvSpPr>
          <p:cNvPr id="27" name="TextBox 26"/>
          <p:cNvSpPr txBox="1"/>
          <p:nvPr/>
        </p:nvSpPr>
        <p:spPr>
          <a:xfrm>
            <a:off x="347472" y="4375404"/>
            <a:ext cx="960120" cy="201168"/>
          </a:xfrm>
          <a:prstGeom prst="rect">
            <a:avLst/>
          </a:prstGeom>
          <a:noFill/>
        </p:spPr>
        <p:txBody>
          <a:bodyPr wrap="none">
            <a:spAutoFit/>
          </a:bodyPr>
          <a:lstStyle/>
          <a:p>
            <a:pPr algn="l"/>
            <a:r>
              <a:rPr sz="850" b="1" i="0" spc="150">
                <a:solidFill>
                  <a:srgbClr val="00859D"/>
                </a:solidFill>
                <a:latin typeface="Calibri"/>
              </a:rPr>
              <a:t>KEY INSIGHT</a:t>
            </a:r>
          </a:p>
        </p:txBody>
      </p:sp>
      <p:pic>
        <p:nvPicPr>
          <p:cNvPr id="28" name="Picture 27" descr="aadi-logo.png"/>
          <p:cNvPicPr>
            <a:picLocks noChangeAspect="1"/>
          </p:cNvPicPr>
          <p:nvPr/>
        </p:nvPicPr>
        <p:blipFill>
          <a:blip r:embed="rId2"/>
          <a:stretch>
            <a:fillRect/>
          </a:stretch>
        </p:blipFill>
        <p:spPr>
          <a:xfrm>
            <a:off x="347472" y="4668012"/>
            <a:ext cx="731520" cy="365760"/>
          </a:xfrm>
          <a:prstGeom prst="rect">
            <a:avLst/>
          </a:prstGeom>
        </p:spPr>
      </p:pic>
      <p:sp>
        <p:nvSpPr>
          <p:cNvPr id="29" name="TextBox 28"/>
          <p:cNvSpPr txBox="1"/>
          <p:nvPr/>
        </p:nvSpPr>
        <p:spPr>
          <a:xfrm>
            <a:off x="1362456" y="4375404"/>
            <a:ext cx="7507223" cy="475488"/>
          </a:xfrm>
          <a:prstGeom prst="rect">
            <a:avLst/>
          </a:prstGeom>
          <a:noFill/>
        </p:spPr>
        <p:txBody>
          <a:bodyPr wrap="square">
            <a:spAutoFit/>
          </a:bodyPr>
          <a:lstStyle/>
          <a:p>
            <a:pPr algn="l"/>
            <a:r>
              <a:rPr sz="900">
                <a:solidFill>
                  <a:srgbClr val="8C8C8C"/>
                </a:solidFill>
                <a:latin typeface="Calibri"/>
              </a:rPr>
              <a:t>Demand is concentrated in a small set of parent accounts, creating a clear opportunity to prioritize the top tier for growth acceleration and account planning. The tight clustering in the lower half also creates volatility risk, where small demand shifts can quickly change rankings, so leadership should defend mid-tier accounts while deepening focus on the top six.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