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5.xml" ContentType="application/vnd.openxmlformats-officedocument.presentationml.tags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3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2.xml" ContentType="application/vnd.openxmlformats-officedocument.drawingml.chartshapes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notesSlides/notesSlide4.xml" ContentType="application/vnd.openxmlformats-officedocument.presentationml.notesSlide+xml"/>
  <Override PartName="/ppt/charts/chart25.xml" ContentType="application/vnd.openxmlformats-officedocument.drawingml.chart+xml"/>
  <Override PartName="/ppt/notesSlides/notesSlide5.xml" ContentType="application/vnd.openxmlformats-officedocument.presentationml.notesSlide+xml"/>
  <Override PartName="/ppt/charts/chart26.xml" ContentType="application/vnd.openxmlformats-officedocument.drawingml.chart+xml"/>
  <Override PartName="/ppt/notesSlides/notesSlide6.xml" ContentType="application/vnd.openxmlformats-officedocument.presentationml.notesSlide+xml"/>
  <Override PartName="/ppt/comments/modernComment_7FFFFF1C_FBC3F84F.xml" ContentType="application/vnd.ms-powerpoint.comments+xml"/>
  <Override PartName="/ppt/charts/chart27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4.xml" ContentType="application/vnd.openxmlformats-officedocument.themeOverride+xml"/>
  <Override PartName="/ppt/drawings/drawing3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28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9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30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1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2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3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4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5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8.xml" ContentType="application/vnd.openxmlformats-officedocument.presentationml.notesSlide+xml"/>
  <Override PartName="/ppt/charts/chart36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7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8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drawings/drawing4.xml" ContentType="application/vnd.openxmlformats-officedocument.drawingml.chartshapes+xml"/>
  <Override PartName="/ppt/charts/chart39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notesSlides/notesSlide9.xml" ContentType="application/vnd.openxmlformats-officedocument.presentationml.notesSlide+xml"/>
  <Override PartName="/ppt/charts/chart40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41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97" r:id="rId6"/>
    <p:sldMasterId id="2147483706" r:id="rId7"/>
    <p:sldMasterId id="2147483718" r:id="rId8"/>
    <p:sldMasterId id="2147483730" r:id="rId9"/>
  </p:sldMasterIdLst>
  <p:notesMasterIdLst>
    <p:notesMasterId r:id="rId28"/>
  </p:notesMasterIdLst>
  <p:sldIdLst>
    <p:sldId id="2147483562" r:id="rId10"/>
    <p:sldId id="2147483620" r:id="rId11"/>
    <p:sldId id="2147483621" r:id="rId12"/>
    <p:sldId id="2147483619" r:id="rId13"/>
    <p:sldId id="2147483593" r:id="rId14"/>
    <p:sldId id="2147483435" r:id="rId15"/>
    <p:sldId id="2147483614" r:id="rId16"/>
    <p:sldId id="2147483588" r:id="rId17"/>
    <p:sldId id="256" r:id="rId18"/>
    <p:sldId id="257" r:id="rId19"/>
    <p:sldId id="2147483420" r:id="rId20"/>
    <p:sldId id="2147483115" r:id="rId21"/>
    <p:sldId id="2147483602" r:id="rId22"/>
    <p:sldId id="2147483317" r:id="rId23"/>
    <p:sldId id="2147483615" r:id="rId24"/>
    <p:sldId id="2147483616" r:id="rId25"/>
    <p:sldId id="2147483617" r:id="rId26"/>
    <p:sldId id="21474836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F6D517-5096-38D1-FEC9-156C47A49BE7}" name="Becky Hartwell" initials="BH" userId="S::rhartwell@aadibio.com::5cc013c0-d2de-4eb9-bced-9c89634d8f6f" providerId="AD"/>
  <p188:author id="{1870C926-3EE2-F7CB-3E51-F6B96217C40D}" name="Nikita Dubey" initials="ND" userId="S::ndubey@acuitas360.com::f74eff0e-1ec4-4a94-bcde-eb39ebcac7a8" providerId="AD"/>
  <p188:author id="{12B93331-455A-1C34-4B40-2FCEC6DFE9CD}" name="Deepak Dubey" initials="DD" userId="S::Ddubey@acuitas360.com::0f025daf-9fe6-4edb-b6db-85f4837a9750" providerId="AD"/>
  <p188:author id="{1CB8EB5D-87D1-2F97-1CAC-793EADECC374}" name="Allie Gallo" initials="AG" userId="S::agallo@aadibio.com::5a8b74e6-8bfe-408f-bc8a-ca3d08dac07b" providerId="AD"/>
  <p188:author id="{D2EA8F76-A073-9A2E-E448-E046C2D67609}" name="Becky Hartwell" initials="RH" userId="S::Rhartwell@aadibio.com::5cc013c0-d2de-4eb9-bced-9c89634d8f6f" providerId="AD"/>
  <p188:author id="{AB674DAE-D7EE-4848-1ECB-02D35170278D}" name="Aman Kumar" initials="AK" userId="S::akumar@acuitas360.com::a3b31158-55cd-4d04-8f6e-ddc52ff4f5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1B"/>
    <a:srgbClr val="92D050"/>
    <a:srgbClr val="2AC8FE"/>
    <a:srgbClr val="989898"/>
    <a:srgbClr val="969696"/>
    <a:srgbClr val="67A441"/>
    <a:srgbClr val="00859D"/>
    <a:srgbClr val="FFFFFF"/>
    <a:srgbClr val="00647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A571B-2E72-4EE6-A677-C775EBCC5B99}" v="10" dt="2026-06-18T13:28:54.471"/>
    <p1510:client id="{B072412B-B465-4625-AA07-20223936815B}" v="4" dt="2026-06-18T16:11:54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01" autoAdjust="0"/>
  </p:normalViewPr>
  <p:slideViewPr>
    <p:cSldViewPr snapToGrid="0">
      <p:cViewPr varScale="1">
        <p:scale>
          <a:sx n="104" d="100"/>
          <a:sy n="104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34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24.xml"/><Relationship Id="rId1" Type="http://schemas.microsoft.com/office/2011/relationships/chartStyle" Target="style24.xml"/><Relationship Id="rId5" Type="http://schemas.openxmlformats.org/officeDocument/2006/relationships/chartUserShapes" Target="../drawings/drawing3.xml"/><Relationship Id="rId4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5.xml"/><Relationship Id="rId1" Type="http://schemas.microsoft.com/office/2011/relationships/chartStyle" Target="style35.xml"/><Relationship Id="rId4" Type="http://schemas.openxmlformats.org/officeDocument/2006/relationships/chartUserShapes" Target="../drawings/drawing4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832070584004339E-2"/>
          <c:y val="0.14803492919295538"/>
          <c:w val="0.91408804189166448"/>
          <c:h val="0.7281363992273788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AadiBio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51-49E1-A6CF-7A068AC313AE}"/>
              </c:ext>
            </c:extLst>
          </c:dPt>
          <c:dLbls>
            <c:dLbl>
              <c:idx val="0"/>
              <c:layout>
                <c:manualLayout>
                  <c:x val="2.3344272642731316E-3"/>
                  <c:y val="-0.132572565762808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B51-49E1-A6CF-7A068AC313AE}"/>
                </c:ext>
              </c:extLst>
            </c:dLbl>
            <c:dLbl>
              <c:idx val="1"/>
              <c:layout>
                <c:manualLayout>
                  <c:x val="-4.6686693153390061E-3"/>
                  <c:y val="-0.164184766463203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51-49E1-A6CF-7A068AC313AE}"/>
                </c:ext>
              </c:extLst>
            </c:dLbl>
            <c:dLbl>
              <c:idx val="2"/>
              <c:layout>
                <c:manualLayout>
                  <c:x val="-2.3522077321698489E-3"/>
                  <c:y val="-0.219120828635135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B51-49E1-A6CF-7A068AC313AE}"/>
                </c:ext>
              </c:extLst>
            </c:dLbl>
            <c:dLbl>
              <c:idx val="3"/>
              <c:layout>
                <c:manualLayout>
                  <c:x val="-2.3344272642731316E-3"/>
                  <c:y val="-0.235820092789641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51-49E1-A6CF-7A068AC313AE}"/>
                </c:ext>
              </c:extLst>
            </c:dLbl>
            <c:dLbl>
              <c:idx val="4"/>
              <c:layout>
                <c:manualLayout>
                  <c:x val="3.5746149000691403E-5"/>
                  <c:y val="-0.2765958504189449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B51-49E1-A6CF-7A068AC313AE}"/>
                </c:ext>
              </c:extLst>
            </c:dLbl>
            <c:dLbl>
              <c:idx val="5"/>
              <c:layout>
                <c:manualLayout>
                  <c:x val="0"/>
                  <c:y val="-0.27609722481443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51-49E1-A6CF-7A068AC313AE}"/>
                </c:ext>
              </c:extLst>
            </c:dLbl>
            <c:dLbl>
              <c:idx val="6"/>
              <c:layout>
                <c:manualLayout>
                  <c:x val="-7.0030965796121373E-3"/>
                  <c:y val="-0.2943299145544562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B51-49E1-A6CF-7A068AC313AE}"/>
                </c:ext>
              </c:extLst>
            </c:dLbl>
            <c:dLbl>
              <c:idx val="7"/>
              <c:layout>
                <c:manualLayout>
                  <c:x val="2.3522077321698489E-3"/>
                  <c:y val="-0.2811414605809678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B51-49E1-A6CF-7A068AC313AE}"/>
                </c:ext>
              </c:extLst>
            </c:dLbl>
            <c:dLbl>
              <c:idx val="8"/>
              <c:layout>
                <c:manualLayout>
                  <c:x val="-8.6246620517907856E-17"/>
                  <c:y val="-0.262822077352679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B51-49E1-A6CF-7A068AC313AE}"/>
                </c:ext>
              </c:extLst>
            </c:dLbl>
            <c:dLbl>
              <c:idx val="9"/>
              <c:layout>
                <c:manualLayout>
                  <c:x val="-7.0030199374690972E-3"/>
                  <c:y val="-0.317256752980985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B51-49E1-A6CF-7A068AC313AE}"/>
                </c:ext>
              </c:extLst>
            </c:dLbl>
            <c:dLbl>
              <c:idx val="10"/>
              <c:layout>
                <c:manualLayout>
                  <c:x val="-4.6686693153390919E-3"/>
                  <c:y val="-0.281916180097162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B51-49E1-A6CF-7A068AC313AE}"/>
                </c:ext>
              </c:extLst>
            </c:dLbl>
            <c:dLbl>
              <c:idx val="11"/>
              <c:layout>
                <c:manualLayout>
                  <c:x val="-7.0566231965095462E-3"/>
                  <c:y val="-0.275963595361180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B51-49E1-A6CF-7A068AC313AE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B51-49E1-A6CF-7A068AC313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Q1' 22</c:v>
                </c:pt>
                <c:pt idx="1">
                  <c:v>Q2' 22</c:v>
                </c:pt>
                <c:pt idx="2">
                  <c:v>Q3' 22</c:v>
                </c:pt>
                <c:pt idx="3">
                  <c:v>Q4' 22</c:v>
                </c:pt>
                <c:pt idx="4">
                  <c:v>Q1' 23</c:v>
                </c:pt>
                <c:pt idx="5">
                  <c:v>Q2' 23</c:v>
                </c:pt>
                <c:pt idx="6">
                  <c:v>Q3' 23</c:v>
                </c:pt>
                <c:pt idx="7">
                  <c:v>Q4' 23</c:v>
                </c:pt>
                <c:pt idx="8">
                  <c:v>Q1' 24</c:v>
                </c:pt>
                <c:pt idx="9">
                  <c:v>Q2' 24</c:v>
                </c:pt>
                <c:pt idx="10">
                  <c:v>Q3' 24</c:v>
                </c:pt>
                <c:pt idx="11">
                  <c:v>Q4' 24</c:v>
                </c:pt>
                <c:pt idx="12">
                  <c:v>Q1' 25</c:v>
                </c:pt>
                <c:pt idx="13">
                  <c:v>Q2' 25</c:v>
                </c:pt>
                <c:pt idx="14">
                  <c:v>Q3' 25</c:v>
                </c:pt>
                <c:pt idx="15">
                  <c:v>Q4' 25</c:v>
                </c:pt>
                <c:pt idx="16">
                  <c:v>Q1' 26</c:v>
                </c:pt>
              </c:strCache>
            </c:strRef>
          </c:cat>
          <c:val>
            <c:numRef>
              <c:f>Sheet1!$B$2:$B$18</c:f>
              <c:numCache>
                <c:formatCode>0.0</c:formatCode>
                <c:ptCount val="17"/>
                <c:pt idx="0">
                  <c:v>2.3069000000000002</c:v>
                </c:pt>
                <c:pt idx="1">
                  <c:v>3.4350894450000005</c:v>
                </c:pt>
                <c:pt idx="2">
                  <c:v>4.2730708699999997</c:v>
                </c:pt>
                <c:pt idx="3">
                  <c:v>5.2059676599999998</c:v>
                </c:pt>
                <c:pt idx="4">
                  <c:v>5.8672541149999997</c:v>
                </c:pt>
                <c:pt idx="5">
                  <c:v>6.2016392700000003</c:v>
                </c:pt>
                <c:pt idx="6">
                  <c:v>5.9589309999999998</c:v>
                </c:pt>
                <c:pt idx="7">
                  <c:v>6.3263465353499999</c:v>
                </c:pt>
                <c:pt idx="8">
                  <c:v>5.3533921847075616</c:v>
                </c:pt>
                <c:pt idx="9">
                  <c:v>6.1789759338781858</c:v>
                </c:pt>
                <c:pt idx="10">
                  <c:v>7.2122928842999983</c:v>
                </c:pt>
                <c:pt idx="11">
                  <c:v>7.2385082795999995</c:v>
                </c:pt>
                <c:pt idx="12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51-49E1-A6CF-7A068AC31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AadiBio Kaken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Lbls>
            <c:dLbl>
              <c:idx val="12"/>
              <c:layout>
                <c:manualLayout>
                  <c:x val="-4.900926677239785E-3"/>
                  <c:y val="-7.714063892548667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7.3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B51-49E1-A6CF-7A068AC313AE}"/>
                </c:ext>
              </c:extLst>
            </c:dLbl>
            <c:dLbl>
              <c:idx val="13"/>
              <c:layout>
                <c:manualLayout>
                  <c:x val="2.3522077321696763E-3"/>
                  <c:y val="-0.3506392678431212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B51-49E1-A6CF-7A068AC313AE}"/>
                </c:ext>
              </c:extLst>
            </c:dLbl>
            <c:dLbl>
              <c:idx val="14"/>
              <c:layout>
                <c:manualLayout>
                  <c:x val="2.3522077321696763E-3"/>
                  <c:y val="-0.364664838556846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B51-49E1-A6CF-7A068AC313AE}"/>
                </c:ext>
              </c:extLst>
            </c:dLbl>
            <c:dLbl>
              <c:idx val="15"/>
              <c:layout>
                <c:manualLayout>
                  <c:x val="4.7044154643396978E-3"/>
                  <c:y val="-0.37869040927057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B51-49E1-A6CF-7A068AC313AE}"/>
                </c:ext>
              </c:extLst>
            </c:dLbl>
            <c:dLbl>
              <c:idx val="16"/>
              <c:layout>
                <c:manualLayout>
                  <c:x val="-2.3137398434563703E-3"/>
                  <c:y val="-0.357652053199983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B51-49E1-A6CF-7A068AC313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Q1' 22</c:v>
                </c:pt>
                <c:pt idx="1">
                  <c:v>Q2' 22</c:v>
                </c:pt>
                <c:pt idx="2">
                  <c:v>Q3' 22</c:v>
                </c:pt>
                <c:pt idx="3">
                  <c:v>Q4' 22</c:v>
                </c:pt>
                <c:pt idx="4">
                  <c:v>Q1' 23</c:v>
                </c:pt>
                <c:pt idx="5">
                  <c:v>Q2' 23</c:v>
                </c:pt>
                <c:pt idx="6">
                  <c:v>Q3' 23</c:v>
                </c:pt>
                <c:pt idx="7">
                  <c:v>Q4' 23</c:v>
                </c:pt>
                <c:pt idx="8">
                  <c:v>Q1' 24</c:v>
                </c:pt>
                <c:pt idx="9">
                  <c:v>Q2' 24</c:v>
                </c:pt>
                <c:pt idx="10">
                  <c:v>Q3' 24</c:v>
                </c:pt>
                <c:pt idx="11">
                  <c:v>Q4' 24</c:v>
                </c:pt>
                <c:pt idx="12">
                  <c:v>Q1' 25</c:v>
                </c:pt>
                <c:pt idx="13">
                  <c:v>Q2' 25</c:v>
                </c:pt>
                <c:pt idx="14">
                  <c:v>Q3' 25</c:v>
                </c:pt>
                <c:pt idx="15">
                  <c:v>Q4' 25</c:v>
                </c:pt>
                <c:pt idx="16">
                  <c:v>Q1' 26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12" formatCode="0.00">
                  <c:v>0.17</c:v>
                </c:pt>
                <c:pt idx="13" formatCode="0.0">
                  <c:v>8.6010178679699951</c:v>
                </c:pt>
                <c:pt idx="14" formatCode="0.0">
                  <c:v>9.5</c:v>
                </c:pt>
                <c:pt idx="15" formatCode="0.0">
                  <c:v>10.975926304750001</c:v>
                </c:pt>
                <c:pt idx="16" formatCode="0.0">
                  <c:v>9.4258893689999965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4-0B51-49E1-A6CF-7A068AC31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At val="0"/>
        <c:auto val="1"/>
        <c:lblAlgn val="ctr"/>
        <c:lblOffset val="100"/>
        <c:noMultiLvlLbl val="0"/>
      </c:catAx>
      <c:valAx>
        <c:axId val="195014879"/>
        <c:scaling>
          <c:orientation val="minMax"/>
          <c:max val="11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95021951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4412491667720841"/>
          <c:y val="0"/>
          <c:w val="0.42891026290459139"/>
          <c:h val="0.132888969385602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346405532783454E-2"/>
          <c:y val="0.20624612216790417"/>
          <c:w val="0.95751122174182135"/>
          <c:h val="0.54420785407305894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Daily Avg. Actuals</c:v>
                </c:pt>
              </c:strCache>
            </c:strRef>
          </c:tx>
          <c:spPr>
            <a:ln w="28575" cap="rnd">
              <a:solidFill>
                <a:srgbClr val="00859D"/>
              </a:solidFill>
              <a:prstDash val="solid"/>
              <a:round/>
            </a:ln>
            <a:effectLst/>
          </c:spPr>
          <c:marker>
            <c:symbol val="triangle"/>
            <c:size val="6"/>
            <c:spPr>
              <a:solidFill>
                <a:srgbClr val="00859D"/>
              </a:solidFill>
              <a:ln w="28575">
                <a:solidFill>
                  <a:srgbClr val="00859D"/>
                </a:solidFill>
                <a:prstDash val="solid"/>
                <a:round/>
              </a:ln>
              <a:effectLst/>
            </c:spPr>
          </c:marker>
          <c:dLbls>
            <c:dLbl>
              <c:idx val="15"/>
              <c:layout>
                <c:manualLayout>
                  <c:x val="-4.0531052217699155E-2"/>
                  <c:y val="6.78112095199782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42-4043-A1F8-5EC094B711AF}"/>
                </c:ext>
              </c:extLst>
            </c:dLbl>
            <c:dLbl>
              <c:idx val="1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42-4043-A1F8-5EC094B711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Sheet1!$A$26:$A$42</c:f>
              <c:numCache>
                <c:formatCode>mmm\-yy</c:formatCode>
                <c:ptCount val="17"/>
                <c:pt idx="0">
                  <c:v>45688</c:v>
                </c:pt>
                <c:pt idx="1">
                  <c:v>45716</c:v>
                </c:pt>
                <c:pt idx="2">
                  <c:v>45747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  <c:pt idx="12">
                  <c:v>46053</c:v>
                </c:pt>
                <c:pt idx="13">
                  <c:v>46081</c:v>
                </c:pt>
                <c:pt idx="14">
                  <c:v>46112</c:v>
                </c:pt>
                <c:pt idx="15">
                  <c:v>46142</c:v>
                </c:pt>
                <c:pt idx="16">
                  <c:v>46173</c:v>
                </c:pt>
              </c:numCache>
            </c:numRef>
          </c:cat>
          <c:val>
            <c:numRef>
              <c:f>Sheet1!$B$26:$B$42</c:f>
              <c:numCache>
                <c:formatCode>0.0</c:formatCode>
                <c:ptCount val="17"/>
                <c:pt idx="0">
                  <c:v>21.136363636363637</c:v>
                </c:pt>
                <c:pt idx="1">
                  <c:v>16.5</c:v>
                </c:pt>
                <c:pt idx="2">
                  <c:v>16.904761904761905</c:v>
                </c:pt>
                <c:pt idx="3">
                  <c:v>18.318181818181817</c:v>
                </c:pt>
                <c:pt idx="4">
                  <c:v>19.285714285714285</c:v>
                </c:pt>
                <c:pt idx="5">
                  <c:v>18.333333333333332</c:v>
                </c:pt>
                <c:pt idx="6">
                  <c:v>17.045454545454547</c:v>
                </c:pt>
                <c:pt idx="7">
                  <c:v>19.19047619047619</c:v>
                </c:pt>
                <c:pt idx="8">
                  <c:v>23.047619047619047</c:v>
                </c:pt>
                <c:pt idx="9">
                  <c:v>20.434782608695652</c:v>
                </c:pt>
                <c:pt idx="10">
                  <c:v>21.94736842105263</c:v>
                </c:pt>
                <c:pt idx="11">
                  <c:v>23.272727272727273</c:v>
                </c:pt>
                <c:pt idx="12">
                  <c:v>19.571428571428573</c:v>
                </c:pt>
                <c:pt idx="13">
                  <c:v>20.25</c:v>
                </c:pt>
                <c:pt idx="14">
                  <c:v>22.636363636363637</c:v>
                </c:pt>
                <c:pt idx="15">
                  <c:v>19.636363636363637</c:v>
                </c:pt>
                <c:pt idx="16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F6-4FFC-B977-956E5DCC435A}"/>
            </c:ext>
          </c:extLst>
        </c:ser>
        <c:ser>
          <c:idx val="0"/>
          <c:order val="1"/>
          <c:tx>
            <c:strRef>
              <c:f>Sheet1!$D$1</c:f>
              <c:strCache>
                <c:ptCount val="1"/>
                <c:pt idx="0">
                  <c:v>Budget </c:v>
                </c:pt>
              </c:strCache>
            </c:strRef>
          </c:tx>
          <c:spPr>
            <a:ln w="22225" cap="rnd">
              <a:solidFill>
                <a:srgbClr val="FFB71B">
                  <a:lumMod val="75000"/>
                </a:srgbClr>
              </a:solidFill>
              <a:round/>
            </a:ln>
            <a:effectLst/>
          </c:spPr>
          <c:marker>
            <c:symbol val="x"/>
            <c:size val="4"/>
            <c:spPr>
              <a:solidFill>
                <a:srgbClr val="FFB71B">
                  <a:lumMod val="75000"/>
                </a:srgbClr>
              </a:solidFill>
              <a:ln w="9525">
                <a:solidFill>
                  <a:srgbClr val="FFB71B">
                    <a:lumMod val="75000"/>
                  </a:srgbClr>
                </a:solidFill>
                <a:round/>
              </a:ln>
              <a:effectLst/>
            </c:spPr>
          </c:marker>
          <c:dLbls>
            <c:dLbl>
              <c:idx val="15"/>
              <c:layout>
                <c:manualLayout>
                  <c:x val="-4.0686668941151832E-2"/>
                  <c:y val="-7.50271022111313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42-4043-A1F8-5EC094B711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ECAB1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Sheet1!$A$26:$A$42</c:f>
              <c:numCache>
                <c:formatCode>mmm\-yy</c:formatCode>
                <c:ptCount val="17"/>
                <c:pt idx="0">
                  <c:v>45688</c:v>
                </c:pt>
                <c:pt idx="1">
                  <c:v>45716</c:v>
                </c:pt>
                <c:pt idx="2">
                  <c:v>45747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  <c:pt idx="12">
                  <c:v>46053</c:v>
                </c:pt>
                <c:pt idx="13">
                  <c:v>46081</c:v>
                </c:pt>
                <c:pt idx="14">
                  <c:v>46112</c:v>
                </c:pt>
                <c:pt idx="15">
                  <c:v>46142</c:v>
                </c:pt>
                <c:pt idx="16">
                  <c:v>46173</c:v>
                </c:pt>
              </c:numCache>
            </c:numRef>
          </c:cat>
          <c:val>
            <c:numRef>
              <c:f>Sheet1!$D$26:$D$42</c:f>
              <c:numCache>
                <c:formatCode>0.0</c:formatCode>
                <c:ptCount val="17"/>
                <c:pt idx="0">
                  <c:v>16.91481231409966</c:v>
                </c:pt>
                <c:pt idx="1">
                  <c:v>17.045735708521271</c:v>
                </c:pt>
                <c:pt idx="2">
                  <c:v>17.078345339444827</c:v>
                </c:pt>
                <c:pt idx="3">
                  <c:v>17.115685118090099</c:v>
                </c:pt>
                <c:pt idx="4">
                  <c:v>17.240008132425139</c:v>
                </c:pt>
                <c:pt idx="5">
                  <c:v>14.959740327218951</c:v>
                </c:pt>
                <c:pt idx="6">
                  <c:v>15.302346391873733</c:v>
                </c:pt>
                <c:pt idx="7">
                  <c:v>16.125242241036499</c:v>
                </c:pt>
                <c:pt idx="8">
                  <c:v>16.681928286986086</c:v>
                </c:pt>
                <c:pt idx="9">
                  <c:v>17.28680465390039</c:v>
                </c:pt>
                <c:pt idx="10">
                  <c:v>17.4164556888046</c:v>
                </c:pt>
                <c:pt idx="11">
                  <c:v>17.590620245692691</c:v>
                </c:pt>
                <c:pt idx="12">
                  <c:v>19.476190476190474</c:v>
                </c:pt>
                <c:pt idx="13">
                  <c:v>19.476190476190474</c:v>
                </c:pt>
                <c:pt idx="14">
                  <c:v>19.476190476190474</c:v>
                </c:pt>
                <c:pt idx="15">
                  <c:v>20</c:v>
                </c:pt>
                <c:pt idx="16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F6-4FFC-B977-956E5DCC4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2554944"/>
        <c:axId val="1790044528"/>
        <c:extLst/>
      </c:lineChart>
      <c:dateAx>
        <c:axId val="179255494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cap="small" spc="120" normalizeH="0" baseline="0">
                <a:solidFill>
                  <a:schemeClr val="dk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790044528"/>
        <c:crosses val="autoZero"/>
        <c:auto val="1"/>
        <c:lblOffset val="100"/>
        <c:baseTimeUnit val="months"/>
      </c:dateAx>
      <c:valAx>
        <c:axId val="1790044528"/>
        <c:scaling>
          <c:orientation val="minMax"/>
          <c:max val="25"/>
          <c:min val="5"/>
        </c:scaling>
        <c:delete val="1"/>
        <c:axPos val="l"/>
        <c:numFmt formatCode="0.0" sourceLinked="1"/>
        <c:majorTickMark val="out"/>
        <c:minorTickMark val="none"/>
        <c:tickLblPos val="nextTo"/>
        <c:crossAx val="179255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651435136710922"/>
          <c:y val="3.2679738562091505E-2"/>
          <c:w val="0.55918033144360169"/>
          <c:h val="9.84908136482939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5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000000"/>
      </a:solidFill>
    </a:ln>
    <a:effectLst/>
  </c:spPr>
  <c:txPr>
    <a:bodyPr/>
    <a:lstStyle/>
    <a:p>
      <a:pPr>
        <a:defRPr lang="en-US" sz="1197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3463307917565533E-2"/>
          <c:y val="0.27083797593049069"/>
          <c:w val="0.97653669208243443"/>
          <c:h val="0.60380218707752353"/>
        </c:manualLayout>
      </c:layout>
      <c:lineChart>
        <c:grouping val="standard"/>
        <c:varyColors val="0"/>
        <c:ser>
          <c:idx val="0"/>
          <c:order val="1"/>
          <c:tx>
            <c:strRef>
              <c:f>Sheet1!$C$1</c:f>
              <c:strCache>
                <c:ptCount val="1"/>
                <c:pt idx="0">
                  <c:v>Daily Avg. Actuals</c:v>
                </c:pt>
              </c:strCache>
            </c:strRef>
          </c:tx>
          <c:spPr>
            <a:ln w="28575" cap="rnd">
              <a:solidFill>
                <a:srgbClr val="00859D"/>
              </a:solidFill>
              <a:prstDash val="solid"/>
              <a:round/>
            </a:ln>
            <a:effectLst/>
          </c:spPr>
          <c:marker>
            <c:symbol val="triangle"/>
            <c:size val="6"/>
            <c:spPr>
              <a:solidFill>
                <a:srgbClr val="00859D"/>
              </a:solidFill>
              <a:ln w="28575">
                <a:solidFill>
                  <a:srgbClr val="00859D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4.6908200652505672E-2"/>
                  <c:y val="-8.98658246566763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3C-4B71-84F0-6F059F66FD1C}"/>
                </c:ext>
              </c:extLst>
            </c:dLbl>
            <c:dLbl>
              <c:idx val="1"/>
              <c:layout>
                <c:manualLayout>
                  <c:x val="-4.2616956260900223E-2"/>
                  <c:y val="-0.1116360340963763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3C-4B71-84F0-6F059F66FD1C}"/>
                </c:ext>
              </c:extLst>
            </c:dLbl>
            <c:dLbl>
              <c:idx val="2"/>
              <c:layout>
                <c:manualLayout>
                  <c:x val="-2.9743223086083962E-2"/>
                  <c:y val="-7.53523516968764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A3C-4B71-84F0-6F059F66FD1C}"/>
                </c:ext>
              </c:extLst>
            </c:dLbl>
            <c:dLbl>
              <c:idx val="3"/>
              <c:layout>
                <c:manualLayout>
                  <c:x val="-4.2616956260900306E-2"/>
                  <c:y val="-0.104379297616476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3C-4B71-84F0-6F059F66FD1C}"/>
                </c:ext>
              </c:extLst>
            </c:dLbl>
            <c:dLbl>
              <c:idx val="4"/>
              <c:layout>
                <c:manualLayout>
                  <c:x val="-2.9743223086083882E-2"/>
                  <c:y val="-0.11889277057627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3C-4B71-84F0-6F059F66FD1C}"/>
                </c:ext>
              </c:extLst>
            </c:dLbl>
            <c:dLbl>
              <c:idx val="5"/>
              <c:layout>
                <c:manualLayout>
                  <c:x val="-3.6337041092381873E-2"/>
                  <c:y val="-9.7122561136576357E-2"/>
                </c:manualLayout>
              </c:layout>
              <c:spPr>
                <a:solidFill>
                  <a:srgbClr val="FFFFFF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1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0-8C4F-4CE3-AF61-1E22E4A4F81A}"/>
                </c:ext>
              </c:extLst>
            </c:dLbl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borderCallout1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Sheet1!$A$14:$A$19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Q2'26</c:v>
                </c:pt>
              </c:strCache>
              <c:extLst/>
            </c:strRef>
          </c:cat>
          <c:val>
            <c:numRef>
              <c:f>Sheet1!$C$14:$C$19</c:f>
              <c:numCache>
                <c:formatCode>0.0</c:formatCode>
                <c:ptCount val="6"/>
                <c:pt idx="0">
                  <c:v>18.253968253968253</c:v>
                </c:pt>
                <c:pt idx="1">
                  <c:v>18.640625</c:v>
                </c:pt>
                <c:pt idx="2">
                  <c:v>19.71875</c:v>
                </c:pt>
                <c:pt idx="3">
                  <c:v>21.859375</c:v>
                </c:pt>
                <c:pt idx="4">
                  <c:v>20.857142857142858</c:v>
                </c:pt>
                <c:pt idx="5">
                  <c:v>20.285714285714285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6A3C-4B71-84F0-6F059F66FD1C}"/>
            </c:ext>
          </c:extLst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Budget </c:v>
                </c:pt>
              </c:strCache>
            </c:strRef>
          </c:tx>
          <c:spPr>
            <a:ln w="12700" cap="rnd">
              <a:solidFill>
                <a:srgbClr val="FFB71B">
                  <a:lumMod val="75000"/>
                </a:srgbClr>
              </a:solidFill>
              <a:prstDash val="solid"/>
              <a:round/>
            </a:ln>
            <a:effectLst/>
          </c:spPr>
          <c:marker>
            <c:symbol val="square"/>
            <c:size val="4"/>
            <c:spPr>
              <a:solidFill>
                <a:srgbClr val="FFB71B">
                  <a:lumMod val="75000"/>
                </a:srgbClr>
              </a:solidFill>
              <a:ln w="3175">
                <a:solidFill>
                  <a:srgbClr val="FFB71B">
                    <a:lumMod val="75000"/>
                  </a:srgbClr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6475577328646307E-2"/>
                  <c:y val="7.25673647989997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A3C-4B71-84F0-6F059F66FD1C}"/>
                </c:ext>
              </c:extLst>
            </c:dLbl>
            <c:dLbl>
              <c:idx val="1"/>
              <c:layout>
                <c:manualLayout>
                  <c:x val="-1.5019355370619067E-2"/>
                  <c:y val="8.70808377587997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3C-4B71-84F0-6F059F66FD1C}"/>
                </c:ext>
              </c:extLst>
            </c:dLbl>
            <c:dLbl>
              <c:idx val="2"/>
              <c:layout>
                <c:manualLayout>
                  <c:x val="0"/>
                  <c:y val="0.1015943107185996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A3C-4B71-84F0-6F059F66FD1C}"/>
                </c:ext>
              </c:extLst>
            </c:dLbl>
            <c:dLbl>
              <c:idx val="3"/>
              <c:layout>
                <c:manualLayout>
                  <c:x val="4.2912443916053684E-3"/>
                  <c:y val="0.1015943107185997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3C-4B71-84F0-6F059F66FD1C}"/>
                </c:ext>
              </c:extLst>
            </c:dLbl>
            <c:dLbl>
              <c:idx val="4"/>
              <c:layout>
                <c:manualLayout>
                  <c:x val="-1.2873733174816342E-2"/>
                  <c:y val="6.53106283190997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A3C-4B71-84F0-6F059F66FD1C}"/>
                </c:ext>
              </c:extLst>
            </c:dLbl>
            <c:dLbl>
              <c:idx val="5"/>
              <c:layout>
                <c:manualLayout>
                  <c:x val="-4.9349310503462647E-2"/>
                  <c:y val="5.80538918391998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464-4B77-A7AC-5497FD0F326F}"/>
                </c:ext>
              </c:extLst>
            </c:dLbl>
            <c:spPr>
              <a:noFill/>
              <a:ln>
                <a:solidFill>
                  <a:srgbClr val="FFFFFF"/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ECAB1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Sheet1!$A$14:$A$19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Q2'26</c:v>
                </c:pt>
              </c:strCache>
              <c:extLst/>
            </c:strRef>
          </c:cat>
          <c:val>
            <c:numRef>
              <c:f>Sheet1!$B$14:$B$19</c:f>
              <c:numCache>
                <c:formatCode>0.0</c:formatCode>
                <c:ptCount val="6"/>
                <c:pt idx="0">
                  <c:v>17.015873015873016</c:v>
                </c:pt>
                <c:pt idx="1">
                  <c:v>16.449059222664179</c:v>
                </c:pt>
                <c:pt idx="2">
                  <c:v>16.025034401714006</c:v>
                </c:pt>
                <c:pt idx="3">
                  <c:v>17.429731414566195</c:v>
                </c:pt>
                <c:pt idx="4">
                  <c:v>19.49206349206349</c:v>
                </c:pt>
                <c:pt idx="5">
                  <c:v>19.5625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B-6A3C-4B71-84F0-6F059F66F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2554944"/>
        <c:axId val="1790044528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Sheet1!$A$1</c15:sqref>
                        </c15:formulaRef>
                      </c:ext>
                    </c:extLst>
                    <c:strCache>
                      <c:ptCount val="1"/>
                      <c:pt idx="0">
                        <c:v>Quarterly</c:v>
                      </c:pt>
                    </c:strCache>
                  </c:strRef>
                </c:tx>
                <c:spPr>
                  <a:ln w="2222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square"/>
                  <c:size val="6"/>
                  <c:spPr>
                    <a:solidFill>
                      <a:srgbClr val="FFB71B">
                        <a:lumMod val="75000"/>
                      </a:srgbClr>
                    </a:solidFill>
                    <a:ln w="9525">
                      <a:solidFill>
                        <a:srgbClr val="FFB71B">
                          <a:lumMod val="75000"/>
                        </a:srgbClr>
                      </a:solidFill>
                      <a:prstDash val="sysDash"/>
                      <a:round/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Sheet1!$A$14:$A$19</c15:sqref>
                        </c15:formulaRef>
                      </c:ext>
                    </c:extLst>
                    <c:strCache>
                      <c:ptCount val="6"/>
                      <c:pt idx="0">
                        <c:v>Q1' 25</c:v>
                      </c:pt>
                      <c:pt idx="1">
                        <c:v>Q2' 25</c:v>
                      </c:pt>
                      <c:pt idx="2">
                        <c:v>Q3' 25</c:v>
                      </c:pt>
                      <c:pt idx="3">
                        <c:v>Q4' 25</c:v>
                      </c:pt>
                      <c:pt idx="4">
                        <c:v>Q1' 26</c:v>
                      </c:pt>
                      <c:pt idx="5">
                        <c:v>Q2'26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Sheet1!$A$14:$A$19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C-6A3C-4B71-84F0-6F059F66FD1C}"/>
                  </c:ext>
                </c:extLst>
              </c15:ser>
            </c15:filteredLineSeries>
          </c:ext>
        </c:extLst>
      </c:lineChart>
      <c:catAx>
        <c:axId val="179255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ctr">
              <a:defRPr lang="en-US" sz="900" b="1" i="0" u="none" strike="noStrike" kern="1200" cap="all" spc="120" normalizeH="0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0044528"/>
        <c:crosses val="autoZero"/>
        <c:auto val="1"/>
        <c:lblAlgn val="ctr"/>
        <c:lblOffset val="100"/>
        <c:noMultiLvlLbl val="1"/>
      </c:catAx>
      <c:valAx>
        <c:axId val="1790044528"/>
        <c:scaling>
          <c:orientation val="minMax"/>
          <c:max val="25"/>
        </c:scaling>
        <c:delete val="1"/>
        <c:axPos val="l"/>
        <c:numFmt formatCode="0.0" sourceLinked="1"/>
        <c:majorTickMark val="out"/>
        <c:minorTickMark val="none"/>
        <c:tickLblPos val="nextTo"/>
        <c:crossAx val="179255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8778694065451515"/>
          <c:y val="1.8481929694574791E-2"/>
          <c:w val="0.6580561085494061"/>
          <c:h val="9.84695295134601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45880237890424"/>
          <c:y val="0.31509290446805843"/>
          <c:w val="0.58130469189971967"/>
          <c:h val="0.5502922847579073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3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3D0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9C-42C7-996E-6D7996EA6D4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09C-42C7-996E-6D7996EA6D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(QTD)</c:v>
                </c:pt>
                <c:pt idx="1">
                  <c:v>Gross Sales (QTD)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6.229062431900001</c:v>
                </c:pt>
                <c:pt idx="1">
                  <c:v>7.8749209000000002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9C-42C7-996E-6D7996EA6D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9E3B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09C-42C7-996E-6D7996EA6D4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09C-42C7-996E-6D7996EA6D41}"/>
              </c:ext>
            </c:extLst>
          </c:dPt>
          <c:dLbls>
            <c:dLbl>
              <c:idx val="0"/>
              <c:layout>
                <c:manualLayout>
                  <c:x val="0.20591243706356693"/>
                  <c:y val="-1.001820886720197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E71ED4-5A9E-40EF-A744-CA9C61DE93AA}" type="CELLRANGE"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pPr>
                        <a:defRPr sz="1000" b="1"/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109C-42C7-996E-6D7996EA6D41}"/>
                </c:ext>
              </c:extLst>
            </c:dLbl>
            <c:dLbl>
              <c:idx val="1"/>
              <c:layout>
                <c:manualLayout>
                  <c:x val="0.22021959815335565"/>
                  <c:y val="-8.1848274988879765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274F026-9055-4874-88A0-6E13D359A828}" type="CELLRANGE">
                      <a: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pPr>
                        <a:defRPr sz="1000" b="1"/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813026419204509E-2"/>
                      <c:h val="0.13177970727851671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109C-42C7-996E-6D7996EA6D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(QTD)</c:v>
                </c:pt>
                <c:pt idx="1">
                  <c:v>Gross Sales (QTD)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2.6709375680999994</c:v>
                </c:pt>
                <c:pt idx="1">
                  <c:v>3.3250790999999991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Sheet1!$R$3:$R$4</c15:f>
                <c15:dlblRangeCache>
                  <c:ptCount val="2"/>
                  <c:pt idx="0">
                    <c:v>8.9</c:v>
                  </c:pt>
                  <c:pt idx="1">
                    <c:v>11.2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09C-42C7-996E-6D7996EA6D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190785167"/>
        <c:axId val="1190788047"/>
      </c:barChart>
      <c:catAx>
        <c:axId val="1190785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0788047"/>
        <c:crosses val="autoZero"/>
        <c:auto val="1"/>
        <c:lblAlgn val="ctr"/>
        <c:lblOffset val="100"/>
        <c:noMultiLvlLbl val="0"/>
      </c:catAx>
      <c:valAx>
        <c:axId val="1190788047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1190785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7498685083841"/>
          <c:y val="0.25937660611157687"/>
          <c:w val="0.21654771110665849"/>
          <c:h val="0.5502922847579073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B8F4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859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347-41F4-9527-EF1CEFA32CA3}"/>
              </c:ext>
            </c:extLst>
          </c:dPt>
          <c:dPt>
            <c:idx val="1"/>
            <c:invertIfNegative val="0"/>
            <c:bubble3D val="0"/>
            <c:spPr>
              <a:solidFill>
                <a:srgbClr val="B8F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347-41F4-9527-EF1CEFA32CA3}"/>
              </c:ext>
            </c:extLst>
          </c:dPt>
          <c:dLbls>
            <c:dLbl>
              <c:idx val="0"/>
              <c:layout>
                <c:manualLayout>
                  <c:x val="-5.2002101376254035E-3"/>
                  <c:y val="-4.98850418196388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47-41F4-9527-EF1CEFA32CA3}"/>
                </c:ext>
              </c:extLst>
            </c:dLbl>
            <c:dLbl>
              <c:idx val="1"/>
              <c:layout>
                <c:manualLayout>
                  <c:x val="5.2002101376253801E-3"/>
                  <c:y val="-1.662834727321291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47-41F4-9527-EF1CEFA32C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(MTD)</c:v>
                </c:pt>
                <c:pt idx="1">
                  <c:v>Gross Sales (MTD)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3.2911458541500012</c:v>
                </c:pt>
                <c:pt idx="1">
                  <c:v>4.1607366808242903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47-41F4-9527-EF1CEFA32C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rgbClr val="C9E3B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3D0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347-41F4-9527-EF1CEFA32CA3}"/>
              </c:ext>
            </c:extLst>
          </c:dPt>
          <c:dLbls>
            <c:dLbl>
              <c:idx val="0"/>
              <c:layout>
                <c:manualLayout>
                  <c:x val="6.5689370186339163E-2"/>
                  <c:y val="-1.1959680291961681E-2"/>
                </c:manualLayout>
              </c:layout>
              <c:tx>
                <c:rich>
                  <a:bodyPr/>
                  <a:lstStyle/>
                  <a:p>
                    <a:fld id="{9E8A711A-6E3D-4881-A3C4-9CD4B9AB00E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4347-41F4-9527-EF1CEFA32CA3}"/>
                </c:ext>
              </c:extLst>
            </c:dLbl>
            <c:dLbl>
              <c:idx val="1"/>
              <c:layout>
                <c:manualLayout>
                  <c:x val="7.1816970710351827E-2"/>
                  <c:y val="-1.0564863361683779E-2"/>
                </c:manualLayout>
              </c:layout>
              <c:tx>
                <c:rich>
                  <a:bodyPr/>
                  <a:lstStyle/>
                  <a:p>
                    <a:fld id="{D016728B-37C9-4C08-BB71-6EC69E462245}" type="CELLRANGE">
                      <a: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347-41F4-9527-EF1CEFA32C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(MTD)</c:v>
                </c:pt>
                <c:pt idx="1">
                  <c:v>Gross Sales (MTD)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3.7360788849999604E-2</c:v>
                </c:pt>
                <c:pt idx="1">
                  <c:v>4.7236319175710584E-2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Sheet1!$S$3:$S$4</c15:f>
                <c15:dlblRangeCache>
                  <c:ptCount val="2"/>
                  <c:pt idx="0">
                    <c:v>3.3</c:v>
                  </c:pt>
                  <c:pt idx="1">
                    <c:v>4.2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4347-41F4-9527-EF1CEFA32CA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190785167"/>
        <c:axId val="1190788047"/>
      </c:barChart>
      <c:catAx>
        <c:axId val="1190785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0788047"/>
        <c:crosses val="autoZero"/>
        <c:auto val="1"/>
        <c:lblAlgn val="ctr"/>
        <c:lblOffset val="100"/>
        <c:noMultiLvlLbl val="0"/>
      </c:catAx>
      <c:valAx>
        <c:axId val="1190788047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1190785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002711070182776"/>
          <c:y val="0.10142200691295472"/>
          <c:w val="0.50374144521808817"/>
          <c:h val="0.127674185254092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86011198547925"/>
          <c:y val="0.32655229168705296"/>
          <c:w val="0.84724131775126443"/>
          <c:h val="0.5502922847579073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3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C1-4CD6-BFB6-B677EEC331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(YTD)</c:v>
                </c:pt>
                <c:pt idx="1">
                  <c:v>Gross Sales (YTD)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15.654951800899994</c:v>
                </c:pt>
                <c:pt idx="1">
                  <c:v>19.640069900000007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C1-4CD6-BFB6-B677EEC331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7C1-4CD6-BFB6-B677EEC3318A}"/>
              </c:ext>
            </c:extLst>
          </c:dPt>
          <c:dLbls>
            <c:dLbl>
              <c:idx val="0"/>
              <c:layout>
                <c:manualLayout>
                  <c:x val="0.2448103095392006"/>
                  <c:y val="-1.1128529104145565E-2"/>
                </c:manualLayout>
              </c:layout>
              <c:tx>
                <c:rich>
                  <a:bodyPr/>
                  <a:lstStyle/>
                  <a:p>
                    <a:fld id="{C2E7D790-AE6C-4599-AC00-0A8543D915AF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A7C1-4CD6-BFB6-B677EEC3318A}"/>
                </c:ext>
              </c:extLst>
            </c:dLbl>
            <c:dLbl>
              <c:idx val="1"/>
              <c:layout>
                <c:manualLayout>
                  <c:x val="0.28541572965198031"/>
                  <c:y val="-5.3944169827710151E-2"/>
                </c:manualLayout>
              </c:layout>
              <c:tx>
                <c:rich>
                  <a:bodyPr/>
                  <a:lstStyle/>
                  <a:p>
                    <a:fld id="{9DD6E98B-5101-43F4-AB7C-A717B3B101FF}" type="CELLRANGE">
                      <a: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A7C1-4CD6-BFB6-B677EEC33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Net Sales (YTD)</c:v>
                </c:pt>
                <c:pt idx="1">
                  <c:v>Gross Sales (YTD)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20.545048199100009</c:v>
                </c:pt>
                <c:pt idx="1">
                  <c:v>26.059930099999995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Sheet1!$Q$3:$Q$4</c15:f>
                <c15:dlblRangeCache>
                  <c:ptCount val="2"/>
                  <c:pt idx="0">
                    <c:v>36.2</c:v>
                  </c:pt>
                  <c:pt idx="1">
                    <c:v>45.7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A7C1-4CD6-BFB6-B677EEC331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190785167"/>
        <c:axId val="1190788047"/>
      </c:barChart>
      <c:catAx>
        <c:axId val="1190785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0788047"/>
        <c:crosses val="autoZero"/>
        <c:auto val="1"/>
        <c:lblAlgn val="ctr"/>
        <c:lblOffset val="100"/>
        <c:noMultiLvlLbl val="0"/>
      </c:catAx>
      <c:valAx>
        <c:axId val="1190788047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1190785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719260613125379E-2"/>
          <c:y val="0.20164466517521448"/>
          <c:w val="0.94577203331390525"/>
          <c:h val="0.503376943891799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 Inv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Mckesson Specialty</c:v>
                </c:pt>
                <c:pt idx="2">
                  <c:v>Mckesson Plasma And Biologics</c:v>
                </c:pt>
                <c:pt idx="3">
                  <c:v>Cencora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13.507142857142856</c:v>
                </c:pt>
                <c:pt idx="1">
                  <c:v>0</c:v>
                </c:pt>
                <c:pt idx="2">
                  <c:v>28.1171875</c:v>
                </c:pt>
                <c:pt idx="3">
                  <c:v>2.103448275862069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0F-4F7E-984C-8F66A1359A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MoM Change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Mckesson Specialty</c:v>
                </c:pt>
                <c:pt idx="2">
                  <c:v>Mckesson Plasma And Biologics</c:v>
                </c:pt>
                <c:pt idx="3">
                  <c:v>Cencora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2</c:v>
                </c:pt>
                <c:pt idx="1">
                  <c:v>0</c:v>
                </c:pt>
                <c:pt idx="2">
                  <c:v>6.2887561274509807</c:v>
                </c:pt>
                <c:pt idx="3">
                  <c:v>-4.0404366162242624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0F-4F7E-984C-8F66A1359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3101151"/>
        <c:axId val="187503696"/>
      </c:barChart>
      <c:catAx>
        <c:axId val="214310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503696"/>
        <c:crosses val="autoZero"/>
        <c:auto val="1"/>
        <c:lblAlgn val="ctr"/>
        <c:lblOffset val="100"/>
        <c:noMultiLvlLbl val="0"/>
      </c:catAx>
      <c:valAx>
        <c:axId val="187503696"/>
        <c:scaling>
          <c:orientation val="minMax"/>
          <c:max val="90"/>
          <c:min val="-35"/>
        </c:scaling>
        <c:delete val="1"/>
        <c:axPos val="l"/>
        <c:numFmt formatCode="0" sourceLinked="1"/>
        <c:majorTickMark val="out"/>
        <c:minorTickMark val="none"/>
        <c:tickLblPos val="nextTo"/>
        <c:crossAx val="214310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rgbClr val="00859D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rgbClr val="00859D"/>
                </a:solidFill>
              </a:rPr>
              <a:t>Portion of Business</a:t>
            </a:r>
          </a:p>
        </c:rich>
      </c:tx>
      <c:layout>
        <c:manualLayout>
          <c:xMode val="edge"/>
          <c:yMode val="edge"/>
          <c:x val="0.21041759303542434"/>
          <c:y val="1.87622600975381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rgbClr val="00859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725117968511114"/>
          <c:y val="0.17354228417400164"/>
          <c:w val="0.4678370367549522"/>
          <c:h val="0.5762013631067282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47-47D8-BA24-4D67F79838F8}"/>
              </c:ext>
            </c:extLst>
          </c:dPt>
          <c:dPt>
            <c:idx val="1"/>
            <c:bubble3D val="0"/>
            <c:spPr>
              <a:solidFill>
                <a:srgbClr val="8497B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47-47D8-BA24-4D67F79838F8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47-47D8-BA24-4D67F79838F8}"/>
              </c:ext>
            </c:extLst>
          </c:dPt>
          <c:dLbls>
            <c:dLbl>
              <c:idx val="0"/>
              <c:layout>
                <c:manualLayout>
                  <c:x val="-0.11697017960633481"/>
                  <c:y val="0.1434844105358898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20%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847-47D8-BA24-4D67F79838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Inventory!$AS$37:$AS$39</c:f>
              <c:strCache>
                <c:ptCount val="3"/>
                <c:pt idx="0">
                  <c:v>Mckesson Specialty</c:v>
                </c:pt>
                <c:pt idx="1">
                  <c:v>Mckesson Plasma And Biologics</c:v>
                </c:pt>
                <c:pt idx="2">
                  <c:v>Cencora</c:v>
                </c:pt>
              </c:strCache>
            </c:strRef>
          </c:cat>
          <c:val>
            <c:numRef>
              <c:f>Inventory!$AW$37:$AW$39</c:f>
              <c:numCache>
                <c:formatCode>0%</c:formatCode>
                <c:ptCount val="3"/>
                <c:pt idx="0">
                  <c:v>0.19713758079409049</c:v>
                </c:pt>
                <c:pt idx="1">
                  <c:v>0.45152354570637121</c:v>
                </c:pt>
                <c:pt idx="2">
                  <c:v>0.3513388734995383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47-47D8-BA24-4D67F79838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7415146488535053E-3"/>
          <c:y val="0.79550410210333367"/>
          <c:w val="0.89568667772522292"/>
          <c:h val="0.204495897896666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rgbClr val="FFFFFF">
          <a:lumMod val="65000"/>
        </a:srgbClr>
      </a:solidFill>
      <a:round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095094097602076E-2"/>
          <c:y val="5.4464751584981451E-2"/>
          <c:w val="0.95414676383482722"/>
          <c:h val="0.62352098179504956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Sheet1!$Q$1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Total-DoH</c:v>
                </c:pt>
                <c:pt idx="1">
                  <c:v>Mckesson Specialty-DoH</c:v>
                </c:pt>
                <c:pt idx="2">
                  <c:v>Mckesson Plasma And Biologics-DoH</c:v>
                </c:pt>
                <c:pt idx="3">
                  <c:v>Cencora-DoH</c:v>
                </c:pt>
              </c:strCache>
            </c:strRef>
          </c:cat>
          <c:val>
            <c:numRef>
              <c:f>Sheet1!$Q$2:$Q$5</c:f>
              <c:numCache>
                <c:formatCode>0</c:formatCode>
                <c:ptCount val="4"/>
                <c:pt idx="0">
                  <c:v>13</c:v>
                </c:pt>
                <c:pt idx="1">
                  <c:v>8</c:v>
                </c:pt>
                <c:pt idx="2">
                  <c:v>22.34913793103448</c:v>
                </c:pt>
                <c:pt idx="3">
                  <c:v>2.3461538461538463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C-4B00-8E51-67CCD7386089}"/>
            </c:ext>
          </c:extLst>
        </c:ser>
        <c:ser>
          <c:idx val="0"/>
          <c:order val="1"/>
          <c:tx>
            <c:strRef>
              <c:f>Sheet1!$R$1</c:f>
              <c:strCache>
                <c:ptCount val="1"/>
                <c:pt idx="0">
                  <c:v>Apr-26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Total-DoH</c:v>
                </c:pt>
                <c:pt idx="1">
                  <c:v>Mckesson Specialty-DoH</c:v>
                </c:pt>
                <c:pt idx="2">
                  <c:v>Mckesson Plasma And Biologics-DoH</c:v>
                </c:pt>
                <c:pt idx="3">
                  <c:v>Cencora-DoH</c:v>
                </c:pt>
              </c:strCache>
            </c:strRef>
          </c:cat>
          <c:val>
            <c:numRef>
              <c:f>Sheet1!$R$2:$R$5</c:f>
              <c:numCache>
                <c:formatCode>0</c:formatCode>
                <c:ptCount val="4"/>
                <c:pt idx="0">
                  <c:v>12</c:v>
                </c:pt>
                <c:pt idx="1">
                  <c:v>0</c:v>
                </c:pt>
                <c:pt idx="2">
                  <c:v>21.828431372549019</c:v>
                </c:pt>
                <c:pt idx="3">
                  <c:v>6.1438848920863309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9C-4B00-8E51-67CCD7386089}"/>
            </c:ext>
          </c:extLst>
        </c:ser>
        <c:ser>
          <c:idx val="1"/>
          <c:order val="2"/>
          <c:tx>
            <c:strRef>
              <c:f>Sheet1!$S$1</c:f>
              <c:strCache>
                <c:ptCount val="1"/>
                <c:pt idx="0">
                  <c:v>May-26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Total-DoH</c:v>
                </c:pt>
                <c:pt idx="1">
                  <c:v>Mckesson Specialty-DoH</c:v>
                </c:pt>
                <c:pt idx="2">
                  <c:v>Mckesson Plasma And Biologics-DoH</c:v>
                </c:pt>
                <c:pt idx="3">
                  <c:v>Cencora-DoH</c:v>
                </c:pt>
              </c:strCache>
            </c:strRef>
          </c:cat>
          <c:val>
            <c:numRef>
              <c:f>Sheet1!$S$2:$S$5</c:f>
              <c:numCache>
                <c:formatCode>0</c:formatCode>
                <c:ptCount val="4"/>
                <c:pt idx="0">
                  <c:v>13.507142857142856</c:v>
                </c:pt>
                <c:pt idx="1">
                  <c:v>0</c:v>
                </c:pt>
                <c:pt idx="2">
                  <c:v>28.1171875</c:v>
                </c:pt>
                <c:pt idx="3">
                  <c:v>2.103448275862069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9C-4B00-8E51-67CCD73860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43101151"/>
        <c:axId val="187503696"/>
      </c:barChart>
      <c:catAx>
        <c:axId val="214310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503696"/>
        <c:crosses val="autoZero"/>
        <c:auto val="1"/>
        <c:lblAlgn val="ctr"/>
        <c:lblOffset val="100"/>
        <c:noMultiLvlLbl val="0"/>
      </c:catAx>
      <c:valAx>
        <c:axId val="187503696"/>
        <c:scaling>
          <c:orientation val="minMax"/>
          <c:max val="90"/>
          <c:min val="0"/>
        </c:scaling>
        <c:delete val="1"/>
        <c:axPos val="l"/>
        <c:numFmt formatCode="0" sourceLinked="1"/>
        <c:majorTickMark val="out"/>
        <c:minorTickMark val="none"/>
        <c:tickLblPos val="nextTo"/>
        <c:crossAx val="214310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360788458055518E-2"/>
          <c:y val="0.35561362841846461"/>
          <c:w val="0.4840559807459992"/>
          <c:h val="0.48439478213409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19050">
              <a:solidFill>
                <a:srgbClr val="989898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9.4850973809554928E-2"/>
                  <c:y val="8.1165666795125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FE9-43F0-9AB5-BE43FC0108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969696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19.772549019607844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E9-43F0-9AB5-BE43FC010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1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Budget till date</c:v>
                </c:pt>
              </c:strCache>
            </c:strRef>
          </c:tx>
          <c:spPr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0.13042008898813803"/>
                  <c:y val="0.162331333590251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2AC8F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E7-42F4-B2B0-A48C7C891A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19.885714285714286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E9-43F0-9AB5-BE43FC01087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Actuals till Date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9640929315485915E-2"/>
                  <c:y val="-2.4349700038537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E9-43F0-9AB5-BE43FC0108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FFB71B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20.62857142857143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E9-43F0-9AB5-BE43FC010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YTD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Sheet1!$B$5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19.772549019607844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AFE9-43F0-9AB5-BE43FC01087C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YTD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19.772549019607844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AFE9-43F0-9AB5-BE43FC01087C}"/>
                  </c:ext>
                </c:extLst>
              </c15:ser>
            </c15:filteredBarSeries>
          </c:ext>
        </c:extLst>
      </c:barChart>
      <c:valAx>
        <c:axId val="1047949359"/>
        <c:scaling>
          <c:orientation val="minMax"/>
          <c:max val="30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 val="autoZero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  <c:max val="500"/>
          <c:min val="0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02578207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4535023426983902E-2"/>
          <c:y val="8.2942135692049224E-2"/>
          <c:w val="0.90546497657301606"/>
          <c:h val="0.1394054603468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57777396492276E-3"/>
          <c:y val="0.35572362776230076"/>
          <c:w val="0.59214140474610144"/>
          <c:h val="0.477583206569716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19050">
              <a:solidFill>
                <a:srgbClr val="989898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36.152908959269837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31-4F96-82FC-C73FA9EEAC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100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Budget till Date</c:v>
                </c:pt>
              </c:strCache>
            </c:strRef>
          </c:tx>
          <c:spPr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9.557222174561536E-2"/>
                  <c:y val="-3.20257618254179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31-4F96-82FC-C73FA9EEAC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2AC8F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14.634997320625001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31-4F96-82FC-C73FA9EEACB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Actuals till Date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9395110615439958E-2"/>
                  <c:y val="-8.0064404563544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31-4F96-82FC-C73FA9EEAC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FFB71B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15.654951800899994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31-4F96-82FC-C73FA9EEACB8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Sheet1!$B$5</c:f>
              <c:numCache>
                <c:formatCode>0.0</c:formatCode>
                <c:ptCount val="1"/>
                <c:pt idx="0">
                  <c:v>36.152908959269837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331-4F96-82FC-C73FA9EEACB8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98989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Sheet1!$B$6</c:f>
              <c:numCache>
                <c:formatCode>0.0</c:formatCode>
                <c:ptCount val="1"/>
                <c:pt idx="0">
                  <c:v>36.152908959269837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31-4F96-82FC-C73FA9EEAC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</c:barChart>
      <c:valAx>
        <c:axId val="1047949359"/>
        <c:scaling>
          <c:orientation val="minMax"/>
          <c:max val="40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At val="1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02578207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2083041365108436"/>
          <c:y val="8.2942135692049224E-2"/>
          <c:w val="0.77916958634891564"/>
          <c:h val="0.1394054603468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16291279724645"/>
          <c:y val="0.33828857765211962"/>
          <c:w val="0.52761096284902231"/>
          <c:h val="0.483694570688690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28575">
              <a:solidFill>
                <a:schemeClr val="accent3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noFill/>
              <a:ln w="19050">
                <a:solidFill>
                  <a:srgbClr val="989898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F72-4D02-8677-B857F5F0A1BC}"/>
              </c:ext>
            </c:extLst>
          </c:dPt>
          <c:dLbls>
            <c:dLbl>
              <c:idx val="0"/>
              <c:layout>
                <c:manualLayout>
                  <c:x val="1.768672505633275E-4"/>
                  <c:y val="6.24291885490639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72-4D02-8677-B857F5F0A1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97979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  <c:extLst/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8.8946381865360618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F72-4D02-8677-B857F5F0A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1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Budget till date</c:v>
                </c:pt>
              </c:strCache>
            </c:strRef>
          </c:tx>
          <c:spPr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0.14605204514497444"/>
                  <c:y val="6.0078859416257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72-4D02-8677-B857F5F0A1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2AC8F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  <c:extLst/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6.0898085825500043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3F72-4D02-8677-B857F5F0A1B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1665580811312"/>
                  <c:y val="6.10375981701965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264991259716239"/>
                      <c:h val="0.165371429639848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3F72-4D02-8677-B857F5F0A1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  <c:extLst/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6.229062431900001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3F72-4D02-8677-B857F5F0A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QTD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Sheet1!$B$5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8.8946381865360618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3F72-4D02-8677-B857F5F0A1BC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QTD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8.8946381865360618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F72-4D02-8677-B857F5F0A1BC}"/>
                  </c:ext>
                </c:extLst>
              </c15:ser>
            </c15:filteredBarSeries>
          </c:ext>
        </c:extLst>
      </c:barChart>
      <c:valAx>
        <c:axId val="1047949359"/>
        <c:scaling>
          <c:orientation val="minMax"/>
          <c:max val="12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 val="autoZero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  <c:max val="8"/>
          <c:min val="0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02578207"/>
        <c:crosses val="max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450626403753952E-2"/>
          <c:y val="0.34676916378749656"/>
          <c:w val="0.48127777758652146"/>
          <c:h val="0.46673339841793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28575">
              <a:solidFill>
                <a:schemeClr val="accent3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noFill/>
              <a:ln w="19050">
                <a:solidFill>
                  <a:srgbClr val="989898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2C7-4AA2-BA6D-59EF21094C13}"/>
              </c:ext>
            </c:extLst>
          </c:dPt>
          <c:dLbls>
            <c:dLbl>
              <c:idx val="0"/>
              <c:layout>
                <c:manualLayout>
                  <c:x val="-5.3506784858439798E-3"/>
                  <c:y val="0.178092308842914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C7-4AA2-BA6D-59EF21094C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97979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3.2911458541500012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C7-4AA2-BA6D-59EF21094C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1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361837265370636E-3"/>
                  <c:y val="-2.10605674113110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C7-4AA2-BA6D-59EF21094C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3.3285066430000008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C7-4AA2-BA6D-59EF21094C1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3.2911458541500012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2C7-4AA2-BA6D-59EF21094C1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Sheet1!$B$5</c:f>
              <c:numCache>
                <c:formatCode>0.0</c:formatCode>
                <c:ptCount val="1"/>
                <c:pt idx="0">
                  <c:v>3.2911458541500012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C7-4AA2-BA6D-59EF21094C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</c:barChart>
      <c:valAx>
        <c:axId val="1047949359"/>
        <c:scaling>
          <c:orientation val="minMax"/>
          <c:max val="8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 val="autoZero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  <c:max val="8"/>
          <c:min val="0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025782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68896736420673"/>
          <c:y val="0.38130184884522633"/>
          <c:w val="0.21708976686094722"/>
          <c:h val="0.4667570420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19050">
              <a:solidFill>
                <a:srgbClr val="989898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8.0759863407727034E-2"/>
                  <c:y val="0.169474831367141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072-4AD5-9CB6-87EF0E8E43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969696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19.5625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72-4AD5-9CB6-87EF0E8E43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1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Budget till date</c:v>
                </c:pt>
              </c:strCache>
            </c:strRef>
          </c:tx>
          <c:spPr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7.1786545251312991E-2"/>
                  <c:y val="0.153334371236937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072-4AD5-9CB6-87EF0E8E43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2AC8F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20.476190476190474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72-4AD5-9CB6-87EF0E8E436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9911060521379852E-3"/>
                  <c:y val="-8.07023006510197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72-4AD5-9CB6-87EF0E8E43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FFB71B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20.285714285714285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72-4AD5-9CB6-87EF0E8E43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QTD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Sheet1!$B$5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19.5625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E072-4AD5-9CB6-87EF0E8E4369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noFill/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QTD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19.5625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E072-4AD5-9CB6-87EF0E8E4369}"/>
                  </c:ext>
                </c:extLst>
              </c15:ser>
            </c15:filteredBarSeries>
          </c:ext>
        </c:extLst>
      </c:barChart>
      <c:valAx>
        <c:axId val="1047949359"/>
        <c:scaling>
          <c:orientation val="minMax"/>
          <c:max val="30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 val="autoZero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  <c:max val="8"/>
          <c:min val="0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02578207"/>
        <c:crosses val="max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9052110645936E-2"/>
          <c:y val="0.38676606033406036"/>
          <c:w val="0.41887755800376297"/>
          <c:h val="0.46673339841793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Budget</c:v>
                </c:pt>
              </c:strCache>
            </c:strRef>
          </c:tx>
          <c:spPr>
            <a:noFill/>
            <a:ln w="19050">
              <a:solidFill>
                <a:srgbClr val="989898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3.9796544055675292E-3"/>
                  <c:y val="0.266891354551070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F9-4636-9640-C216B82209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97979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F9-4636-9640-C216B82209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1"/>
        <c:axId val="1047933999"/>
        <c:axId val="1047949359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78795243551503E-2"/>
                  <c:y val="2.93637514780204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F9-4636-9640-C216B82209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B71B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F9-4636-9640-C216B82209C0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F9-4636-9640-C216B82209C0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MTD</c:v>
                </c:pt>
              </c:strCache>
            </c:strRef>
          </c:cat>
          <c:val>
            <c:numRef>
              <c:f>Sheet1!$B$5</c:f>
              <c:numCache>
                <c:formatCode>0.0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6F9-4636-9640-C216B82209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100"/>
        <c:axId val="1502579167"/>
        <c:axId val="1502578207"/>
      </c:barChart>
      <c:valAx>
        <c:axId val="1047949359"/>
        <c:scaling>
          <c:orientation val="minMax"/>
          <c:max val="30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047933999"/>
        <c:crosses val="autoZero"/>
        <c:crossBetween val="between"/>
        <c:majorUnit val="400"/>
      </c:valAx>
      <c:catAx>
        <c:axId val="1047933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9359"/>
        <c:crosses val="autoZero"/>
        <c:auto val="1"/>
        <c:lblAlgn val="ctr"/>
        <c:lblOffset val="100"/>
        <c:noMultiLvlLbl val="0"/>
      </c:catAx>
      <c:valAx>
        <c:axId val="1502578207"/>
        <c:scaling>
          <c:orientation val="minMax"/>
          <c:max val="8"/>
          <c:min val="0"/>
        </c:scaling>
        <c:delete val="1"/>
        <c:axPos val="r"/>
        <c:numFmt formatCode="0.0" sourceLinked="1"/>
        <c:majorTickMark val="out"/>
        <c:minorTickMark val="none"/>
        <c:tickLblPos val="nextTo"/>
        <c:crossAx val="1502579167"/>
        <c:crosses val="max"/>
        <c:crossBetween val="between"/>
      </c:valAx>
      <c:catAx>
        <c:axId val="1502579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025782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21273512685914E-2"/>
          <c:y val="0.23262946404811322"/>
          <c:w val="0.78163779154017188"/>
          <c:h val="0.597553089573686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87975549303595"/>
                      <c:h val="0.180726089733354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F76-4843-BE83-1E575EDAA7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Account Type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0.54178272980501396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1-4C13-82B5-4CF84E883F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Academic - Hospital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50821760629806"/>
                      <c:h val="0.180726089733354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AF76-4843-BE83-1E575EDAA7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Account Type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0.24976787372330547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1-4C13-82B5-4CF84E883F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Academic - Clinic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87975549303595"/>
                      <c:h val="0.180726089733354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9B0-4DB0-9C21-0545D757D9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Account Type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0.20844939647168059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0-4DB0-9C21-0545D757D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534727766246208E-2"/>
          <c:w val="0.90665615901935881"/>
          <c:h val="0.183581483846931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622069340056292E-2"/>
          <c:y val="0.27156932478071144"/>
          <c:w val="0.88875586131988737"/>
          <c:h val="0.466582270706298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R8W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057777465382722E-2"/>
                  <c:y val="4.37473648240872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5C5-4806-BC50-D6CA42CDD4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Demand Growth%</c:v>
                </c:pt>
                <c:pt idx="1">
                  <c:v>Contribution% to Nation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-3.0927835051546393E-2</c:v>
                </c:pt>
                <c:pt idx="1">
                  <c:v>0.47058823529411764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E3-44FC-850B-DE3C38CBFD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R4W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3259998594222253E-2"/>
                  <c:y val="1.74996348645140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861741758627961"/>
                      <c:h val="0.1067001672733886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85-4756-918C-5D557E1E30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Demand Growth%</c:v>
                </c:pt>
                <c:pt idx="1">
                  <c:v>Contribution% to Nation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-0.10101010101010099</c:v>
                </c:pt>
                <c:pt idx="1">
                  <c:v>0.44278606965174128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E3-44FC-850B-DE3C38CBF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293215"/>
        <c:axId val="1675424192"/>
      </c:barChart>
      <c:catAx>
        <c:axId val="9129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5424192"/>
        <c:crosses val="autoZero"/>
        <c:auto val="1"/>
        <c:lblAlgn val="ctr"/>
        <c:lblOffset val="100"/>
        <c:noMultiLvlLbl val="0"/>
      </c:catAx>
      <c:valAx>
        <c:axId val="16754241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91293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rgbClr val="989898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275707595308955E-2"/>
          <c:y val="0.30331621983846191"/>
          <c:w val="0.92144858480938208"/>
          <c:h val="0.433674196829818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PP4W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Accounts</c:v>
                </c:pt>
                <c:pt idx="1">
                  <c:v>Ordering Accounts</c:v>
                </c:pt>
                <c:pt idx="2">
                  <c:v>Vials per ordering account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82</c:v>
                </c:pt>
                <c:pt idx="2">
                  <c:v>5.2560975609756095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A6-41E4-AD29-9DA9BBD68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P4W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Accounts</c:v>
                </c:pt>
                <c:pt idx="1">
                  <c:v>Ordering Accounts</c:v>
                </c:pt>
                <c:pt idx="2">
                  <c:v>Vials per ordering account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3</c:v>
                </c:pt>
                <c:pt idx="1">
                  <c:v>77</c:v>
                </c:pt>
                <c:pt idx="2">
                  <c:v>5.1558441558441555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6A6-41E4-AD29-9DA9BBD68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R4W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Accounts</c:v>
                </c:pt>
                <c:pt idx="1">
                  <c:v>Ordering Accounts</c:v>
                </c:pt>
                <c:pt idx="2">
                  <c:v>Vials per ordering account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6</c:v>
                </c:pt>
                <c:pt idx="1">
                  <c:v>82</c:v>
                </c:pt>
                <c:pt idx="2">
                  <c:v>4.9024390243902438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1-471F-8B0F-14ED5B6FD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293215"/>
        <c:axId val="1675424192"/>
      </c:barChart>
      <c:catAx>
        <c:axId val="9129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5424192"/>
        <c:crosses val="autoZero"/>
        <c:auto val="1"/>
        <c:lblAlgn val="ctr"/>
        <c:lblOffset val="100"/>
        <c:noMultiLvlLbl val="0"/>
      </c:catAx>
      <c:valAx>
        <c:axId val="1675424192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1293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4950176227146956"/>
          <c:y val="3.4822092012579825E-2"/>
          <c:w val="0.44628734479029591"/>
          <c:h val="0.138848979054648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rgbClr val="989898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66286801561366"/>
          <c:y val="0.22418019176388299"/>
          <c:w val="0.6901425005174171"/>
          <c:h val="0.6059988939002793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003053838033479"/>
                      <c:h val="0.180791400374157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051-458B-A67E-21E9A1705B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Channel Type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0.99508599508599505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4-4381-A1CB-7F8705BDE5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PAP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6864646716490902E-3"/>
                  <c:y val="2.535643764013421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63338862916605"/>
                      <c:h val="0.180791400374157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D051-458B-A67E-21E9A1705B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Channel Type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4.9140049140049139E-3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94-4381-A1CB-7F8705BDE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8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  <c:max val="1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037814809229377E-2"/>
          <c:y val="0"/>
          <c:w val="0.89828302675834537"/>
          <c:h val="0.17241578967334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212471760852026E-2"/>
          <c:y val="0.22418019176388299"/>
          <c:w val="0.67984975538176362"/>
          <c:h val="0.6092133714278867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340B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233800488762398"/>
                      <c:h val="0.180791400374157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283-405C-AC28-93D0BA4224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Channel Type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0.4175257731958763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7-4A41-B551-4977A14015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Non-340B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911584839040283"/>
                      <c:h val="0.180791400374157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283-405C-AC28-93D0BA4224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Channel Type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0.5124742268041238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57-4A41-B551-4977A14015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Medicaid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690429176008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5C-4071-8E12-9CA28ECCEC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Channel Type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9-49CA-A5E7-974EFB3833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8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6.8673796709823973E-2"/>
          <c:y val="2.535643764013425E-2"/>
          <c:w val="0.89514545983351546"/>
          <c:h val="9.74459212406419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027626076887578E-2"/>
          <c:y val="0.31940411745406821"/>
          <c:w val="0.95120860306716415"/>
          <c:h val="0.389419719558831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Penetration</c:v>
                </c:pt>
              </c:strCache>
            </c:strRef>
          </c:tx>
          <c:spPr>
            <a:ln w="28575" cap="rnd" cmpd="sng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A4-41BD-BCEC-A1C64F8D8AAA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  <a:prstDash val="sysDot"/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A4-41BD-BCEC-A1C64F8D8AAA}"/>
              </c:ext>
            </c:extLst>
          </c:dPt>
          <c:dPt>
            <c:idx val="1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A4-41BD-BCEC-A1C64F8D8AAA}"/>
              </c:ext>
            </c:extLst>
          </c:dPt>
          <c:dPt>
            <c:idx val="1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A4-41BD-BCEC-A1C64F8D8AAA}"/>
              </c:ext>
            </c:extLst>
          </c:dPt>
          <c:dPt>
            <c:idx val="1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A1A4-41BD-BCEC-A1C64F8D8AAA}"/>
              </c:ext>
            </c:extLst>
          </c:dPt>
          <c:dPt>
            <c:idx val="1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A1A4-41BD-BCEC-A1C64F8D8AAA}"/>
              </c:ext>
            </c:extLst>
          </c:dPt>
          <c:dPt>
            <c:idx val="15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A1A4-41BD-BCEC-A1C64F8D8AAA}"/>
              </c:ext>
            </c:extLst>
          </c:dPt>
          <c:dPt>
            <c:idx val="16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  <a:prstDash val="dash"/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A4-41BD-BCEC-A1C64F8D8AAA}"/>
              </c:ext>
            </c:extLst>
          </c:dPt>
          <c:dPt>
            <c:idx val="17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 cmpd="sng">
                <a:solidFill>
                  <a:schemeClr val="accent1"/>
                </a:solidFill>
                <a:prstDash val="dash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C4DC-4F27-83E8-436FBBDDF2D4}"/>
              </c:ext>
            </c:extLst>
          </c:dPt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A4-41BD-BCEC-A1C64F8D8A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7C8AFB9-76AA-4455-9FEF-D04BE19539DA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A1A4-41BD-BCEC-A1C64F8D8A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6254BBF-9249-4217-A326-69F8448C9C10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A1A4-41BD-BCEC-A1C64F8D8A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DF5D22C-3A55-4932-8DFE-FA69F4AC3D8C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A1A4-41BD-BCEC-A1C64F8D8A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36DBE4CB-6940-4A4B-9B01-4CECDF0D3F46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A1A4-41BD-BCEC-A1C64F8D8A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AA4210D-F34D-43CD-97FB-51142B7F0D75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A1A4-41BD-BCEC-A1C64F8D8A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51CF5051-0C51-402B-8FAC-B013934EE6DA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A1A4-41BD-BCEC-A1C64F8D8A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0D3E6944-3C11-4B6F-A02B-C881F65E8104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A1A4-41BD-BCEC-A1C64F8D8AA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C4193E74-647B-445C-8D2A-16D93FB469C9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A1A4-41BD-BCEC-A1C64F8D8AA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F0357932-C9D7-435D-B0F1-26774736EF3E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A1A4-41BD-BCEC-A1C64F8D8AA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B903977F-1981-4277-A87C-036F0ED5142F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1A4-41BD-BCEC-A1C64F8D8AA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941C498A-6A17-4003-B6F7-09416831E0FB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A1A4-41BD-BCEC-A1C64F8D8AA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F1D5D7B1-2D1B-41E6-BC93-A857BE4F70A8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A1A4-41BD-BCEC-A1C64F8D8AA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8673D32F-26A3-4538-8832-4E7031E1E735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A1A4-41BD-BCEC-A1C64F8D8AA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5D1E1E65-22D7-4485-A04F-EBCE8763469B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A1A4-41BD-BCEC-A1C64F8D8AA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DFE69048-86D6-4191-930A-F8609911191B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A1A4-41BD-BCEC-A1C64F8D8AA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7E9C4557-D332-4674-AE93-6BD945E3B893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A1A4-41BD-BCEC-A1C64F8D8AA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26884527-9778-4E78-86F0-2A62B42BA38F}" type="VALUE">
                      <a:rPr lang="en-IN"/>
                      <a:pPr/>
                      <a:t>[VALUE]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C4DC-4F27-83E8-436FBBDDF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Q1'22</c:v>
                </c:pt>
                <c:pt idx="1">
                  <c:v>Q2'22</c:v>
                </c:pt>
                <c:pt idx="2">
                  <c:v>Q3'22</c:v>
                </c:pt>
                <c:pt idx="3">
                  <c:v>Q4'22</c:v>
                </c:pt>
                <c:pt idx="4">
                  <c:v>Q1'23</c:v>
                </c:pt>
                <c:pt idx="5">
                  <c:v>Q2'23</c:v>
                </c:pt>
                <c:pt idx="6">
                  <c:v>Q3'23</c:v>
                </c:pt>
                <c:pt idx="7">
                  <c:v>Q4'23</c:v>
                </c:pt>
                <c:pt idx="8">
                  <c:v>Q1'24</c:v>
                </c:pt>
                <c:pt idx="9">
                  <c:v>Q2'24</c:v>
                </c:pt>
                <c:pt idx="10">
                  <c:v>Q3'24</c:v>
                </c:pt>
                <c:pt idx="11">
                  <c:v>Q4'24</c:v>
                </c:pt>
                <c:pt idx="12">
                  <c:v>Q1'25</c:v>
                </c:pt>
                <c:pt idx="13">
                  <c:v>Q2'25</c:v>
                </c:pt>
                <c:pt idx="14">
                  <c:v>Q3'25</c:v>
                </c:pt>
                <c:pt idx="15">
                  <c:v>Q4'25</c:v>
                </c:pt>
                <c:pt idx="16">
                  <c:v>Q1'26</c:v>
                </c:pt>
                <c:pt idx="17">
                  <c:v>Q2'26TD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19</c:v>
                </c:pt>
                <c:pt idx="1">
                  <c:v>26</c:v>
                </c:pt>
                <c:pt idx="2">
                  <c:v>30</c:v>
                </c:pt>
                <c:pt idx="3">
                  <c:v>36</c:v>
                </c:pt>
                <c:pt idx="4">
                  <c:v>36</c:v>
                </c:pt>
                <c:pt idx="5">
                  <c:v>39</c:v>
                </c:pt>
                <c:pt idx="6">
                  <c:v>41</c:v>
                </c:pt>
                <c:pt idx="7">
                  <c:v>43</c:v>
                </c:pt>
                <c:pt idx="8">
                  <c:v>47</c:v>
                </c:pt>
                <c:pt idx="9">
                  <c:v>48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54</c:v>
                </c:pt>
                <c:pt idx="14">
                  <c:v>56</c:v>
                </c:pt>
                <c:pt idx="15">
                  <c:v>57</c:v>
                </c:pt>
                <c:pt idx="16">
                  <c:v>57</c:v>
                </c:pt>
                <c:pt idx="17">
                  <c:v>58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Sheet1!$D$2:$D$2</c15:f>
                <c15:dlblRangeCache>
                  <c:ptCount val="1"/>
                </c15:dlblRangeCache>
              </c15:datalabelsRange>
            </c:ext>
            <c:ext xmlns:c16="http://schemas.microsoft.com/office/drawing/2014/chart" uri="{C3380CC4-5D6E-409C-BE32-E72D297353CC}">
              <c16:uniqueId val="{00000019-A1A4-41BD-BCEC-A1C64F8D8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4394992"/>
        <c:axId val="1224391152"/>
      </c:lineChart>
      <c:catAx>
        <c:axId val="1224394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+mn-ea"/>
                <a:cs typeface="+mn-cs"/>
              </a:defRPr>
            </a:pPr>
            <a:endParaRPr lang="en-US"/>
          </a:p>
        </c:txPr>
        <c:crossAx val="1224391152"/>
        <c:crosses val="autoZero"/>
        <c:auto val="1"/>
        <c:lblAlgn val="ctr"/>
        <c:lblOffset val="100"/>
        <c:noMultiLvlLbl val="0"/>
      </c:catAx>
      <c:valAx>
        <c:axId val="1224391152"/>
        <c:scaling>
          <c:orientation val="minMax"/>
          <c:max val="60"/>
        </c:scaling>
        <c:delete val="1"/>
        <c:axPos val="l"/>
        <c:numFmt formatCode="General" sourceLinked="1"/>
        <c:majorTickMark val="out"/>
        <c:minorTickMark val="none"/>
        <c:tickLblPos val="nextTo"/>
        <c:crossAx val="12243949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rgbClr val="989898"/>
      </a:solidFill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Central </a:t>
            </a:r>
            <a:r>
              <a:rPr lang="en-US" sz="1600" b="1" baseline="0"/>
              <a:t>Monthly </a:t>
            </a:r>
            <a:r>
              <a:rPr lang="en-US" sz="1600" b="1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Daily Average</a:t>
            </a:r>
            <a:endParaRPr lang="en-US" sz="16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1733198839755212E-2"/>
          <c:y val="0.21333333333333335"/>
          <c:w val="0.95170400257832177"/>
          <c:h val="0.67307874015748026"/>
        </c:manualLayout>
      </c:layou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central</c:v>
                </c:pt>
              </c:strCache>
            </c:strRef>
          </c:tx>
          <c:spPr>
            <a:ln w="28575" cap="rnd">
              <a:solidFill>
                <a:srgbClr val="92D050">
                  <a:alpha val="87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D050"/>
              </a:solidFill>
              <a:ln w="9525">
                <a:solidFill>
                  <a:srgbClr val="92D050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8196049425439249E-2"/>
                  <c:y val="-4.93333333333333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CB-4B56-B4ED-00ECDEBDF6EC}"/>
                </c:ext>
              </c:extLst>
            </c:dLbl>
            <c:dLbl>
              <c:idx val="4"/>
              <c:layout>
                <c:manualLayout>
                  <c:x val="-3.5781249554355431E-2"/>
                  <c:y val="-7.71111111111111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CB-4B56-B4ED-00ECDEBDF6EC}"/>
                </c:ext>
              </c:extLst>
            </c:dLbl>
            <c:dLbl>
              <c:idx val="5"/>
              <c:layout>
                <c:manualLayout>
                  <c:x val="-3.3366449683271515E-2"/>
                  <c:y val="-4.37777777777777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CB-4B56-B4ED-00ECDEBDF6EC}"/>
                </c:ext>
              </c:extLst>
            </c:dLbl>
            <c:dLbl>
              <c:idx val="6"/>
              <c:layout>
                <c:manualLayout>
                  <c:x val="-4.0610849296523165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CB-4B56-B4ED-00ECDEBDF6EC}"/>
                </c:ext>
              </c:extLst>
            </c:dLbl>
            <c:dLbl>
              <c:idx val="9"/>
              <c:layout>
                <c:manualLayout>
                  <c:x val="-4.0610849296523165E-2"/>
                  <c:y val="-9.37777777777777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CB-4B56-B4ED-00ECDEBDF6EC}"/>
                </c:ext>
              </c:extLst>
            </c:dLbl>
            <c:dLbl>
              <c:idx val="11"/>
              <c:layout>
                <c:manualLayout>
                  <c:x val="-4.5440449038691162E-2"/>
                  <c:y val="-9.93333333333333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CB-4B56-B4ED-00ECDEBDF6EC}"/>
                </c:ext>
              </c:extLst>
            </c:dLbl>
            <c:dLbl>
              <c:idx val="13"/>
              <c:layout>
                <c:manualLayout>
                  <c:x val="-3.6853839008905286E-2"/>
                  <c:y val="-9.37777777777777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CB-4B56-B4ED-00ECDEBDF6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Sheet1!$A$26:$A$42</c:f>
              <c:numCache>
                <c:formatCode>mmm\-yy</c:formatCode>
                <c:ptCount val="17"/>
                <c:pt idx="0">
                  <c:v>45688</c:v>
                </c:pt>
                <c:pt idx="1">
                  <c:v>45716</c:v>
                </c:pt>
                <c:pt idx="2">
                  <c:v>45717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  <c:pt idx="12">
                  <c:v>46053</c:v>
                </c:pt>
                <c:pt idx="13">
                  <c:v>46081</c:v>
                </c:pt>
                <c:pt idx="14">
                  <c:v>46112</c:v>
                </c:pt>
                <c:pt idx="15">
                  <c:v>46142</c:v>
                </c:pt>
                <c:pt idx="16">
                  <c:v>46173</c:v>
                </c:pt>
              </c:numCache>
              <c:extLst/>
            </c:numRef>
          </c:cat>
          <c:val>
            <c:numRef>
              <c:f>Sheet1!$C$26:$C$42</c:f>
              <c:numCache>
                <c:formatCode>0.0</c:formatCode>
                <c:ptCount val="17"/>
                <c:pt idx="0">
                  <c:v>8.6818181818181817</c:v>
                </c:pt>
                <c:pt idx="1">
                  <c:v>6.85</c:v>
                </c:pt>
                <c:pt idx="2">
                  <c:v>6.65</c:v>
                </c:pt>
                <c:pt idx="3">
                  <c:v>7.1818181818181817</c:v>
                </c:pt>
                <c:pt idx="4">
                  <c:v>7.8095238095238093</c:v>
                </c:pt>
                <c:pt idx="5">
                  <c:v>6.9047619047619051</c:v>
                </c:pt>
                <c:pt idx="6">
                  <c:v>6.2272727272727275</c:v>
                </c:pt>
                <c:pt idx="7">
                  <c:v>7.1904761904761907</c:v>
                </c:pt>
                <c:pt idx="8">
                  <c:v>9.6666666666666661</c:v>
                </c:pt>
                <c:pt idx="9">
                  <c:v>8.2173913043478262</c:v>
                </c:pt>
                <c:pt idx="10">
                  <c:v>7.2105263157894735</c:v>
                </c:pt>
                <c:pt idx="11">
                  <c:v>8.3636363636363633</c:v>
                </c:pt>
                <c:pt idx="12">
                  <c:v>6.7142857142857144</c:v>
                </c:pt>
                <c:pt idx="13">
                  <c:v>6.75</c:v>
                </c:pt>
                <c:pt idx="14">
                  <c:v>8.454545454545455</c:v>
                </c:pt>
                <c:pt idx="15">
                  <c:v>7.3636363636363633</c:v>
                </c:pt>
                <c:pt idx="16">
                  <c:v>8.15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F2CB-4B56-B4ED-00ECDEBD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098335"/>
        <c:axId val="197975084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east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Sheet1!$A$26:$A$42</c15:sqref>
                        </c15:formulaRef>
                      </c:ext>
                    </c:extLst>
                    <c:numCache>
                      <c:formatCode>mmm\-yy</c:formatCode>
                      <c:ptCount val="17"/>
                      <c:pt idx="0">
                        <c:v>45688</c:v>
                      </c:pt>
                      <c:pt idx="1">
                        <c:v>45716</c:v>
                      </c:pt>
                      <c:pt idx="2">
                        <c:v>45717</c:v>
                      </c:pt>
                      <c:pt idx="3">
                        <c:v>45777</c:v>
                      </c:pt>
                      <c:pt idx="4">
                        <c:v>45808</c:v>
                      </c:pt>
                      <c:pt idx="5">
                        <c:v>45838</c:v>
                      </c:pt>
                      <c:pt idx="6">
                        <c:v>45869</c:v>
                      </c:pt>
                      <c:pt idx="7">
                        <c:v>45900</c:v>
                      </c:pt>
                      <c:pt idx="8">
                        <c:v>45930</c:v>
                      </c:pt>
                      <c:pt idx="9">
                        <c:v>45961</c:v>
                      </c:pt>
                      <c:pt idx="10">
                        <c:v>45991</c:v>
                      </c:pt>
                      <c:pt idx="11">
                        <c:v>46022</c:v>
                      </c:pt>
                      <c:pt idx="12">
                        <c:v>46053</c:v>
                      </c:pt>
                      <c:pt idx="13">
                        <c:v>46081</c:v>
                      </c:pt>
                      <c:pt idx="14">
                        <c:v>46112</c:v>
                      </c:pt>
                      <c:pt idx="15">
                        <c:v>46142</c:v>
                      </c:pt>
                      <c:pt idx="16">
                        <c:v>46173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Sheet1!$B$26:$B$42</c15:sqref>
                        </c15:formulaRef>
                      </c:ext>
                    </c:extLst>
                    <c:numCache>
                      <c:formatCode>0.0</c:formatCode>
                      <c:ptCount val="17"/>
                      <c:pt idx="0">
                        <c:v>7.3181818181818183</c:v>
                      </c:pt>
                      <c:pt idx="1">
                        <c:v>5.65</c:v>
                      </c:pt>
                      <c:pt idx="2">
                        <c:v>5.95</c:v>
                      </c:pt>
                      <c:pt idx="3">
                        <c:v>7.6818181818181817</c:v>
                      </c:pt>
                      <c:pt idx="4">
                        <c:v>7.5714285714285712</c:v>
                      </c:pt>
                      <c:pt idx="5">
                        <c:v>7.8571428571428568</c:v>
                      </c:pt>
                      <c:pt idx="6">
                        <c:v>7.5909090909090908</c:v>
                      </c:pt>
                      <c:pt idx="7">
                        <c:v>7.8095238095238093</c:v>
                      </c:pt>
                      <c:pt idx="8">
                        <c:v>8.9523809523809526</c:v>
                      </c:pt>
                      <c:pt idx="9">
                        <c:v>7.3043478260869561</c:v>
                      </c:pt>
                      <c:pt idx="10">
                        <c:v>9.8421052631578956</c:v>
                      </c:pt>
                      <c:pt idx="11">
                        <c:v>9.6818181818181817</c:v>
                      </c:pt>
                      <c:pt idx="12">
                        <c:v>8.9523809523809526</c:v>
                      </c:pt>
                      <c:pt idx="13">
                        <c:v>9.4</c:v>
                      </c:pt>
                      <c:pt idx="14">
                        <c:v>10.409090909090908</c:v>
                      </c:pt>
                      <c:pt idx="15">
                        <c:v>8.3636363636363633</c:v>
                      </c:pt>
                      <c:pt idx="16">
                        <c:v>8.3000000000000007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F2CB-4B56-B4ED-00ECDEBDF6EC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west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b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Sheet1!$A$26:$A$42</c15:sqref>
                        </c15:formulaRef>
                      </c:ext>
                    </c:extLst>
                    <c:numCache>
                      <c:formatCode>mmm\-yy</c:formatCode>
                      <c:ptCount val="17"/>
                      <c:pt idx="0">
                        <c:v>45688</c:v>
                      </c:pt>
                      <c:pt idx="1">
                        <c:v>45716</c:v>
                      </c:pt>
                      <c:pt idx="2">
                        <c:v>45717</c:v>
                      </c:pt>
                      <c:pt idx="3">
                        <c:v>45777</c:v>
                      </c:pt>
                      <c:pt idx="4">
                        <c:v>45808</c:v>
                      </c:pt>
                      <c:pt idx="5">
                        <c:v>45838</c:v>
                      </c:pt>
                      <c:pt idx="6">
                        <c:v>45869</c:v>
                      </c:pt>
                      <c:pt idx="7">
                        <c:v>45900</c:v>
                      </c:pt>
                      <c:pt idx="8">
                        <c:v>45930</c:v>
                      </c:pt>
                      <c:pt idx="9">
                        <c:v>45961</c:v>
                      </c:pt>
                      <c:pt idx="10">
                        <c:v>45991</c:v>
                      </c:pt>
                      <c:pt idx="11">
                        <c:v>46022</c:v>
                      </c:pt>
                      <c:pt idx="12">
                        <c:v>46053</c:v>
                      </c:pt>
                      <c:pt idx="13">
                        <c:v>46081</c:v>
                      </c:pt>
                      <c:pt idx="14">
                        <c:v>46112</c:v>
                      </c:pt>
                      <c:pt idx="15">
                        <c:v>46142</c:v>
                      </c:pt>
                      <c:pt idx="16">
                        <c:v>46173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Sheet1!$D$26:$D$42</c15:sqref>
                        </c15:formulaRef>
                      </c:ext>
                    </c:extLst>
                    <c:numCache>
                      <c:formatCode>0.0</c:formatCode>
                      <c:ptCount val="17"/>
                      <c:pt idx="0">
                        <c:v>5.1363636363636367</c:v>
                      </c:pt>
                      <c:pt idx="1">
                        <c:v>4</c:v>
                      </c:pt>
                      <c:pt idx="2">
                        <c:v>3.5</c:v>
                      </c:pt>
                      <c:pt idx="3">
                        <c:v>3.4545454545454546</c:v>
                      </c:pt>
                      <c:pt idx="4">
                        <c:v>3.9047619047619047</c:v>
                      </c:pt>
                      <c:pt idx="5">
                        <c:v>3.5714285714285716</c:v>
                      </c:pt>
                      <c:pt idx="6">
                        <c:v>3.2272727272727271</c:v>
                      </c:pt>
                      <c:pt idx="7">
                        <c:v>4.1904761904761907</c:v>
                      </c:pt>
                      <c:pt idx="8">
                        <c:v>4.4285714285714288</c:v>
                      </c:pt>
                      <c:pt idx="9">
                        <c:v>4.9130434782608692</c:v>
                      </c:pt>
                      <c:pt idx="10">
                        <c:v>4.8947368421052628</c:v>
                      </c:pt>
                      <c:pt idx="11">
                        <c:v>4.8636363636363633</c:v>
                      </c:pt>
                      <c:pt idx="12">
                        <c:v>3.7142857142857144</c:v>
                      </c:pt>
                      <c:pt idx="13">
                        <c:v>3.5</c:v>
                      </c:pt>
                      <c:pt idx="14">
                        <c:v>3.7727272727272729</c:v>
                      </c:pt>
                      <c:pt idx="15">
                        <c:v>3.9090909090909092</c:v>
                      </c:pt>
                      <c:pt idx="16">
                        <c:v>4.5999999999999996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F2CB-4B56-B4ED-00ECDEBDF6EC}"/>
                  </c:ext>
                </c:extLst>
              </c15:ser>
            </c15:filteredLineSeries>
          </c:ext>
        </c:extLst>
      </c:lineChart>
      <c:dateAx>
        <c:axId val="111098335"/>
        <c:scaling>
          <c:orientation val="minMax"/>
          <c:min val="45658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750847"/>
        <c:crosses val="autoZero"/>
        <c:auto val="1"/>
        <c:lblOffset val="100"/>
        <c:baseTimeUnit val="months"/>
      </c:dateAx>
      <c:valAx>
        <c:axId val="1979750847"/>
        <c:scaling>
          <c:orientation val="minMax"/>
          <c:max val="16"/>
        </c:scaling>
        <c:delete val="1"/>
        <c:axPos val="l"/>
        <c:numFmt formatCode="0.0" sourceLinked="1"/>
        <c:majorTickMark val="out"/>
        <c:minorTickMark val="none"/>
        <c:tickLblPos val="nextTo"/>
        <c:crossAx val="111098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859D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West </a:t>
            </a:r>
            <a:r>
              <a:rPr lang="en-US" sz="1600" b="1" baseline="0"/>
              <a:t>Monthly </a:t>
            </a:r>
            <a:r>
              <a:rPr lang="en-US" sz="1600" b="1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Daily Average</a:t>
            </a:r>
            <a:endParaRPr lang="en-US" sz="16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4588562337386349E-2"/>
          <c:y val="0.21333333333333335"/>
          <c:w val="0.95866574004407201"/>
          <c:h val="0.53179615048118989"/>
        </c:manualLayout>
      </c:layou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4.0890668106377898E-2"/>
                  <c:y val="-6.60000000000000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32C-4B52-A1DB-0D5E8F4C43AC}"/>
                </c:ext>
              </c:extLst>
            </c:dLbl>
            <c:dLbl>
              <c:idx val="10"/>
              <c:layout>
                <c:manualLayout>
                  <c:x val="-4.4537808690724393E-2"/>
                  <c:y val="-0.10211045494313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2329728311957835E-2"/>
                      <c:h val="9.86666666666666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32C-4B52-A1DB-0D5E8F4C43AC}"/>
                </c:ext>
              </c:extLst>
            </c:dLbl>
            <c:dLbl>
              <c:idx val="11"/>
              <c:layout>
                <c:manualLayout>
                  <c:x val="-3.1164959881453572E-2"/>
                  <c:y val="-9.377712160979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9898301255726774E-2"/>
                      <c:h val="0.1264444444444444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32C-4B52-A1DB-0D5E8F4C43AC}"/>
                </c:ext>
              </c:extLst>
            </c:dLbl>
            <c:dLbl>
              <c:idx val="12"/>
              <c:layout>
                <c:manualLayout>
                  <c:x val="-4.2858592414330487E-2"/>
                  <c:y val="-9.05831146106737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2C-4B52-A1DB-0D5E8F4C43AC}"/>
                </c:ext>
              </c:extLst>
            </c:dLbl>
            <c:dLbl>
              <c:idx val="13"/>
              <c:layout>
                <c:manualLayout>
                  <c:x val="-2.7389738612018908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32C-4B52-A1DB-0D5E8F4C43AC}"/>
                </c:ext>
              </c:extLst>
            </c:dLbl>
            <c:dLbl>
              <c:idx val="14"/>
              <c:layout>
                <c:manualLayout>
                  <c:x val="-3.6174273970137658E-2"/>
                  <c:y val="-8.26666666666666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2C-4B52-A1DB-0D5E8F4C43AC}"/>
                </c:ext>
              </c:extLst>
            </c:dLbl>
            <c:dLbl>
              <c:idx val="15"/>
              <c:layout>
                <c:manualLayout>
                  <c:x val="-3.4039978787234818E-2"/>
                  <c:y val="-7.71111111111111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32C-4B52-A1DB-0D5E8F4C43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Sheet1!$A$26:$A$42</c:f>
              <c:numCache>
                <c:formatCode>mmm\-yy</c:formatCode>
                <c:ptCount val="17"/>
                <c:pt idx="0">
                  <c:v>45688</c:v>
                </c:pt>
                <c:pt idx="1">
                  <c:v>45716</c:v>
                </c:pt>
                <c:pt idx="2">
                  <c:v>45717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  <c:pt idx="12">
                  <c:v>46053</c:v>
                </c:pt>
                <c:pt idx="13">
                  <c:v>46081</c:v>
                </c:pt>
                <c:pt idx="14">
                  <c:v>46112</c:v>
                </c:pt>
                <c:pt idx="15">
                  <c:v>46142</c:v>
                </c:pt>
                <c:pt idx="16">
                  <c:v>46173</c:v>
                </c:pt>
              </c:numCache>
              <c:extLst/>
            </c:numRef>
          </c:cat>
          <c:val>
            <c:numRef>
              <c:f>Sheet1!$D$26:$D$42</c:f>
              <c:numCache>
                <c:formatCode>0.0</c:formatCode>
                <c:ptCount val="17"/>
                <c:pt idx="0">
                  <c:v>5.1363636363636367</c:v>
                </c:pt>
                <c:pt idx="1">
                  <c:v>4</c:v>
                </c:pt>
                <c:pt idx="2">
                  <c:v>3.5</c:v>
                </c:pt>
                <c:pt idx="3">
                  <c:v>3.4545454545454546</c:v>
                </c:pt>
                <c:pt idx="4">
                  <c:v>3.9047619047619047</c:v>
                </c:pt>
                <c:pt idx="5">
                  <c:v>3.5714285714285716</c:v>
                </c:pt>
                <c:pt idx="6">
                  <c:v>3.2272727272727271</c:v>
                </c:pt>
                <c:pt idx="7">
                  <c:v>4.1904761904761907</c:v>
                </c:pt>
                <c:pt idx="8">
                  <c:v>4.4285714285714288</c:v>
                </c:pt>
                <c:pt idx="9">
                  <c:v>4.9130434782608692</c:v>
                </c:pt>
                <c:pt idx="10">
                  <c:v>4.8947368421052628</c:v>
                </c:pt>
                <c:pt idx="11">
                  <c:v>4.8636363636363633</c:v>
                </c:pt>
                <c:pt idx="12">
                  <c:v>3.7142857142857144</c:v>
                </c:pt>
                <c:pt idx="13">
                  <c:v>3.5</c:v>
                </c:pt>
                <c:pt idx="14">
                  <c:v>3.7727272727272729</c:v>
                </c:pt>
                <c:pt idx="15">
                  <c:v>3.9090909090909092</c:v>
                </c:pt>
                <c:pt idx="16">
                  <c:v>4.5999999999999996</c:v>
                </c:pt>
              </c:numCache>
              <c:extLst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7-C32C-4B52-A1DB-0D5E8F4C4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098335"/>
        <c:axId val="197975084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east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Sheet1!$A$26:$A$42</c15:sqref>
                        </c15:formulaRef>
                      </c:ext>
                    </c:extLst>
                    <c:numCache>
                      <c:formatCode>mmm\-yy</c:formatCode>
                      <c:ptCount val="17"/>
                      <c:pt idx="0">
                        <c:v>45688</c:v>
                      </c:pt>
                      <c:pt idx="1">
                        <c:v>45716</c:v>
                      </c:pt>
                      <c:pt idx="2">
                        <c:v>45717</c:v>
                      </c:pt>
                      <c:pt idx="3">
                        <c:v>45777</c:v>
                      </c:pt>
                      <c:pt idx="4">
                        <c:v>45808</c:v>
                      </c:pt>
                      <c:pt idx="5">
                        <c:v>45838</c:v>
                      </c:pt>
                      <c:pt idx="6">
                        <c:v>45869</c:v>
                      </c:pt>
                      <c:pt idx="7">
                        <c:v>45900</c:v>
                      </c:pt>
                      <c:pt idx="8">
                        <c:v>45930</c:v>
                      </c:pt>
                      <c:pt idx="9">
                        <c:v>45961</c:v>
                      </c:pt>
                      <c:pt idx="10">
                        <c:v>45991</c:v>
                      </c:pt>
                      <c:pt idx="11">
                        <c:v>46022</c:v>
                      </c:pt>
                      <c:pt idx="12">
                        <c:v>46053</c:v>
                      </c:pt>
                      <c:pt idx="13">
                        <c:v>46081</c:v>
                      </c:pt>
                      <c:pt idx="14">
                        <c:v>46112</c:v>
                      </c:pt>
                      <c:pt idx="15">
                        <c:v>46142</c:v>
                      </c:pt>
                      <c:pt idx="16">
                        <c:v>46173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Sheet1!$B$26:$B$40</c15:sqref>
                        </c15:formulaRef>
                      </c:ext>
                    </c:extLst>
                    <c:numCache>
                      <c:formatCode>0.0</c:formatCode>
                      <c:ptCount val="15"/>
                      <c:pt idx="0">
                        <c:v>7.3181818181818183</c:v>
                      </c:pt>
                      <c:pt idx="1">
                        <c:v>5.65</c:v>
                      </c:pt>
                      <c:pt idx="2">
                        <c:v>5.95</c:v>
                      </c:pt>
                      <c:pt idx="3">
                        <c:v>7.6818181818181817</c:v>
                      </c:pt>
                      <c:pt idx="4">
                        <c:v>7.5714285714285712</c:v>
                      </c:pt>
                      <c:pt idx="5">
                        <c:v>7.8571428571428568</c:v>
                      </c:pt>
                      <c:pt idx="6">
                        <c:v>7.5909090909090908</c:v>
                      </c:pt>
                      <c:pt idx="7">
                        <c:v>7.8095238095238093</c:v>
                      </c:pt>
                      <c:pt idx="8">
                        <c:v>8.9523809523809526</c:v>
                      </c:pt>
                      <c:pt idx="9">
                        <c:v>7.3043478260869561</c:v>
                      </c:pt>
                      <c:pt idx="10">
                        <c:v>9.8421052631578956</c:v>
                      </c:pt>
                      <c:pt idx="11">
                        <c:v>9.6818181818181817</c:v>
                      </c:pt>
                      <c:pt idx="12">
                        <c:v>8.9523809523809526</c:v>
                      </c:pt>
                      <c:pt idx="13">
                        <c:v>9.4</c:v>
                      </c:pt>
                      <c:pt idx="14">
                        <c:v>10.409090909090908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C32C-4B52-A1DB-0D5E8F4C43A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central</c:v>
                      </c:pt>
                    </c:strCache>
                  </c:strRef>
                </c:tx>
                <c:spPr>
                  <a:ln w="28575" cap="rnd">
                    <a:solidFill>
                      <a:srgbClr val="92D050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92D050"/>
                    </a:solidFill>
                    <a:ln w="9525">
                      <a:solidFill>
                        <a:srgbClr val="92D050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Sheet1!$A$26:$A$42</c15:sqref>
                        </c15:formulaRef>
                      </c:ext>
                    </c:extLst>
                    <c:numCache>
                      <c:formatCode>mmm\-yy</c:formatCode>
                      <c:ptCount val="17"/>
                      <c:pt idx="0">
                        <c:v>45688</c:v>
                      </c:pt>
                      <c:pt idx="1">
                        <c:v>45716</c:v>
                      </c:pt>
                      <c:pt idx="2">
                        <c:v>45717</c:v>
                      </c:pt>
                      <c:pt idx="3">
                        <c:v>45777</c:v>
                      </c:pt>
                      <c:pt idx="4">
                        <c:v>45808</c:v>
                      </c:pt>
                      <c:pt idx="5">
                        <c:v>45838</c:v>
                      </c:pt>
                      <c:pt idx="6">
                        <c:v>45869</c:v>
                      </c:pt>
                      <c:pt idx="7">
                        <c:v>45900</c:v>
                      </c:pt>
                      <c:pt idx="8">
                        <c:v>45930</c:v>
                      </c:pt>
                      <c:pt idx="9">
                        <c:v>45961</c:v>
                      </c:pt>
                      <c:pt idx="10">
                        <c:v>45991</c:v>
                      </c:pt>
                      <c:pt idx="11">
                        <c:v>46022</c:v>
                      </c:pt>
                      <c:pt idx="12">
                        <c:v>46053</c:v>
                      </c:pt>
                      <c:pt idx="13">
                        <c:v>46081</c:v>
                      </c:pt>
                      <c:pt idx="14">
                        <c:v>46112</c:v>
                      </c:pt>
                      <c:pt idx="15">
                        <c:v>46142</c:v>
                      </c:pt>
                      <c:pt idx="16">
                        <c:v>46173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Sheet1!$C$26:$C$40</c15:sqref>
                        </c15:formulaRef>
                      </c:ext>
                    </c:extLst>
                    <c:numCache>
                      <c:formatCode>0.0</c:formatCode>
                      <c:ptCount val="15"/>
                      <c:pt idx="0">
                        <c:v>8.6818181818181817</c:v>
                      </c:pt>
                      <c:pt idx="1">
                        <c:v>6.85</c:v>
                      </c:pt>
                      <c:pt idx="2">
                        <c:v>6.65</c:v>
                      </c:pt>
                      <c:pt idx="3">
                        <c:v>7.1818181818181817</c:v>
                      </c:pt>
                      <c:pt idx="4">
                        <c:v>7.8095238095238093</c:v>
                      </c:pt>
                      <c:pt idx="5">
                        <c:v>6.9047619047619051</c:v>
                      </c:pt>
                      <c:pt idx="6">
                        <c:v>6.2272727272727275</c:v>
                      </c:pt>
                      <c:pt idx="7">
                        <c:v>7.1904761904761907</c:v>
                      </c:pt>
                      <c:pt idx="8">
                        <c:v>9.6666666666666661</c:v>
                      </c:pt>
                      <c:pt idx="9">
                        <c:v>8.2173913043478262</c:v>
                      </c:pt>
                      <c:pt idx="10">
                        <c:v>7.2105263157894735</c:v>
                      </c:pt>
                      <c:pt idx="11">
                        <c:v>8.3636363636363633</c:v>
                      </c:pt>
                      <c:pt idx="12">
                        <c:v>6.7142857142857144</c:v>
                      </c:pt>
                      <c:pt idx="13">
                        <c:v>6.75</c:v>
                      </c:pt>
                      <c:pt idx="14">
                        <c:v>8.454545454545455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C32C-4B52-A1DB-0D5E8F4C43AC}"/>
                  </c:ext>
                </c:extLst>
              </c15:ser>
            </c15:filteredLineSeries>
          </c:ext>
        </c:extLst>
      </c:lineChart>
      <c:dateAx>
        <c:axId val="111098335"/>
        <c:scaling>
          <c:orientation val="minMax"/>
          <c:min val="45658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750847"/>
        <c:crosses val="autoZero"/>
        <c:auto val="1"/>
        <c:lblOffset val="100"/>
        <c:baseTimeUnit val="months"/>
      </c:dateAx>
      <c:valAx>
        <c:axId val="1979750847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11098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859D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baseline="0"/>
              <a:t>East Monthly </a:t>
            </a:r>
            <a:r>
              <a:rPr lang="en-US" sz="1600" b="1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Daily Average</a:t>
            </a:r>
            <a:endParaRPr lang="en-US" sz="1600" b="1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1.5035074979213713E-2"/>
          <c:y val="0.20849999999999999"/>
          <c:w val="0.96564651810510804"/>
          <c:h val="0.561260279965004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4.302565734857975E-2"/>
                  <c:y val="-6.04444444444444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05B-422A-8618-041F58C5DDB2}"/>
                </c:ext>
              </c:extLst>
            </c:dLbl>
            <c:dLbl>
              <c:idx val="2"/>
              <c:layout>
                <c:manualLayout>
                  <c:x val="-4.0610857018341454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5B-422A-8618-041F58C5DDB2}"/>
                </c:ext>
              </c:extLst>
            </c:dLbl>
            <c:dLbl>
              <c:idx val="3"/>
              <c:layout>
                <c:manualLayout>
                  <c:x val="-4.7855258009056073E-2"/>
                  <c:y val="-7.71111111111111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5B-422A-8618-041F58C5DDB2}"/>
                </c:ext>
              </c:extLst>
            </c:dLbl>
            <c:dLbl>
              <c:idx val="6"/>
              <c:layout>
                <c:manualLayout>
                  <c:x val="-4.0610857018341544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5B-422A-8618-041F58C5DDB2}"/>
                </c:ext>
              </c:extLst>
            </c:dLbl>
            <c:dLbl>
              <c:idx val="9"/>
              <c:layout>
                <c:manualLayout>
                  <c:x val="-4.7356326035312278E-2"/>
                  <c:y val="-7.39164479440070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05B-422A-8618-041F58C5DDB2}"/>
                </c:ext>
              </c:extLst>
            </c:dLbl>
            <c:dLbl>
              <c:idx val="10"/>
              <c:layout>
                <c:manualLayout>
                  <c:x val="-4.302565734857966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5B-422A-8618-041F58C5DDB2}"/>
                </c:ext>
              </c:extLst>
            </c:dLbl>
            <c:dLbl>
              <c:idx val="11"/>
              <c:layout>
                <c:manualLayout>
                  <c:x val="-3.2095358373481944E-2"/>
                  <c:y val="-6.83608923884514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5B-422A-8618-041F58C5DDB2}"/>
                </c:ext>
              </c:extLst>
            </c:dLbl>
            <c:dLbl>
              <c:idx val="12"/>
              <c:layout>
                <c:manualLayout>
                  <c:x val="-4.2036920205489998E-2"/>
                  <c:y val="-6.28053368328959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5B-422A-8618-041F58C5DDB2}"/>
                </c:ext>
              </c:extLst>
            </c:dLbl>
            <c:dLbl>
              <c:idx val="13"/>
              <c:layout>
                <c:manualLayout>
                  <c:x val="-4.6781147216495789E-2"/>
                  <c:y val="-6.60000000000000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5B-422A-8618-041F58C5DD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Sheet1!$A$26:$A$42</c:f>
              <c:numCache>
                <c:formatCode>mmm\-yy</c:formatCode>
                <c:ptCount val="17"/>
                <c:pt idx="0">
                  <c:v>45688</c:v>
                </c:pt>
                <c:pt idx="1">
                  <c:v>45716</c:v>
                </c:pt>
                <c:pt idx="2">
                  <c:v>45747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  <c:pt idx="12">
                  <c:v>46053</c:v>
                </c:pt>
                <c:pt idx="13">
                  <c:v>46081</c:v>
                </c:pt>
                <c:pt idx="14">
                  <c:v>46112</c:v>
                </c:pt>
                <c:pt idx="15">
                  <c:v>46142</c:v>
                </c:pt>
                <c:pt idx="16">
                  <c:v>46173</c:v>
                </c:pt>
              </c:numCache>
              <c:extLst/>
            </c:numRef>
          </c:cat>
          <c:val>
            <c:numRef>
              <c:f>Sheet1!$B$26:$B$42</c:f>
              <c:numCache>
                <c:formatCode>0.0</c:formatCode>
                <c:ptCount val="17"/>
                <c:pt idx="0">
                  <c:v>7.3181818181818183</c:v>
                </c:pt>
                <c:pt idx="1">
                  <c:v>5.65</c:v>
                </c:pt>
                <c:pt idx="2">
                  <c:v>5.95</c:v>
                </c:pt>
                <c:pt idx="3">
                  <c:v>7.6818181818181817</c:v>
                </c:pt>
                <c:pt idx="4">
                  <c:v>7.5714285714285712</c:v>
                </c:pt>
                <c:pt idx="5">
                  <c:v>7.8571428571428568</c:v>
                </c:pt>
                <c:pt idx="6">
                  <c:v>7.5909090909090908</c:v>
                </c:pt>
                <c:pt idx="7">
                  <c:v>7.8095238095238093</c:v>
                </c:pt>
                <c:pt idx="8">
                  <c:v>8.9523809523809526</c:v>
                </c:pt>
                <c:pt idx="9">
                  <c:v>7.3043478260869561</c:v>
                </c:pt>
                <c:pt idx="10">
                  <c:v>9.8421052631578956</c:v>
                </c:pt>
                <c:pt idx="11">
                  <c:v>9.6818181818181817</c:v>
                </c:pt>
                <c:pt idx="12">
                  <c:v>8.9523809523809526</c:v>
                </c:pt>
                <c:pt idx="13">
                  <c:v>9.4</c:v>
                </c:pt>
                <c:pt idx="14">
                  <c:v>10.409090909090908</c:v>
                </c:pt>
                <c:pt idx="15">
                  <c:v>8.3636363636363633</c:v>
                </c:pt>
                <c:pt idx="16">
                  <c:v>8.3000000000000007</c:v>
                </c:pt>
              </c:numCache>
              <c:extLst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9-905B-422A-8618-041F58C5DD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098335"/>
        <c:axId val="1979750847"/>
        <c:extLst/>
      </c:lineChart>
      <c:dateAx>
        <c:axId val="111098335"/>
        <c:scaling>
          <c:orientation val="minMax"/>
          <c:min val="45658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750847"/>
        <c:crosses val="autoZero"/>
        <c:auto val="1"/>
        <c:lblOffset val="100"/>
        <c:baseTimeUnit val="months"/>
      </c:dateAx>
      <c:valAx>
        <c:axId val="1979750847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11109833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859D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.12027730602302163"/>
          <c:w val="0.99967529891693796"/>
          <c:h val="0.7705088947214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Avg. Actuals</c:v>
                </c:pt>
              </c:strCache>
            </c:strRef>
          </c:tx>
          <c:spPr>
            <a:solidFill>
              <a:srgbClr val="0E7C8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Q1'22</c:v>
                </c:pt>
                <c:pt idx="1">
                  <c:v>Q2'22</c:v>
                </c:pt>
                <c:pt idx="2">
                  <c:v>Q3'22</c:v>
                </c:pt>
                <c:pt idx="3">
                  <c:v>Q4'22</c:v>
                </c:pt>
                <c:pt idx="4">
                  <c:v>Q1'23</c:v>
                </c:pt>
                <c:pt idx="5">
                  <c:v>Q2'23</c:v>
                </c:pt>
                <c:pt idx="6">
                  <c:v>Q3'23</c:v>
                </c:pt>
                <c:pt idx="7">
                  <c:v>Q4'23</c:v>
                </c:pt>
                <c:pt idx="8">
                  <c:v>Q1'24</c:v>
                </c:pt>
                <c:pt idx="9">
                  <c:v>Q2'24</c:v>
                </c:pt>
                <c:pt idx="10">
                  <c:v>Q3'24</c:v>
                </c:pt>
                <c:pt idx="11">
                  <c:v>Q4'24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3.6</c:v>
                </c:pt>
                <c:pt idx="1">
                  <c:v>9.4</c:v>
                </c:pt>
                <c:pt idx="2">
                  <c:v>10.7</c:v>
                </c:pt>
                <c:pt idx="3">
                  <c:v>12.5</c:v>
                </c:pt>
                <c:pt idx="4">
                  <c:v>15.1</c:v>
                </c:pt>
                <c:pt idx="5">
                  <c:v>15.9</c:v>
                </c:pt>
                <c:pt idx="6">
                  <c:v>15.1</c:v>
                </c:pt>
                <c:pt idx="7">
                  <c:v>15.8</c:v>
                </c:pt>
                <c:pt idx="8">
                  <c:v>13.4</c:v>
                </c:pt>
                <c:pt idx="9">
                  <c:v>15.2</c:v>
                </c:pt>
                <c:pt idx="10">
                  <c:v>16.899999999999999</c:v>
                </c:pt>
                <c:pt idx="11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D9-437B-95B4-AE00FF829E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solidFill>
        <a:schemeClr val="bg1">
          <a:lumMod val="50000"/>
        </a:schemeClr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3.3875338753387531E-2"/>
          <c:w val="1"/>
          <c:h val="0.81765998762349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Avg. Actuals</c:v>
                </c:pt>
              </c:strCache>
            </c:strRef>
          </c:tx>
          <c:spPr>
            <a:solidFill>
              <a:srgbClr val="0E7C8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18.3</c:v>
                </c:pt>
                <c:pt idx="1">
                  <c:v>18.600000000000001</c:v>
                </c:pt>
                <c:pt idx="2">
                  <c:v>19.7</c:v>
                </c:pt>
                <c:pt idx="3">
                  <c:v>21.9</c:v>
                </c:pt>
                <c:pt idx="4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29-47D9-951F-CC2E840DF4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solidFill>
        <a:schemeClr val="bg1">
          <a:lumMod val="50000"/>
        </a:schemeClr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8993833593847124E-3"/>
          <c:y val="0.12562452180535907"/>
          <c:w val="0.96379052399213316"/>
          <c:h val="0.5786600705219376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ln w="28575" cap="rnd">
              <a:solidFill>
                <a:srgbClr val="00859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859D"/>
              </a:solidFill>
              <a:ln w="9525">
                <a:solidFill>
                  <a:srgbClr val="00859D"/>
                </a:solidFill>
              </a:ln>
              <a:effectLst/>
            </c:spPr>
          </c:marker>
          <c:dLbls>
            <c:dLbl>
              <c:idx val="12"/>
              <c:layout>
                <c:manualLayout>
                  <c:x val="-1.3716759390380862E-2"/>
                  <c:y val="-4.77604267403435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0DB-41D4-8B76-7A9C24007ACE}"/>
                </c:ext>
              </c:extLst>
            </c:dLbl>
            <c:dLbl>
              <c:idx val="17"/>
              <c:layout>
                <c:manualLayout>
                  <c:x val="-9.572382120807606E-3"/>
                  <c:y val="-5.5800902622556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DB-41D4-8B76-7A9C24007ACE}"/>
                </c:ext>
              </c:extLst>
            </c:dLbl>
            <c:dLbl>
              <c:idx val="18"/>
              <c:layout>
                <c:manualLayout>
                  <c:x val="-1.0331309379215985E-2"/>
                  <c:y val="-6.78616164458754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0DB-41D4-8B76-7A9C24007ACE}"/>
                </c:ext>
              </c:extLst>
            </c:dLbl>
            <c:dLbl>
              <c:idx val="19"/>
              <c:layout>
                <c:manualLayout>
                  <c:x val="-1.1459792716270943E-2"/>
                  <c:y val="2.46038561995708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DB-41D4-8B76-7A9C24007ACE}"/>
                </c:ext>
              </c:extLst>
            </c:dLbl>
            <c:dLbl>
              <c:idx val="20"/>
              <c:layout>
                <c:manualLayout>
                  <c:x val="-2.7628115513686949E-2"/>
                  <c:y val="-4.77604267403435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68-4DB5-AF17-655F7892D87F}"/>
                </c:ext>
              </c:extLst>
            </c:dLbl>
            <c:dLbl>
              <c:idx val="21"/>
              <c:layout>
                <c:manualLayout>
                  <c:x val="-2.7628115513687112E-2"/>
                  <c:y val="-5.98211405636627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0DB-41D4-8B76-7A9C24007ACE}"/>
                </c:ext>
              </c:extLst>
            </c:dLbl>
            <c:dLbl>
              <c:idx val="22"/>
              <c:layout>
                <c:manualLayout>
                  <c:x val="-2.7628115513686949E-2"/>
                  <c:y val="-8.79628061514072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DB-41D4-8B76-7A9C24007ACE}"/>
                </c:ext>
              </c:extLst>
            </c:dLbl>
            <c:dLbl>
              <c:idx val="24"/>
              <c:layout>
                <c:manualLayout>
                  <c:x val="-1.52147988060824E-2"/>
                  <c:y val="-7.18818543869818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0DB-41D4-8B76-7A9C24007ACE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68-4DB5-AF17-655F7892D87F}"/>
                </c:ext>
              </c:extLst>
            </c:dLbl>
            <c:dLbl>
              <c:idx val="26"/>
              <c:layout>
                <c:manualLayout>
                  <c:x val="-2.7258559435040366E-2"/>
                  <c:y val="-5.17806646814499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68-4DB5-AF17-655F7892D87F}"/>
                </c:ext>
              </c:extLst>
            </c:dLbl>
            <c:dLbl>
              <c:idx val="27"/>
              <c:layout>
                <c:manualLayout>
                  <c:x val="-3.3270532198961741E-2"/>
                  <c:y val="-5.5800902622556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068-4DB5-AF17-655F7892D87F}"/>
                </c:ext>
              </c:extLst>
            </c:dLbl>
            <c:dLbl>
              <c:idx val="28"/>
              <c:layout>
                <c:manualLayout>
                  <c:x val="-1.0700865457862566E-2"/>
                  <c:y val="-4.37401887992372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068-4DB5-AF17-655F7892D87F}"/>
                </c:ext>
              </c:extLst>
            </c:dLbl>
            <c:dLbl>
              <c:idx val="29"/>
              <c:layout>
                <c:manualLayout>
                  <c:x val="-1.4086315469027442E-2"/>
                  <c:y val="-3.97199508581308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45-47BA-92A9-796FE7ACF7D9}"/>
                </c:ext>
              </c:extLst>
            </c:dLbl>
            <c:dLbl>
              <c:idx val="30"/>
              <c:layout>
                <c:manualLayout>
                  <c:x val="-1.3716759390380862E-2"/>
                  <c:y val="-9.6003282033619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68-4DB5-AF17-655F7892D87F}"/>
                </c:ext>
              </c:extLst>
            </c:dLbl>
            <c:dLbl>
              <c:idx val="31"/>
              <c:layout>
                <c:manualLayout>
                  <c:x val="-2.7628115513686949E-2"/>
                  <c:y val="-5.98211405636627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FF5-457C-8F5B-ABAE7D9197E5}"/>
                </c:ext>
              </c:extLst>
            </c:dLbl>
            <c:dLbl>
              <c:idx val="3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A068-4DB5-AF17-655F7892D87F}"/>
                </c:ext>
              </c:extLst>
            </c:dLbl>
            <c:dLbl>
              <c:idx val="33"/>
              <c:layout>
                <c:manualLayout>
                  <c:x val="-1.1829348794917524E-2"/>
                  <c:y val="-4.77604267403435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068-4DB5-AF17-655F7892D87F}"/>
                </c:ext>
              </c:extLst>
            </c:dLbl>
            <c:dLbl>
              <c:idx val="34"/>
              <c:layout>
                <c:manualLayout>
                  <c:x val="-1.7102209401545821E-2"/>
                  <c:y val="-5.98211405636627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145-47BA-92A9-796FE7ACF7D9}"/>
                </c:ext>
              </c:extLst>
            </c:dLbl>
            <c:dLbl>
              <c:idx val="35"/>
              <c:layout>
                <c:manualLayout>
                  <c:x val="-1.5973726064490778E-2"/>
                  <c:y val="-6.3841378504769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145-47BA-92A9-796FE7ACF7D9}"/>
                </c:ext>
              </c:extLst>
            </c:dLbl>
            <c:dLbl>
              <c:idx val="36"/>
              <c:layout>
                <c:manualLayout>
                  <c:x val="-2.9885082187796782E-2"/>
                  <c:y val="-4.77604267403435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2AA-4C76-B940-8366777F953D}"/>
                </c:ext>
              </c:extLst>
            </c:dLbl>
            <c:dLbl>
              <c:idx val="37"/>
              <c:layout>
                <c:manualLayout>
                  <c:x val="-1.5973726064490861E-2"/>
                  <c:y val="-8.39425682103008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145-47BA-92A9-796FE7ACF7D9}"/>
                </c:ext>
              </c:extLst>
            </c:dLbl>
            <c:dLbl>
              <c:idx val="38"/>
              <c:layout>
                <c:manualLayout>
                  <c:x val="-2.387310942387549E-2"/>
                  <c:y val="-2.36389990937054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45-47BA-92A9-796FE7ACF7D9}"/>
                </c:ext>
              </c:extLst>
            </c:dLbl>
            <c:dLbl>
              <c:idx val="39"/>
              <c:layout>
                <c:manualLayout>
                  <c:x val="-1.7102209401545738E-2"/>
                  <c:y val="-0.1080639958569390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0DB-41D4-8B76-7A9C24007ACE}"/>
                </c:ext>
              </c:extLst>
            </c:dLbl>
            <c:dLbl>
              <c:idx val="41"/>
              <c:layout>
                <c:manualLayout>
                  <c:x val="-1.6343282143137444E-2"/>
                  <c:y val="-4.37401887992372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F5-457C-8F5B-ABAE7D9197E5}"/>
                </c:ext>
              </c:extLst>
            </c:dLbl>
            <c:dLbl>
              <c:idx val="42"/>
              <c:layout>
                <c:manualLayout>
                  <c:x val="-1.7102209401545738E-2"/>
                  <c:y val="2.86240941406773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BB-407D-A08B-BF10A7D17404}"/>
                </c:ext>
              </c:extLst>
            </c:dLbl>
            <c:dLbl>
              <c:idx val="43"/>
              <c:layout>
                <c:manualLayout>
                  <c:x val="-2.8756598850742072E-2"/>
                  <c:y val="-5.5800902622556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0F-48EC-A205-B5A614AFB105}"/>
                </c:ext>
              </c:extLst>
            </c:dLbl>
            <c:dLbl>
              <c:idx val="45"/>
              <c:layout>
                <c:manualLayout>
                  <c:x val="-1.7102209401545904E-2"/>
                  <c:y val="-0.1040437579158327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6BB-407D-A08B-BF10A7D17404}"/>
                </c:ext>
              </c:extLst>
            </c:dLbl>
            <c:dLbl>
              <c:idx val="46"/>
              <c:layout>
                <c:manualLayout>
                  <c:x val="-2.8756598850741905E-2"/>
                  <c:y val="-5.5800902622556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EC-4924-8B2B-D02657CB845E}"/>
                </c:ext>
              </c:extLst>
            </c:dLbl>
            <c:dLbl>
              <c:idx val="48"/>
              <c:layout>
                <c:manualLayout>
                  <c:x val="-8.5720305138340062E-3"/>
                  <c:y val="-5.5800902622556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0DB-41D4-8B76-7A9C24007ACE}"/>
                </c:ext>
              </c:extLst>
            </c:dLbl>
            <c:dLbl>
              <c:idx val="55"/>
              <c:layout>
                <c:manualLayout>
                  <c:x val="-2.3114182165467113E-2"/>
                  <c:y val="-7.5902092328088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FF5-457C-8F5B-ABAE7D9197E5}"/>
                </c:ext>
              </c:extLst>
            </c:dLbl>
            <c:dLbl>
              <c:idx val="56"/>
              <c:layout>
                <c:manualLayout>
                  <c:x val="-1.1957480524998882E-2"/>
                  <c:y val="-5.17806646814499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BB-407D-A08B-BF10A7D174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Sheet1!$A$168:$A$224</c:f>
              <c:numCache>
                <c:formatCode>m\/dd</c:formatCode>
                <c:ptCount val="57"/>
                <c:pt idx="0">
                  <c:v>45779</c:v>
                </c:pt>
                <c:pt idx="1">
                  <c:v>45786</c:v>
                </c:pt>
                <c:pt idx="2">
                  <c:v>45793</c:v>
                </c:pt>
                <c:pt idx="3">
                  <c:v>45800</c:v>
                </c:pt>
                <c:pt idx="4">
                  <c:v>45807</c:v>
                </c:pt>
                <c:pt idx="5">
                  <c:v>45814</c:v>
                </c:pt>
                <c:pt idx="6">
                  <c:v>45821</c:v>
                </c:pt>
                <c:pt idx="7">
                  <c:v>45828</c:v>
                </c:pt>
                <c:pt idx="8">
                  <c:v>45835</c:v>
                </c:pt>
                <c:pt idx="9">
                  <c:v>45842</c:v>
                </c:pt>
                <c:pt idx="10">
                  <c:v>45849</c:v>
                </c:pt>
                <c:pt idx="11">
                  <c:v>45856</c:v>
                </c:pt>
                <c:pt idx="12">
                  <c:v>45863</c:v>
                </c:pt>
                <c:pt idx="13">
                  <c:v>45870</c:v>
                </c:pt>
                <c:pt idx="14">
                  <c:v>45877</c:v>
                </c:pt>
                <c:pt idx="15">
                  <c:v>45884</c:v>
                </c:pt>
                <c:pt idx="16">
                  <c:v>45891</c:v>
                </c:pt>
                <c:pt idx="17">
                  <c:v>45898</c:v>
                </c:pt>
                <c:pt idx="18">
                  <c:v>45905</c:v>
                </c:pt>
                <c:pt idx="19">
                  <c:v>45912</c:v>
                </c:pt>
                <c:pt idx="20">
                  <c:v>45919</c:v>
                </c:pt>
                <c:pt idx="21">
                  <c:v>45926</c:v>
                </c:pt>
                <c:pt idx="22">
                  <c:v>45933</c:v>
                </c:pt>
                <c:pt idx="23">
                  <c:v>45940</c:v>
                </c:pt>
                <c:pt idx="24">
                  <c:v>45947</c:v>
                </c:pt>
                <c:pt idx="25">
                  <c:v>45954</c:v>
                </c:pt>
                <c:pt idx="26">
                  <c:v>45961</c:v>
                </c:pt>
                <c:pt idx="27">
                  <c:v>45968</c:v>
                </c:pt>
                <c:pt idx="28">
                  <c:v>45975</c:v>
                </c:pt>
                <c:pt idx="29">
                  <c:v>45982</c:v>
                </c:pt>
                <c:pt idx="30">
                  <c:v>45989</c:v>
                </c:pt>
                <c:pt idx="31">
                  <c:v>45996</c:v>
                </c:pt>
                <c:pt idx="32">
                  <c:v>46003</c:v>
                </c:pt>
                <c:pt idx="33">
                  <c:v>46010</c:v>
                </c:pt>
                <c:pt idx="34">
                  <c:v>46017</c:v>
                </c:pt>
                <c:pt idx="35">
                  <c:v>46024</c:v>
                </c:pt>
                <c:pt idx="36">
                  <c:v>46031</c:v>
                </c:pt>
                <c:pt idx="37">
                  <c:v>46038</c:v>
                </c:pt>
                <c:pt idx="38">
                  <c:v>46045</c:v>
                </c:pt>
                <c:pt idx="39">
                  <c:v>46052</c:v>
                </c:pt>
                <c:pt idx="40">
                  <c:v>46059</c:v>
                </c:pt>
                <c:pt idx="41">
                  <c:v>46066</c:v>
                </c:pt>
                <c:pt idx="42">
                  <c:v>46073</c:v>
                </c:pt>
                <c:pt idx="43">
                  <c:v>46080</c:v>
                </c:pt>
                <c:pt idx="44">
                  <c:v>46087</c:v>
                </c:pt>
                <c:pt idx="45">
                  <c:v>46094</c:v>
                </c:pt>
                <c:pt idx="46">
                  <c:v>46101</c:v>
                </c:pt>
                <c:pt idx="47">
                  <c:v>46108</c:v>
                </c:pt>
                <c:pt idx="48">
                  <c:v>46115</c:v>
                </c:pt>
                <c:pt idx="49">
                  <c:v>46122</c:v>
                </c:pt>
                <c:pt idx="50">
                  <c:v>46129</c:v>
                </c:pt>
                <c:pt idx="51">
                  <c:v>46136</c:v>
                </c:pt>
                <c:pt idx="52">
                  <c:v>46143</c:v>
                </c:pt>
                <c:pt idx="53">
                  <c:v>46150</c:v>
                </c:pt>
                <c:pt idx="54">
                  <c:v>46157</c:v>
                </c:pt>
                <c:pt idx="55">
                  <c:v>46164</c:v>
                </c:pt>
                <c:pt idx="56">
                  <c:v>46171</c:v>
                </c:pt>
              </c:numCache>
            </c:numRef>
          </c:cat>
          <c:val>
            <c:numRef>
              <c:f>Sheet1!$B$168:$B$224</c:f>
              <c:numCache>
                <c:formatCode>General</c:formatCode>
                <c:ptCount val="57"/>
                <c:pt idx="0">
                  <c:v>93</c:v>
                </c:pt>
                <c:pt idx="1">
                  <c:v>83</c:v>
                </c:pt>
                <c:pt idx="2">
                  <c:v>117</c:v>
                </c:pt>
                <c:pt idx="3">
                  <c:v>78</c:v>
                </c:pt>
                <c:pt idx="4">
                  <c:v>94</c:v>
                </c:pt>
                <c:pt idx="5">
                  <c:v>100</c:v>
                </c:pt>
                <c:pt idx="6">
                  <c:v>90</c:v>
                </c:pt>
                <c:pt idx="7">
                  <c:v>83</c:v>
                </c:pt>
                <c:pt idx="8">
                  <c:v>89</c:v>
                </c:pt>
                <c:pt idx="9">
                  <c:v>88</c:v>
                </c:pt>
                <c:pt idx="10">
                  <c:v>79</c:v>
                </c:pt>
                <c:pt idx="11">
                  <c:v>83</c:v>
                </c:pt>
                <c:pt idx="12">
                  <c:v>79</c:v>
                </c:pt>
                <c:pt idx="13">
                  <c:v>82</c:v>
                </c:pt>
                <c:pt idx="14">
                  <c:v>78</c:v>
                </c:pt>
                <c:pt idx="15">
                  <c:v>101</c:v>
                </c:pt>
                <c:pt idx="16">
                  <c:v>91</c:v>
                </c:pt>
                <c:pt idx="17">
                  <c:v>116</c:v>
                </c:pt>
                <c:pt idx="18">
                  <c:v>104</c:v>
                </c:pt>
                <c:pt idx="19">
                  <c:v>110</c:v>
                </c:pt>
                <c:pt idx="20">
                  <c:v>116</c:v>
                </c:pt>
                <c:pt idx="21">
                  <c:v>121</c:v>
                </c:pt>
                <c:pt idx="22">
                  <c:v>94</c:v>
                </c:pt>
                <c:pt idx="23">
                  <c:v>77</c:v>
                </c:pt>
                <c:pt idx="24">
                  <c:v>107</c:v>
                </c:pt>
                <c:pt idx="25">
                  <c:v>114</c:v>
                </c:pt>
                <c:pt idx="26">
                  <c:v>115</c:v>
                </c:pt>
                <c:pt idx="27">
                  <c:v>128</c:v>
                </c:pt>
                <c:pt idx="28">
                  <c:v>112</c:v>
                </c:pt>
                <c:pt idx="29">
                  <c:v>106</c:v>
                </c:pt>
                <c:pt idx="30">
                  <c:v>65</c:v>
                </c:pt>
                <c:pt idx="31">
                  <c:v>108</c:v>
                </c:pt>
                <c:pt idx="32">
                  <c:v>133</c:v>
                </c:pt>
                <c:pt idx="33">
                  <c:v>118</c:v>
                </c:pt>
                <c:pt idx="34">
                  <c:v>84</c:v>
                </c:pt>
                <c:pt idx="35">
                  <c:v>94</c:v>
                </c:pt>
                <c:pt idx="36">
                  <c:v>107</c:v>
                </c:pt>
                <c:pt idx="37">
                  <c:v>90</c:v>
                </c:pt>
                <c:pt idx="38">
                  <c:v>117</c:v>
                </c:pt>
                <c:pt idx="39">
                  <c:v>75</c:v>
                </c:pt>
                <c:pt idx="40">
                  <c:v>112</c:v>
                </c:pt>
                <c:pt idx="41">
                  <c:v>104</c:v>
                </c:pt>
                <c:pt idx="42">
                  <c:v>54</c:v>
                </c:pt>
                <c:pt idx="43">
                  <c:v>130</c:v>
                </c:pt>
                <c:pt idx="44">
                  <c:v>129</c:v>
                </c:pt>
                <c:pt idx="45">
                  <c:v>86</c:v>
                </c:pt>
                <c:pt idx="46">
                  <c:v>121</c:v>
                </c:pt>
                <c:pt idx="47">
                  <c:v>119</c:v>
                </c:pt>
                <c:pt idx="48">
                  <c:v>105</c:v>
                </c:pt>
                <c:pt idx="49">
                  <c:v>90</c:v>
                </c:pt>
                <c:pt idx="50">
                  <c:v>94</c:v>
                </c:pt>
                <c:pt idx="51">
                  <c:v>103</c:v>
                </c:pt>
                <c:pt idx="52">
                  <c:v>110</c:v>
                </c:pt>
                <c:pt idx="53">
                  <c:v>102</c:v>
                </c:pt>
                <c:pt idx="54">
                  <c:v>97</c:v>
                </c:pt>
                <c:pt idx="55">
                  <c:v>102</c:v>
                </c:pt>
                <c:pt idx="56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9317-4FF5-8269-617CE89497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49098096"/>
        <c:axId val="321611344"/>
        <c:extLst/>
      </c:lineChart>
      <c:catAx>
        <c:axId val="349098096"/>
        <c:scaling>
          <c:orientation val="minMax"/>
        </c:scaling>
        <c:delete val="0"/>
        <c:axPos val="b"/>
        <c:numFmt formatCode="m\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611344"/>
        <c:crosses val="autoZero"/>
        <c:auto val="0"/>
        <c:lblAlgn val="ctr"/>
        <c:lblOffset val="100"/>
        <c:noMultiLvlLbl val="0"/>
      </c:catAx>
      <c:valAx>
        <c:axId val="321611344"/>
        <c:scaling>
          <c:orientation val="minMax"/>
          <c:min val="20"/>
        </c:scaling>
        <c:delete val="1"/>
        <c:axPos val="l"/>
        <c:numFmt formatCode="General" sourceLinked="1"/>
        <c:majorTickMark val="out"/>
        <c:minorTickMark val="none"/>
        <c:tickLblPos val="nextTo"/>
        <c:crossAx val="349098096"/>
        <c:crossesAt val="1"/>
        <c:crossBetween val="between"/>
      </c:valAx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89760106656781036"/>
          <c:y val="0"/>
          <c:w val="0.10239893343218966"/>
          <c:h val="1.7981542992646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rebuchet MS" panose="020B0603020202020204" pitchFamily="34" charset="0"/>
                <a:ea typeface="Arial"/>
                <a:cs typeface="Arial"/>
              </a:defRPr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rPr>
              <a:t>Account Classification </a:t>
            </a:r>
            <a:r>
              <a: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rPr>
              <a:t>(# Including PAP)</a:t>
            </a:r>
          </a:p>
        </c:rich>
      </c:tx>
      <c:layout>
        <c:manualLayout>
          <c:xMode val="edge"/>
          <c:yMode val="edge"/>
          <c:x val="0.10460716854842464"/>
          <c:y val="1.09364060902864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kumimoji="0" lang="en-US" sz="1400" b="1" i="0" u="none" strike="noStrike" kern="1200" cap="none" spc="0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Trebuchet MS" panose="020B0603020202020204" pitchFamily="34" charset="0"/>
              <a:ea typeface="Arial"/>
              <a:cs typeface="Arial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1538147853273005E-2"/>
          <c:y val="0.1039449425149773"/>
          <c:w val="0.76843932656271241"/>
          <c:h val="0.767193967097117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FFFFF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Sheet1!$A$13:$A$18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Sheet1!$B$13:$B$18</c:f>
              <c:numCache>
                <c:formatCode>0%</c:formatCode>
                <c:ptCount val="6"/>
                <c:pt idx="0">
                  <c:v>0.55917667238421953</c:v>
                </c:pt>
                <c:pt idx="1">
                  <c:v>0.5263584752635847</c:v>
                </c:pt>
                <c:pt idx="2">
                  <c:v>0.55941023417172597</c:v>
                </c:pt>
                <c:pt idx="3">
                  <c:v>0.52680486061472476</c:v>
                </c:pt>
                <c:pt idx="4">
                  <c:v>0.52227342549923195</c:v>
                </c:pt>
                <c:pt idx="5">
                  <c:v>0.57159624413145538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91-4905-A40D-F0E1C3692D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Academic - Hospital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FFFFF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Sheet1!$A$13:$A$18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Sheet1!$C$13:$C$18</c:f>
              <c:numCache>
                <c:formatCode>0%</c:formatCode>
                <c:ptCount val="6"/>
                <c:pt idx="0">
                  <c:v>0.21183533447684391</c:v>
                </c:pt>
                <c:pt idx="1">
                  <c:v>0.23519870235198703</c:v>
                </c:pt>
                <c:pt idx="2">
                  <c:v>0.2445793581960104</c:v>
                </c:pt>
                <c:pt idx="3">
                  <c:v>0.25446747676912079</c:v>
                </c:pt>
                <c:pt idx="4">
                  <c:v>0.27265745007680492</c:v>
                </c:pt>
                <c:pt idx="5">
                  <c:v>0.21478873239436619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91-4905-A40D-F0E1C3692D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Academic - Clinic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Sheet1!$A$13:$A$18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Sheet1!$D$13:$D$18</c:f>
              <c:numCache>
                <c:formatCode>0%</c:formatCode>
                <c:ptCount val="6"/>
                <c:pt idx="0">
                  <c:v>0.22898799313893653</c:v>
                </c:pt>
                <c:pt idx="1">
                  <c:v>0.23844282238442821</c:v>
                </c:pt>
                <c:pt idx="2">
                  <c:v>0.19601040763226366</c:v>
                </c:pt>
                <c:pt idx="3">
                  <c:v>0.21872766261615439</c:v>
                </c:pt>
                <c:pt idx="4">
                  <c:v>0.20506912442396313</c:v>
                </c:pt>
                <c:pt idx="5">
                  <c:v>0.21361502347417841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EA-4033-BBFB-FBDE94F8F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2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2169507405324741"/>
          <c:w val="1"/>
          <c:h val="0.105188420498786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054919885068049"/>
          <c:y val="0.28439564300470438"/>
          <c:w val="0.32105361105146368"/>
          <c:h val="0.6140843687756133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0.54178272980501396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6-4660-8F06-37CFBBB1F4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Academic - Hospital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0.24976787372330547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E6-4660-8F06-37CFBBB1F4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Academic - Clinic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0.20844939647168059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1-41FE-91AB-6E4D998CEF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00559198471286"/>
          <c:y val="0.23600461860461286"/>
          <c:w val="0.62201668106381858"/>
          <c:h val="0.606682659426320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McKesson Specialty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0.1874125874125874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0BB-A3E4-F018C62C800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Mckesson Plasma And Biologics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Sheet1!$B$3</c:f>
              <c:numCache>
                <c:formatCode>0%</c:formatCode>
                <c:ptCount val="1"/>
                <c:pt idx="0">
                  <c:v>0.46013986013986014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58-40BB-A3E4-F018C62C800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Cencora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Sheet1!$B$4</c:f>
              <c:numCache>
                <c:formatCode>0%</c:formatCode>
                <c:ptCount val="1"/>
                <c:pt idx="0">
                  <c:v>0.35244755244755244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58-40BB-A3E4-F018C62C800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85170640"/>
        <c:axId val="1085187280"/>
      </c:barChart>
      <c:catAx>
        <c:axId val="108517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all" spc="12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5187280"/>
        <c:crosses val="autoZero"/>
        <c:auto val="1"/>
        <c:lblAlgn val="ctr"/>
        <c:lblOffset val="100"/>
        <c:noMultiLvlLbl val="0"/>
      </c:catAx>
      <c:valAx>
        <c:axId val="1085187280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08517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>
              <a:lumMod val="95000"/>
              <a:lumOff val="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rebuchet MS" panose="020B0603020202020204" pitchFamily="34" charset="0"/>
                <a:ea typeface="Arial"/>
                <a:cs typeface="Arial"/>
              </a:defRPr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rPr>
              <a:t>Contribution (</a:t>
            </a:r>
            <a:r>
              <a: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rPr>
              <a:t>PAP Vs Commercial)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kumimoji="0" lang="en-US" sz="1400" b="1" i="0" u="none" strike="noStrike" kern="1200" cap="none" spc="0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Trebuchet MS" panose="020B0603020202020204" pitchFamily="34" charset="0"/>
              <a:ea typeface="Arial"/>
              <a:cs typeface="Arial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1538147853273005E-2"/>
          <c:y val="0.1039449425149773"/>
          <c:w val="0.85216671102614672"/>
          <c:h val="0.767193967097117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Sheet1!$A$9:$A$18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 </c:v>
                </c:pt>
                <c:pt idx="4">
                  <c:v>Q1' 26</c:v>
                </c:pt>
                <c:pt idx="5">
                  <c:v>Q2' 26</c:v>
                </c:pt>
              </c:strCache>
              <c:extLst/>
            </c:strRef>
          </c:cat>
          <c:val>
            <c:numRef>
              <c:f>Sheet1!$B$9:$B$18</c:f>
              <c:numCache>
                <c:formatCode>0%</c:formatCode>
                <c:ptCount val="6"/>
                <c:pt idx="0">
                  <c:v>1.4869888475836479E-2</c:v>
                </c:pt>
                <c:pt idx="1">
                  <c:v>3.2441200324412001E-2</c:v>
                </c:pt>
                <c:pt idx="2">
                  <c:v>3.469210754553339E-3</c:v>
                </c:pt>
                <c:pt idx="3">
                  <c:v>3.469210754553339E-3</c:v>
                </c:pt>
                <c:pt idx="4">
                  <c:v>3.469210754553339E-3</c:v>
                </c:pt>
                <c:pt idx="5">
                  <c:v>3.469210754553339E-3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C30E-4E2E-8328-52A02E7CA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Sheet1!$A$9:$A$18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 </c:v>
                </c:pt>
                <c:pt idx="4">
                  <c:v>Q1' 26</c:v>
                </c:pt>
                <c:pt idx="5">
                  <c:v>Q2' 26</c:v>
                </c:pt>
              </c:strCache>
              <c:extLst/>
            </c:strRef>
          </c:cat>
          <c:val>
            <c:numRef>
              <c:f>Sheet1!$C$9:$C$18</c:f>
              <c:numCache>
                <c:formatCode>0%</c:formatCode>
                <c:ptCount val="6"/>
                <c:pt idx="0">
                  <c:v>0.98513011152416352</c:v>
                </c:pt>
                <c:pt idx="1">
                  <c:v>0.967558799675588</c:v>
                </c:pt>
                <c:pt idx="2">
                  <c:v>0.99653078924544669</c:v>
                </c:pt>
                <c:pt idx="3">
                  <c:v>0.99653078924544669</c:v>
                </c:pt>
                <c:pt idx="4">
                  <c:v>0.99653078924544669</c:v>
                </c:pt>
                <c:pt idx="5">
                  <c:v>0.99653078924544669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C30E-4E2E-8328-52A02E7CA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049459191797584"/>
          <c:y val="0.13809968318867713"/>
          <c:w val="0.22475503427384119"/>
          <c:h val="0.105188420498786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899373191406689"/>
          <c:y val="0.27345923691441787"/>
          <c:w val="0.36260907798807729"/>
          <c:h val="0.6250207748658999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18728121805729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799-4074-ABAD-411B397A2D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4.9875311720698253E-3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78-4B41-8B8D-7AA8C6A47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78-4B41-8B8D-7AA8C6A47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36721093908129E-2"/>
          <c:y val="0.26216709790123355"/>
          <c:w val="0.94926563182355916"/>
          <c:h val="0.606682659426320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McKesson Specialty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Sheet1!$L$1:$Q$1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Sheet1!$L$2:$Q$2</c:f>
              <c:numCache>
                <c:formatCode>0%</c:formatCode>
                <c:ptCount val="6"/>
                <c:pt idx="0">
                  <c:v>0.1408695652173913</c:v>
                </c:pt>
                <c:pt idx="1">
                  <c:v>0.24294670846394983</c:v>
                </c:pt>
                <c:pt idx="2">
                  <c:v>0.20601503759398496</c:v>
                </c:pt>
                <c:pt idx="3">
                  <c:v>0.2</c:v>
                </c:pt>
                <c:pt idx="4">
                  <c:v>0.19330289193302891</c:v>
                </c:pt>
                <c:pt idx="5">
                  <c:v>0.17809867629362214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7C-4CA7-868C-F0D88C0CF43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Mckesson Plasma And Biologics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Sheet1!$L$1:$Q$1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Sheet1!$L$3:$Q$3</c:f>
              <c:numCache>
                <c:formatCode>0%</c:formatCode>
                <c:ptCount val="6"/>
                <c:pt idx="0">
                  <c:v>0.46434782608695652</c:v>
                </c:pt>
                <c:pt idx="1">
                  <c:v>0.49216300940438873</c:v>
                </c:pt>
                <c:pt idx="2">
                  <c:v>0.48421052631578948</c:v>
                </c:pt>
                <c:pt idx="3">
                  <c:v>0.44519230769230766</c:v>
                </c:pt>
                <c:pt idx="4">
                  <c:v>0.44444444444444442</c:v>
                </c:pt>
                <c:pt idx="5">
                  <c:v>0.48495788206979545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7C-4CA7-868C-F0D88C0CF43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Cencora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Sheet1!$L$1:$Q$1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Sheet1!$L$4:$Q$4</c:f>
              <c:numCache>
                <c:formatCode>0%</c:formatCode>
                <c:ptCount val="6"/>
                <c:pt idx="0">
                  <c:v>0.39478260869565218</c:v>
                </c:pt>
                <c:pt idx="1">
                  <c:v>0.26489028213166144</c:v>
                </c:pt>
                <c:pt idx="2">
                  <c:v>0.30977443609022559</c:v>
                </c:pt>
                <c:pt idx="3">
                  <c:v>0.35480769230769232</c:v>
                </c:pt>
                <c:pt idx="4">
                  <c:v>0.36225266362252662</c:v>
                </c:pt>
                <c:pt idx="5">
                  <c:v>0.33694344163658241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7C-4CA7-868C-F0D88C0CF4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85170640"/>
        <c:axId val="1085187280"/>
      </c:barChart>
      <c:catAx>
        <c:axId val="108517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all" spc="120" normalizeH="0" baseline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pPr>
            <a:endParaRPr lang="en-US"/>
          </a:p>
        </c:txPr>
        <c:crossAx val="1085187280"/>
        <c:crosses val="autoZero"/>
        <c:auto val="1"/>
        <c:lblAlgn val="ctr"/>
        <c:lblOffset val="100"/>
        <c:noMultiLvlLbl val="0"/>
      </c:catAx>
      <c:valAx>
        <c:axId val="1085187280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085170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389323372687428"/>
          <c:y val="3.0935344990351683E-2"/>
          <c:w val="0.74610676627312578"/>
          <c:h val="0.101840136553552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defRPr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 Nova" panose="020B0504020202020204" pitchFamily="34" charset="0"/>
                <a:ea typeface="Arial"/>
                <a:cs typeface="Arial"/>
              </a:rPr>
              <a:t>Source of Business</a:t>
            </a:r>
            <a:endParaRPr kumimoji="0" lang="en-US" sz="1400" b="0" i="0" u="none" strike="noStrike" kern="1200" cap="none" spc="0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rial Nova" panose="020B0504020202020204" pitchFamily="34" charset="0"/>
              <a:ea typeface="Arial"/>
              <a:cs typeface="Arial"/>
            </a:endParaRPr>
          </a:p>
        </c:rich>
      </c:tx>
      <c:layout>
        <c:manualLayout>
          <c:xMode val="edge"/>
          <c:yMode val="edge"/>
          <c:x val="0.28010180676303009"/>
          <c:y val="2.73410152257162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kumimoji="0" lang="en-US" sz="1400" b="1" i="0" u="none" strike="noStrike" kern="1200" cap="none" spc="0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rial Nova" panose="020B0504020202020204" pitchFamily="34" charset="0"/>
              <a:ea typeface="Arial"/>
              <a:cs typeface="Arial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4004310930733828E-2"/>
          <c:y val="0.11556293643364658"/>
          <c:w val="0.79751082001758677"/>
          <c:h val="0.7555756295537859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 340B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Sheet1!$A$6:$A$11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Sheet1!$B$6:$B$11</c:f>
              <c:numCache>
                <c:formatCode>0%</c:formatCode>
                <c:ptCount val="6"/>
                <c:pt idx="0">
                  <c:v>0.45</c:v>
                </c:pt>
                <c:pt idx="1">
                  <c:v>0.51843252305113152</c:v>
                </c:pt>
                <c:pt idx="2">
                  <c:v>0.52508716323296345</c:v>
                </c:pt>
                <c:pt idx="3">
                  <c:v>0.48253752680486056</c:v>
                </c:pt>
                <c:pt idx="4">
                  <c:v>0.54415525114155261</c:v>
                </c:pt>
                <c:pt idx="5">
                  <c:v>0.46403755868544599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23-4D10-9642-4333156683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340B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Sheet1!$A$6:$A$11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Sheet1!$C$6:$C$11</c:f>
              <c:numCache>
                <c:formatCode>0%</c:formatCode>
                <c:ptCount val="6"/>
                <c:pt idx="0">
                  <c:v>0.48</c:v>
                </c:pt>
                <c:pt idx="1">
                  <c:v>0.41156747694886842</c:v>
                </c:pt>
                <c:pt idx="2">
                  <c:v>0.40491283676703643</c:v>
                </c:pt>
                <c:pt idx="3">
                  <c:v>0.44746247319513938</c:v>
                </c:pt>
                <c:pt idx="4">
                  <c:v>0.38584474885844749</c:v>
                </c:pt>
                <c:pt idx="5">
                  <c:v>0.465962441314554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23-4D10-9642-4333156683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Medicaid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Sheet1!$A$6:$A$11</c:f>
              <c:strCache>
                <c:ptCount val="6"/>
                <c:pt idx="0">
                  <c:v>Q1' 25</c:v>
                </c:pt>
                <c:pt idx="1">
                  <c:v>Q2' 25</c:v>
                </c:pt>
                <c:pt idx="2">
                  <c:v>Q3' 25</c:v>
                </c:pt>
                <c:pt idx="3">
                  <c:v>Q4' 25</c:v>
                </c:pt>
                <c:pt idx="4">
                  <c:v>Q1' 26</c:v>
                </c:pt>
                <c:pt idx="5">
                  <c:v>Q2' 26</c:v>
                </c:pt>
              </c:strCache>
            </c:strRef>
          </c:cat>
          <c:val>
            <c:numRef>
              <c:f>Sheet1!$D$6:$D$11</c:f>
              <c:numCache>
                <c:formatCode>0%</c:formatCode>
                <c:ptCount val="6"/>
                <c:pt idx="0">
                  <c:v>7.0000000000000007E-2</c:v>
                </c:pt>
                <c:pt idx="1">
                  <c:v>7.0000000000000007E-2</c:v>
                </c:pt>
                <c:pt idx="2">
                  <c:v>7.0000000000000007E-2</c:v>
                </c:pt>
                <c:pt idx="3">
                  <c:v>7.0000000000000007E-2</c:v>
                </c:pt>
                <c:pt idx="4">
                  <c:v>7.0000000000000007E-2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23-4D10-9642-4333156683B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1534371629270929"/>
          <c:y val="0.13600583504627306"/>
          <c:w val="0.55610447116649964"/>
          <c:h val="0.111196985340910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122706638976215E-2"/>
          <c:y val="0.16789859476354074"/>
          <c:w val="0.58596971277237542"/>
          <c:h val="0.7093613801828171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 340B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0.51264081255770999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78-441F-8DFA-B4D309AF0E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340B</c:v>
                </c:pt>
              </c:strCache>
            </c:strRef>
          </c:tx>
          <c:spPr>
            <a:solidFill>
              <a:srgbClr val="9CD0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0.41735918744228995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78-441F-8DFA-B4D309AF0E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Medicaid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YTD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78-441F-8DFA-B4D309AF0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100"/>
        <c:axId val="195021951"/>
        <c:axId val="195014879"/>
      </c:barChart>
      <c:catAx>
        <c:axId val="19502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5014879"/>
        <c:crosses val="autoZero"/>
        <c:auto val="1"/>
        <c:lblAlgn val="ctr"/>
        <c:lblOffset val="100"/>
        <c:noMultiLvlLbl val="0"/>
      </c:catAx>
      <c:valAx>
        <c:axId val="1950148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502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accent6"/>
                </a:solidFill>
                <a:latin typeface="Calibri (Body)"/>
                <a:ea typeface="+mn-ea"/>
                <a:cs typeface="+mn-cs"/>
              </a:defRPr>
            </a:pPr>
            <a:r>
              <a:rPr lang="en-US" sz="1200" b="1" i="0" baseline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(Body)"/>
              </a:rPr>
              <a:t># of Active Accounts R4W (Breadth) vs. R4W Vials per Active Account (Depth) by Region</a:t>
            </a:r>
            <a:r>
              <a:rPr lang="en-US" sz="1200" b="1" i="0" baseline="300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(Body)"/>
              </a:rPr>
              <a:t>1</a:t>
            </a:r>
            <a:endParaRPr lang="en-US" sz="1200" b="1" baseline="3000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(Body)"/>
            </a:endParaRPr>
          </a:p>
        </c:rich>
      </c:tx>
      <c:layout>
        <c:manualLayout>
          <c:xMode val="edge"/>
          <c:yMode val="edge"/>
          <c:x val="0.1337571364728966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accent6"/>
              </a:solidFill>
              <a:latin typeface="Calibri (Body)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4885406557489772E-2"/>
          <c:y val="0.15316223777128865"/>
          <c:w val="0.89248138368904417"/>
          <c:h val="0.63918926800816567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Total Active Accounts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anchor="b" anchorCtr="0"/>
                  <a:lstStyle/>
                  <a:p>
                    <a:pPr>
                      <a:defRPr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8108D2-EBD5-4B39-AD6E-7CBB5F79E2BE}" type="CELLRANGE">
                      <a:rPr lang="en-US"/>
                      <a:pPr>
                        <a:defRPr sz="900" b="1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b" anchorCtr="0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827844738908882"/>
                      <c:h val="0.16349690446178988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EFE2-4DDC-B5B4-38F6825C4B51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b" anchorCtr="0"/>
                  <a:lstStyle/>
                  <a:p>
                    <a:pPr>
                      <a:defRPr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DC2B90E-E4B2-4DA5-B182-8F4E9EC800EA}" type="CELLRANGE">
                      <a:rPr lang="en-US"/>
                      <a:pPr>
                        <a:defRPr sz="900" b="1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b" anchorCtr="0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42002324394507"/>
                      <c:h val="0.14329737445872814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EFE2-4DDC-B5B4-38F6825C4B5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D3A600D-D3B6-4245-B6B8-3E4901D06B5D}" type="CELLRANGE">
                      <a:rPr lang="en-US" sz="900" dirty="0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087222308898544"/>
                      <c:h val="0.13824749195796268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EFE2-4DDC-B5B4-38F6825C4B5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b" anchorCtr="0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  <c:extLst/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32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Sheet1!$G$2:$G$15</c15:f>
                <c15:dlblRangeCache>
                  <c:ptCount val="14"/>
                  <c:pt idx="0">
                    <c:v>32                                                                                                                                                     (-3%)</c:v>
                  </c:pt>
                  <c:pt idx="1">
                    <c:v>30                                                                                                                                                     (-2%)</c:v>
                  </c:pt>
                  <c:pt idx="2">
                    <c:v>20                                                                                                                                                     (-6%)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EFE2-4DDC-B5B4-38F6825C4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7"/>
        <c:overlap val="15"/>
        <c:axId val="44866672"/>
        <c:axId val="44861264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Vials per Active Account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7997986318069195E-2"/>
                  <c:y val="-2.82920661176741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E2-4DDC-B5B4-38F6825C4B51}"/>
                </c:ext>
              </c:extLst>
            </c:dLbl>
            <c:dLbl>
              <c:idx val="1"/>
              <c:layout>
                <c:manualLayout>
                  <c:x val="-2.3786452535017967E-2"/>
                  <c:y val="-4.596665487035325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8561057004519204E-2"/>
                      <c:h val="9.84727087649259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FE2-4DDC-B5B4-38F6825C4B51}"/>
                </c:ext>
              </c:extLst>
            </c:dLbl>
            <c:dLbl>
              <c:idx val="2"/>
              <c:layout>
                <c:manualLayout>
                  <c:x val="-6.9948342381459848E-3"/>
                  <c:y val="6.26058188961036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E2-4DDC-B5B4-38F6825C4B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  <c:extLst/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4.96875</c:v>
                </c:pt>
                <c:pt idx="1">
                  <c:v>5.166666666666667</c:v>
                </c:pt>
                <c:pt idx="2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FE2-4DDC-B5B4-38F6825C4B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 Vials per Active Account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  <c:extLst/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4.9024390243902438</c:v>
                </c:pt>
                <c:pt idx="1">
                  <c:v>4.9024390243902438</c:v>
                </c:pt>
                <c:pt idx="2">
                  <c:v>4.9024390243902438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FE2-4DDC-B5B4-38F6825C4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2941743"/>
        <c:axId val="459196783"/>
      </c:lineChart>
      <c:catAx>
        <c:axId val="44866672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61264"/>
        <c:crosses val="autoZero"/>
        <c:auto val="0"/>
        <c:lblAlgn val="ctr"/>
        <c:lblOffset val="100"/>
        <c:noMultiLvlLbl val="0"/>
      </c:catAx>
      <c:valAx>
        <c:axId val="44861264"/>
        <c:scaling>
          <c:orientation val="minMax"/>
          <c:max val="34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66672"/>
        <c:crosses val="autoZero"/>
        <c:crossBetween val="between"/>
        <c:majorUnit val="5"/>
      </c:valAx>
      <c:valAx>
        <c:axId val="459196783"/>
        <c:scaling>
          <c:orientation val="minMax"/>
          <c:max val="11.5"/>
          <c:min val="-15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772941743"/>
        <c:crosses val="max"/>
        <c:crossBetween val="between"/>
      </c:valAx>
      <c:catAx>
        <c:axId val="772941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9196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30454460113761E-2"/>
          <c:y val="0.886439673785543"/>
          <c:w val="0.91309402294777653"/>
          <c:h val="9.33607962113952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>
      <a:solidFill>
        <a:schemeClr val="tx1">
          <a:lumMod val="50000"/>
          <a:lumOff val="50000"/>
        </a:schemeClr>
      </a:solidFill>
      <a:extLst>
        <a:ext uri="{C807C97D-BFC1-408E-A445-0C87EB9F89A2}">
          <ask:lineSketchStyleProps xmlns:ask="http://schemas.microsoft.com/office/drawing/2018/sketchyshapes">
            <ask:type>
              <ask:lineSketchNone/>
            </ask:type>
          </ask:lineSketchStyleProps>
        </a:ext>
      </a:extLst>
    </a:ln>
    <a:effectLst/>
  </c:spPr>
  <c:txPr>
    <a:bodyPr/>
    <a:lstStyle/>
    <a:p>
      <a:pPr>
        <a:defRPr sz="1000">
          <a:solidFill>
            <a:schemeClr val="accent6"/>
          </a:solidFill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IN" sz="135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Average Sales per Total Ordering Account: R4W Trend</a:t>
            </a:r>
            <a:r>
              <a:rPr lang="en-IN" sz="1350" baseline="3000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c:rich>
      </c:tx>
      <c:layout>
        <c:manualLayout>
          <c:xMode val="edge"/>
          <c:yMode val="edge"/>
          <c:x val="0.13393834122751305"/>
          <c:y val="3.14557705858823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2954786941441474E-2"/>
          <c:y val="0.16240070714288271"/>
          <c:w val="0.91577434921661938"/>
          <c:h val="0.607827096209747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per Account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EE8C4D1-9B1F-4B2D-BFFB-1E599E94B14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D5F-4CF9-986B-118867797A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B3A8F44-3C40-40BF-871C-A5F50A8EA10D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D5F-4CF9-986B-118867797A8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6DBB94C-E128-4F50-ABA7-69C30D5CBC3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D5F-4CF9-986B-118867797A8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9964BB2-9BC0-4562-A0A3-F5A69EF42BA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D5F-4CF9-986B-118867797A8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2DBC29D-9369-41B3-9F93-2B0F147C66F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8D5F-4CF9-986B-118867797A8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7708E77-565D-4619-8583-6021A7F498F6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D5F-4CF9-986B-118867797A8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B90D9B7A-B7AB-4667-8591-70127969F0D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8D5F-4CF9-986B-118867797A8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28BE4F17-E3C1-4FEE-9EA0-759EA872BC0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8D5F-4CF9-986B-118867797A8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3A75E23B-5F61-4CD7-A018-F6DB78093119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8D5F-4CF9-986B-118867797A8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7717A0E3-5275-499B-BA6B-620D842105CD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8D5F-4CF9-986B-118867797A83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5E3179A3-49CA-4B48-877C-2673A4B56BB9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8D5F-4CF9-986B-118867797A83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0121D3AF-DD71-49E2-94C5-71CDAC22A64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8D5F-4CF9-986B-118867797A83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BDA66D72-8CD9-4046-8156-887CBFDF2A6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8D5F-4CF9-986B-118867797A83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18AA344E-0DBD-4332-991F-01ED86C97A3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8D5F-4CF9-986B-118867797A83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70AF27D3-5964-4771-8355-AC537775F7A9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8D5F-4CF9-986B-118867797A83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43D813D5-CDA1-446F-983B-88D2271BCFD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8D5F-4CF9-986B-118867797A83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65005076-551B-4BCF-8E6D-6B973D37678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8D5F-4CF9-986B-118867797A83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541E8FDF-D58C-4AFC-87D0-BA84B08F6A4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8D5F-4CF9-986B-118867797A83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DDB31BC4-E6AE-418F-8796-5B656B1D2FB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8D5F-4CF9-986B-118867797A83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D2EE7A5F-411B-4266-8994-E7F717F2984A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8D5F-4CF9-986B-118867797A83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31A86BB6-FE71-4C92-80CE-84DF58431BF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8D5F-4CF9-986B-118867797A83}"/>
                </c:ext>
              </c:extLst>
            </c:dLbl>
            <c:dLbl>
              <c:idx val="21"/>
              <c:tx>
                <c:rich>
                  <a:bodyPr rot="-5400000" spcFirstLastPara="1" vertOverflow="ellipsis" wrap="square" anchor="ctr" anchorCtr="1"/>
                  <a:lstStyle/>
                  <a:p>
                    <a:pPr>
                      <a:defRPr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C5BE704-F26D-4DF0-924C-CFD0B85A96B9}" type="CELLRANGE">
                      <a:rPr lang="en-IN"/>
                      <a:pPr>
                        <a:defRPr b="1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spcFirstLastPara="1" vertOverflow="ellipsis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8D5F-4CF9-986B-118867797A83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D9707CAE-7DF2-4A6E-BC05-A774D31B553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8D5F-4CF9-986B-118867797A83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226BC8C5-2CBD-4BD8-A3C1-E51330430AE9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8D5F-4CF9-986B-118867797A83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17CC3B36-5F5D-4377-97A2-E15CFD34B23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8D5F-4CF9-986B-118867797A83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8E793087-6F27-48FA-A474-32EEB74A7234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8D5F-4CF9-986B-118867797A83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A5989BA1-89D4-40A1-8A62-46BA88BBBE6A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8D5F-4CF9-986B-118867797A83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A1FCC692-9841-462E-B141-5563BAFF123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8D5F-4CF9-986B-118867797A83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fld id="{A62ABF14-8EE1-4EB2-A033-56441867048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8D5F-4CF9-986B-118867797A83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95005267-5BF7-4900-A306-579083D144D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8D5F-4CF9-986B-118867797A83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97718D5D-5572-49C0-8E36-BF94998B1E8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8D5F-4CF9-986B-118867797A83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fld id="{D04BFA6D-C4FC-4132-AAE9-B5C4141BC218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8D5F-4CF9-986B-118867797A83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7768C743-3447-450C-B5D3-08C459638BF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8D5F-4CF9-986B-118867797A83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4913F04B-5D57-4710-B96E-AEFC8C2E09A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8D5F-4CF9-986B-118867797A83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F1C6B0F9-4BA2-4BD6-B41C-3F35A6DFCAC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8D5F-4CF9-986B-118867797A83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4AD641E3-2F8F-4502-A05F-B98858615E3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8D5F-4CF9-986B-118867797A83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8D5AEBC0-87FF-4C1D-8A4D-692B9CCAD469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8D5F-4CF9-986B-118867797A83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fld id="{4118D948-6AD4-4791-A6E8-50B6C5D8981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8D5F-4CF9-986B-118867797A83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E9325C26-6C41-40B1-8C24-DDF856B4515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8D5F-4CF9-986B-118867797A83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4DE92054-6E62-4297-B8A7-394FCBFBFE1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8D5F-4CF9-986B-118867797A83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fld id="{75ABA6FD-DD5C-49FB-8237-A348741A3A5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8D5F-4CF9-986B-118867797A83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00656669-6E4D-49E7-8D49-6822A0A9693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8D5F-4CF9-986B-118867797A8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numRef>
              <c:f>Sheet1!$A$138:$A$179</c:f>
              <c:numCache>
                <c:formatCode>m/d/yyyy</c:formatCode>
                <c:ptCount val="42"/>
                <c:pt idx="0">
                  <c:v>45884</c:v>
                </c:pt>
                <c:pt idx="1">
                  <c:v>45891</c:v>
                </c:pt>
                <c:pt idx="2">
                  <c:v>45898</c:v>
                </c:pt>
                <c:pt idx="3">
                  <c:v>45905</c:v>
                </c:pt>
                <c:pt idx="4">
                  <c:v>45912</c:v>
                </c:pt>
                <c:pt idx="5">
                  <c:v>45919</c:v>
                </c:pt>
                <c:pt idx="6">
                  <c:v>45926</c:v>
                </c:pt>
                <c:pt idx="7">
                  <c:v>45933</c:v>
                </c:pt>
                <c:pt idx="8">
                  <c:v>45940</c:v>
                </c:pt>
                <c:pt idx="9">
                  <c:v>45947</c:v>
                </c:pt>
                <c:pt idx="10">
                  <c:v>45954</c:v>
                </c:pt>
                <c:pt idx="11">
                  <c:v>45961</c:v>
                </c:pt>
                <c:pt idx="12">
                  <c:v>45968</c:v>
                </c:pt>
                <c:pt idx="13">
                  <c:v>45975</c:v>
                </c:pt>
                <c:pt idx="14">
                  <c:v>45982</c:v>
                </c:pt>
                <c:pt idx="15">
                  <c:v>45989</c:v>
                </c:pt>
                <c:pt idx="16">
                  <c:v>45996</c:v>
                </c:pt>
                <c:pt idx="17">
                  <c:v>46003</c:v>
                </c:pt>
                <c:pt idx="18">
                  <c:v>46010</c:v>
                </c:pt>
                <c:pt idx="19">
                  <c:v>46017</c:v>
                </c:pt>
                <c:pt idx="20">
                  <c:v>46024</c:v>
                </c:pt>
                <c:pt idx="21">
                  <c:v>46031</c:v>
                </c:pt>
                <c:pt idx="22">
                  <c:v>46038</c:v>
                </c:pt>
                <c:pt idx="23">
                  <c:v>46045</c:v>
                </c:pt>
                <c:pt idx="24">
                  <c:v>46052</c:v>
                </c:pt>
                <c:pt idx="25">
                  <c:v>46059</c:v>
                </c:pt>
                <c:pt idx="26">
                  <c:v>46066</c:v>
                </c:pt>
                <c:pt idx="27">
                  <c:v>46073</c:v>
                </c:pt>
                <c:pt idx="28">
                  <c:v>46080</c:v>
                </c:pt>
                <c:pt idx="29">
                  <c:v>46087</c:v>
                </c:pt>
                <c:pt idx="30">
                  <c:v>46094</c:v>
                </c:pt>
                <c:pt idx="31">
                  <c:v>46101</c:v>
                </c:pt>
                <c:pt idx="32">
                  <c:v>46108</c:v>
                </c:pt>
                <c:pt idx="33">
                  <c:v>46115</c:v>
                </c:pt>
                <c:pt idx="34">
                  <c:v>46122</c:v>
                </c:pt>
                <c:pt idx="35">
                  <c:v>46129</c:v>
                </c:pt>
                <c:pt idx="36">
                  <c:v>46136</c:v>
                </c:pt>
                <c:pt idx="37">
                  <c:v>46143</c:v>
                </c:pt>
                <c:pt idx="38">
                  <c:v>46150</c:v>
                </c:pt>
                <c:pt idx="39">
                  <c:v>46157</c:v>
                </c:pt>
                <c:pt idx="40">
                  <c:v>46164</c:v>
                </c:pt>
                <c:pt idx="41">
                  <c:v>46171</c:v>
                </c:pt>
              </c:numCache>
            </c:numRef>
          </c:cat>
          <c:val>
            <c:numRef>
              <c:f>Sheet1!$B$138:$B$179</c:f>
              <c:numCache>
                <c:formatCode>0.00</c:formatCode>
                <c:ptCount val="42"/>
                <c:pt idx="0">
                  <c:v>4.4155844155844157</c:v>
                </c:pt>
                <c:pt idx="1">
                  <c:v>4.3456790123456788</c:v>
                </c:pt>
                <c:pt idx="2">
                  <c:v>4.3370786516853936</c:v>
                </c:pt>
                <c:pt idx="3">
                  <c:v>4.6818181818181817</c:v>
                </c:pt>
                <c:pt idx="4">
                  <c:v>4.4787234042553195</c:v>
                </c:pt>
                <c:pt idx="5">
                  <c:v>4.795698924731183</c:v>
                </c:pt>
                <c:pt idx="6">
                  <c:v>4.9021739130434785</c:v>
                </c:pt>
                <c:pt idx="7">
                  <c:v>4.6421052631578945</c:v>
                </c:pt>
                <c:pt idx="8">
                  <c:v>4.387096774193548</c:v>
                </c:pt>
                <c:pt idx="9">
                  <c:v>4.75</c:v>
                </c:pt>
                <c:pt idx="10">
                  <c:v>4.666666666666667</c:v>
                </c:pt>
                <c:pt idx="11">
                  <c:v>4.6900000000000004</c:v>
                </c:pt>
                <c:pt idx="12">
                  <c:v>4.9361702127659575</c:v>
                </c:pt>
                <c:pt idx="13">
                  <c:v>4.7857142857142856</c:v>
                </c:pt>
                <c:pt idx="14">
                  <c:v>4.6565656565656566</c:v>
                </c:pt>
                <c:pt idx="15">
                  <c:v>4.5666666666666664</c:v>
                </c:pt>
                <c:pt idx="16">
                  <c:v>4.393258426966292</c:v>
                </c:pt>
                <c:pt idx="17">
                  <c:v>4.5274725274725274</c:v>
                </c:pt>
                <c:pt idx="18">
                  <c:v>4.8735632183908049</c:v>
                </c:pt>
                <c:pt idx="19">
                  <c:v>4.8152173913043477</c:v>
                </c:pt>
                <c:pt idx="20">
                  <c:v>4.875</c:v>
                </c:pt>
                <c:pt idx="21">
                  <c:v>4.242105263157895</c:v>
                </c:pt>
                <c:pt idx="22">
                  <c:v>4.1208791208791204</c:v>
                </c:pt>
                <c:pt idx="23">
                  <c:v>4.584269662921348</c:v>
                </c:pt>
                <c:pt idx="24">
                  <c:v>4.5999999999999996</c:v>
                </c:pt>
                <c:pt idx="25">
                  <c:v>4.7951807228915664</c:v>
                </c:pt>
                <c:pt idx="26">
                  <c:v>4.8470588235294114</c:v>
                </c:pt>
                <c:pt idx="27">
                  <c:v>4.2560975609756095</c:v>
                </c:pt>
                <c:pt idx="28">
                  <c:v>5.0886075949367084</c:v>
                </c:pt>
                <c:pt idx="29">
                  <c:v>5.024096385542169</c:v>
                </c:pt>
                <c:pt idx="30">
                  <c:v>4.75</c:v>
                </c:pt>
                <c:pt idx="31">
                  <c:v>5.3563218390804597</c:v>
                </c:pt>
                <c:pt idx="32">
                  <c:v>5.2906976744186043</c:v>
                </c:pt>
                <c:pt idx="33">
                  <c:v>5.2560975609756095</c:v>
                </c:pt>
                <c:pt idx="34">
                  <c:v>5.5769230769230766</c:v>
                </c:pt>
                <c:pt idx="35">
                  <c:v>5.0370370370370372</c:v>
                </c:pt>
                <c:pt idx="36">
                  <c:v>5.2266666666666666</c:v>
                </c:pt>
                <c:pt idx="37">
                  <c:v>5.1558441558441555</c:v>
                </c:pt>
                <c:pt idx="38">
                  <c:v>5.1124999999999998</c:v>
                </c:pt>
                <c:pt idx="39">
                  <c:v>4.96</c:v>
                </c:pt>
                <c:pt idx="40">
                  <c:v>5.0740740740740744</c:v>
                </c:pt>
                <c:pt idx="41">
                  <c:v>4.9024390243902438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Sheet1!$E$138:$E$179</c15:f>
                <c15:dlblRangeCache>
                  <c:ptCount val="42"/>
                  <c:pt idx="0">
                    <c:v>4.4 (-2%)</c:v>
                  </c:pt>
                  <c:pt idx="1">
                    <c:v>4.3 (-2%)</c:v>
                  </c:pt>
                  <c:pt idx="2">
                    <c:v>4.3 (0%)</c:v>
                  </c:pt>
                  <c:pt idx="3">
                    <c:v>4.7 (8%)</c:v>
                  </c:pt>
                  <c:pt idx="4">
                    <c:v>4.5 (-4%)</c:v>
                  </c:pt>
                  <c:pt idx="5">
                    <c:v>4.8 (7%)</c:v>
                  </c:pt>
                  <c:pt idx="6">
                    <c:v>4.9 (2%)</c:v>
                  </c:pt>
                  <c:pt idx="7">
                    <c:v>4.6 (-5%)</c:v>
                  </c:pt>
                  <c:pt idx="8">
                    <c:v>4.4 (-5%)</c:v>
                  </c:pt>
                  <c:pt idx="9">
                    <c:v>4.8 (8%)</c:v>
                  </c:pt>
                  <c:pt idx="10">
                    <c:v>4.7 (-2%)</c:v>
                  </c:pt>
                  <c:pt idx="11">
                    <c:v>4.7 (1%)</c:v>
                  </c:pt>
                  <c:pt idx="12">
                    <c:v>4.9 (5%)</c:v>
                  </c:pt>
                  <c:pt idx="13">
                    <c:v>4.8 (-3%)</c:v>
                  </c:pt>
                  <c:pt idx="14">
                    <c:v>4.7 (-3%)</c:v>
                  </c:pt>
                  <c:pt idx="15">
                    <c:v>4.6 (-2%)</c:v>
                  </c:pt>
                  <c:pt idx="16">
                    <c:v>4.4 (-4%)</c:v>
                  </c:pt>
                  <c:pt idx="17">
                    <c:v>4.5 (3%)</c:v>
                  </c:pt>
                  <c:pt idx="18">
                    <c:v>4.9 (8%)</c:v>
                  </c:pt>
                  <c:pt idx="19">
                    <c:v>4.8 (-1%)</c:v>
                  </c:pt>
                  <c:pt idx="20">
                    <c:v>4.9 (1%)</c:v>
                  </c:pt>
                  <c:pt idx="21">
                    <c:v>4.2 (-13%)</c:v>
                  </c:pt>
                  <c:pt idx="22">
                    <c:v>4.1 (-3%)</c:v>
                  </c:pt>
                  <c:pt idx="23">
                    <c:v>4.6 (11%)</c:v>
                  </c:pt>
                  <c:pt idx="24">
                    <c:v>4.6 (0%)</c:v>
                  </c:pt>
                  <c:pt idx="25">
                    <c:v>4.8 (4%)</c:v>
                  </c:pt>
                  <c:pt idx="26">
                    <c:v>4.8 (1%)</c:v>
                  </c:pt>
                  <c:pt idx="27">
                    <c:v>4.3 (-12%)</c:v>
                  </c:pt>
                  <c:pt idx="28">
                    <c:v>5.1 (20%)</c:v>
                  </c:pt>
                  <c:pt idx="29">
                    <c:v>5 (-1%)</c:v>
                  </c:pt>
                  <c:pt idx="30">
                    <c:v>4.8 (-5%)</c:v>
                  </c:pt>
                  <c:pt idx="31">
                    <c:v>5.4 (13%)</c:v>
                  </c:pt>
                  <c:pt idx="32">
                    <c:v>5.3 (-1%)</c:v>
                  </c:pt>
                  <c:pt idx="33">
                    <c:v>5.3 (-1%)</c:v>
                  </c:pt>
                  <c:pt idx="34">
                    <c:v>5.6 (6%)</c:v>
                  </c:pt>
                  <c:pt idx="35">
                    <c:v>5 (-10%)</c:v>
                  </c:pt>
                  <c:pt idx="36">
                    <c:v>5.2 (4%)</c:v>
                  </c:pt>
                  <c:pt idx="37">
                    <c:v>5.2 (-1%)</c:v>
                  </c:pt>
                  <c:pt idx="38">
                    <c:v>5.1 (-1%)</c:v>
                  </c:pt>
                  <c:pt idx="39">
                    <c:v>5 (-3%)</c:v>
                  </c:pt>
                  <c:pt idx="40">
                    <c:v>5.1 (2%)</c:v>
                  </c:pt>
                  <c:pt idx="41">
                    <c:v>4.9 (-3%)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A-8D5F-4CF9-986B-118867797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44866672"/>
        <c:axId val="44861264"/>
      </c:barChart>
      <c:catAx>
        <c:axId val="44866672"/>
        <c:scaling>
          <c:orientation val="minMax"/>
        </c:scaling>
        <c:delete val="0"/>
        <c:axPos val="b"/>
        <c:numFmt formatCode="m\/dd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61264"/>
        <c:crosses val="autoZero"/>
        <c:auto val="0"/>
        <c:lblAlgn val="ctr"/>
        <c:lblOffset val="100"/>
        <c:noMultiLvlLbl val="0"/>
      </c:catAx>
      <c:valAx>
        <c:axId val="44861264"/>
        <c:scaling>
          <c:orientation val="minMax"/>
          <c:max val="10"/>
          <c:min val="0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Average Sales</a:t>
                </a:r>
                <a:r>
                  <a:rPr lang="en-IN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N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per Active Account</a:t>
                </a:r>
              </a:p>
            </c:rich>
          </c:tx>
          <c:layout>
            <c:manualLayout>
              <c:xMode val="edge"/>
              <c:yMode val="edge"/>
              <c:x val="1.0398330331964864E-2"/>
              <c:y val="0.182600245177857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Trebuchet MS" panose="020B0603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crossAx val="44866672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6350">
      <a:solidFill>
        <a:schemeClr val="tx2">
          <a:lumMod val="75000"/>
        </a:schemeClr>
      </a:solidFill>
    </a:ln>
    <a:effectLst/>
  </c:spPr>
  <c:txPr>
    <a:bodyPr/>
    <a:lstStyle/>
    <a:p>
      <a:pPr>
        <a:defRPr sz="1000">
          <a:solidFill>
            <a:schemeClr val="accent6"/>
          </a:solidFill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35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</a:rPr>
              <a:t>Trend of New and Active Accounts</a:t>
            </a:r>
            <a:r>
              <a:rPr lang="en-US" sz="1350" baseline="3000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</a:rPr>
              <a:t>1</a:t>
            </a:r>
          </a:p>
        </c:rich>
      </c:tx>
      <c:layout>
        <c:manualLayout>
          <c:xMode val="edge"/>
          <c:yMode val="edge"/>
          <c:x val="0.34785468503002337"/>
          <c:y val="5.4939180964543857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2946586257013645E-2"/>
          <c:y val="0.16637299526449642"/>
          <c:w val="0.89228477003341078"/>
          <c:h val="0.641954406157157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Accounts (R4W)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Sheet1!$A$138:$A$179</c:f>
              <c:numCache>
                <c:formatCode>m/dd</c:formatCode>
                <c:ptCount val="42"/>
                <c:pt idx="0">
                  <c:v>45884</c:v>
                </c:pt>
                <c:pt idx="1">
                  <c:v>45891</c:v>
                </c:pt>
                <c:pt idx="2">
                  <c:v>45898</c:v>
                </c:pt>
                <c:pt idx="3">
                  <c:v>45905</c:v>
                </c:pt>
                <c:pt idx="4">
                  <c:v>45912</c:v>
                </c:pt>
                <c:pt idx="5">
                  <c:v>45919</c:v>
                </c:pt>
                <c:pt idx="6">
                  <c:v>45926</c:v>
                </c:pt>
                <c:pt idx="7">
                  <c:v>45933</c:v>
                </c:pt>
                <c:pt idx="8">
                  <c:v>45940</c:v>
                </c:pt>
                <c:pt idx="9">
                  <c:v>45947</c:v>
                </c:pt>
                <c:pt idx="10">
                  <c:v>45954</c:v>
                </c:pt>
                <c:pt idx="11">
                  <c:v>45961</c:v>
                </c:pt>
                <c:pt idx="12">
                  <c:v>45968</c:v>
                </c:pt>
                <c:pt idx="13">
                  <c:v>45975</c:v>
                </c:pt>
                <c:pt idx="14">
                  <c:v>45982</c:v>
                </c:pt>
                <c:pt idx="15">
                  <c:v>45989</c:v>
                </c:pt>
                <c:pt idx="16">
                  <c:v>45996</c:v>
                </c:pt>
                <c:pt idx="17">
                  <c:v>46003</c:v>
                </c:pt>
                <c:pt idx="18">
                  <c:v>46010</c:v>
                </c:pt>
                <c:pt idx="19">
                  <c:v>46017</c:v>
                </c:pt>
                <c:pt idx="20">
                  <c:v>46024</c:v>
                </c:pt>
                <c:pt idx="21">
                  <c:v>46031</c:v>
                </c:pt>
                <c:pt idx="22">
                  <c:v>46038</c:v>
                </c:pt>
                <c:pt idx="23">
                  <c:v>46045</c:v>
                </c:pt>
                <c:pt idx="24">
                  <c:v>46052</c:v>
                </c:pt>
                <c:pt idx="25">
                  <c:v>46059</c:v>
                </c:pt>
                <c:pt idx="26">
                  <c:v>46066</c:v>
                </c:pt>
                <c:pt idx="27">
                  <c:v>46073</c:v>
                </c:pt>
                <c:pt idx="28">
                  <c:v>46080</c:v>
                </c:pt>
                <c:pt idx="29">
                  <c:v>46087</c:v>
                </c:pt>
                <c:pt idx="30">
                  <c:v>46094</c:v>
                </c:pt>
                <c:pt idx="31">
                  <c:v>46101</c:v>
                </c:pt>
                <c:pt idx="32">
                  <c:v>46108</c:v>
                </c:pt>
                <c:pt idx="33">
                  <c:v>46115</c:v>
                </c:pt>
                <c:pt idx="34">
                  <c:v>46122</c:v>
                </c:pt>
                <c:pt idx="35">
                  <c:v>46129</c:v>
                </c:pt>
                <c:pt idx="36">
                  <c:v>46136</c:v>
                </c:pt>
                <c:pt idx="37">
                  <c:v>46143</c:v>
                </c:pt>
                <c:pt idx="38">
                  <c:v>46150</c:v>
                </c:pt>
                <c:pt idx="39">
                  <c:v>46157</c:v>
                </c:pt>
                <c:pt idx="40">
                  <c:v>46164</c:v>
                </c:pt>
                <c:pt idx="41">
                  <c:v>46171</c:v>
                </c:pt>
              </c:numCache>
            </c:numRef>
          </c:cat>
          <c:val>
            <c:numRef>
              <c:f>Sheet1!$B$138:$B$179</c:f>
              <c:numCache>
                <c:formatCode>General</c:formatCode>
                <c:ptCount val="42"/>
                <c:pt idx="0">
                  <c:v>77</c:v>
                </c:pt>
                <c:pt idx="1">
                  <c:v>81</c:v>
                </c:pt>
                <c:pt idx="2">
                  <c:v>89</c:v>
                </c:pt>
                <c:pt idx="3">
                  <c:v>88</c:v>
                </c:pt>
                <c:pt idx="4">
                  <c:v>94</c:v>
                </c:pt>
                <c:pt idx="5">
                  <c:v>93</c:v>
                </c:pt>
                <c:pt idx="6">
                  <c:v>92</c:v>
                </c:pt>
                <c:pt idx="7">
                  <c:v>95</c:v>
                </c:pt>
                <c:pt idx="8">
                  <c:v>93</c:v>
                </c:pt>
                <c:pt idx="9">
                  <c:v>84</c:v>
                </c:pt>
                <c:pt idx="10">
                  <c:v>84</c:v>
                </c:pt>
                <c:pt idx="11">
                  <c:v>88</c:v>
                </c:pt>
                <c:pt idx="12">
                  <c:v>94</c:v>
                </c:pt>
                <c:pt idx="13">
                  <c:v>98</c:v>
                </c:pt>
                <c:pt idx="14">
                  <c:v>99</c:v>
                </c:pt>
                <c:pt idx="15">
                  <c:v>90</c:v>
                </c:pt>
                <c:pt idx="16">
                  <c:v>89</c:v>
                </c:pt>
                <c:pt idx="17">
                  <c:v>91</c:v>
                </c:pt>
                <c:pt idx="18">
                  <c:v>87</c:v>
                </c:pt>
                <c:pt idx="19">
                  <c:v>92</c:v>
                </c:pt>
                <c:pt idx="20">
                  <c:v>88</c:v>
                </c:pt>
                <c:pt idx="21">
                  <c:v>95</c:v>
                </c:pt>
                <c:pt idx="22">
                  <c:v>91</c:v>
                </c:pt>
                <c:pt idx="23">
                  <c:v>89</c:v>
                </c:pt>
                <c:pt idx="24">
                  <c:v>85</c:v>
                </c:pt>
                <c:pt idx="25">
                  <c:v>83</c:v>
                </c:pt>
                <c:pt idx="26">
                  <c:v>85</c:v>
                </c:pt>
                <c:pt idx="27">
                  <c:v>82</c:v>
                </c:pt>
                <c:pt idx="28">
                  <c:v>79</c:v>
                </c:pt>
                <c:pt idx="29">
                  <c:v>83</c:v>
                </c:pt>
                <c:pt idx="30">
                  <c:v>84</c:v>
                </c:pt>
                <c:pt idx="31">
                  <c:v>87</c:v>
                </c:pt>
                <c:pt idx="32">
                  <c:v>86</c:v>
                </c:pt>
                <c:pt idx="33">
                  <c:v>82</c:v>
                </c:pt>
                <c:pt idx="34">
                  <c:v>78</c:v>
                </c:pt>
                <c:pt idx="35">
                  <c:v>81</c:v>
                </c:pt>
                <c:pt idx="36">
                  <c:v>75</c:v>
                </c:pt>
                <c:pt idx="37">
                  <c:v>77</c:v>
                </c:pt>
                <c:pt idx="38">
                  <c:v>80</c:v>
                </c:pt>
                <c:pt idx="39">
                  <c:v>83</c:v>
                </c:pt>
                <c:pt idx="40">
                  <c:v>81</c:v>
                </c:pt>
                <c:pt idx="4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DE-4146-9827-E2F3A02132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33489983"/>
        <c:axId val="169419484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Weekly New Accounts</c:v>
                </c:pt>
              </c:strCache>
            </c:strRef>
          </c:tx>
          <c:spPr>
            <a:ln w="41275" cap="rnd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Sheet1!$A$138:$A$179</c:f>
              <c:numCache>
                <c:formatCode>m/dd</c:formatCode>
                <c:ptCount val="42"/>
                <c:pt idx="0">
                  <c:v>45884</c:v>
                </c:pt>
                <c:pt idx="1">
                  <c:v>45891</c:v>
                </c:pt>
                <c:pt idx="2">
                  <c:v>45898</c:v>
                </c:pt>
                <c:pt idx="3">
                  <c:v>45905</c:v>
                </c:pt>
                <c:pt idx="4">
                  <c:v>45912</c:v>
                </c:pt>
                <c:pt idx="5">
                  <c:v>45919</c:v>
                </c:pt>
                <c:pt idx="6">
                  <c:v>45926</c:v>
                </c:pt>
                <c:pt idx="7">
                  <c:v>45933</c:v>
                </c:pt>
                <c:pt idx="8">
                  <c:v>45940</c:v>
                </c:pt>
                <c:pt idx="9">
                  <c:v>45947</c:v>
                </c:pt>
                <c:pt idx="10">
                  <c:v>45954</c:v>
                </c:pt>
                <c:pt idx="11">
                  <c:v>45961</c:v>
                </c:pt>
                <c:pt idx="12">
                  <c:v>45968</c:v>
                </c:pt>
                <c:pt idx="13">
                  <c:v>45975</c:v>
                </c:pt>
                <c:pt idx="14">
                  <c:v>45982</c:v>
                </c:pt>
                <c:pt idx="15">
                  <c:v>45989</c:v>
                </c:pt>
                <c:pt idx="16">
                  <c:v>45996</c:v>
                </c:pt>
                <c:pt idx="17">
                  <c:v>46003</c:v>
                </c:pt>
                <c:pt idx="18">
                  <c:v>46010</c:v>
                </c:pt>
                <c:pt idx="19">
                  <c:v>46017</c:v>
                </c:pt>
                <c:pt idx="20">
                  <c:v>46024</c:v>
                </c:pt>
                <c:pt idx="21">
                  <c:v>46031</c:v>
                </c:pt>
                <c:pt idx="22">
                  <c:v>46038</c:v>
                </c:pt>
                <c:pt idx="23">
                  <c:v>46045</c:v>
                </c:pt>
                <c:pt idx="24">
                  <c:v>46052</c:v>
                </c:pt>
                <c:pt idx="25">
                  <c:v>46059</c:v>
                </c:pt>
                <c:pt idx="26">
                  <c:v>46066</c:v>
                </c:pt>
                <c:pt idx="27">
                  <c:v>46073</c:v>
                </c:pt>
                <c:pt idx="28">
                  <c:v>46080</c:v>
                </c:pt>
                <c:pt idx="29">
                  <c:v>46087</c:v>
                </c:pt>
                <c:pt idx="30">
                  <c:v>46094</c:v>
                </c:pt>
                <c:pt idx="31">
                  <c:v>46101</c:v>
                </c:pt>
                <c:pt idx="32">
                  <c:v>46108</c:v>
                </c:pt>
                <c:pt idx="33">
                  <c:v>46115</c:v>
                </c:pt>
                <c:pt idx="34">
                  <c:v>46122</c:v>
                </c:pt>
                <c:pt idx="35">
                  <c:v>46129</c:v>
                </c:pt>
                <c:pt idx="36">
                  <c:v>46136</c:v>
                </c:pt>
                <c:pt idx="37">
                  <c:v>46143</c:v>
                </c:pt>
                <c:pt idx="38">
                  <c:v>46150</c:v>
                </c:pt>
                <c:pt idx="39">
                  <c:v>46157</c:v>
                </c:pt>
                <c:pt idx="40">
                  <c:v>46164</c:v>
                </c:pt>
                <c:pt idx="41">
                  <c:v>46171</c:v>
                </c:pt>
              </c:numCache>
            </c:numRef>
          </c:cat>
          <c:val>
            <c:numRef>
              <c:f>Sheet1!$C$138:$C$179</c:f>
              <c:numCache>
                <c:formatCode>General</c:formatCode>
                <c:ptCount val="42"/>
                <c:pt idx="0">
                  <c:v>6</c:v>
                </c:pt>
                <c:pt idx="1">
                  <c:v>3</c:v>
                </c:pt>
                <c:pt idx="2">
                  <c:v>4</c:v>
                </c:pt>
                <c:pt idx="3">
                  <c:v>0</c:v>
                </c:pt>
                <c:pt idx="4">
                  <c:v>3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7</c:v>
                </c:pt>
                <c:pt idx="13">
                  <c:v>1</c:v>
                </c:pt>
                <c:pt idx="14">
                  <c:v>2</c:v>
                </c:pt>
                <c:pt idx="15">
                  <c:v>0</c:v>
                </c:pt>
                <c:pt idx="16">
                  <c:v>4</c:v>
                </c:pt>
                <c:pt idx="17">
                  <c:v>3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</c:v>
                </c:pt>
                <c:pt idx="22">
                  <c:v>1</c:v>
                </c:pt>
                <c:pt idx="23">
                  <c:v>2</c:v>
                </c:pt>
                <c:pt idx="24">
                  <c:v>0</c:v>
                </c:pt>
                <c:pt idx="25">
                  <c:v>0</c:v>
                </c:pt>
                <c:pt idx="26">
                  <c:v>3</c:v>
                </c:pt>
                <c:pt idx="27">
                  <c:v>1</c:v>
                </c:pt>
                <c:pt idx="28">
                  <c:v>1</c:v>
                </c:pt>
                <c:pt idx="29">
                  <c:v>3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</c:v>
                </c:pt>
                <c:pt idx="38">
                  <c:v>2</c:v>
                </c:pt>
                <c:pt idx="39">
                  <c:v>2</c:v>
                </c:pt>
                <c:pt idx="40">
                  <c:v>0</c:v>
                </c:pt>
                <c:pt idx="4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DE-4146-9827-E2F3A02132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57167"/>
        <c:axId val="5461967"/>
        <c:extLst/>
      </c:lineChart>
      <c:catAx>
        <c:axId val="733489983"/>
        <c:scaling>
          <c:orientation val="minMax"/>
        </c:scaling>
        <c:delete val="0"/>
        <c:axPos val="b"/>
        <c:numFmt formatCode="m\/dd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194847"/>
        <c:crosses val="autoZero"/>
        <c:auto val="0"/>
        <c:lblAlgn val="ctr"/>
        <c:lblOffset val="100"/>
        <c:noMultiLvlLbl val="0"/>
      </c:catAx>
      <c:valAx>
        <c:axId val="1694194847"/>
        <c:scaling>
          <c:orientation val="minMax"/>
          <c:max val="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3489983"/>
        <c:crosses val="autoZero"/>
        <c:crossBetween val="between"/>
        <c:majorUnit val="50"/>
      </c:valAx>
      <c:valAx>
        <c:axId val="5461967"/>
        <c:scaling>
          <c:orientation val="minMax"/>
          <c:max val="10"/>
          <c:min val="-3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7167"/>
        <c:crosses val="max"/>
        <c:crossBetween val="between"/>
      </c:valAx>
      <c:dateAx>
        <c:axId val="5457167"/>
        <c:scaling>
          <c:orientation val="minMax"/>
        </c:scaling>
        <c:delete val="1"/>
        <c:axPos val="b"/>
        <c:numFmt formatCode="m/dd" sourceLinked="1"/>
        <c:majorTickMark val="out"/>
        <c:minorTickMark val="none"/>
        <c:tickLblPos val="nextTo"/>
        <c:crossAx val="5461967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607725001302842"/>
          <c:y val="0.40505035953999685"/>
          <c:w val="0.66784531902327171"/>
          <c:h val="9.17050917599896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35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rebuchet MS" panose="020B0603020202020204" pitchFamily="34" charset="0"/>
              </a:rPr>
              <a:t>R4W Trend of New and Dormant Accounts</a:t>
            </a:r>
          </a:p>
        </c:rich>
      </c:tx>
      <c:layout>
        <c:manualLayout>
          <c:xMode val="edge"/>
          <c:yMode val="edge"/>
          <c:x val="0.2588272120752162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9457991659681145E-2"/>
          <c:y val="0.18734136879050009"/>
          <c:w val="0.91418796259813895"/>
          <c:h val="0.615680409992409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Accounts Addition(R4W)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4725779624130414E-2"/>
                  <c:y val="-4.84897091195325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2C6-4766-9134-78F14B75BCDD}"/>
                </c:ext>
              </c:extLst>
            </c:dLbl>
            <c:dLbl>
              <c:idx val="7"/>
              <c:layout>
                <c:manualLayout>
                  <c:x val="-2.4725779624130414E-2"/>
                  <c:y val="3.53843823304696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C6-4766-9134-78F14B75BCDD}"/>
                </c:ext>
              </c:extLst>
            </c:dLbl>
            <c:dLbl>
              <c:idx val="8"/>
              <c:layout>
                <c:manualLayout>
                  <c:x val="-1.8428891774182186E-2"/>
                  <c:y val="3.53843823304696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2C6-4766-9134-78F14B75BCDD}"/>
                </c:ext>
              </c:extLst>
            </c:dLbl>
            <c:dLbl>
              <c:idx val="9"/>
              <c:layout>
                <c:manualLayout>
                  <c:x val="-2.472577962413049E-2"/>
                  <c:y val="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C6-4766-9134-78F14B75BCDD}"/>
                </c:ext>
              </c:extLst>
            </c:dLbl>
            <c:dLbl>
              <c:idx val="10"/>
              <c:layout>
                <c:manualLayout>
                  <c:x val="-2.4725779624130334E-2"/>
                  <c:y val="-0.1323638005695348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C6-4766-9134-78F14B75BCDD}"/>
                </c:ext>
              </c:extLst>
            </c:dLbl>
            <c:dLbl>
              <c:idx val="12"/>
              <c:layout>
                <c:manualLayout>
                  <c:x val="-2.0527854390831622E-2"/>
                  <c:y val="5.11107744773451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C6-4766-9134-78F14B75BCDD}"/>
                </c:ext>
              </c:extLst>
            </c:dLbl>
            <c:dLbl>
              <c:idx val="13"/>
              <c:layout>
                <c:manualLayout>
                  <c:x val="-2.682474224077977E-2"/>
                  <c:y val="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2C6-4766-9134-78F14B75BCDD}"/>
                </c:ext>
              </c:extLst>
            </c:dLbl>
            <c:dLbl>
              <c:idx val="14"/>
              <c:layout>
                <c:manualLayout>
                  <c:x val="-2.8923704857429358E-2"/>
                  <c:y val="2.49001208992194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C6-4766-9134-78F14B75BCDD}"/>
                </c:ext>
              </c:extLst>
            </c:dLbl>
            <c:dLbl>
              <c:idx val="15"/>
              <c:layout>
                <c:manualLayout>
                  <c:x val="-2.8923704857429205E-2"/>
                  <c:y val="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2C6-4766-9134-78F14B75BCDD}"/>
                </c:ext>
              </c:extLst>
            </c:dLbl>
            <c:dLbl>
              <c:idx val="16"/>
              <c:layout>
                <c:manualLayout>
                  <c:x val="-1.6329929157532751E-2"/>
                  <c:y val="6.6837166624220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2C6-4766-9134-78F14B75BCDD}"/>
                </c:ext>
              </c:extLst>
            </c:dLbl>
            <c:dLbl>
              <c:idx val="30"/>
              <c:layout>
                <c:manualLayout>
                  <c:x val="-4.1517480557325806E-2"/>
                  <c:y val="-2.22790555414068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2C6-4766-9134-78F14B75BCDD}"/>
                </c:ext>
              </c:extLst>
            </c:dLbl>
            <c:dLbl>
              <c:idx val="31"/>
              <c:layout>
                <c:manualLayout>
                  <c:x val="-4.6638949341950432E-2"/>
                  <c:y val="2.490012089921941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64948448155954E-2"/>
                      <c:h val="6.552663394531425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72C6-4766-9134-78F14B75BCDD}"/>
                </c:ext>
              </c:extLst>
            </c:dLbl>
            <c:dLbl>
              <c:idx val="32"/>
              <c:layout>
                <c:manualLayout>
                  <c:x val="-4.1517480557325806E-2"/>
                  <c:y val="2.49001208992193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2C6-4766-9134-78F14B75BCDD}"/>
                </c:ext>
              </c:extLst>
            </c:dLbl>
            <c:dLbl>
              <c:idx val="33"/>
              <c:layout>
                <c:manualLayout>
                  <c:x val="-1.6329929157532598E-2"/>
                  <c:y val="-5.3731839835157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2C6-4766-9134-78F14B75BCDD}"/>
                </c:ext>
              </c:extLst>
            </c:dLbl>
            <c:dLbl>
              <c:idx val="35"/>
              <c:layout>
                <c:manualLayout>
                  <c:x val="-2.0527854390831466E-2"/>
                  <c:y val="-6.94582319820332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2C6-4766-9134-78F14B75BCDD}"/>
                </c:ext>
              </c:extLst>
            </c:dLbl>
            <c:dLbl>
              <c:idx val="39"/>
              <c:layout>
                <c:manualLayout>
                  <c:x val="-1.5983848234755911E-2"/>
                  <c:y val="3.01422516148445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2C6-4766-9134-78F14B75BCDD}"/>
                </c:ext>
              </c:extLst>
            </c:dLbl>
            <c:dLbl>
              <c:idx val="41"/>
              <c:layout>
                <c:manualLayout>
                  <c:x val="-2.4725779624130334E-2"/>
                  <c:y val="4.5868643761719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2C6-4766-9134-78F14B75BC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Sheet1!$A$138:$A$179</c:f>
              <c:numCache>
                <c:formatCode>m/dd</c:formatCode>
                <c:ptCount val="42"/>
                <c:pt idx="0">
                  <c:v>45884</c:v>
                </c:pt>
                <c:pt idx="1">
                  <c:v>45891</c:v>
                </c:pt>
                <c:pt idx="2">
                  <c:v>45898</c:v>
                </c:pt>
                <c:pt idx="3">
                  <c:v>45905</c:v>
                </c:pt>
                <c:pt idx="4">
                  <c:v>45912</c:v>
                </c:pt>
                <c:pt idx="5">
                  <c:v>45919</c:v>
                </c:pt>
                <c:pt idx="6">
                  <c:v>45926</c:v>
                </c:pt>
                <c:pt idx="7">
                  <c:v>45933</c:v>
                </c:pt>
                <c:pt idx="8">
                  <c:v>45940</c:v>
                </c:pt>
                <c:pt idx="9">
                  <c:v>45947</c:v>
                </c:pt>
                <c:pt idx="10">
                  <c:v>45954</c:v>
                </c:pt>
                <c:pt idx="11">
                  <c:v>45961</c:v>
                </c:pt>
                <c:pt idx="12">
                  <c:v>45968</c:v>
                </c:pt>
                <c:pt idx="13">
                  <c:v>45975</c:v>
                </c:pt>
                <c:pt idx="14">
                  <c:v>45982</c:v>
                </c:pt>
                <c:pt idx="15">
                  <c:v>45989</c:v>
                </c:pt>
                <c:pt idx="16">
                  <c:v>45996</c:v>
                </c:pt>
                <c:pt idx="17">
                  <c:v>46003</c:v>
                </c:pt>
                <c:pt idx="18">
                  <c:v>46010</c:v>
                </c:pt>
                <c:pt idx="19">
                  <c:v>46017</c:v>
                </c:pt>
                <c:pt idx="20">
                  <c:v>46024</c:v>
                </c:pt>
                <c:pt idx="21">
                  <c:v>46031</c:v>
                </c:pt>
                <c:pt idx="22">
                  <c:v>46038</c:v>
                </c:pt>
                <c:pt idx="23">
                  <c:v>46045</c:v>
                </c:pt>
                <c:pt idx="24">
                  <c:v>46052</c:v>
                </c:pt>
                <c:pt idx="25">
                  <c:v>46059</c:v>
                </c:pt>
                <c:pt idx="26">
                  <c:v>46066</c:v>
                </c:pt>
                <c:pt idx="27">
                  <c:v>46073</c:v>
                </c:pt>
                <c:pt idx="28">
                  <c:v>46080</c:v>
                </c:pt>
                <c:pt idx="29">
                  <c:v>46087</c:v>
                </c:pt>
                <c:pt idx="30">
                  <c:v>46094</c:v>
                </c:pt>
                <c:pt idx="31">
                  <c:v>46101</c:v>
                </c:pt>
                <c:pt idx="32">
                  <c:v>46108</c:v>
                </c:pt>
                <c:pt idx="33">
                  <c:v>46115</c:v>
                </c:pt>
                <c:pt idx="34">
                  <c:v>46122</c:v>
                </c:pt>
                <c:pt idx="35">
                  <c:v>46129</c:v>
                </c:pt>
                <c:pt idx="36">
                  <c:v>46136</c:v>
                </c:pt>
                <c:pt idx="37">
                  <c:v>46143</c:v>
                </c:pt>
                <c:pt idx="38">
                  <c:v>46150</c:v>
                </c:pt>
                <c:pt idx="39">
                  <c:v>46157</c:v>
                </c:pt>
                <c:pt idx="40">
                  <c:v>46164</c:v>
                </c:pt>
                <c:pt idx="41">
                  <c:v>46171</c:v>
                </c:pt>
              </c:numCache>
            </c:numRef>
          </c:cat>
          <c:val>
            <c:numRef>
              <c:f>Sheet1!$B$138:$B$179</c:f>
              <c:numCache>
                <c:formatCode>General</c:formatCode>
                <c:ptCount val="42"/>
                <c:pt idx="0">
                  <c:v>10</c:v>
                </c:pt>
                <c:pt idx="1">
                  <c:v>12</c:v>
                </c:pt>
                <c:pt idx="2">
                  <c:v>15</c:v>
                </c:pt>
                <c:pt idx="3">
                  <c:v>13</c:v>
                </c:pt>
                <c:pt idx="4">
                  <c:v>10</c:v>
                </c:pt>
                <c:pt idx="5">
                  <c:v>12</c:v>
                </c:pt>
                <c:pt idx="6">
                  <c:v>8</c:v>
                </c:pt>
                <c:pt idx="7">
                  <c:v>8</c:v>
                </c:pt>
                <c:pt idx="8">
                  <c:v>5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11</c:v>
                </c:pt>
                <c:pt idx="13">
                  <c:v>10</c:v>
                </c:pt>
                <c:pt idx="14">
                  <c:v>11</c:v>
                </c:pt>
                <c:pt idx="15">
                  <c:v>10</c:v>
                </c:pt>
                <c:pt idx="16">
                  <c:v>7</c:v>
                </c:pt>
                <c:pt idx="17">
                  <c:v>9</c:v>
                </c:pt>
                <c:pt idx="18">
                  <c:v>7</c:v>
                </c:pt>
                <c:pt idx="19">
                  <c:v>7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7</c:v>
                </c:pt>
                <c:pt idx="24">
                  <c:v>7</c:v>
                </c:pt>
                <c:pt idx="25">
                  <c:v>3</c:v>
                </c:pt>
                <c:pt idx="26">
                  <c:v>5</c:v>
                </c:pt>
                <c:pt idx="27">
                  <c:v>4</c:v>
                </c:pt>
                <c:pt idx="28">
                  <c:v>5</c:v>
                </c:pt>
                <c:pt idx="29">
                  <c:v>8</c:v>
                </c:pt>
                <c:pt idx="30">
                  <c:v>5</c:v>
                </c:pt>
                <c:pt idx="31">
                  <c:v>5</c:v>
                </c:pt>
                <c:pt idx="32">
                  <c:v>4</c:v>
                </c:pt>
                <c:pt idx="33">
                  <c:v>1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3</c:v>
                </c:pt>
                <c:pt idx="38">
                  <c:v>4</c:v>
                </c:pt>
                <c:pt idx="39">
                  <c:v>5</c:v>
                </c:pt>
                <c:pt idx="40">
                  <c:v>4</c:v>
                </c:pt>
                <c:pt idx="41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72C6-4766-9134-78F14B75B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3489983"/>
        <c:axId val="1694194847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Dormant Account Addition (R4W)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9973186165754076E-2"/>
                  <c:y val="4.32475784039073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2C6-4766-9134-78F14B75BCDD}"/>
                </c:ext>
              </c:extLst>
            </c:dLbl>
            <c:dLbl>
              <c:idx val="5"/>
              <c:layout>
                <c:manualLayout>
                  <c:x val="-3.4171111399052864E-2"/>
                  <c:y val="1.70369248257817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2C6-4766-9134-78F14B75BCDD}"/>
                </c:ext>
              </c:extLst>
            </c:dLbl>
            <c:dLbl>
              <c:idx val="6"/>
              <c:layout>
                <c:manualLayout>
                  <c:x val="-3.2072148782403352E-2"/>
                  <c:y val="4.84897091195324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2C6-4766-9134-78F14B75BCDD}"/>
                </c:ext>
              </c:extLst>
            </c:dLbl>
            <c:dLbl>
              <c:idx val="8"/>
              <c:layout>
                <c:manualLayout>
                  <c:x val="-2.5775260932455052E-2"/>
                  <c:y val="-7.73214280554707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2C6-4766-9134-78F14B75BCDD}"/>
                </c:ext>
              </c:extLst>
            </c:dLbl>
            <c:dLbl>
              <c:idx val="9"/>
              <c:layout>
                <c:manualLayout>
                  <c:x val="-2.997318616575392E-2"/>
                  <c:y val="-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2C6-4766-9134-78F14B75BCDD}"/>
                </c:ext>
              </c:extLst>
            </c:dLbl>
            <c:dLbl>
              <c:idx val="10"/>
              <c:layout>
                <c:manualLayout>
                  <c:x val="-1.3181485232558446E-2"/>
                  <c:y val="0.1323638005695348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2C6-4766-9134-78F14B75BCDD}"/>
                </c:ext>
              </c:extLst>
            </c:dLbl>
            <c:dLbl>
              <c:idx val="11"/>
              <c:layout>
                <c:manualLayout>
                  <c:x val="-6.8845973826101442E-3"/>
                  <c:y val="6.94582319820331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2C6-4766-9134-78F14B75BCDD}"/>
                </c:ext>
              </c:extLst>
            </c:dLbl>
            <c:dLbl>
              <c:idx val="13"/>
              <c:layout>
                <c:manualLayout>
                  <c:x val="-2.5775260932455052E-2"/>
                  <c:y val="-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2C6-4766-9134-78F14B75BCDD}"/>
                </c:ext>
              </c:extLst>
            </c:dLbl>
            <c:dLbl>
              <c:idx val="16"/>
              <c:layout>
                <c:manualLayout>
                  <c:x val="-1.0620750840246137E-2"/>
                  <c:y val="-4.5868643761719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2C6-4766-9134-78F14B75BCDD}"/>
                </c:ext>
              </c:extLst>
            </c:dLbl>
            <c:dLbl>
              <c:idx val="31"/>
              <c:layout>
                <c:manualLayout>
                  <c:x val="-1.3181485232558601E-2"/>
                  <c:y val="-5.6352905192970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2C6-4766-9134-78F14B75BCDD}"/>
                </c:ext>
              </c:extLst>
            </c:dLbl>
            <c:dLbl>
              <c:idx val="32"/>
              <c:layout>
                <c:manualLayout>
                  <c:x val="-1.1381170289002361E-2"/>
                  <c:y val="1.31053267890618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2C6-4766-9134-78F14B75BCDD}"/>
                </c:ext>
              </c:extLst>
            </c:dLbl>
            <c:dLbl>
              <c:idx val="34"/>
              <c:layout>
                <c:manualLayout>
                  <c:x val="-1.9478373082506748E-2"/>
                  <c:y val="8.51846241289085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2C6-4766-9134-78F14B75BCDD}"/>
                </c:ext>
              </c:extLst>
            </c:dLbl>
            <c:dLbl>
              <c:idx val="35"/>
              <c:layout>
                <c:manualLayout>
                  <c:x val="-4.7856347659607102E-3"/>
                  <c:y val="-3.53843823304696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2C6-4766-9134-78F14B75BCDD}"/>
                </c:ext>
              </c:extLst>
            </c:dLbl>
            <c:dLbl>
              <c:idx val="39"/>
              <c:layout>
                <c:manualLayout>
                  <c:x val="-2.5775260932455052E-2"/>
                  <c:y val="-3.53843823304697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2C6-4766-9134-78F14B75BCDD}"/>
                </c:ext>
              </c:extLst>
            </c:dLbl>
            <c:dLbl>
              <c:idx val="40"/>
              <c:layout>
                <c:manualLayout>
                  <c:x val="-1.6918134508135382E-2"/>
                  <c:y val="-1.44158594679691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2C6-4766-9134-78F14B75BCDD}"/>
                </c:ext>
              </c:extLst>
            </c:dLbl>
            <c:dLbl>
              <c:idx val="41"/>
              <c:layout>
                <c:manualLayout>
                  <c:x val="-4.7856347659607102E-3"/>
                  <c:y val="-4.5868643761719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2C6-4766-9134-78F14B75BC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Sheet1!$A$138:$A$179</c:f>
              <c:numCache>
                <c:formatCode>m/dd</c:formatCode>
                <c:ptCount val="42"/>
                <c:pt idx="0">
                  <c:v>45884</c:v>
                </c:pt>
                <c:pt idx="1">
                  <c:v>45891</c:v>
                </c:pt>
                <c:pt idx="2">
                  <c:v>45898</c:v>
                </c:pt>
                <c:pt idx="3">
                  <c:v>45905</c:v>
                </c:pt>
                <c:pt idx="4">
                  <c:v>45912</c:v>
                </c:pt>
                <c:pt idx="5">
                  <c:v>45919</c:v>
                </c:pt>
                <c:pt idx="6">
                  <c:v>45926</c:v>
                </c:pt>
                <c:pt idx="7">
                  <c:v>45933</c:v>
                </c:pt>
                <c:pt idx="8">
                  <c:v>45940</c:v>
                </c:pt>
                <c:pt idx="9">
                  <c:v>45947</c:v>
                </c:pt>
                <c:pt idx="10">
                  <c:v>45954</c:v>
                </c:pt>
                <c:pt idx="11">
                  <c:v>45961</c:v>
                </c:pt>
                <c:pt idx="12">
                  <c:v>45968</c:v>
                </c:pt>
                <c:pt idx="13">
                  <c:v>45975</c:v>
                </c:pt>
                <c:pt idx="14">
                  <c:v>45982</c:v>
                </c:pt>
                <c:pt idx="15">
                  <c:v>45989</c:v>
                </c:pt>
                <c:pt idx="16">
                  <c:v>45996</c:v>
                </c:pt>
                <c:pt idx="17">
                  <c:v>46003</c:v>
                </c:pt>
                <c:pt idx="18">
                  <c:v>46010</c:v>
                </c:pt>
                <c:pt idx="19">
                  <c:v>46017</c:v>
                </c:pt>
                <c:pt idx="20">
                  <c:v>46024</c:v>
                </c:pt>
                <c:pt idx="21">
                  <c:v>46031</c:v>
                </c:pt>
                <c:pt idx="22">
                  <c:v>46038</c:v>
                </c:pt>
                <c:pt idx="23">
                  <c:v>46045</c:v>
                </c:pt>
                <c:pt idx="24">
                  <c:v>46052</c:v>
                </c:pt>
                <c:pt idx="25">
                  <c:v>46059</c:v>
                </c:pt>
                <c:pt idx="26">
                  <c:v>46066</c:v>
                </c:pt>
                <c:pt idx="27">
                  <c:v>46073</c:v>
                </c:pt>
                <c:pt idx="28">
                  <c:v>46080</c:v>
                </c:pt>
                <c:pt idx="29">
                  <c:v>46087</c:v>
                </c:pt>
                <c:pt idx="30">
                  <c:v>46094</c:v>
                </c:pt>
                <c:pt idx="31">
                  <c:v>46101</c:v>
                </c:pt>
                <c:pt idx="32">
                  <c:v>46108</c:v>
                </c:pt>
                <c:pt idx="33">
                  <c:v>46115</c:v>
                </c:pt>
                <c:pt idx="34">
                  <c:v>46122</c:v>
                </c:pt>
                <c:pt idx="35">
                  <c:v>46129</c:v>
                </c:pt>
                <c:pt idx="36">
                  <c:v>46136</c:v>
                </c:pt>
                <c:pt idx="37">
                  <c:v>46143</c:v>
                </c:pt>
                <c:pt idx="38">
                  <c:v>46150</c:v>
                </c:pt>
                <c:pt idx="39">
                  <c:v>46157</c:v>
                </c:pt>
                <c:pt idx="40">
                  <c:v>46164</c:v>
                </c:pt>
                <c:pt idx="41">
                  <c:v>46171</c:v>
                </c:pt>
              </c:numCache>
            </c:numRef>
          </c:cat>
          <c:val>
            <c:numRef>
              <c:f>Sheet1!$C$138:$C$179</c:f>
              <c:numCache>
                <c:formatCode>General</c:formatCode>
                <c:ptCount val="42"/>
                <c:pt idx="0">
                  <c:v>8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-3</c:v>
                </c:pt>
                <c:pt idx="7">
                  <c:v>-4</c:v>
                </c:pt>
                <c:pt idx="8">
                  <c:v>-1</c:v>
                </c:pt>
                <c:pt idx="9">
                  <c:v>4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6</c:v>
                </c:pt>
                <c:pt idx="15">
                  <c:v>12</c:v>
                </c:pt>
                <c:pt idx="16">
                  <c:v>13</c:v>
                </c:pt>
                <c:pt idx="17">
                  <c:v>8</c:v>
                </c:pt>
                <c:pt idx="18">
                  <c:v>6</c:v>
                </c:pt>
                <c:pt idx="19">
                  <c:v>5</c:v>
                </c:pt>
                <c:pt idx="20">
                  <c:v>8</c:v>
                </c:pt>
                <c:pt idx="21">
                  <c:v>5</c:v>
                </c:pt>
                <c:pt idx="22">
                  <c:v>8</c:v>
                </c:pt>
                <c:pt idx="23">
                  <c:v>7</c:v>
                </c:pt>
                <c:pt idx="24">
                  <c:v>5</c:v>
                </c:pt>
                <c:pt idx="25">
                  <c:v>9</c:v>
                </c:pt>
                <c:pt idx="26">
                  <c:v>8</c:v>
                </c:pt>
                <c:pt idx="27">
                  <c:v>9</c:v>
                </c:pt>
                <c:pt idx="28">
                  <c:v>12</c:v>
                </c:pt>
                <c:pt idx="29">
                  <c:v>16</c:v>
                </c:pt>
                <c:pt idx="30">
                  <c:v>17</c:v>
                </c:pt>
                <c:pt idx="31">
                  <c:v>15</c:v>
                </c:pt>
                <c:pt idx="32">
                  <c:v>10</c:v>
                </c:pt>
                <c:pt idx="33">
                  <c:v>5</c:v>
                </c:pt>
                <c:pt idx="34">
                  <c:v>3</c:v>
                </c:pt>
                <c:pt idx="35">
                  <c:v>-1</c:v>
                </c:pt>
                <c:pt idx="36">
                  <c:v>-4</c:v>
                </c:pt>
                <c:pt idx="37">
                  <c:v>1</c:v>
                </c:pt>
                <c:pt idx="38">
                  <c:v>2</c:v>
                </c:pt>
                <c:pt idx="39">
                  <c:v>7</c:v>
                </c:pt>
                <c:pt idx="40">
                  <c:v>11</c:v>
                </c:pt>
                <c:pt idx="41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2-72C6-4766-9134-78F14B75B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74422879"/>
        <c:axId val="1874421919"/>
      </c:lineChart>
      <c:catAx>
        <c:axId val="733489983"/>
        <c:scaling>
          <c:orientation val="minMax"/>
        </c:scaling>
        <c:delete val="0"/>
        <c:axPos val="b"/>
        <c:numFmt formatCode="m\/dd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194847"/>
        <c:crosses val="autoZero"/>
        <c:auto val="0"/>
        <c:lblAlgn val="ctr"/>
        <c:lblOffset val="100"/>
        <c:noMultiLvlLbl val="0"/>
      </c:catAx>
      <c:valAx>
        <c:axId val="1694194847"/>
        <c:scaling>
          <c:orientation val="minMax"/>
          <c:max val="20"/>
          <c:min val="-6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3489983"/>
        <c:crosses val="autoZero"/>
        <c:crossBetween val="between"/>
        <c:majorUnit val="5"/>
      </c:valAx>
      <c:valAx>
        <c:axId val="1874421919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874422879"/>
        <c:crosses val="max"/>
        <c:crossBetween val="between"/>
      </c:valAx>
      <c:dateAx>
        <c:axId val="1874422879"/>
        <c:scaling>
          <c:orientation val="minMax"/>
        </c:scaling>
        <c:delete val="1"/>
        <c:axPos val="t"/>
        <c:numFmt formatCode="m/dd" sourceLinked="1"/>
        <c:majorTickMark val="out"/>
        <c:minorTickMark val="none"/>
        <c:tickLblPos val="nextTo"/>
        <c:crossAx val="1874421919"/>
        <c:crosses val="max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486829092216848"/>
          <c:y val="5.7663437871876548E-2"/>
          <c:w val="0.82063835568260246"/>
          <c:h val="0.117915745338115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250439273240087"/>
          <c:y val="3.3045886643384037E-2"/>
          <c:w val="0.58461772879676954"/>
          <c:h val="0.9319198238906267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Sarcoma Account</c:v>
                </c:pt>
              </c:strCache>
            </c:strRef>
          </c:tx>
          <c:explosion val="4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1D-485B-866A-870DB683B2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1D-485B-866A-870DB683B2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1D-485B-866A-870DB683B213}"/>
              </c:ext>
            </c:extLst>
          </c:dPt>
          <c:dLbls>
            <c:dLbl>
              <c:idx val="0"/>
              <c:layout>
                <c:manualLayout>
                  <c:x val="3.9620858306367926E-2"/>
                  <c:y val="9.966297482849255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1D-485B-866A-870DB683B2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Ordered-Active</c:v>
                </c:pt>
                <c:pt idx="1">
                  <c:v>Ordered-Dormant</c:v>
                </c:pt>
                <c:pt idx="2">
                  <c:v>Yet to order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33</c:v>
                </c:pt>
                <c:pt idx="2">
                  <c:v>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6-EB1D-485B-866A-870DB683B21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5169921309069941E-2"/>
          <c:y val="0.28491815217571209"/>
          <c:w val="0.25157581691976322"/>
          <c:h val="0.551084885434088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6.8079922027290449E-2"/>
          <c:w val="1"/>
          <c:h val="0.653408382066276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Sarcoma Centers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Nation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0.50475598383587195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D65C-4BEC-9E7E-4801A8F9CB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Nation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0.49524401616412805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5C-4BEC-9E7E-4801A8F9CB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917900936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1C_FBC3F8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5150EF-56E3-495E-8AA9-37D32FE34E05}" authorId="{AB674DAE-D7EE-4848-1ECB-02D35170278D}" created="2026-06-18T13:28:54.324">
    <pc:sldMkLst xmlns:pc="http://schemas.microsoft.com/office/powerpoint/2013/main/command">
      <pc:docMk/>
      <pc:sldMk cId="4223924303" sldId="2147483420"/>
    </pc:sldMkLst>
    <p188:txBody>
      <a:bodyPr/>
      <a:lstStyle/>
      <a:p>
        <a:r>
          <a:rPr lang="en-IN"/>
          <a:t>We can add R8W and R13W messaging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0.07662</cdr:x>
      <cdr:y>0.70087</cdr:y>
    </cdr:from>
    <cdr:to>
      <cdr:x>0.16271</cdr:x>
      <cdr:y>0.82833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E31F9C13-1DC7-1387-20B8-761AB02CF96E}"/>
            </a:ext>
          </a:extLst>
        </cdr:cNvPr>
        <cdr:cNvSpPr txBox="1"/>
      </cdr:nvSpPr>
      <cdr:spPr>
        <a:xfrm xmlns:a="http://schemas.openxmlformats.org/drawingml/2006/main">
          <a:off x="420566" y="1269260"/>
          <a:ext cx="472543" cy="23082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clip" horzOverflow="overflow" vert="horz" wrap="square" lIns="45719" tIns="45719" rIns="45719" bIns="45719" numCol="1" spcCol="38100" rtlCol="0" anchor="t">
          <a:spAutoFit/>
        </a:bodyPr>
        <a:lstStyle xmlns:a="http://schemas.openxmlformats.org/drawingml/2006/main"/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+49%</a:t>
          </a:r>
        </a:p>
      </cdr:txBody>
    </cdr:sp>
  </cdr:relSizeAnchor>
  <cdr:relSizeAnchor xmlns:cdr="http://schemas.openxmlformats.org/drawingml/2006/chartDrawing">
    <cdr:from>
      <cdr:x>0.13326</cdr:x>
      <cdr:y>0.65383</cdr:y>
    </cdr:from>
    <cdr:to>
      <cdr:x>0.21801</cdr:x>
      <cdr:y>0.7453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9D95B701-0FC8-7172-4FD8-108772A26A14}"/>
            </a:ext>
          </a:extLst>
        </cdr:cNvPr>
        <cdr:cNvSpPr txBox="1"/>
      </cdr:nvSpPr>
      <cdr:spPr>
        <a:xfrm xmlns:a="http://schemas.openxmlformats.org/drawingml/2006/main">
          <a:off x="731440" y="1184080"/>
          <a:ext cx="465189" cy="1656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+24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0.18492</cdr:x>
      <cdr:y>0.62251</cdr:y>
    </cdr:from>
    <cdr:to>
      <cdr:x>0.26805</cdr:x>
      <cdr:y>0.74885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2499D3B3-4C70-C804-9C76-F5E1EE2D163B}"/>
            </a:ext>
          </a:extLst>
        </cdr:cNvPr>
        <cdr:cNvSpPr txBox="1"/>
      </cdr:nvSpPr>
      <cdr:spPr>
        <a:xfrm xmlns:a="http://schemas.openxmlformats.org/drawingml/2006/main">
          <a:off x="1015016" y="1127344"/>
          <a:ext cx="456297" cy="22879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+22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0.24927</cdr:x>
      <cdr:y>0.6094</cdr:y>
    </cdr:from>
    <cdr:to>
      <cdr:x>0.34212</cdr:x>
      <cdr:y>0.70087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30581877-5048-2455-1D16-3243BDC9A413}"/>
            </a:ext>
          </a:extLst>
        </cdr:cNvPr>
        <cdr:cNvSpPr txBox="1"/>
      </cdr:nvSpPr>
      <cdr:spPr>
        <a:xfrm xmlns:a="http://schemas.openxmlformats.org/drawingml/2006/main">
          <a:off x="1345835" y="1103611"/>
          <a:ext cx="501314" cy="1656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+13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0.29037</cdr:x>
      <cdr:y>0.55436</cdr:y>
    </cdr:from>
    <cdr:to>
      <cdr:x>0.38384</cdr:x>
      <cdr:y>0.64582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CB4A0C17-4B1C-96A1-243E-8AE0AD66CDB5}"/>
            </a:ext>
          </a:extLst>
        </cdr:cNvPr>
        <cdr:cNvSpPr txBox="1"/>
      </cdr:nvSpPr>
      <cdr:spPr>
        <a:xfrm xmlns:a="http://schemas.openxmlformats.org/drawingml/2006/main">
          <a:off x="1593813" y="1003931"/>
          <a:ext cx="513052" cy="1656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+5.7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0.3457</cdr:x>
      <cdr:y>0.60008</cdr:y>
    </cdr:from>
    <cdr:to>
      <cdr:x>0.4573</cdr:x>
      <cdr:y>0.69155</cdr:y>
    </cdr:to>
    <cdr:sp macro="" textlink="">
      <cdr:nvSpPr>
        <cdr:cNvPr id="8" name="TextBox 1">
          <a:extLst xmlns:a="http://schemas.openxmlformats.org/drawingml/2006/main">
            <a:ext uri="{FF2B5EF4-FFF2-40B4-BE49-F238E27FC236}">
              <a16:creationId xmlns:a16="http://schemas.microsoft.com/office/drawing/2014/main" id="{CDB4A147-50F7-069D-E6EC-930618ED72C5}"/>
            </a:ext>
          </a:extLst>
        </cdr:cNvPr>
        <cdr:cNvSpPr txBox="1"/>
      </cdr:nvSpPr>
      <cdr:spPr>
        <a:xfrm xmlns:a="http://schemas.openxmlformats.org/drawingml/2006/main">
          <a:off x="1897538" y="1086737"/>
          <a:ext cx="612567" cy="16565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-3.9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0.379</cdr:x>
      <cdr:y>0.5024</cdr:y>
    </cdr:from>
    <cdr:to>
      <cdr:x>0.46372</cdr:x>
      <cdr:y>0.62986</cdr:y>
    </cdr:to>
    <cdr:sp macro="" textlink="">
      <cdr:nvSpPr>
        <cdr:cNvPr id="6" name="TextBox 1">
          <a:extLst xmlns:a="http://schemas.openxmlformats.org/drawingml/2006/main">
            <a:ext uri="{FF2B5EF4-FFF2-40B4-BE49-F238E27FC236}">
              <a16:creationId xmlns:a16="http://schemas.microsoft.com/office/drawing/2014/main" id="{45E984BB-C748-F9C6-093D-A052ACED7A21}"/>
            </a:ext>
          </a:extLst>
        </cdr:cNvPr>
        <cdr:cNvSpPr txBox="1"/>
      </cdr:nvSpPr>
      <cdr:spPr>
        <a:xfrm xmlns:a="http://schemas.openxmlformats.org/drawingml/2006/main">
          <a:off x="2080332" y="909834"/>
          <a:ext cx="465023" cy="23082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+6.2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0.44879</cdr:x>
      <cdr:y>0.59376</cdr:y>
    </cdr:from>
    <cdr:to>
      <cdr:x>0.55061</cdr:x>
      <cdr:y>0.71273</cdr:y>
    </cdr:to>
    <cdr:sp macro="" textlink="">
      <cdr:nvSpPr>
        <cdr:cNvPr id="9" name="TextBox 1">
          <a:extLst xmlns:a="http://schemas.openxmlformats.org/drawingml/2006/main">
            <a:ext uri="{FF2B5EF4-FFF2-40B4-BE49-F238E27FC236}">
              <a16:creationId xmlns:a16="http://schemas.microsoft.com/office/drawing/2014/main" id="{6D9C6B19-6BB9-E2B5-66D9-65188D270D28}"/>
            </a:ext>
          </a:extLst>
        </cdr:cNvPr>
        <cdr:cNvSpPr txBox="1"/>
      </cdr:nvSpPr>
      <cdr:spPr>
        <a:xfrm xmlns:a="http://schemas.openxmlformats.org/drawingml/2006/main">
          <a:off x="2463402" y="1075287"/>
          <a:ext cx="558885" cy="21545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-15.4</a:t>
          </a:r>
          <a:r>
            <a:rPr kumimoji="0" lang="en-IN" sz="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0.49873</cdr:x>
      <cdr:y>0.52529</cdr:y>
    </cdr:from>
    <cdr:to>
      <cdr:x>0.61186</cdr:x>
      <cdr:y>0.65275</cdr:y>
    </cdr:to>
    <cdr:sp macro="" textlink="">
      <cdr:nvSpPr>
        <cdr:cNvPr id="10" name="TextBox 1">
          <a:extLst xmlns:a="http://schemas.openxmlformats.org/drawingml/2006/main">
            <a:ext uri="{FF2B5EF4-FFF2-40B4-BE49-F238E27FC236}">
              <a16:creationId xmlns:a16="http://schemas.microsoft.com/office/drawing/2014/main" id="{7198423B-370F-73C9-F613-D4958923847E}"/>
            </a:ext>
          </a:extLst>
        </cdr:cNvPr>
        <cdr:cNvSpPr txBox="1"/>
      </cdr:nvSpPr>
      <cdr:spPr>
        <a:xfrm xmlns:a="http://schemas.openxmlformats.org/drawingml/2006/main">
          <a:off x="2737517" y="951292"/>
          <a:ext cx="620965" cy="23082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+15.4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0.5553</cdr:x>
      <cdr:y>0.52431</cdr:y>
    </cdr:from>
    <cdr:to>
      <cdr:x>0.64571</cdr:x>
      <cdr:y>0.72825</cdr:y>
    </cdr:to>
    <cdr:sp macro="" textlink="">
      <cdr:nvSpPr>
        <cdr:cNvPr id="11" name="TextBox 1">
          <a:extLst xmlns:a="http://schemas.openxmlformats.org/drawingml/2006/main">
            <a:ext uri="{FF2B5EF4-FFF2-40B4-BE49-F238E27FC236}">
              <a16:creationId xmlns:a16="http://schemas.microsoft.com/office/drawing/2014/main" id="{E3C2C629-C100-A393-68D3-CB488380DBF5}"/>
            </a:ext>
          </a:extLst>
        </cdr:cNvPr>
        <cdr:cNvSpPr txBox="1"/>
      </cdr:nvSpPr>
      <cdr:spPr>
        <a:xfrm xmlns:a="http://schemas.openxmlformats.org/drawingml/2006/main">
          <a:off x="3048000" y="949520"/>
          <a:ext cx="496255" cy="36933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+16.7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0.60812</cdr:x>
      <cdr:y>0.45692</cdr:y>
    </cdr:from>
    <cdr:to>
      <cdr:x>0.69853</cdr:x>
      <cdr:y>0.58438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4279E310-9C42-AE34-9621-A3376D1F60F1}"/>
            </a:ext>
          </a:extLst>
        </cdr:cNvPr>
        <cdr:cNvSpPr txBox="1"/>
      </cdr:nvSpPr>
      <cdr:spPr>
        <a:xfrm xmlns:a="http://schemas.openxmlformats.org/drawingml/2006/main">
          <a:off x="3337927" y="827476"/>
          <a:ext cx="496256" cy="23082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="horz" wrap="square" lIns="45719" tIns="45719" rIns="45719" bIns="45719" numCol="1" spcCol="38100" rtlCol="0" anchor="t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indent="0" algn="l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lang="en-IN" sz="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 +0.4</a:t>
          </a:r>
          <a:r>
            <a:rPr kumimoji="0" lang="en-IN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0.81737</cdr:x>
      <cdr:y>0.33382</cdr:y>
    </cdr:from>
    <cdr:to>
      <cdr:x>0.92843</cdr:x>
      <cdr:y>0.4613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1AF97B99-55FF-BC66-ED5F-1EA12015B3AF}"/>
            </a:ext>
          </a:extLst>
        </cdr:cNvPr>
        <cdr:cNvSpPr/>
      </cdr:nvSpPr>
      <cdr:spPr>
        <a:xfrm xmlns:a="http://schemas.openxmlformats.org/drawingml/2006/main">
          <a:off x="4486479" y="604542"/>
          <a:ext cx="609602" cy="23086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overflow" horzOverflow="overflow" vert="horz" wrap="square" lIns="91440" tIns="91440" rIns="91440" bIns="91440" numCol="1" spcCol="38100" rtlCol="0" anchor="ctr">
          <a:noAutofit/>
        </a:bodyPr>
        <a:lstStyle xmlns:a="http://schemas.openxmlformats.org/drawingml/2006/main"/>
        <a:p xmlns:a="http://schemas.openxmlformats.org/drawingml/2006/main">
          <a:r>
            <a:rPr lang="en-US" sz="900" b="1" kern="1200" dirty="0"/>
            <a:t>+15.6%</a:t>
          </a:r>
          <a:endParaRPr lang="en-IN" sz="900" b="1" kern="1200" dirty="0"/>
        </a:p>
      </cdr:txBody>
    </cdr:sp>
  </cdr:relSizeAnchor>
  <cdr:relSizeAnchor xmlns:cdr="http://schemas.openxmlformats.org/drawingml/2006/chartDrawing">
    <cdr:from>
      <cdr:x>0.88927</cdr:x>
      <cdr:y>0.52065</cdr:y>
    </cdr:from>
    <cdr:to>
      <cdr:x>0.94675</cdr:x>
      <cdr:y>0.71312</cdr:y>
    </cdr:to>
    <cdr:sp macro="" textlink="">
      <cdr:nvSpPr>
        <cdr:cNvPr id="14" name="Rectangle 13">
          <a:extLst xmlns:a="http://schemas.openxmlformats.org/drawingml/2006/main">
            <a:ext uri="{FF2B5EF4-FFF2-40B4-BE49-F238E27FC236}">
              <a16:creationId xmlns:a16="http://schemas.microsoft.com/office/drawing/2014/main" id="{60339AD8-9352-9087-383A-E184E9E6E760}"/>
            </a:ext>
          </a:extLst>
        </cdr:cNvPr>
        <cdr:cNvSpPr/>
      </cdr:nvSpPr>
      <cdr:spPr>
        <a:xfrm xmlns:a="http://schemas.openxmlformats.org/drawingml/2006/main">
          <a:off x="4881160" y="942890"/>
          <a:ext cx="315476" cy="34855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overflow" horzOverflow="overflow" vert="horz" wrap="square" lIns="91440" tIns="91440" rIns="91440" bIns="91440" numCol="1" spcCol="38100" rtlCol="0" anchor="ctr">
          <a:noAutofit/>
        </a:bodyPr>
        <a:lstStyle xmlns:a="http://schemas.openxmlformats.org/drawingml/2006/main"/>
        <a:p xmlns:a="http://schemas.openxmlformats.org/drawingml/2006/main">
          <a:endParaRPr lang="en-IN" kern="1200"/>
        </a:p>
      </cdr:txBody>
    </cdr:sp>
  </cdr:relSizeAnchor>
  <cdr:relSizeAnchor xmlns:cdr="http://schemas.openxmlformats.org/drawingml/2006/chartDrawing">
    <cdr:from>
      <cdr:x>0.86217</cdr:x>
      <cdr:y>0.51114</cdr:y>
    </cdr:from>
    <cdr:to>
      <cdr:x>1</cdr:x>
      <cdr:y>0.71899</cdr:y>
    </cdr:to>
    <cdr:sp macro="" textlink="">
      <cdr:nvSpPr>
        <cdr:cNvPr id="15" name="Rectangle 14">
          <a:extLst xmlns:a="http://schemas.openxmlformats.org/drawingml/2006/main">
            <a:ext uri="{FF2B5EF4-FFF2-40B4-BE49-F238E27FC236}">
              <a16:creationId xmlns:a16="http://schemas.microsoft.com/office/drawing/2014/main" id="{0D7AD47F-4FC3-37FA-7A6F-24DC13838963}"/>
            </a:ext>
          </a:extLst>
        </cdr:cNvPr>
        <cdr:cNvSpPr/>
      </cdr:nvSpPr>
      <cdr:spPr>
        <a:xfrm xmlns:a="http://schemas.openxmlformats.org/drawingml/2006/main">
          <a:off x="4732417" y="925667"/>
          <a:ext cx="756532" cy="37640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overflow" horzOverflow="overflow" vert="horz" wrap="square" lIns="91440" tIns="91440" rIns="91440" bIns="91440" numCol="1" spcCol="38100" rtlCol="0" anchor="ctr">
          <a:noAutofit/>
        </a:bodyPr>
        <a:lstStyle xmlns:a="http://schemas.openxmlformats.org/drawingml/2006/main"/>
        <a:p xmlns:a="http://schemas.openxmlformats.org/drawingml/2006/main">
          <a:r>
            <a:rPr lang="en-US" sz="900" b="1" kern="1200" dirty="0"/>
            <a:t>-14.1%</a:t>
          </a:r>
          <a:endParaRPr lang="en-IN" sz="900" b="1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0.63328</cdr:x>
      <cdr:y>0.22654</cdr:y>
    </cdr:from>
    <cdr:to>
      <cdr:x>0.91771</cdr:x>
      <cdr:y>0.39731</cdr:y>
    </cdr:to>
    <cdr:sp macro="" textlink="">
      <cdr:nvSpPr>
        <cdr:cNvPr id="3" name="TextBox 36">
          <a:extLst xmlns:a="http://schemas.openxmlformats.org/drawingml/2006/main">
            <a:ext uri="{FF2B5EF4-FFF2-40B4-BE49-F238E27FC236}">
              <a16:creationId xmlns:a16="http://schemas.microsoft.com/office/drawing/2014/main" id="{92141997-83CE-F5CB-78D9-1787165021E0}"/>
            </a:ext>
          </a:extLst>
        </cdr:cNvPr>
        <cdr:cNvSpPr txBox="1"/>
      </cdr:nvSpPr>
      <cdr:spPr>
        <a:xfrm xmlns:a="http://schemas.openxmlformats.org/drawingml/2006/main">
          <a:off x="1804439" y="367474"/>
          <a:ext cx="810438" cy="27700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 </a:t>
          </a:r>
          <a:r>
            <a:rPr lang="en-US" sz="1200" b="1" kern="0" noProof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12</a:t>
          </a:r>
          <a:r>
            <a: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0.3354</cdr:x>
      <cdr:y>0.47592</cdr:y>
    </cdr:from>
    <cdr:to>
      <cdr:x>0.88225</cdr:x>
      <cdr:y>0.70471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BF8B4291-2821-3FC6-5D4B-BB05DFEDB1E0}"/>
            </a:ext>
          </a:extLst>
        </cdr:cNvPr>
        <cdr:cNvSpPr/>
      </cdr:nvSpPr>
      <cdr:spPr>
        <a:xfrm xmlns:a="http://schemas.openxmlformats.org/drawingml/2006/main">
          <a:off x="910356" y="771984"/>
          <a:ext cx="1484263" cy="3711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000" kern="0" dirty="0">
              <a:solidFill>
                <a:srgbClr val="000000"/>
              </a:solidFill>
              <a:latin typeface="Arial" panose="020B0604020202020204"/>
              <a:sym typeface="Arial"/>
            </a:rPr>
            <a:t>QTD</a:t>
          </a:r>
          <a:endParaRPr kumimoji="0" lang="en-US" sz="1000" b="0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Vs </a:t>
          </a:r>
          <a:r>
            <a:rPr lang="en-US" sz="500" kern="0" noProof="0" dirty="0">
              <a:solidFill>
                <a:srgbClr val="000000"/>
              </a:solidFill>
              <a:latin typeface="Arial" panose="020B0604020202020204"/>
              <a:sym typeface="Arial"/>
            </a:rPr>
            <a:t>PQTD</a:t>
          </a:r>
          <a:endParaRPr kumimoji="0" lang="en-IN" sz="500" b="0" i="0" u="none" strike="noStrike" kern="0" cap="none" spc="0" normalizeH="0" baseline="0" noProof="0" dirty="0">
            <a:ln>
              <a:noFill/>
            </a:ln>
            <a:solidFill>
              <a:srgbClr val="00C7D2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</cdr:txBody>
    </cdr:sp>
  </cdr:relSizeAnchor>
  <cdr:relSizeAnchor xmlns:cdr="http://schemas.openxmlformats.org/drawingml/2006/chartDrawing">
    <cdr:from>
      <cdr:x>0.64744</cdr:x>
      <cdr:y>0.49182</cdr:y>
    </cdr:from>
    <cdr:to>
      <cdr:x>0.91153</cdr:x>
      <cdr:y>0.66259</cdr:y>
    </cdr:to>
    <cdr:sp macro="" textlink="">
      <cdr:nvSpPr>
        <cdr:cNvPr id="6" name="TextBox 37">
          <a:extLst xmlns:a="http://schemas.openxmlformats.org/drawingml/2006/main">
            <a:ext uri="{FF2B5EF4-FFF2-40B4-BE49-F238E27FC236}">
              <a16:creationId xmlns:a16="http://schemas.microsoft.com/office/drawing/2014/main" id="{34F892CE-9355-87E7-C42F-C24ECAF41636}"/>
            </a:ext>
          </a:extLst>
        </cdr:cNvPr>
        <cdr:cNvSpPr txBox="1"/>
      </cdr:nvSpPr>
      <cdr:spPr>
        <a:xfrm xmlns:a="http://schemas.openxmlformats.org/drawingml/2006/main">
          <a:off x="1844765" y="797789"/>
          <a:ext cx="752483" cy="27700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b="1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2</a:t>
          </a:r>
          <a:r>
            <a: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0.64433</cdr:x>
      <cdr:y>0.73717</cdr:y>
    </cdr:from>
    <cdr:to>
      <cdr:x>0.92051</cdr:x>
      <cdr:y>0.90793</cdr:y>
    </cdr:to>
    <cdr:sp macro="" textlink="">
      <cdr:nvSpPr>
        <cdr:cNvPr id="7" name="TextBox 37">
          <a:extLst xmlns:a="http://schemas.openxmlformats.org/drawingml/2006/main">
            <a:ext uri="{FF2B5EF4-FFF2-40B4-BE49-F238E27FC236}">
              <a16:creationId xmlns:a16="http://schemas.microsoft.com/office/drawing/2014/main" id="{34F892CE-9355-87E7-C42F-C24ECAF41636}"/>
            </a:ext>
          </a:extLst>
        </cdr:cNvPr>
        <cdr:cNvSpPr txBox="1"/>
      </cdr:nvSpPr>
      <cdr:spPr>
        <a:xfrm xmlns:a="http://schemas.openxmlformats.org/drawingml/2006/main">
          <a:off x="1835913" y="1195766"/>
          <a:ext cx="786931" cy="27699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b="1" kern="0" noProof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7</a:t>
          </a:r>
          <a:r>
            <a: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Helvetica Neue" panose="02000503000000020004" pitchFamily="2" charset="0"/>
              <a:cs typeface="Helvetica Neue" panose="02000503000000020004" pitchFamily="2" charset="0"/>
              <a:sym typeface="Arial"/>
            </a:rPr>
            <a:t>%</a:t>
          </a:r>
        </a:p>
      </cdr:txBody>
    </cdr:sp>
  </cdr:relSizeAnchor>
  <cdr:relSizeAnchor xmlns:cdr="http://schemas.openxmlformats.org/drawingml/2006/chartDrawing">
    <cdr:from>
      <cdr:x>0.33834</cdr:x>
      <cdr:y>0.68887</cdr:y>
    </cdr:from>
    <cdr:to>
      <cdr:x>0.87781</cdr:x>
      <cdr:y>1</cdr:y>
    </cdr:to>
    <cdr:sp macro="" textlink="">
      <cdr:nvSpPr>
        <cdr:cNvPr id="8" name="Rectangle 7">
          <a:extLst xmlns:a="http://schemas.openxmlformats.org/drawingml/2006/main">
            <a:ext uri="{FF2B5EF4-FFF2-40B4-BE49-F238E27FC236}">
              <a16:creationId xmlns:a16="http://schemas.microsoft.com/office/drawing/2014/main" id="{80894643-69E9-CCE0-812A-5D22B9E4D1AF}"/>
            </a:ext>
          </a:extLst>
        </cdr:cNvPr>
        <cdr:cNvSpPr/>
      </cdr:nvSpPr>
      <cdr:spPr>
        <a:xfrm xmlns:a="http://schemas.openxmlformats.org/drawingml/2006/main">
          <a:off x="918909" y="1067013"/>
          <a:ext cx="1465173" cy="48192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000" kern="0" dirty="0">
              <a:solidFill>
                <a:srgbClr val="000000"/>
              </a:solidFill>
              <a:latin typeface="Arial" panose="020B0604020202020204"/>
              <a:sym typeface="Arial"/>
            </a:rPr>
            <a:t>May’</a:t>
          </a:r>
          <a:r>
            <a: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26</a:t>
          </a:r>
        </a:p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Vs </a:t>
          </a:r>
          <a:r>
            <a:rPr lang="en-US" sz="500" kern="0" noProof="0" dirty="0">
              <a:solidFill>
                <a:srgbClr val="000000"/>
              </a:solidFill>
              <a:latin typeface="Arial" panose="020B0604020202020204"/>
              <a:sym typeface="Arial"/>
            </a:rPr>
            <a:t>Apr’</a:t>
          </a:r>
          <a:r>
            <a: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26</a:t>
          </a:r>
          <a:endParaRPr kumimoji="0" lang="en-IN" sz="500" b="0" i="0" u="none" strike="noStrike" kern="0" cap="none" spc="0" normalizeH="0" baseline="0" noProof="0" dirty="0">
            <a:ln>
              <a:noFill/>
            </a:ln>
            <a:solidFill>
              <a:srgbClr val="00C7D2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</cdr:txBody>
    </cdr:sp>
  </cdr:relSizeAnchor>
  <cdr:relSizeAnchor xmlns:cdr="http://schemas.openxmlformats.org/drawingml/2006/chartDrawing">
    <cdr:from>
      <cdr:x>0.41328</cdr:x>
      <cdr:y>0.09712</cdr:y>
    </cdr:from>
    <cdr:to>
      <cdr:x>0.82027</cdr:x>
      <cdr:y>0.56675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4C956B26-F2C1-F755-634B-516264FB6202}"/>
            </a:ext>
          </a:extLst>
        </cdr:cNvPr>
        <cdr:cNvSpPr/>
      </cdr:nvSpPr>
      <cdr:spPr>
        <a:xfrm xmlns:a="http://schemas.openxmlformats.org/drawingml/2006/main">
          <a:off x="1122441" y="150429"/>
          <a:ext cx="1105353" cy="72743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Y</a:t>
          </a:r>
          <a:r>
            <a:rPr lang="en-US" sz="1000" kern="0" noProof="0" dirty="0">
              <a:solidFill>
                <a:srgbClr val="000000"/>
              </a:solidFill>
              <a:latin typeface="Arial" panose="020B0604020202020204"/>
              <a:sym typeface="Arial"/>
            </a:rPr>
            <a:t>TD</a:t>
          </a:r>
          <a:endParaRPr kumimoji="0" lang="en-US" sz="1000" b="0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Vs </a:t>
          </a:r>
          <a:r>
            <a:rPr lang="en-US" sz="500" kern="0" noProof="0" dirty="0">
              <a:solidFill>
                <a:srgbClr val="000000"/>
              </a:solidFill>
              <a:latin typeface="Arial" panose="020B0604020202020204"/>
              <a:sym typeface="Arial"/>
            </a:rPr>
            <a:t>PYTD</a:t>
          </a:r>
          <a:endParaRPr kumimoji="0" lang="en-IN" sz="500" b="0" i="0" u="none" strike="noStrike" kern="0" cap="none" spc="0" normalizeH="0" baseline="0" noProof="0" dirty="0">
            <a:ln>
              <a:noFill/>
            </a:ln>
            <a:solidFill>
              <a:srgbClr val="00C7D2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</cdr:txBody>
    </cdr:sp>
  </cdr:relSizeAnchor>
  <cdr:relSizeAnchor xmlns:cdr="http://schemas.openxmlformats.org/drawingml/2006/chartDrawing">
    <cdr:from>
      <cdr:x>0.5233</cdr:x>
      <cdr:y>0.00249</cdr:y>
    </cdr:from>
    <cdr:to>
      <cdr:x>1</cdr:x>
      <cdr:y>0.27679</cdr:y>
    </cdr:to>
    <cdr:sp macro="" textlink="">
      <cdr:nvSpPr>
        <cdr:cNvPr id="10" name="Rectangle 9">
          <a:extLst xmlns:a="http://schemas.openxmlformats.org/drawingml/2006/main">
            <a:ext uri="{FF2B5EF4-FFF2-40B4-BE49-F238E27FC236}">
              <a16:creationId xmlns:a16="http://schemas.microsoft.com/office/drawing/2014/main" id="{81760E22-0D21-87E7-A84D-458EC3EEE7BC}"/>
            </a:ext>
          </a:extLst>
        </cdr:cNvPr>
        <cdr:cNvSpPr/>
      </cdr:nvSpPr>
      <cdr:spPr>
        <a:xfrm xmlns:a="http://schemas.openxmlformats.org/drawingml/2006/main">
          <a:off x="1424381" y="4037"/>
          <a:ext cx="1297550" cy="44494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rPr>
            <a:t>% Growth</a:t>
          </a:r>
          <a:endParaRPr kumimoji="0" lang="en-IN" sz="1000" b="0" i="0" u="none" strike="noStrike" kern="0" cap="none" spc="0" normalizeH="0" baseline="0" noProof="0" dirty="0">
            <a:ln>
              <a:noFill/>
            </a:ln>
            <a:solidFill>
              <a:srgbClr val="00C7D2"/>
            </a:solidFill>
            <a:effectLst/>
            <a:uLnTx/>
            <a:uFillTx/>
            <a:latin typeface="Arial" panose="020B0604020202020204"/>
            <a:ea typeface="+mn-ea"/>
            <a:cs typeface="+mn-cs"/>
            <a:sym typeface="Arial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0.83181</cdr:x>
      <cdr:y>0.56922</cdr:y>
    </cdr:from>
    <cdr:to>
      <cdr:x>0.87835</cdr:x>
      <cdr:y>0.66629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33D0F5C1-87F6-0D00-61A8-2B105A725366}"/>
            </a:ext>
          </a:extLst>
        </cdr:cNvPr>
        <cdr:cNvSpPr/>
      </cdr:nvSpPr>
      <cdr:spPr>
        <a:xfrm xmlns:a="http://schemas.openxmlformats.org/drawingml/2006/main">
          <a:off x="9361258" y="1798190"/>
          <a:ext cx="523763" cy="30664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overflow" horzOverflow="overflow" vert="horz" wrap="square" lIns="91440" tIns="91440" rIns="91440" bIns="91440" numCol="1" spcCol="38100" rtlCol="0" anchor="ctr">
          <a:noAutofit/>
        </a:bodyPr>
        <a:lstStyle xmlns:a="http://schemas.openxmlformats.org/drawingml/2006/main"/>
        <a:p xmlns:a="http://schemas.openxmlformats.org/drawingml/2006/main">
          <a:endParaRPr lang="en-IN" kern="1200" dirty="0">
            <a:solidFill>
              <a:schemeClr val="tx1">
                <a:lumMod val="85000"/>
                <a:lumOff val="15000"/>
              </a:schemeClr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4.1774E-7</cdr:y>
    </cdr:from>
    <cdr:to>
      <cdr:x>0.31609</cdr:x>
      <cdr:y>0.11571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F07685E-B854-FF03-4DE2-C9C93B3E6528}"/>
            </a:ext>
          </a:extLst>
        </cdr:cNvPr>
        <cdr:cNvSpPr txBox="1"/>
      </cdr:nvSpPr>
      <cdr:spPr>
        <a:xfrm xmlns:a="http://schemas.openxmlformats.org/drawingml/2006/main">
          <a:off x="0" y="1"/>
          <a:ext cx="1746830" cy="276997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>
            <a:lumMod val="40000"/>
            <a:lumOff val="60000"/>
          </a:schemeClr>
        </a:solidFill>
        <a:ln xmlns:a="http://schemas.openxmlformats.org/drawingml/2006/main" w="12700" cap="flat">
          <a:noFill/>
          <a:miter lim="400000"/>
        </a:ln>
        <a:effectLst xmlns:a="http://schemas.openxmlformats.org/drawingml/2006/main"/>
        <a:sp3d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none"/>
      </cdr:style>
      <cdr:txBody>
        <a:bodyPr xmlns:a="http://schemas.openxmlformats.org/drawingml/2006/main" rot="0" spcFirstLastPara="1" vertOverflow="clip" horzOverflow="overflow" vert="horz" wrap="square" lIns="45719" tIns="45719" rIns="45719" bIns="45719" numCol="1" spcCol="38100" rtlCol="0" anchor="t">
          <a:spAutoFit/>
        </a:bodyPr>
        <a:lstStyle xmlns:a="http://schemas.openxmlformats.org/drawingml/2006/main"/>
        <a:p xmlns:a="http://schemas.openxmlformats.org/drawingml/2006/main">
          <a:pPr marL="0" marR="0" indent="0" algn="ctr" defTabSz="914400" rtl="0" fontAlgn="auto" latinLnBrk="0" hangingPunct="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</a:pPr>
          <a:r>
            <a:rPr kumimoji="0" 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rPr>
            <a:t>Total Accounts: </a:t>
          </a:r>
          <a:r>
            <a:rPr lang="en-US" sz="12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rPr>
            <a:t>378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31822-FCE8-416B-8740-6F26113DFD67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541DA-179D-42F1-8484-1A4DDE3EA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0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B541DA-179D-42F1-8484-1A4DDE3EA1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3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0E1B-6223-116F-C057-CC6B429C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E9BB3-8CFE-DBAD-2872-99EA4900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54526-303E-9AF1-4699-141DB80B1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CF37A-E73A-AF7B-B1E7-80AF9BBE9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455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D040-DB8A-5070-5A74-8C1FB049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3FB2D-F902-1090-328A-03704340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80F46-C93E-8F4E-64AF-97170E27D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882ED-87A6-0F9A-D465-93FE02D5E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7135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5DB4-6992-6B01-3EEF-986F0829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1DB86-9ECC-9B9D-F620-A7693DBF9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953B6-CD34-8151-A7AD-F5AC24799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E4C38-40D6-73D5-5FCE-562E0258F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927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9FF5-30E6-F811-CB1D-8284D885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B0F22-CEE2-6E4B-D00F-D333FE442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9AA2A-D4E0-C295-4E66-08A6CC43C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794B3-A059-D4AB-FF64-FA294B3FB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22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422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310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4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98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8B7BB-8A79-3EA2-2817-23B7AF24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03012-FD9F-3B8A-2D36-A7A5FC4C0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CC40F-E5E6-CD74-2C0B-7B1F1DBF0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32EAC-CF7E-A77F-9C10-CD116DAFB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22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F0BA79-C207-EF4A-BA0F-D4812C40E99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22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99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 dirty="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8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83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02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01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89986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275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8280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E5D93-47C7-C366-2531-FB5F387B51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34DA-6BF8-D5C0-A344-983B2CDFAB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3917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1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47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28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7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89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80450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9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2533" y="2032000"/>
            <a:ext cx="11480800" cy="2362200"/>
          </a:xfrm>
        </p:spPr>
        <p:txBody>
          <a:bodyPr anchorCtr="1"/>
          <a:lstStyle>
            <a:lvl1pPr algn="ctr">
              <a:lnSpc>
                <a:spcPct val="115000"/>
              </a:lnSpc>
              <a:defRPr sz="3600">
                <a:solidFill>
                  <a:srgbClr val="FF990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8534400" cy="1752600"/>
          </a:xfrm>
        </p:spPr>
        <p:txBody>
          <a:bodyPr anchor="t"/>
          <a:lstStyle>
            <a:lvl1pPr marL="0" indent="0" algn="ctr">
              <a:buFont typeface="Wingdings" pitchFamily="1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2075359"/>
      </p:ext>
    </p:extLst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2537588"/>
      </p:ext>
    </p:extLst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63548"/>
            <a:ext cx="5486400" cy="449580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3548"/>
            <a:ext cx="5486400" cy="449580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3634742"/>
      </p:ext>
    </p:extLst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1124712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8148"/>
            <a:ext cx="5486400" cy="639762"/>
          </a:xfrm>
        </p:spPr>
        <p:txBody>
          <a:bodyPr/>
          <a:lstStyle>
            <a:lvl1pPr marL="0" indent="0">
              <a:buNone/>
              <a:defRPr sz="2000" b="1"/>
            </a:lvl1pPr>
            <a:lvl2pPr marL="456079" indent="0">
              <a:buNone/>
              <a:defRPr sz="2000" b="1"/>
            </a:lvl2pPr>
            <a:lvl3pPr marL="912157" indent="0">
              <a:buNone/>
              <a:defRPr sz="1800" b="1"/>
            </a:lvl3pPr>
            <a:lvl4pPr marL="1368231" indent="0">
              <a:buNone/>
              <a:defRPr sz="1600" b="1"/>
            </a:lvl4pPr>
            <a:lvl5pPr marL="1824309" indent="0">
              <a:buNone/>
              <a:defRPr sz="1600" b="1"/>
            </a:lvl5pPr>
            <a:lvl6pPr marL="2280381" indent="0">
              <a:buNone/>
              <a:defRPr sz="1600" b="1"/>
            </a:lvl6pPr>
            <a:lvl7pPr marL="2736461" indent="0">
              <a:buNone/>
              <a:defRPr sz="1600" b="1"/>
            </a:lvl7pPr>
            <a:lvl8pPr marL="3192536" indent="0">
              <a:buNone/>
              <a:defRPr sz="1600" b="1"/>
            </a:lvl8pPr>
            <a:lvl9pPr marL="364861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8212"/>
            <a:ext cx="5486400" cy="3951288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38148"/>
            <a:ext cx="5486400" cy="639762"/>
          </a:xfrm>
        </p:spPr>
        <p:txBody>
          <a:bodyPr/>
          <a:lstStyle>
            <a:lvl1pPr marL="0" indent="0">
              <a:buNone/>
              <a:defRPr sz="2000" b="1"/>
            </a:lvl1pPr>
            <a:lvl2pPr marL="456079" indent="0">
              <a:buNone/>
              <a:defRPr sz="2000" b="1"/>
            </a:lvl2pPr>
            <a:lvl3pPr marL="912157" indent="0">
              <a:buNone/>
              <a:defRPr sz="1800" b="1"/>
            </a:lvl3pPr>
            <a:lvl4pPr marL="1368231" indent="0">
              <a:buNone/>
              <a:defRPr sz="1600" b="1"/>
            </a:lvl4pPr>
            <a:lvl5pPr marL="1824309" indent="0">
              <a:buNone/>
              <a:defRPr sz="1600" b="1"/>
            </a:lvl5pPr>
            <a:lvl6pPr marL="2280381" indent="0">
              <a:buNone/>
              <a:defRPr sz="1600" b="1"/>
            </a:lvl6pPr>
            <a:lvl7pPr marL="2736461" indent="0">
              <a:buNone/>
              <a:defRPr sz="1600" b="1"/>
            </a:lvl7pPr>
            <a:lvl8pPr marL="3192536" indent="0">
              <a:buNone/>
              <a:defRPr sz="1600" b="1"/>
            </a:lvl8pPr>
            <a:lvl9pPr marL="364861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08212"/>
            <a:ext cx="5486400" cy="3951288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7547581"/>
      </p:ext>
    </p:extLst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6554466"/>
      </p:ext>
    </p:extLst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070718"/>
      </p:ext>
    </p:extLst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 dirty="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9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4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8D83C5-9F41-166F-BEBC-7998BDAEB50D}"/>
              </a:ext>
            </a:extLst>
          </p:cNvPr>
          <p:cNvGrpSpPr/>
          <p:nvPr userDrawn="1"/>
        </p:nvGrpSpPr>
        <p:grpSpPr>
          <a:xfrm>
            <a:off x="7015689" y="0"/>
            <a:ext cx="5176311" cy="6858001"/>
            <a:chOff x="7015689" y="-1"/>
            <a:chExt cx="5176311" cy="685800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688413-4C0B-2560-6668-A8FD922158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9" r="30747"/>
            <a:stretch/>
          </p:blipFill>
          <p:spPr>
            <a:xfrm flipH="1" flipV="1">
              <a:off x="7015689" y="0"/>
              <a:ext cx="5176311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EBCAE4-1E6B-698D-53B8-D27C21824BCA}"/>
                </a:ext>
              </a:extLst>
            </p:cNvPr>
            <p:cNvSpPr/>
            <p:nvPr/>
          </p:nvSpPr>
          <p:spPr>
            <a:xfrm>
              <a:off x="7015689" y="-1"/>
              <a:ext cx="5176311" cy="677787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alpha val="0"/>
                  </a:schemeClr>
                </a:gs>
                <a:gs pos="95000">
                  <a:schemeClr val="bg2"/>
                </a:gs>
              </a:gsLst>
              <a:lin ang="16200000" scaled="1"/>
              <a:tileRect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50626A"/>
                </a:solidFill>
                <a:effectLst/>
                <a:uFillTx/>
                <a:latin typeface="Arial" panose="020B0604020202020204" pitchFamily="34" charset="0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06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20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7FAC833F-DCE5-5F03-691D-3B2EDF42D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16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2AB04DF-90DC-DE64-DE94-51D21117EAA3}"/>
              </a:ext>
            </a:extLst>
          </p:cNvPr>
          <p:cNvGrpSpPr/>
          <p:nvPr userDrawn="1"/>
        </p:nvGrpSpPr>
        <p:grpSpPr>
          <a:xfrm>
            <a:off x="7015689" y="-1"/>
            <a:ext cx="5176311" cy="6858001"/>
            <a:chOff x="7015689" y="-1"/>
            <a:chExt cx="5176311" cy="6858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5727E7-0CEB-3F42-D5D8-424A5AAAB8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9" r="30747"/>
            <a:stretch/>
          </p:blipFill>
          <p:spPr>
            <a:xfrm flipH="1" flipV="1">
              <a:off x="7015689" y="0"/>
              <a:ext cx="5176311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6027A1-0D62-16F7-30CE-41BFE8B26C7C}"/>
                </a:ext>
              </a:extLst>
            </p:cNvPr>
            <p:cNvSpPr/>
            <p:nvPr/>
          </p:nvSpPr>
          <p:spPr>
            <a:xfrm>
              <a:off x="7015689" y="-1"/>
              <a:ext cx="5176311" cy="677787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alpha val="0"/>
                  </a:schemeClr>
                </a:gs>
                <a:gs pos="95000">
                  <a:schemeClr val="bg2"/>
                </a:gs>
              </a:gsLst>
              <a:lin ang="16200000" scaled="1"/>
              <a:tileRect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50626A"/>
                </a:solidFill>
                <a:effectLst/>
                <a:uFillTx/>
                <a:latin typeface="Arial" panose="020B0604020202020204" pitchFamily="34" charset="0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48C72C5-F4AD-8D61-8D2C-3AA618D58E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12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73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296055" y="192213"/>
            <a:ext cx="11536220" cy="80813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E5D93-47C7-C366-2531-FB5F387B51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34DA-6BF8-D5C0-A344-983B2CDFAB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29982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795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1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4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07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6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0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16438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576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33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76709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E5D93-47C7-C366-2531-FB5F387B51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34DA-6BF8-D5C0-A344-983B2CDFAB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3732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 dirty="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0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01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1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6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69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49301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41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18470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E5D93-47C7-C366-2531-FB5F387B51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34DA-6BF8-D5C0-A344-983B2CDFAB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533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10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ags" Target="../tags/tag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6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3" imgW="639" imgH="639" progId="TCLayout.ActiveDocument.1">
                  <p:embed/>
                </p:oleObj>
              </mc:Choice>
              <mc:Fallback>
                <p:oleObj name="think-cell スライド" r:id="rId13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1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704" r:id="rId9"/>
    <p:sldLayoutId id="2147483705" r:id="rId10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639" imgH="639" progId="TCLayout.ActiveDocument.1">
                  <p:embed/>
                </p:oleObj>
              </mc:Choice>
              <mc:Fallback>
                <p:oleObj name="think-cell スライド" r:id="rId11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0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5448"/>
            <a:ext cx="112471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8948"/>
            <a:ext cx="11247120" cy="479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 descr="RTPlogo_SmallnoRP_White.png">
            <a:extLst>
              <a:ext uri="{FF2B5EF4-FFF2-40B4-BE49-F238E27FC236}">
                <a16:creationId xmlns:a16="http://schemas.microsoft.com/office/drawing/2014/main" id="{0BD980E9-A4E1-3A41-9D60-2E45E51DB26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53333" y="141323"/>
            <a:ext cx="12128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75160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ransition spd="med"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effectLst/>
          <a:latin typeface="Arial"/>
          <a:ea typeface="ＭＳ Ｐゴシック" pitchFamily="96" charset="-128"/>
          <a:cs typeface="MS PGothic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  <a:ea typeface="ＭＳ Ｐゴシック" pitchFamily="96" charset="-128"/>
          <a:cs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  <a:ea typeface="ＭＳ Ｐゴシック" pitchFamily="96" charset="-128"/>
          <a:cs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  <a:ea typeface="ＭＳ Ｐゴシック" pitchFamily="96" charset="-128"/>
          <a:cs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  <a:ea typeface="ＭＳ Ｐゴシック" pitchFamily="96" charset="-128"/>
          <a:cs typeface="MS PGothic" pitchFamily="34" charset="-128"/>
        </a:defRPr>
      </a:lvl5pPr>
      <a:lvl6pPr marL="456079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</a:defRPr>
      </a:lvl6pPr>
      <a:lvl7pPr marL="912157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</a:defRPr>
      </a:lvl7pPr>
      <a:lvl8pPr marL="1368231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</a:defRPr>
      </a:lvl8pPr>
      <a:lvl9pPr marL="1824309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pitchFamily="1" charset="0"/>
        </a:defRPr>
      </a:lvl9pPr>
    </p:titleStyle>
    <p:bodyStyle>
      <a:lvl1pPr marL="339725" indent="-339725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SzPct val="90000"/>
        <a:buFont typeface="Times" charset="0"/>
        <a:buChar char="•"/>
        <a:defRPr sz="2000">
          <a:solidFill>
            <a:schemeClr val="tx1"/>
          </a:solidFill>
          <a:effectLst/>
          <a:latin typeface="Arial"/>
          <a:ea typeface="ＭＳ Ｐゴシック" pitchFamily="96" charset="-128"/>
          <a:cs typeface="MS PGothic" pitchFamily="34" charset="-128"/>
        </a:defRPr>
      </a:lvl1pPr>
      <a:lvl2pPr marL="739775" indent="-282575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2000">
          <a:solidFill>
            <a:schemeClr val="tx1"/>
          </a:solidFill>
          <a:effectLst/>
          <a:latin typeface="Arial"/>
          <a:ea typeface="ＭＳ Ｐゴシック" pitchFamily="96" charset="-128"/>
          <a:cs typeface="MS PGothic" charset="0"/>
        </a:defRPr>
      </a:lvl2pPr>
      <a:lvl3pPr marL="1081088" indent="-225425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SzPct val="60000"/>
        <a:buFont typeface="Times" charset="0"/>
        <a:buChar char="•"/>
        <a:defRPr sz="2000">
          <a:solidFill>
            <a:schemeClr val="tx1"/>
          </a:solidFill>
          <a:effectLst/>
          <a:latin typeface="Arial"/>
          <a:ea typeface="ＭＳ Ｐゴシック" pitchFamily="96" charset="-128"/>
          <a:cs typeface="MS PGothic" pitchFamily="34" charset="-128"/>
        </a:defRPr>
      </a:lvl3pPr>
      <a:lvl4pPr marL="1423988" indent="-225425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Char char="–"/>
        <a:defRPr sz="1800">
          <a:solidFill>
            <a:schemeClr val="tx1"/>
          </a:solidFill>
          <a:effectLst/>
          <a:latin typeface="Arial"/>
          <a:ea typeface="ＭＳ Ｐゴシック" pitchFamily="96" charset="-128"/>
          <a:cs typeface="MS PGothic" charset="0"/>
        </a:defRPr>
      </a:lvl4pPr>
      <a:lvl5pPr marL="1766888" indent="-225425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Font typeface="Verdana" pitchFamily="34" charset="0"/>
        <a:buChar char="•"/>
        <a:defRPr sz="1800">
          <a:solidFill>
            <a:schemeClr val="tx1"/>
          </a:solidFill>
          <a:effectLst/>
          <a:latin typeface="Arial"/>
          <a:ea typeface="ＭＳ Ｐゴシック" pitchFamily="96" charset="-128"/>
          <a:cs typeface="MS PGothic" charset="0"/>
        </a:defRPr>
      </a:lvl5pPr>
      <a:lvl6pPr marL="2223372" indent="-228040" algn="l" rtl="0" eaLnBrk="0" fontAlgn="base" hangingPunct="0">
        <a:spcBef>
          <a:spcPct val="20000"/>
        </a:spcBef>
        <a:spcAft>
          <a:spcPct val="8000"/>
        </a:spcAft>
        <a:buClr>
          <a:schemeClr val="accent1"/>
        </a:buClr>
        <a:buFont typeface="Verdana" pitchFamily="1" charset="0"/>
        <a:buChar char="•"/>
        <a:defRPr sz="2000">
          <a:solidFill>
            <a:schemeClr val="tx1"/>
          </a:solidFill>
          <a:latin typeface="+mn-lt"/>
        </a:defRPr>
      </a:lvl6pPr>
      <a:lvl7pPr marL="2679451" indent="-228040" algn="l" rtl="0" eaLnBrk="0" fontAlgn="base" hangingPunct="0">
        <a:spcBef>
          <a:spcPct val="20000"/>
        </a:spcBef>
        <a:spcAft>
          <a:spcPct val="8000"/>
        </a:spcAft>
        <a:buClr>
          <a:schemeClr val="accent1"/>
        </a:buClr>
        <a:buFont typeface="Verdana" pitchFamily="1" charset="0"/>
        <a:buChar char="•"/>
        <a:defRPr sz="2000">
          <a:solidFill>
            <a:schemeClr val="tx1"/>
          </a:solidFill>
          <a:latin typeface="+mn-lt"/>
        </a:defRPr>
      </a:lvl7pPr>
      <a:lvl8pPr marL="3135521" indent="-228040" algn="l" rtl="0" eaLnBrk="0" fontAlgn="base" hangingPunct="0">
        <a:spcBef>
          <a:spcPct val="20000"/>
        </a:spcBef>
        <a:spcAft>
          <a:spcPct val="8000"/>
        </a:spcAft>
        <a:buClr>
          <a:schemeClr val="accent1"/>
        </a:buClr>
        <a:buFont typeface="Verdana" pitchFamily="1" charset="0"/>
        <a:buChar char="•"/>
        <a:defRPr sz="2000">
          <a:solidFill>
            <a:schemeClr val="tx1"/>
          </a:solidFill>
          <a:latin typeface="+mn-lt"/>
        </a:defRPr>
      </a:lvl8pPr>
      <a:lvl9pPr marL="3591601" indent="-228040" algn="l" rtl="0" eaLnBrk="0" fontAlgn="base" hangingPunct="0">
        <a:spcBef>
          <a:spcPct val="20000"/>
        </a:spcBef>
        <a:spcAft>
          <a:spcPct val="8000"/>
        </a:spcAft>
        <a:buClr>
          <a:schemeClr val="accent1"/>
        </a:buClr>
        <a:buFont typeface="Verdana" pitchFamily="1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79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157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231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309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381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461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536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611" algn="l" defTabSz="9121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3F6B0A7-CFC1-AA2A-5899-22990777791D}"/>
              </a:ext>
            </a:extLst>
          </p:cNvPr>
          <p:cNvGrpSpPr/>
          <p:nvPr userDrawn="1"/>
        </p:nvGrpSpPr>
        <p:grpSpPr>
          <a:xfrm>
            <a:off x="7015689" y="0"/>
            <a:ext cx="5176311" cy="6858001"/>
            <a:chOff x="7015689" y="-1"/>
            <a:chExt cx="5176311" cy="685800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716DA7C-D735-7EA2-2797-12D5CED182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9" r="30747"/>
            <a:stretch/>
          </p:blipFill>
          <p:spPr>
            <a:xfrm flipH="1" flipV="1">
              <a:off x="7015689" y="0"/>
              <a:ext cx="5176311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3DBB82-9FB1-B638-5741-4CF203AB279A}"/>
                </a:ext>
              </a:extLst>
            </p:cNvPr>
            <p:cNvSpPr/>
            <p:nvPr/>
          </p:nvSpPr>
          <p:spPr>
            <a:xfrm>
              <a:off x="7015689" y="-1"/>
              <a:ext cx="5176311" cy="677787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alpha val="0"/>
                  </a:schemeClr>
                </a:gs>
                <a:gs pos="95000">
                  <a:schemeClr val="bg2"/>
                </a:gs>
              </a:gsLst>
              <a:lin ang="16200000" scaled="1"/>
              <a:tileRect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50626A"/>
                </a:solidFill>
                <a:effectLst/>
                <a:uFillTx/>
                <a:latin typeface="Arial" panose="020B0604020202020204" pitchFamily="34" charset="0"/>
                <a:ea typeface="+mn-ea"/>
                <a:cs typeface="+mn-cs"/>
                <a:sym typeface="Calibri"/>
              </a:endParaRPr>
            </a:p>
          </p:txBody>
        </p:sp>
      </p:grp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5" imgW="639" imgH="639" progId="TCLayout.ActiveDocument.1">
                  <p:embed/>
                </p:oleObj>
              </mc:Choice>
              <mc:Fallback>
                <p:oleObj name="think-cell スライド" r:id="rId15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5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4" imgW="639" imgH="639" progId="TCLayout.ActiveDocument.1">
                  <p:embed/>
                </p:oleObj>
              </mc:Choice>
              <mc:Fallback>
                <p:oleObj name="think-cell スライド" r:id="rId14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4" imgW="639" imgH="639" progId="TCLayout.ActiveDocument.1">
                  <p:embed/>
                </p:oleObj>
              </mc:Choice>
              <mc:Fallback>
                <p:oleObj name="think-cell スライド" r:id="rId14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7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13" Type="http://schemas.openxmlformats.org/officeDocument/2006/relationships/chart" Target="../charts/chart20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12" Type="http://schemas.openxmlformats.org/officeDocument/2006/relationships/chart" Target="../charts/chart1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13.xml"/><Relationship Id="rId11" Type="http://schemas.openxmlformats.org/officeDocument/2006/relationships/chart" Target="../charts/chart18.xml"/><Relationship Id="rId5" Type="http://schemas.openxmlformats.org/officeDocument/2006/relationships/chart" Target="../charts/chart12.xml"/><Relationship Id="rId10" Type="http://schemas.openxmlformats.org/officeDocument/2006/relationships/chart" Target="../charts/chart17.xml"/><Relationship Id="rId4" Type="http://schemas.openxmlformats.org/officeDocument/2006/relationships/chart" Target="../charts/chart11.xml"/><Relationship Id="rId9" Type="http://schemas.openxmlformats.org/officeDocument/2006/relationships/chart" Target="../charts/chart16.xml"/><Relationship Id="rId14" Type="http://schemas.openxmlformats.org/officeDocument/2006/relationships/chart" Target="../charts/char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1C_FBC3F84F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3.xml"/><Relationship Id="rId3" Type="http://schemas.openxmlformats.org/officeDocument/2006/relationships/chart" Target="../charts/chart28.xml"/><Relationship Id="rId7" Type="http://schemas.openxmlformats.org/officeDocument/2006/relationships/chart" Target="../charts/chart3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31.xml"/><Relationship Id="rId5" Type="http://schemas.openxmlformats.org/officeDocument/2006/relationships/chart" Target="../charts/chart30.xml"/><Relationship Id="rId10" Type="http://schemas.openxmlformats.org/officeDocument/2006/relationships/chart" Target="../charts/chart35.xml"/><Relationship Id="rId4" Type="http://schemas.openxmlformats.org/officeDocument/2006/relationships/chart" Target="../charts/chart29.xml"/><Relationship Id="rId9" Type="http://schemas.openxmlformats.org/officeDocument/2006/relationships/chart" Target="../charts/chart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39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4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D8E5-36BC-B323-169D-0DD60010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64" y="3778532"/>
            <a:ext cx="5864087" cy="808138"/>
          </a:xfrm>
        </p:spPr>
        <p:txBody>
          <a:bodyPr/>
          <a:lstStyle/>
          <a:p>
            <a:r>
              <a:rPr lang="en-US" sz="2800" dirty="0"/>
              <a:t>May 2026 FYARRO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269692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0A8502-8048-357E-E193-2F465670C1A8}"/>
              </a:ext>
            </a:extLst>
          </p:cNvPr>
          <p:cNvSpPr txBox="1">
            <a:spLocks/>
          </p:cNvSpPr>
          <p:nvPr/>
        </p:nvSpPr>
        <p:spPr>
          <a:xfrm>
            <a:off x="331694" y="4989081"/>
            <a:ext cx="5919029" cy="14716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Daily average demand units: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  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0" marR="0" lvl="0" indent="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98450" marR="0" lvl="1" indent="0" algn="l" defTabSz="91424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System Font Regular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98450" marR="0" lvl="1" indent="0" algn="l" defTabSz="91424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System Font Regular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288B7C-91B3-05AB-56D1-95EEF131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01" y="79875"/>
            <a:ext cx="11536220" cy="808138"/>
          </a:xfrm>
        </p:spPr>
        <p:txBody>
          <a:bodyPr/>
          <a:lstStyle/>
          <a:p>
            <a:r>
              <a:rPr lang="en-US" dirty="0"/>
              <a:t>May Sales Performance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A5D98E-2803-A652-5834-BD040BA898A7}"/>
              </a:ext>
            </a:extLst>
          </p:cNvPr>
          <p:cNvSpPr txBox="1">
            <a:spLocks/>
          </p:cNvSpPr>
          <p:nvPr/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COPYRIGHT-CONFIDENTIAL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6A6A582C-B25F-A764-D3B4-794FA617D554}"/>
              </a:ext>
            </a:extLst>
          </p:cNvPr>
          <p:cNvSpPr txBox="1">
            <a:spLocks/>
          </p:cNvSpPr>
          <p:nvPr/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236F65-F317-9F47-AE3D-2E2BFE1DF15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BDDFB1B-4CB1-A7BE-6EE0-C445AEFAB0C3}"/>
              </a:ext>
            </a:extLst>
          </p:cNvPr>
          <p:cNvSpPr txBox="1">
            <a:spLocks/>
          </p:cNvSpPr>
          <p:nvPr/>
        </p:nvSpPr>
        <p:spPr>
          <a:xfrm>
            <a:off x="331687" y="511825"/>
            <a:ext cx="11823921" cy="295514"/>
          </a:xfrm>
          <a:prstGeom prst="rect">
            <a:avLst/>
          </a:prstGeom>
          <a:ln w="12700">
            <a:miter lim="400000"/>
          </a:ln>
        </p:spPr>
        <p:txBody>
          <a:bodyPr lIns="45720" rIns="45719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240" eaLnBrk="1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defRPr i="1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indent="-165100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indent="-173038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Demand and Net Sales are inline with Budget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A1989-3606-4BF9-7997-C10E6265CC2E}"/>
              </a:ext>
            </a:extLst>
          </p:cNvPr>
          <p:cNvCxnSpPr>
            <a:cxnSpLocks/>
          </p:cNvCxnSpPr>
          <p:nvPr/>
        </p:nvCxnSpPr>
        <p:spPr>
          <a:xfrm>
            <a:off x="6342038" y="1001228"/>
            <a:ext cx="0" cy="5773739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41C234-10A6-9B69-05B9-FE66CD8FA580}"/>
              </a:ext>
            </a:extLst>
          </p:cNvPr>
          <p:cNvSpPr txBox="1"/>
          <p:nvPr/>
        </p:nvSpPr>
        <p:spPr>
          <a:xfrm>
            <a:off x="493373" y="883415"/>
            <a:ext cx="6096000" cy="313932"/>
          </a:xfrm>
          <a:prstGeom prst="rect">
            <a:avLst/>
          </a:prstGeom>
          <a:ln w="12700">
            <a:miter lim="400000"/>
          </a:ln>
        </p:spPr>
        <p:txBody>
          <a:bodyPr lIns="45720" rIns="45719" anchor="b">
            <a:noAutofit/>
          </a:bodyPr>
          <a:lstStyle>
            <a:lvl1pPr marR="0" indent="0" defTabSz="91424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Daily average demand (Recent 14 Months)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2452337-7DFD-2FAB-F860-95FA41B99E36}"/>
              </a:ext>
            </a:extLst>
          </p:cNvPr>
          <p:cNvGraphicFramePr/>
          <p:nvPr/>
        </p:nvGraphicFramePr>
        <p:xfrm>
          <a:off x="6455433" y="3135922"/>
          <a:ext cx="5488949" cy="181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AEFDE48-0712-69E5-EFAF-5DB8CE9291F1}"/>
              </a:ext>
            </a:extLst>
          </p:cNvPr>
          <p:cNvSpPr txBox="1"/>
          <p:nvPr/>
        </p:nvSpPr>
        <p:spPr>
          <a:xfrm>
            <a:off x="6455433" y="3176105"/>
            <a:ext cx="6096000" cy="313932"/>
          </a:xfrm>
          <a:prstGeom prst="rect">
            <a:avLst/>
          </a:prstGeom>
          <a:ln w="12700">
            <a:miter lim="400000"/>
          </a:ln>
        </p:spPr>
        <p:txBody>
          <a:bodyPr lIns="45720" rIns="45719" anchor="b">
            <a:noAutofit/>
          </a:bodyPr>
          <a:lstStyle>
            <a:lvl1pPr marR="0" indent="0" defTabSz="91424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Net sales by Quarter- LTD ($M)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4FB3E24-27A7-199D-3565-F8DE03CA7852}"/>
              </a:ext>
            </a:extLst>
          </p:cNvPr>
          <p:cNvGraphicFramePr/>
          <p:nvPr/>
        </p:nvGraphicFramePr>
        <p:xfrm>
          <a:off x="351245" y="1206347"/>
          <a:ext cx="5911961" cy="1760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">
            <a:extLst>
              <a:ext uri="{FF2B5EF4-FFF2-40B4-BE49-F238E27FC236}">
                <a16:creationId xmlns:a16="http://schemas.microsoft.com/office/drawing/2014/main" id="{9CF3E3BB-728D-A621-C05C-10F33F8AFEF6}"/>
              </a:ext>
            </a:extLst>
          </p:cNvPr>
          <p:cNvSpPr txBox="1"/>
          <p:nvPr/>
        </p:nvSpPr>
        <p:spPr>
          <a:xfrm>
            <a:off x="10099297" y="4071017"/>
            <a:ext cx="491876" cy="230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+0.9%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5BABFA-A6FE-6656-E751-8BA11FB73120}"/>
              </a:ext>
            </a:extLst>
          </p:cNvPr>
          <p:cNvSpPr txBox="1"/>
          <p:nvPr/>
        </p:nvSpPr>
        <p:spPr>
          <a:xfrm>
            <a:off x="209201" y="6626095"/>
            <a:ext cx="1076727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Net Sales and Demand data are updated through 05/31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471B65-2F76-7D0A-F0E9-36007EDD07B2}"/>
              </a:ext>
            </a:extLst>
          </p:cNvPr>
          <p:cNvSpPr/>
          <p:nvPr/>
        </p:nvSpPr>
        <p:spPr>
          <a:xfrm>
            <a:off x="376228" y="5408968"/>
            <a:ext cx="2551699" cy="827119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  <a:sym typeface="Calibri"/>
              </a:rPr>
              <a:t>May Month – 21 units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  <a:sym typeface="Calibri"/>
              </a:rPr>
              <a:t>vs Apr:  +1.4 / +7%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323ACDB2-4669-8165-393B-1CC950A17C6F}"/>
              </a:ext>
            </a:extLst>
          </p:cNvPr>
          <p:cNvSpPr txBox="1"/>
          <p:nvPr/>
        </p:nvSpPr>
        <p:spPr>
          <a:xfrm>
            <a:off x="10410352" y="3882604"/>
            <a:ext cx="583259" cy="230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+17.8%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37F228F2-6B0E-C02C-D5D3-DDA5EF7CA7F4}"/>
              </a:ext>
            </a:extLst>
          </p:cNvPr>
          <p:cNvSpPr txBox="1"/>
          <p:nvPr/>
        </p:nvSpPr>
        <p:spPr>
          <a:xfrm>
            <a:off x="10695974" y="3971819"/>
            <a:ext cx="4918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+10.5%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A58AECD9-F361-B331-13D7-9663AD187384}"/>
              </a:ext>
            </a:extLst>
          </p:cNvPr>
          <p:cNvSpPr txBox="1">
            <a:spLocks/>
          </p:cNvSpPr>
          <p:nvPr/>
        </p:nvSpPr>
        <p:spPr>
          <a:xfrm>
            <a:off x="6537891" y="860447"/>
            <a:ext cx="3399969" cy="313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20" rIns="45719" anchor="b">
            <a:noAutofit/>
          </a:bodyPr>
          <a:lstStyle>
            <a:lvl1pPr marL="0" marR="0" indent="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20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57200" marR="0" indent="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914400" marR="0" indent="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8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1371600" marR="0" indent="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828800" marR="0" indent="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286000" marR="0" indent="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743200" marR="0" indent="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200400" marR="0" indent="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657600" marR="0" indent="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Revenue Progress Bar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378CE3A-F12A-DF63-C933-006BE9AB2AB8}"/>
              </a:ext>
            </a:extLst>
          </p:cNvPr>
          <p:cNvSpPr/>
          <p:nvPr/>
        </p:nvSpPr>
        <p:spPr>
          <a:xfrm>
            <a:off x="3291208" y="5404550"/>
            <a:ext cx="2730901" cy="840576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  <a:sym typeface="Calibri"/>
              </a:rPr>
              <a:t>YTD – 20.6 units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  <a:sym typeface="Calibri"/>
              </a:rPr>
              <a:t>vs Budget: +0.7 / +4%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4A03EAED-296C-B2FC-E366-B830A3851B23}"/>
              </a:ext>
            </a:extLst>
          </p:cNvPr>
          <p:cNvGraphicFramePr>
            <a:graphicFrameLocks/>
          </p:cNvGraphicFramePr>
          <p:nvPr/>
        </p:nvGraphicFramePr>
        <p:xfrm>
          <a:off x="351245" y="3016635"/>
          <a:ext cx="5919029" cy="1750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362B02CE-4E2F-F77B-9F0B-6245A176465F}"/>
              </a:ext>
            </a:extLst>
          </p:cNvPr>
          <p:cNvSpPr/>
          <p:nvPr/>
        </p:nvSpPr>
        <p:spPr>
          <a:xfrm>
            <a:off x="6461222" y="1206347"/>
            <a:ext cx="5488952" cy="1889084"/>
          </a:xfrm>
          <a:prstGeom prst="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1A858D9-E5BF-225C-1322-843957881B31}"/>
              </a:ext>
            </a:extLst>
          </p:cNvPr>
          <p:cNvGraphicFramePr/>
          <p:nvPr/>
        </p:nvGraphicFramePr>
        <p:xfrm>
          <a:off x="6325690" y="1668997"/>
          <a:ext cx="5240208" cy="969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8010CF3-46A6-3900-586E-0FF434E8728D}"/>
              </a:ext>
            </a:extLst>
          </p:cNvPr>
          <p:cNvGraphicFramePr/>
          <p:nvPr/>
        </p:nvGraphicFramePr>
        <p:xfrm>
          <a:off x="6443350" y="1312792"/>
          <a:ext cx="4957895" cy="80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F67555-E1B2-7EBB-8BD0-393624F30A2D}"/>
              </a:ext>
            </a:extLst>
          </p:cNvPr>
          <p:cNvGraphicFramePr/>
          <p:nvPr/>
        </p:nvGraphicFramePr>
        <p:xfrm>
          <a:off x="6341994" y="2256276"/>
          <a:ext cx="5838578" cy="80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8EDE01A-C348-5DAA-A151-EE535B65D78B}"/>
              </a:ext>
            </a:extLst>
          </p:cNvPr>
          <p:cNvSpPr txBox="1">
            <a:spLocks/>
          </p:cNvSpPr>
          <p:nvPr/>
        </p:nvSpPr>
        <p:spPr>
          <a:xfrm>
            <a:off x="6436816" y="5093988"/>
            <a:ext cx="4556794" cy="1151138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45720" rIns="45719">
            <a:noAutofit/>
          </a:bodyPr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sng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Draft Net Sales May compared to Budget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May QTD:  $6.2M ; +0.2M / +3% 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Q2 Balance to go : $2.7M (in line with June Budget)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</a:b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Aadi Bio Kaken 2026 net sales budget : $36.2m </a:t>
            </a:r>
          </a:p>
          <a:p>
            <a:pPr marL="0" marR="0" lvl="0" indent="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255800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E01F-CA8D-9242-F855-EF890D24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FA44-CC0C-5B65-509E-27F51036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</p:spPr>
        <p:txBody>
          <a:bodyPr anchor="t">
            <a:normAutofit/>
          </a:bodyPr>
          <a:lstStyle/>
          <a:p>
            <a:r>
              <a:rPr lang="en-US" sz="2400" dirty="0"/>
              <a:t>Demand</a:t>
            </a:r>
            <a:br>
              <a:rPr lang="en-US" sz="2400" dirty="0"/>
            </a:br>
            <a:endParaRPr lang="en-US" sz="2400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86F3A6-A9B0-1A87-8948-5DEADCCB02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96055" y="6412748"/>
            <a:ext cx="426564" cy="365125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0236F65-F317-9F47-AE3D-2E2BFE1DF15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BC4467E-DBF6-3CB3-33AE-A35EB1D588DB}"/>
              </a:ext>
            </a:extLst>
          </p:cNvPr>
          <p:cNvSpPr txBox="1">
            <a:spLocks/>
          </p:cNvSpPr>
          <p:nvPr/>
        </p:nvSpPr>
        <p:spPr>
          <a:xfrm>
            <a:off x="368079" y="470882"/>
            <a:ext cx="11823921" cy="295514"/>
          </a:xfrm>
          <a:prstGeom prst="rect">
            <a:avLst/>
          </a:prstGeom>
          <a:ln w="12700">
            <a:miter lim="400000"/>
          </a:ln>
        </p:spPr>
        <p:txBody>
          <a:bodyPr lIns="45720" rIns="45719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240" eaLnBrk="1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defRPr i="1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indent="-165100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indent="-173038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1729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B4268A-17E0-8BFF-BEF1-8FE0D699A255}"/>
              </a:ext>
            </a:extLst>
          </p:cNvPr>
          <p:cNvSpPr txBox="1"/>
          <p:nvPr/>
        </p:nvSpPr>
        <p:spPr>
          <a:xfrm>
            <a:off x="471237" y="878389"/>
            <a:ext cx="6096000" cy="313932"/>
          </a:xfrm>
          <a:prstGeom prst="rect">
            <a:avLst/>
          </a:prstGeom>
          <a:ln w="12700">
            <a:miter lim="400000"/>
          </a:ln>
        </p:spPr>
        <p:txBody>
          <a:bodyPr lIns="45720" rIns="45719" anchor="b">
            <a:noAutofit/>
          </a:bodyPr>
          <a:lstStyle>
            <a:lvl1pPr marR="0" indent="0" defTabSz="91424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729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4EF3F-CA9B-5101-84E2-A32D3D386C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84423" y="6459462"/>
            <a:ext cx="5455920" cy="23083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COPYRIGHT-CONFIDENTIAL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C61279-7876-F437-A526-F918F847C4C3}"/>
              </a:ext>
            </a:extLst>
          </p:cNvPr>
          <p:cNvCxnSpPr>
            <a:cxnSpLocks/>
          </p:cNvCxnSpPr>
          <p:nvPr/>
        </p:nvCxnSpPr>
        <p:spPr>
          <a:xfrm>
            <a:off x="4964806" y="1970468"/>
            <a:ext cx="0" cy="3052293"/>
          </a:xfrm>
          <a:prstGeom prst="line">
            <a:avLst/>
          </a:prstGeom>
          <a:noFill/>
          <a:ln w="28575" cap="flat">
            <a:solidFill>
              <a:srgbClr val="2AC8FE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92CB1E2-3CAC-3F94-E799-3F8958C8B0A3}"/>
              </a:ext>
            </a:extLst>
          </p:cNvPr>
          <p:cNvSpPr/>
          <p:nvPr/>
        </p:nvSpPr>
        <p:spPr>
          <a:xfrm>
            <a:off x="5159881" y="3187761"/>
            <a:ext cx="1758335" cy="4824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  <a:sym typeface="Calibri"/>
              </a:rPr>
              <a:t>Raj to update slide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B0C2B-1263-D11B-A5D5-253649D5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72" y="1012099"/>
            <a:ext cx="10509645" cy="531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08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B5F7F2-B1DF-74D5-0BBC-0D6283A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92437"/>
            <a:ext cx="11536220" cy="808138"/>
          </a:xfrm>
        </p:spPr>
        <p:txBody>
          <a:bodyPr/>
          <a:lstStyle/>
          <a:p>
            <a:r>
              <a:rPr lang="en-US" dirty="0"/>
              <a:t>Inventory at Specialty Distributor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745061-9B32-A4BF-2A59-D13AA0D27277}"/>
              </a:ext>
            </a:extLst>
          </p:cNvPr>
          <p:cNvSpPr txBox="1">
            <a:spLocks/>
          </p:cNvSpPr>
          <p:nvPr/>
        </p:nvSpPr>
        <p:spPr>
          <a:xfrm>
            <a:off x="584423" y="6459462"/>
            <a:ext cx="5455920" cy="2308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COPYRIGHT-CONFIDENTIAL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FD6C0742-D041-E2AE-DD87-50266A0A08F0}"/>
              </a:ext>
            </a:extLst>
          </p:cNvPr>
          <p:cNvSpPr txBox="1">
            <a:spLocks/>
          </p:cNvSpPr>
          <p:nvPr/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236F65-F317-9F47-AE3D-2E2BFE1DF15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F7201B6-5A50-53E1-9ED6-8C763848AA44}"/>
              </a:ext>
            </a:extLst>
          </p:cNvPr>
          <p:cNvSpPr txBox="1">
            <a:spLocks/>
          </p:cNvSpPr>
          <p:nvPr/>
        </p:nvSpPr>
        <p:spPr>
          <a:xfrm>
            <a:off x="296055" y="485109"/>
            <a:ext cx="11823921" cy="295514"/>
          </a:xfrm>
          <a:prstGeom prst="rect">
            <a:avLst/>
          </a:prstGeom>
          <a:ln w="12700">
            <a:miter lim="400000"/>
          </a:ln>
        </p:spPr>
        <p:txBody>
          <a:bodyPr lIns="45720" rIns="45719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240" eaLnBrk="1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defRPr i="1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indent="-165100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indent="-173038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Total Days on Hand (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DoH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) at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62AF8-5F41-44AB-FB0D-2950F5BA64DE}"/>
              </a:ext>
            </a:extLst>
          </p:cNvPr>
          <p:cNvSpPr txBox="1"/>
          <p:nvPr/>
        </p:nvSpPr>
        <p:spPr>
          <a:xfrm>
            <a:off x="471237" y="878389"/>
            <a:ext cx="6096000" cy="313932"/>
          </a:xfrm>
          <a:prstGeom prst="rect">
            <a:avLst/>
          </a:prstGeom>
          <a:ln w="12700">
            <a:miter lim="400000"/>
          </a:ln>
        </p:spPr>
        <p:txBody>
          <a:bodyPr lIns="45720" rIns="45719" anchor="b">
            <a:noAutofit/>
          </a:bodyPr>
          <a:lstStyle>
            <a:lvl1pPr marR="0" indent="0" defTabSz="91424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SD Inventory (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DoH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) as of May’26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1729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E2B61C4-6C2E-06E0-8F5F-6ECA91BEE3FC}"/>
              </a:ext>
            </a:extLst>
          </p:cNvPr>
          <p:cNvGraphicFramePr/>
          <p:nvPr/>
        </p:nvGraphicFramePr>
        <p:xfrm>
          <a:off x="491449" y="1277241"/>
          <a:ext cx="5152323" cy="2786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1357C1D-86E5-F9DA-426C-9C3251415060}"/>
              </a:ext>
            </a:extLst>
          </p:cNvPr>
          <p:cNvSpPr txBox="1"/>
          <p:nvPr/>
        </p:nvSpPr>
        <p:spPr>
          <a:xfrm>
            <a:off x="5794970" y="879951"/>
            <a:ext cx="6096000" cy="313932"/>
          </a:xfrm>
          <a:prstGeom prst="rect">
            <a:avLst/>
          </a:prstGeom>
          <a:ln w="12700">
            <a:miter lim="400000"/>
          </a:ln>
        </p:spPr>
        <p:txBody>
          <a:bodyPr lIns="45720" rIns="45719" anchor="b">
            <a:noAutofit/>
          </a:bodyPr>
          <a:lstStyle>
            <a:lvl1pPr marR="0" indent="0" defTabSz="91424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accent4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20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R="0" indent="0" defTabSz="91424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None/>
              <a:tabLst/>
              <a:defRPr sz="1600" b="1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R="0" indent="0" defTabSz="91424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1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DoH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– Mar’26 to May’26 movement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C149D9-67AB-0072-B1BA-B42ABAF182D2}"/>
              </a:ext>
            </a:extLst>
          </p:cNvPr>
          <p:cNvSpPr txBox="1"/>
          <p:nvPr/>
        </p:nvSpPr>
        <p:spPr>
          <a:xfrm>
            <a:off x="491449" y="6543632"/>
            <a:ext cx="948803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t>Days on Hand calculated using inventory ending May’26 and Valid Demand in May’26; Portion of Business calculated using Demand vials YTD; </a:t>
            </a:r>
            <a:b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</a:b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t>CENCORA: (ASD + Oncology Supply), MPB: Mckesson Plasma And Biologics, MSH: Mckesson Specialty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BE962CD-626C-3F65-468C-7632FD6A1858}"/>
              </a:ext>
            </a:extLst>
          </p:cNvPr>
          <p:cNvGraphicFramePr>
            <a:graphicFrameLocks/>
          </p:cNvGraphicFramePr>
          <p:nvPr/>
        </p:nvGraphicFramePr>
        <p:xfrm>
          <a:off x="5764491" y="4155229"/>
          <a:ext cx="2678469" cy="217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F42F7B44-A55E-27CD-89F9-E44A01838778}"/>
              </a:ext>
            </a:extLst>
          </p:cNvPr>
          <p:cNvSpPr txBox="1">
            <a:spLocks/>
          </p:cNvSpPr>
          <p:nvPr/>
        </p:nvSpPr>
        <p:spPr>
          <a:xfrm>
            <a:off x="8563679" y="4155230"/>
            <a:ext cx="3294165" cy="2174737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20" rIns="45719" anchor="ctr">
            <a:noAutofit/>
          </a:bodyPr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Calibri"/>
            </a:endParaRPr>
          </a:p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Calibri"/>
              </a:rPr>
              <a:t>Mckesson Plasma And Biologics and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Calibri"/>
              </a:rPr>
              <a:t>Cencora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Arial"/>
              </a:rPr>
              <a:t>,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Calibri"/>
              </a:rPr>
              <a:t> are major customers ~ 45%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Calibri"/>
            </a:endParaRPr>
          </a:p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Calibri"/>
              </a:rPr>
              <a:t>Mckesson Specialty is the smallest SD with 20% of the business</a:t>
            </a:r>
          </a:p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Tanner commenced direct purchases from Aadi, no inventory maintained as they buy for existing demand</a:t>
            </a:r>
          </a:p>
          <a:p>
            <a:pPr marL="228560" marR="0" lvl="0" indent="-22856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C8642B3-F3C4-61C0-1B1F-3887FF3595B6}"/>
              </a:ext>
            </a:extLst>
          </p:cNvPr>
          <p:cNvSpPr txBox="1">
            <a:spLocks/>
          </p:cNvSpPr>
          <p:nvPr/>
        </p:nvSpPr>
        <p:spPr>
          <a:xfrm>
            <a:off x="491449" y="4155229"/>
            <a:ext cx="5152323" cy="2174738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45720" rIns="45719" anchor="t">
            <a:noAutofit/>
          </a:bodyPr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Total inventory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stood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at 14 days,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up from 12 days in April</a:t>
            </a: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Calibri"/>
              </a:rPr>
              <a:t>Mckesson Plasma And Biologics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inventory increased to 28 days (~4 weeks) in May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venir Book"/>
            </a:endParaRP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11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McKesson Specialty inventory was 0 days at the end of May; however, it was replenished to 8 days in 1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week of June</a:t>
            </a:r>
          </a:p>
          <a:p>
            <a:pPr marL="228560" marR="0" lvl="0" indent="-22856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11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Cencora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venir Book"/>
              </a:rPr>
              <a:t> inventory declined to 2 days in May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ova" panose="020B0504020202020204" pitchFamily="34" charset="0"/>
              <a:cs typeface="Arial" panose="020B0604020202020204" pitchFamily="34" charset="0"/>
              <a:sym typeface="Avenir Book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054C24-5A26-8892-32BC-E5C7AC0E1B15}"/>
              </a:ext>
            </a:extLst>
          </p:cNvPr>
          <p:cNvGraphicFramePr/>
          <p:nvPr/>
        </p:nvGraphicFramePr>
        <p:xfrm>
          <a:off x="5764490" y="1271220"/>
          <a:ext cx="6093354" cy="2798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448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2FE4-905E-E745-E643-CB6C8964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B2C8-96DD-736F-DCA7-1E060F7C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 2026 FYARRO Performance</a:t>
            </a:r>
          </a:p>
        </p:txBody>
      </p:sp>
    </p:spTree>
    <p:extLst>
      <p:ext uri="{BB962C8B-B14F-4D97-AF65-F5344CB8AC3E}">
        <p14:creationId xmlns:p14="http://schemas.microsoft.com/office/powerpoint/2010/main" val="1532694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3FCF-A1A8-1C0F-9ADE-ED294892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70BFA637-E6A6-8F33-3FD2-456DFE4D1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478512"/>
              </p:ext>
            </p:extLst>
          </p:nvPr>
        </p:nvGraphicFramePr>
        <p:xfrm>
          <a:off x="104776" y="586449"/>
          <a:ext cx="2142308" cy="1564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283464E-E53A-FA94-66FB-3ED9C0B9B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9776325"/>
              </p:ext>
            </p:extLst>
          </p:nvPr>
        </p:nvGraphicFramePr>
        <p:xfrm>
          <a:off x="4316860" y="543278"/>
          <a:ext cx="3322095" cy="1586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F70D0AA8-7B55-B298-4EFA-3A519372F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17478"/>
              </p:ext>
            </p:extLst>
          </p:nvPr>
        </p:nvGraphicFramePr>
        <p:xfrm>
          <a:off x="5309311" y="816055"/>
          <a:ext cx="2461370" cy="1268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94A2A905-0C66-4AF5-87C7-EF9F111C7C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827226"/>
              </p:ext>
            </p:extLst>
          </p:nvPr>
        </p:nvGraphicFramePr>
        <p:xfrm>
          <a:off x="6400201" y="624477"/>
          <a:ext cx="2785987" cy="149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3A60903-7687-DCBF-78CB-506D3DED8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570222"/>
              </p:ext>
            </p:extLst>
          </p:nvPr>
        </p:nvGraphicFramePr>
        <p:xfrm>
          <a:off x="263803" y="573243"/>
          <a:ext cx="4245921" cy="157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D49CB08-4394-0A6C-4DE1-4581FC8B5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143214"/>
              </p:ext>
            </p:extLst>
          </p:nvPr>
        </p:nvGraphicFramePr>
        <p:xfrm>
          <a:off x="1862335" y="540967"/>
          <a:ext cx="2508258" cy="1622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32" name="Chart 131">
            <a:extLst>
              <a:ext uri="{FF2B5EF4-FFF2-40B4-BE49-F238E27FC236}">
                <a16:creationId xmlns:a16="http://schemas.microsoft.com/office/drawing/2014/main" id="{4779246D-EA3F-14D8-514D-D1BB545139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024658"/>
              </p:ext>
            </p:extLst>
          </p:nvPr>
        </p:nvGraphicFramePr>
        <p:xfrm>
          <a:off x="160985" y="2752390"/>
          <a:ext cx="1224505" cy="15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35" name="Rectangle 134">
            <a:extLst>
              <a:ext uri="{FF2B5EF4-FFF2-40B4-BE49-F238E27FC236}">
                <a16:creationId xmlns:a16="http://schemas.microsoft.com/office/drawing/2014/main" id="{B0328B26-6C55-0579-A2BA-2C359D438429}"/>
              </a:ext>
            </a:extLst>
          </p:cNvPr>
          <p:cNvSpPr/>
          <p:nvPr/>
        </p:nvSpPr>
        <p:spPr>
          <a:xfrm>
            <a:off x="208008" y="2762395"/>
            <a:ext cx="3204028" cy="1463040"/>
          </a:xfrm>
          <a:prstGeom prst="rect">
            <a:avLst/>
          </a:prstGeom>
          <a:noFill/>
          <a:ln w="19050" cap="flat">
            <a:solidFill>
              <a:srgbClr val="98989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graphicFrame>
        <p:nvGraphicFramePr>
          <p:cNvPr id="187" name="Chart 186">
            <a:extLst>
              <a:ext uri="{FF2B5EF4-FFF2-40B4-BE49-F238E27FC236}">
                <a16:creationId xmlns:a16="http://schemas.microsoft.com/office/drawing/2014/main" id="{787388DF-2EBF-6BAB-3B8D-834855470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480075"/>
              </p:ext>
            </p:extLst>
          </p:nvPr>
        </p:nvGraphicFramePr>
        <p:xfrm>
          <a:off x="7068128" y="2773920"/>
          <a:ext cx="1806829" cy="1451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254E0BC1-BCE9-B517-A530-BF299BD2ADFA}"/>
              </a:ext>
            </a:extLst>
          </p:cNvPr>
          <p:cNvSpPr txBox="1"/>
          <p:nvPr/>
        </p:nvSpPr>
        <p:spPr>
          <a:xfrm>
            <a:off x="7062673" y="2522087"/>
            <a:ext cx="1822149" cy="246221"/>
          </a:xfrm>
          <a:prstGeom prst="rect">
            <a:avLst/>
          </a:prstGeom>
          <a:solidFill>
            <a:schemeClr val="accent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Top 25 Parent Accounts</a:t>
            </a:r>
          </a:p>
        </p:txBody>
      </p:sp>
      <p:graphicFrame>
        <p:nvGraphicFramePr>
          <p:cNvPr id="189" name="Chart 188">
            <a:extLst>
              <a:ext uri="{FF2B5EF4-FFF2-40B4-BE49-F238E27FC236}">
                <a16:creationId xmlns:a16="http://schemas.microsoft.com/office/drawing/2014/main" id="{19EADA22-ED4C-16E7-A72C-8BF08FD9D7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223209"/>
              </p:ext>
            </p:extLst>
          </p:nvPr>
        </p:nvGraphicFramePr>
        <p:xfrm>
          <a:off x="8929360" y="2773919"/>
          <a:ext cx="3146791" cy="1444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90" name="TextBox 189">
            <a:extLst>
              <a:ext uri="{FF2B5EF4-FFF2-40B4-BE49-F238E27FC236}">
                <a16:creationId xmlns:a16="http://schemas.microsoft.com/office/drawing/2014/main" id="{4E6B987D-0A46-131A-3EA6-7B4F7E4C2247}"/>
              </a:ext>
            </a:extLst>
          </p:cNvPr>
          <p:cNvSpPr txBox="1"/>
          <p:nvPr/>
        </p:nvSpPr>
        <p:spPr>
          <a:xfrm>
            <a:off x="8918327" y="2526909"/>
            <a:ext cx="316382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Child Accounts Breadth and Depth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744AD-EEA0-A98A-AC39-E4BC772177B4}"/>
              </a:ext>
            </a:extLst>
          </p:cNvPr>
          <p:cNvSpPr txBox="1"/>
          <p:nvPr/>
        </p:nvSpPr>
        <p:spPr>
          <a:xfrm>
            <a:off x="439654" y="5445495"/>
            <a:ext cx="65464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85%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B0238-DE4A-FF1E-955A-044FE257C1B0}"/>
              </a:ext>
            </a:extLst>
          </p:cNvPr>
          <p:cNvSpPr txBox="1"/>
          <p:nvPr/>
        </p:nvSpPr>
        <p:spPr>
          <a:xfrm>
            <a:off x="5574405" y="6201866"/>
            <a:ext cx="5064575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4. 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340B data is updated till 05/31/2026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5.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R4W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05/02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/2026 – 05/29/2026; P4W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04/04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/2026 – 05/01/2026; PP4W 03/07/2025 –04/03/2026;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    R8W 04/04/2026 – 05/29/2026; 2025TD 01/01/2025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–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 05/31/2026; YTD 01/01/2026 – 05/31/2026;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    QTD 01/01/2026 – 05/</a:t>
            </a:r>
            <a:r>
              <a:rPr lang="en-US" sz="800" dirty="0">
                <a:solidFill>
                  <a:srgbClr val="000000"/>
                </a:solidFill>
                <a:latin typeface="Arial Nova"/>
                <a:ea typeface="Arial"/>
                <a:cs typeface="Arial"/>
              </a:rPr>
              <a:t>31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/2026</a:t>
            </a:r>
          </a:p>
        </p:txBody>
      </p:sp>
      <p:graphicFrame>
        <p:nvGraphicFramePr>
          <p:cNvPr id="133" name="Chart 132">
            <a:extLst>
              <a:ext uri="{FF2B5EF4-FFF2-40B4-BE49-F238E27FC236}">
                <a16:creationId xmlns:a16="http://schemas.microsoft.com/office/drawing/2014/main" id="{3C2F19C2-25AA-E88E-9C59-5219C66B82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78347"/>
              </p:ext>
            </p:extLst>
          </p:nvPr>
        </p:nvGraphicFramePr>
        <p:xfrm>
          <a:off x="1292398" y="2749170"/>
          <a:ext cx="1139071" cy="1502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34" name="Chart 133">
            <a:extLst>
              <a:ext uri="{FF2B5EF4-FFF2-40B4-BE49-F238E27FC236}">
                <a16:creationId xmlns:a16="http://schemas.microsoft.com/office/drawing/2014/main" id="{3CBB44E8-DE54-5C4F-DD2A-DA9767BB4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2516586"/>
              </p:ext>
            </p:extLst>
          </p:nvPr>
        </p:nvGraphicFramePr>
        <p:xfrm>
          <a:off x="2343702" y="2749170"/>
          <a:ext cx="1179329" cy="1502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39" name="Arrow: Pentagon 138">
            <a:extLst>
              <a:ext uri="{FF2B5EF4-FFF2-40B4-BE49-F238E27FC236}">
                <a16:creationId xmlns:a16="http://schemas.microsoft.com/office/drawing/2014/main" id="{90DB6B0A-68A1-5D27-49BD-0D640827CFD8}"/>
              </a:ext>
            </a:extLst>
          </p:cNvPr>
          <p:cNvSpPr/>
          <p:nvPr/>
        </p:nvSpPr>
        <p:spPr>
          <a:xfrm>
            <a:off x="189518" y="2197313"/>
            <a:ext cx="3108960" cy="274320"/>
          </a:xfrm>
          <a:prstGeom prst="homePlate">
            <a:avLst/>
          </a:prstGeom>
          <a:solidFill>
            <a:schemeClr val="tx2">
              <a:lumMod val="50000"/>
            </a:schemeClr>
          </a:solidFill>
          <a:ln w="1905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Arial" panose="020B0604020202020204" pitchFamily="34" charset="0"/>
              </a:rPr>
              <a:t>Source of Business and Account metrics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63C4120-5093-D994-E02A-FD0AC093B3ED}"/>
              </a:ext>
            </a:extLst>
          </p:cNvPr>
          <p:cNvCxnSpPr>
            <a:cxnSpLocks/>
          </p:cNvCxnSpPr>
          <p:nvPr/>
        </p:nvCxnSpPr>
        <p:spPr>
          <a:xfrm>
            <a:off x="3293913" y="2327784"/>
            <a:ext cx="8777673" cy="6883"/>
          </a:xfrm>
          <a:prstGeom prst="line">
            <a:avLst/>
          </a:prstGeom>
          <a:ln w="1905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Arrow: Pentagon 141">
            <a:extLst>
              <a:ext uri="{FF2B5EF4-FFF2-40B4-BE49-F238E27FC236}">
                <a16:creationId xmlns:a16="http://schemas.microsoft.com/office/drawing/2014/main" id="{CF1560C4-9043-3F92-4918-DA83932FF9C6}"/>
              </a:ext>
            </a:extLst>
          </p:cNvPr>
          <p:cNvSpPr/>
          <p:nvPr/>
        </p:nvSpPr>
        <p:spPr>
          <a:xfrm>
            <a:off x="200483" y="114440"/>
            <a:ext cx="3108960" cy="274320"/>
          </a:xfrm>
          <a:prstGeom prst="homePlate">
            <a:avLst/>
          </a:prstGeom>
          <a:solidFill>
            <a:schemeClr val="tx2">
              <a:lumMod val="50000"/>
            </a:schemeClr>
          </a:solidFill>
          <a:ln w="1905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Arial" panose="020B0604020202020204" pitchFamily="34" charset="0"/>
              </a:rPr>
              <a:t>Net Sales and Demand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4AF2633-962D-AE8E-3653-11513B9811A1}"/>
              </a:ext>
            </a:extLst>
          </p:cNvPr>
          <p:cNvCxnSpPr>
            <a:cxnSpLocks/>
            <a:stCxn id="142" idx="3"/>
          </p:cNvCxnSpPr>
          <p:nvPr/>
        </p:nvCxnSpPr>
        <p:spPr>
          <a:xfrm>
            <a:off x="3309443" y="251600"/>
            <a:ext cx="8702460" cy="27001"/>
          </a:xfrm>
          <a:prstGeom prst="line">
            <a:avLst/>
          </a:prstGeom>
          <a:ln w="1905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46A1A0C-096E-6B16-D82E-8626188F329B}"/>
              </a:ext>
            </a:extLst>
          </p:cNvPr>
          <p:cNvSpPr txBox="1"/>
          <p:nvPr/>
        </p:nvSpPr>
        <p:spPr>
          <a:xfrm>
            <a:off x="3483307" y="2525768"/>
            <a:ext cx="3533990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Sarcoma Centers Penetration – (65)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671F58-004A-F9A6-2A58-FDC526BF5A97}"/>
              </a:ext>
            </a:extLst>
          </p:cNvPr>
          <p:cNvSpPr txBox="1"/>
          <p:nvPr/>
        </p:nvSpPr>
        <p:spPr>
          <a:xfrm>
            <a:off x="199156" y="2516174"/>
            <a:ext cx="3204028" cy="246221"/>
          </a:xfrm>
          <a:prstGeom prst="rect">
            <a:avLst/>
          </a:prstGeom>
          <a:solidFill>
            <a:schemeClr val="accent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Source of Business-YTD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86A2F-A67D-A658-2684-86B8E8E8AB0E}"/>
              </a:ext>
            </a:extLst>
          </p:cNvPr>
          <p:cNvSpPr txBox="1"/>
          <p:nvPr/>
        </p:nvSpPr>
        <p:spPr>
          <a:xfrm>
            <a:off x="9004555" y="2828632"/>
            <a:ext cx="8437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LTD Accounts: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378</a:t>
            </a:r>
          </a:p>
        </p:txBody>
      </p:sp>
      <p:sp>
        <p:nvSpPr>
          <p:cNvPr id="46" name="TextBox 45">
            <a:hlinkClick r:id="" action="ppaction://noaction"/>
            <a:extLst>
              <a:ext uri="{FF2B5EF4-FFF2-40B4-BE49-F238E27FC236}">
                <a16:creationId xmlns:a16="http://schemas.microsoft.com/office/drawing/2014/main" id="{A43C3496-5351-A442-3750-7675808139FA}"/>
              </a:ext>
            </a:extLst>
          </p:cNvPr>
          <p:cNvSpPr txBox="1"/>
          <p:nvPr/>
        </p:nvSpPr>
        <p:spPr>
          <a:xfrm>
            <a:off x="4714801" y="428605"/>
            <a:ext cx="3073078" cy="230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 Net Sales ($M)- Act (May) vs Budget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59F873-7975-8E35-CF43-9EFA8893270F}"/>
              </a:ext>
            </a:extLst>
          </p:cNvPr>
          <p:cNvGrpSpPr/>
          <p:nvPr/>
        </p:nvGrpSpPr>
        <p:grpSpPr>
          <a:xfrm>
            <a:off x="8222061" y="428375"/>
            <a:ext cx="3969938" cy="1697020"/>
            <a:chOff x="8126776" y="445782"/>
            <a:chExt cx="2651752" cy="17102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2053E6E-B237-C94C-F66D-FB3B14B2BEE9}"/>
                </a:ext>
              </a:extLst>
            </p:cNvPr>
            <p:cNvSpPr txBox="1"/>
            <p:nvPr/>
          </p:nvSpPr>
          <p:spPr>
            <a:xfrm>
              <a:off x="8259015" y="445782"/>
              <a:ext cx="2423160" cy="24622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Net Sales- %Growth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F5C4F7-CCFF-B310-F033-618548B93B98}"/>
                </a:ext>
              </a:extLst>
            </p:cNvPr>
            <p:cNvSpPr txBox="1"/>
            <p:nvPr/>
          </p:nvSpPr>
          <p:spPr>
            <a:xfrm>
              <a:off x="8126776" y="1492815"/>
              <a:ext cx="106953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17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%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943AA1-FB5A-6638-310D-7307673D339F}"/>
                </a:ext>
              </a:extLst>
            </p:cNvPr>
            <p:cNvSpPr/>
            <p:nvPr/>
          </p:nvSpPr>
          <p:spPr>
            <a:xfrm>
              <a:off x="8278420" y="812764"/>
              <a:ext cx="813584" cy="32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Y</a:t>
              </a:r>
              <a:r>
                <a:rPr lang="en-US" sz="1050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sym typeface="Arial"/>
                </a:rPr>
                <a:t>TD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5F9A9E-D554-6018-B09B-8D651D178029}"/>
                </a:ext>
              </a:extLst>
            </p:cNvPr>
            <p:cNvSpPr/>
            <p:nvPr/>
          </p:nvSpPr>
          <p:spPr>
            <a:xfrm>
              <a:off x="9061985" y="817161"/>
              <a:ext cx="813584" cy="32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QTD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3A26A5C-BE9A-A62F-43B0-820E8655740F}"/>
                </a:ext>
              </a:extLst>
            </p:cNvPr>
            <p:cNvSpPr/>
            <p:nvPr/>
          </p:nvSpPr>
          <p:spPr>
            <a:xfrm>
              <a:off x="9876326" y="795764"/>
              <a:ext cx="734863" cy="355479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sym typeface="Arial"/>
                </a:rPr>
                <a:t>May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’26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EC84DAA-3617-A1E0-92D2-3C0BA83874CA}"/>
                </a:ext>
              </a:extLst>
            </p:cNvPr>
            <p:cNvSpPr txBox="1"/>
            <p:nvPr/>
          </p:nvSpPr>
          <p:spPr>
            <a:xfrm>
              <a:off x="8928590" y="1489121"/>
              <a:ext cx="106953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%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BCBCB90-70D4-9434-56EF-D78AC3803156}"/>
                </a:ext>
              </a:extLst>
            </p:cNvPr>
            <p:cNvSpPr txBox="1"/>
            <p:nvPr/>
          </p:nvSpPr>
          <p:spPr>
            <a:xfrm>
              <a:off x="9708989" y="1485428"/>
              <a:ext cx="106953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15%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C51D938-7B93-A580-095D-BC24B3409A19}"/>
                </a:ext>
              </a:extLst>
            </p:cNvPr>
            <p:cNvSpPr/>
            <p:nvPr/>
          </p:nvSpPr>
          <p:spPr>
            <a:xfrm>
              <a:off x="8246743" y="1829000"/>
              <a:ext cx="813584" cy="249575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vs </a:t>
              </a:r>
              <a:r>
                <a:rPr lang="en-US" sz="1050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sym typeface="Arial"/>
                </a:rPr>
                <a:t>PYTD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C50909A-5554-4F43-CD7A-F46AC4B343E5}"/>
                </a:ext>
              </a:extLst>
            </p:cNvPr>
            <p:cNvSpPr/>
            <p:nvPr/>
          </p:nvSpPr>
          <p:spPr>
            <a:xfrm>
              <a:off x="9047269" y="1816991"/>
              <a:ext cx="813584" cy="249575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vs </a:t>
              </a:r>
              <a:r>
                <a:rPr lang="en-US" sz="1050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sym typeface="Arial"/>
                </a:rPr>
                <a:t>PQTD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D838664-5ABA-46EA-D8C3-25253A1E4EC4}"/>
                </a:ext>
              </a:extLst>
            </p:cNvPr>
            <p:cNvSpPr/>
            <p:nvPr/>
          </p:nvSpPr>
          <p:spPr>
            <a:xfrm>
              <a:off x="9814776" y="1819499"/>
              <a:ext cx="813584" cy="249575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vs Apr</a:t>
              </a:r>
              <a:r>
                <a:rPr lang="en-US" sz="1050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  <a:sym typeface="Arial"/>
                </a:rPr>
                <a:t>’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26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6805A38-77A4-7FCF-05B6-2FA45815AC55}"/>
                </a:ext>
              </a:extLst>
            </p:cNvPr>
            <p:cNvSpPr/>
            <p:nvPr/>
          </p:nvSpPr>
          <p:spPr>
            <a:xfrm>
              <a:off x="8271376" y="704813"/>
              <a:ext cx="2397732" cy="1451266"/>
            </a:xfrm>
            <a:prstGeom prst="rect">
              <a:avLst/>
            </a:prstGeom>
            <a:noFill/>
            <a:ln w="19050" cap="flat">
              <a:solidFill>
                <a:srgbClr val="989898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73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Calibri"/>
              </a:endParaRPr>
            </a:p>
          </p:txBody>
        </p:sp>
      </p:grp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AE12C0F-E200-1B03-9FD7-F9388BF66812}"/>
              </a:ext>
            </a:extLst>
          </p:cNvPr>
          <p:cNvSpPr/>
          <p:nvPr/>
        </p:nvSpPr>
        <p:spPr>
          <a:xfrm>
            <a:off x="7824931" y="1165973"/>
            <a:ext cx="563525" cy="382233"/>
          </a:xfrm>
          <a:prstGeom prst="rightArrow">
            <a:avLst/>
          </a:prstGeom>
          <a:solidFill>
            <a:srgbClr val="00859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200" b="0" i="0" u="none" strike="noStrike" kern="1200" cap="none" spc="0" normalizeH="0" baseline="0" noProof="0" dirty="0" err="1">
              <a:ln>
                <a:noFill/>
              </a:ln>
              <a:solidFill>
                <a:srgbClr val="50626A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6881D1BA-918C-9B75-7F65-3E61708B003C}"/>
              </a:ext>
            </a:extLst>
          </p:cNvPr>
          <p:cNvSpPr/>
          <p:nvPr/>
        </p:nvSpPr>
        <p:spPr>
          <a:xfrm>
            <a:off x="4068519" y="932325"/>
            <a:ext cx="179432" cy="21321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67A441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66420EE8-809B-5F31-4725-56F747B7C143}"/>
              </a:ext>
            </a:extLst>
          </p:cNvPr>
          <p:cNvSpPr/>
          <p:nvPr/>
        </p:nvSpPr>
        <p:spPr>
          <a:xfrm>
            <a:off x="10076005" y="1237536"/>
            <a:ext cx="251999" cy="21600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50626A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B9C8F5-0B35-442A-E910-E51A3CA6F313}"/>
              </a:ext>
            </a:extLst>
          </p:cNvPr>
          <p:cNvSpPr txBox="1"/>
          <p:nvPr/>
        </p:nvSpPr>
        <p:spPr>
          <a:xfrm>
            <a:off x="189518" y="399013"/>
            <a:ext cx="426082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Commercial Demand (Daily Average)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AB606-A6DC-D999-F5DF-8E87767E83E6}"/>
              </a:ext>
            </a:extLst>
          </p:cNvPr>
          <p:cNvSpPr/>
          <p:nvPr/>
        </p:nvSpPr>
        <p:spPr>
          <a:xfrm>
            <a:off x="189518" y="664454"/>
            <a:ext cx="4245921" cy="1503577"/>
          </a:xfrm>
          <a:prstGeom prst="rect">
            <a:avLst/>
          </a:prstGeom>
          <a:noFill/>
          <a:ln w="19050" cap="flat">
            <a:solidFill>
              <a:srgbClr val="98989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21C60B-E021-116B-F92F-F1E3BDA12EF4}"/>
              </a:ext>
            </a:extLst>
          </p:cNvPr>
          <p:cNvSpPr/>
          <p:nvPr/>
        </p:nvSpPr>
        <p:spPr>
          <a:xfrm>
            <a:off x="4734062" y="692435"/>
            <a:ext cx="3040172" cy="1440000"/>
          </a:xfrm>
          <a:prstGeom prst="rect">
            <a:avLst/>
          </a:prstGeom>
          <a:noFill/>
          <a:ln w="19050" cap="flat">
            <a:solidFill>
              <a:srgbClr val="98989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73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3F58262E-DB7B-62BE-B7C3-83F6C0B3D0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565029"/>
              </p:ext>
            </p:extLst>
          </p:nvPr>
        </p:nvGraphicFramePr>
        <p:xfrm>
          <a:off x="3475781" y="2762395"/>
          <a:ext cx="353217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E4DD95C-B7D5-8978-D0C4-0509707F2CB9}"/>
              </a:ext>
            </a:extLst>
          </p:cNvPr>
          <p:cNvSpPr txBox="1"/>
          <p:nvPr/>
        </p:nvSpPr>
        <p:spPr>
          <a:xfrm>
            <a:off x="160985" y="6249643"/>
            <a:ext cx="659207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Arial"/>
                <a:sym typeface="Arial"/>
              </a:rPr>
              <a:t>1. PAP vials are included for Source of business, Account metrics, and Sub-Nation metrics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Arial"/>
                <a:sym typeface="Arial"/>
              </a:rPr>
              <a:t>2. PYTD-Previous year till date; PQTD-Previous quarter till date; 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Arial"/>
                <a:cs typeface="Arial"/>
              </a:rPr>
              <a:t>3. Duration estimation Veeva claims- patients starts till Dec’23 were considered to have enough look-forward data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AAB201F3-F3C6-2A0B-E7A6-E392A1CF96AA}"/>
              </a:ext>
            </a:extLst>
          </p:cNvPr>
          <p:cNvSpPr/>
          <p:nvPr/>
        </p:nvSpPr>
        <p:spPr>
          <a:xfrm>
            <a:off x="8878555" y="1242578"/>
            <a:ext cx="251999" cy="21600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50626A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F3E1C73-CB7E-8B31-167B-5FA2E95C1BDA}"/>
              </a:ext>
            </a:extLst>
          </p:cNvPr>
          <p:cNvSpPr txBox="1">
            <a:spLocks/>
          </p:cNvSpPr>
          <p:nvPr/>
        </p:nvSpPr>
        <p:spPr>
          <a:xfrm>
            <a:off x="208008" y="4326272"/>
            <a:ext cx="11839741" cy="198845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45720" rIns="45719" anchor="ctr">
            <a:noAutofit/>
          </a:bodyPr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>
              <a:buSzPct val="111000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Central (+11%) and West (+20%) regions showed strong demand growth in May vs. April, while the East region (-1%) remained relatively flat</a:t>
            </a:r>
          </a:p>
          <a:p>
            <a:pPr>
              <a:buSzPct val="111000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Account breadth improved 6% in May (83 vs. 78 in Apr’26 while vials per ordering account (Depth) remained stable</a:t>
            </a:r>
          </a:p>
          <a:p>
            <a:pPr>
              <a:buSzPct val="111000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Top growing accounts in May were WashU, University of Miami, Oregon Health &amp; Science University (New Sarcoma Center start)</a:t>
            </a:r>
            <a:endParaRPr lang="en-US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0E88C450-D2F3-B3DC-7487-1142B41A1263}"/>
              </a:ext>
            </a:extLst>
          </p:cNvPr>
          <p:cNvSpPr/>
          <p:nvPr/>
        </p:nvSpPr>
        <p:spPr>
          <a:xfrm>
            <a:off x="4072582" y="1337059"/>
            <a:ext cx="179432" cy="21321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67A441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721D042-4F92-6989-1BBC-5BFEE70C8B6A}"/>
              </a:ext>
            </a:extLst>
          </p:cNvPr>
          <p:cNvSpPr/>
          <p:nvPr/>
        </p:nvSpPr>
        <p:spPr>
          <a:xfrm>
            <a:off x="4086731" y="1748107"/>
            <a:ext cx="179432" cy="21321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67A441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16FE3A0-845C-07FE-BA77-AEF59222094F}"/>
              </a:ext>
            </a:extLst>
          </p:cNvPr>
          <p:cNvSpPr/>
          <p:nvPr/>
        </p:nvSpPr>
        <p:spPr>
          <a:xfrm>
            <a:off x="11259933" y="1252085"/>
            <a:ext cx="251999" cy="216000"/>
          </a:xfrm>
          <a:prstGeom prst="upArrow">
            <a:avLst/>
          </a:prstGeom>
          <a:solidFill>
            <a:srgbClr val="92D050"/>
          </a:solidFill>
          <a:ln w="9525" cap="flat">
            <a:solidFill>
              <a:srgbClr val="92D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50626A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88687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3AD5D64-98F4-7E9D-934D-E0D34F7E0E53}"/>
              </a:ext>
            </a:extLst>
          </p:cNvPr>
          <p:cNvSpPr txBox="1">
            <a:spLocks/>
          </p:cNvSpPr>
          <p:nvPr/>
        </p:nvSpPr>
        <p:spPr>
          <a:xfrm>
            <a:off x="11826971" y="6525808"/>
            <a:ext cx="457200" cy="2743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543ED3-111B-4842-9D2D-918F903AB236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F4F5020-DE67-18DF-EB78-3BFAD1FA7BC0}"/>
              </a:ext>
            </a:extLst>
          </p:cNvPr>
          <p:cNvSpPr txBox="1">
            <a:spLocks/>
          </p:cNvSpPr>
          <p:nvPr/>
        </p:nvSpPr>
        <p:spPr>
          <a:xfrm>
            <a:off x="303367" y="346229"/>
            <a:ext cx="11497473" cy="47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rm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r>
              <a:rPr lang="en-US" sz="2400" kern="0">
                <a:solidFill>
                  <a:schemeClr val="accent1"/>
                </a:solidFill>
              </a:rPr>
              <a:t>Fyarro Monthly Demand Performance by Region(Excluding PAP)</a:t>
            </a:r>
            <a:endParaRPr lang="en-IN" sz="2400" kern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26FCC-B850-AE95-901C-7E1DEDD9AA09}"/>
              </a:ext>
            </a:extLst>
          </p:cNvPr>
          <p:cNvSpPr txBox="1"/>
          <p:nvPr/>
        </p:nvSpPr>
        <p:spPr>
          <a:xfrm>
            <a:off x="413772" y="6321480"/>
            <a:ext cx="948803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Portal; 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Demand data duration: 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17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 till 31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st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May-26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; Friday is partial; </a:t>
            </a:r>
            <a:r>
              <a:rPr kumimoji="0" lang="en-US" sz="9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 Nova" panose="020B0504020202020204" pitchFamily="34" charset="0"/>
                <a:sym typeface="Calibri"/>
              </a:rPr>
              <a:t>55 vial order from </a:t>
            </a:r>
            <a:r>
              <a:rPr lang="en-US" sz="900" dirty="0">
                <a:latin typeface="Arial Nova" panose="020B0504020202020204" pitchFamily="34" charset="0"/>
                <a:sym typeface="Calibri"/>
              </a:rPr>
              <a:t>DAUPHIN MEDHEALTH </a:t>
            </a:r>
            <a:r>
              <a:rPr kumimoji="0" lang="en-US" sz="9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 Nova" panose="020B0504020202020204" pitchFamily="34" charset="0"/>
                <a:sym typeface="Calibri"/>
              </a:rPr>
              <a:t>is </a:t>
            </a:r>
            <a:r>
              <a:rPr lang="en-US" sz="900" dirty="0">
                <a:latin typeface="Arial Nova" panose="020B0504020202020204" pitchFamily="34" charset="0"/>
                <a:sym typeface="Calibri"/>
              </a:rPr>
              <a:t>ex</a:t>
            </a:r>
            <a:r>
              <a:rPr kumimoji="0" lang="en-US" sz="9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 Nova" panose="020B0504020202020204" pitchFamily="34" charset="0"/>
                <a:sym typeface="Calibri"/>
              </a:rPr>
              <a:t>cluded</a:t>
            </a:r>
            <a:endParaRPr kumimoji="0" lang="en-IN" sz="9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 Nova" panose="020B0504020202020204" pitchFamily="34" charset="0"/>
              <a:sym typeface="Calibri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6729CE1-951A-A823-26C7-CB77612995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345391"/>
              </p:ext>
            </p:extLst>
          </p:nvPr>
        </p:nvGraphicFramePr>
        <p:xfrm>
          <a:off x="303367" y="3675926"/>
          <a:ext cx="5259235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3F8FB8B-0567-506D-331D-E2441DC3FC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2653719"/>
              </p:ext>
            </p:extLst>
          </p:nvPr>
        </p:nvGraphicFramePr>
        <p:xfrm>
          <a:off x="5834744" y="1183589"/>
          <a:ext cx="522327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6337568-C6E2-1BF4-26F8-F3EA29989F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845807"/>
              </p:ext>
            </p:extLst>
          </p:nvPr>
        </p:nvGraphicFramePr>
        <p:xfrm>
          <a:off x="303368" y="1183589"/>
          <a:ext cx="525923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59ABC02-C489-FD1A-2677-456CAA7F1A76}"/>
              </a:ext>
            </a:extLst>
          </p:cNvPr>
          <p:cNvSpPr txBox="1"/>
          <p:nvPr/>
        </p:nvSpPr>
        <p:spPr>
          <a:xfrm>
            <a:off x="5909186" y="3759025"/>
            <a:ext cx="5148826" cy="489363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171450" indent="-17145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Arial Nova" panose="020B0504020202020204" pitchFamily="34" charset="0"/>
              </a:rPr>
              <a:t>West and Central Regions have shown an increase in the daily average while East is relatively flat in May compared to April</a:t>
            </a:r>
            <a:endParaRPr lang="en-US" sz="1200" dirty="0">
              <a:latin typeface="Arial Nova" panose="020B05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0464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DAF8-F41E-2CAE-ADE0-1152AD6F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132A86-9730-B118-2FC4-94662F6B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812951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10896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Sales Revenue: Launch to 2024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02920" y="1417320"/>
          <a:ext cx="11155680" cy="19202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Q2'22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Q3'22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Q4'22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Q2'23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Q3'23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Q4'23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Q2'24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Q3'24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Q4'24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$7.6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vs. Prev. Qtr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Factory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vs. Prev. Qtr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254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0745" y="3512032"/>
            <a:ext cx="937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Quarterly Daily Demand Average (Vials)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2280744" y="3877792"/>
          <a:ext cx="9377856" cy="2134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488EEC09-86A1-0129-6E73-B29293351A5D}"/>
              </a:ext>
            </a:extLst>
          </p:cNvPr>
          <p:cNvSpPr/>
          <p:nvPr/>
        </p:nvSpPr>
        <p:spPr>
          <a:xfrm>
            <a:off x="2201918" y="1059968"/>
            <a:ext cx="937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Quarterly Gross Sales and Net Sales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8160" y="199119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Sales Revenue: 2025 to Date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E7C8B"/>
                </a:solidFill>
                <a:effectLst/>
                <a:uLnTx/>
                <a:uFillTx/>
                <a:latin typeface="Arial Nova" panose="020B0504020202020204" pitchFamily="34" charset="0"/>
                <a:ea typeface="Calibri" pitchFamily="34" charset="-122"/>
                <a:cs typeface="Calibri" pitchFamily="34" charset="-120"/>
              </a:rPr>
              <a:t>Q1 2026 Net Revenue was $9.4M — 10% over the Q1 forecast of $8.5M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18160" y="1316736"/>
          <a:ext cx="11155680" cy="25786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Q2'25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Q3'25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Q4'25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Sales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$9.2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$11.8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$11.8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vs. Prev. Qtr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Sales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$8.5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$9.5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vs. Prev. Qtr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843049" y="4301779"/>
          <a:ext cx="8830791" cy="174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F650D667-0384-8D24-7581-9D0E20FADD62}"/>
              </a:ext>
            </a:extLst>
          </p:cNvPr>
          <p:cNvSpPr/>
          <p:nvPr/>
        </p:nvSpPr>
        <p:spPr>
          <a:xfrm>
            <a:off x="2843049" y="3928979"/>
            <a:ext cx="75727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Quarterly Daily Demand Average (Vials)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EA7D54E-0CEC-2B31-2F40-4A2BD4097206}"/>
              </a:ext>
            </a:extLst>
          </p:cNvPr>
          <p:cNvSpPr/>
          <p:nvPr/>
        </p:nvSpPr>
        <p:spPr>
          <a:xfrm>
            <a:off x="2814146" y="976359"/>
            <a:ext cx="861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2354F"/>
                </a:solidFill>
                <a:effectLst/>
                <a:uLnTx/>
                <a:uFillTx/>
                <a:latin typeface="Arial Nova" panose="020B0504020202020204" pitchFamily="34" charset="0"/>
                <a:ea typeface="Georgia" pitchFamily="34" charset="-122"/>
                <a:cs typeface="Georgia" pitchFamily="34" charset="-120"/>
              </a:rPr>
              <a:t>Quarterly Gross Sales and Net Sales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C288-421D-61CC-3B57-3F799A76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F403F4-A106-D304-DC93-2FD11BCCC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731330"/>
              </p:ext>
            </p:extLst>
          </p:nvPr>
        </p:nvGraphicFramePr>
        <p:xfrm>
          <a:off x="468978" y="1029276"/>
          <a:ext cx="11254043" cy="3159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DA1A9130-7533-AFFF-1420-02C3E486E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01" y="185059"/>
            <a:ext cx="11536220" cy="702953"/>
          </a:xfrm>
        </p:spPr>
        <p:txBody>
          <a:bodyPr/>
          <a:lstStyle/>
          <a:p>
            <a:r>
              <a:rPr lang="en-US" sz="2400" dirty="0" err="1">
                <a:latin typeface="Trebuchet MS" panose="020B0603020202020204" pitchFamily="34" charset="0"/>
              </a:rPr>
              <a:t>Fyarro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  <a:ea typeface="Times New Roman" panose="02020603050405020304" pitchFamily="18" charset="0"/>
              </a:rPr>
              <a:t>Weekly run rate</a:t>
            </a:r>
            <a:endParaRPr lang="en-US" dirty="0"/>
          </a:p>
        </p:txBody>
      </p:sp>
      <p:graphicFrame>
        <p:nvGraphicFramePr>
          <p:cNvPr id="25" name="Content Placeholder 5">
            <a:extLst>
              <a:ext uri="{FF2B5EF4-FFF2-40B4-BE49-F238E27FC236}">
                <a16:creationId xmlns:a16="http://schemas.microsoft.com/office/drawing/2014/main" id="{B304EA6F-6B7C-31AE-6682-DB67702B2F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477025"/>
              </p:ext>
            </p:extLst>
          </p:nvPr>
        </p:nvGraphicFramePr>
        <p:xfrm>
          <a:off x="5885411" y="4406974"/>
          <a:ext cx="5898320" cy="16973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48839">
                  <a:extLst>
                    <a:ext uri="{9D8B030D-6E8A-4147-A177-3AD203B41FA5}">
                      <a16:colId xmlns:a16="http://schemas.microsoft.com/office/drawing/2014/main" val="97559018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346172317"/>
                    </a:ext>
                  </a:extLst>
                </a:gridCol>
                <a:gridCol w="709747">
                  <a:extLst>
                    <a:ext uri="{9D8B030D-6E8A-4147-A177-3AD203B41FA5}">
                      <a16:colId xmlns:a16="http://schemas.microsoft.com/office/drawing/2014/main" val="997959841"/>
                    </a:ext>
                  </a:extLst>
                </a:gridCol>
                <a:gridCol w="983053">
                  <a:extLst>
                    <a:ext uri="{9D8B030D-6E8A-4147-A177-3AD203B41FA5}">
                      <a16:colId xmlns:a16="http://schemas.microsoft.com/office/drawing/2014/main" val="1803822674"/>
                    </a:ext>
                  </a:extLst>
                </a:gridCol>
                <a:gridCol w="983053">
                  <a:extLst>
                    <a:ext uri="{9D8B030D-6E8A-4147-A177-3AD203B41FA5}">
                      <a16:colId xmlns:a16="http://schemas.microsoft.com/office/drawing/2014/main" val="1410166260"/>
                    </a:ext>
                  </a:extLst>
                </a:gridCol>
                <a:gridCol w="983053">
                  <a:extLst>
                    <a:ext uri="{9D8B030D-6E8A-4147-A177-3AD203B41FA5}">
                      <a16:colId xmlns:a16="http://schemas.microsoft.com/office/drawing/2014/main" val="1085912628"/>
                    </a:ext>
                  </a:extLst>
                </a:gridCol>
              </a:tblGrid>
              <a:tr h="702426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Demand/Sellout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R4W</a:t>
                      </a:r>
                    </a:p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(%Growth)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R8W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R13W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R52W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QTD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77671"/>
                  </a:ext>
                </a:extLst>
              </a:tr>
              <a:tr h="497450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Weekly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101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(1%)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100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(-6%)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105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(2%)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</a:t>
                      </a:r>
                    </a:p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(17%)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/>
                          <a:ea typeface="+mn-ea"/>
                          <a:cs typeface="+mn-cs"/>
                          <a:sym typeface="Montserrat Regular"/>
                        </a:rPr>
                        <a:t>102</a:t>
                      </a:r>
                    </a:p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(2%)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9872525"/>
                  </a:ext>
                </a:extLst>
              </a:tr>
              <a:tr h="49745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Daily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21.2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21.2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20.4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20.3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4253695"/>
                  </a:ext>
                </a:extLst>
              </a:tr>
            </a:tbl>
          </a:graphicData>
        </a:graphic>
      </p:graphicFrame>
      <p:graphicFrame>
        <p:nvGraphicFramePr>
          <p:cNvPr id="26" name="Content Placeholder 5">
            <a:extLst>
              <a:ext uri="{FF2B5EF4-FFF2-40B4-BE49-F238E27FC236}">
                <a16:creationId xmlns:a16="http://schemas.microsoft.com/office/drawing/2014/main" id="{24A391AB-39E8-DF25-4C1F-BDD9E3955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64808"/>
              </p:ext>
            </p:extLst>
          </p:nvPr>
        </p:nvGraphicFramePr>
        <p:xfrm>
          <a:off x="551318" y="4406975"/>
          <a:ext cx="5228510" cy="16973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81118">
                  <a:extLst>
                    <a:ext uri="{9D8B030D-6E8A-4147-A177-3AD203B41FA5}">
                      <a16:colId xmlns:a16="http://schemas.microsoft.com/office/drawing/2014/main" val="975590181"/>
                    </a:ext>
                  </a:extLst>
                </a:gridCol>
                <a:gridCol w="1219341">
                  <a:extLst>
                    <a:ext uri="{9D8B030D-6E8A-4147-A177-3AD203B41FA5}">
                      <a16:colId xmlns:a16="http://schemas.microsoft.com/office/drawing/2014/main" val="1346172317"/>
                    </a:ext>
                  </a:extLst>
                </a:gridCol>
                <a:gridCol w="1120924">
                  <a:extLst>
                    <a:ext uri="{9D8B030D-6E8A-4147-A177-3AD203B41FA5}">
                      <a16:colId xmlns:a16="http://schemas.microsoft.com/office/drawing/2014/main" val="997959841"/>
                    </a:ext>
                  </a:extLst>
                </a:gridCol>
                <a:gridCol w="1307127">
                  <a:extLst>
                    <a:ext uri="{9D8B030D-6E8A-4147-A177-3AD203B41FA5}">
                      <a16:colId xmlns:a16="http://schemas.microsoft.com/office/drawing/2014/main" val="1803822674"/>
                    </a:ext>
                  </a:extLst>
                </a:gridCol>
              </a:tblGrid>
              <a:tr h="372004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Demand/Sellout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Actuals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Budget</a:t>
                      </a:r>
                      <a:endParaRPr lang="en-US" sz="1200" b="1" kern="120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Var%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77671"/>
                  </a:ext>
                </a:extLst>
              </a:tr>
              <a:tr h="486911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May’26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420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420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872525"/>
                  </a:ext>
                </a:extLst>
              </a:tr>
              <a:tr h="486911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QTD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852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860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-1%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398071"/>
                  </a:ext>
                </a:extLst>
              </a:tr>
              <a:tr h="351500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YTD</a:t>
                      </a:r>
                      <a:endParaRPr lang="en-US" sz="1200" b="1" i="0" u="none" strike="noStrike" cap="none" spc="0" baseline="0">
                        <a:solidFill>
                          <a:schemeClr val="tx1"/>
                        </a:solidFill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2166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4%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410590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F03E7BE-938F-A93D-64F4-5F41B4009FD2}"/>
              </a:ext>
            </a:extLst>
          </p:cNvPr>
          <p:cNvSpPr txBox="1"/>
          <p:nvPr/>
        </p:nvSpPr>
        <p:spPr>
          <a:xfrm>
            <a:off x="519228" y="6104300"/>
            <a:ext cx="9488031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Demand Data duration till 05/31;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</a:b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May’26 05/01-05/31; QTD  </a:t>
            </a:r>
            <a:r>
              <a:rPr lang="en-US" sz="7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04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/01-05/31; </a:t>
            </a:r>
            <a:r>
              <a:rPr lang="en-US" sz="7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YTD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01/01-05/31;</a:t>
            </a:r>
            <a:b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</a:b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R4W </a:t>
            </a:r>
            <a:r>
              <a:rPr lang="en-US" sz="7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05/02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/2026 – 05/29/2026; R8W  04/04/2026 – 05/29/2026; R13W 02/28/2025 – 05/29/2026; R52W </a:t>
            </a:r>
            <a:r>
              <a:rPr lang="en-US" sz="7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05/31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/2025 – 05/29/2026  </a:t>
            </a:r>
            <a:endParaRPr kumimoji="0" lang="en-IN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  <a:sym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4C4110-169D-C5B5-5953-EEAA2C676C8D}"/>
              </a:ext>
            </a:extLst>
          </p:cNvPr>
          <p:cNvGrpSpPr/>
          <p:nvPr/>
        </p:nvGrpSpPr>
        <p:grpSpPr>
          <a:xfrm>
            <a:off x="6531429" y="1180549"/>
            <a:ext cx="3134941" cy="355067"/>
            <a:chOff x="8343771" y="1360147"/>
            <a:chExt cx="2004526" cy="58457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34B3833-E471-4E06-BFEB-3F8F059DAC08}"/>
                </a:ext>
              </a:extLst>
            </p:cNvPr>
            <p:cNvSpPr/>
            <p:nvPr/>
          </p:nvSpPr>
          <p:spPr>
            <a:xfrm>
              <a:off x="8343771" y="1360147"/>
              <a:ext cx="323198" cy="584578"/>
            </a:xfrm>
            <a:prstGeom prst="roundRect">
              <a:avLst/>
            </a:prstGeom>
            <a:noFill/>
            <a:ln w="19050" cap="flat">
              <a:solidFill>
                <a:schemeClr val="accent3">
                  <a:lumMod val="50000"/>
                </a:schemeClr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062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1F4BB12-F6DA-EADE-6BF5-06AF658EC957}"/>
                </a:ext>
              </a:extLst>
            </p:cNvPr>
            <p:cNvSpPr txBox="1"/>
            <p:nvPr/>
          </p:nvSpPr>
          <p:spPr>
            <a:xfrm>
              <a:off x="8719304" y="1376439"/>
              <a:ext cx="1628993" cy="4400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Arial"/>
                  <a:cs typeface="Arial"/>
                  <a:sym typeface="Arial"/>
                </a:rPr>
                <a:t>Highest demand in R52W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1C079E-45B6-20AA-1BA8-9A426A898D56}"/>
              </a:ext>
            </a:extLst>
          </p:cNvPr>
          <p:cNvGrpSpPr/>
          <p:nvPr/>
        </p:nvGrpSpPr>
        <p:grpSpPr>
          <a:xfrm>
            <a:off x="6818811" y="2693873"/>
            <a:ext cx="2151018" cy="380254"/>
            <a:chOff x="14485531" y="2086753"/>
            <a:chExt cx="3715322" cy="93719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2107DF7-9AA1-6DBA-4CB6-6151A0C76A3D}"/>
                </a:ext>
              </a:extLst>
            </p:cNvPr>
            <p:cNvSpPr/>
            <p:nvPr/>
          </p:nvSpPr>
          <p:spPr>
            <a:xfrm>
              <a:off x="17391217" y="2148827"/>
              <a:ext cx="809636" cy="875121"/>
            </a:xfrm>
            <a:prstGeom prst="roundRect">
              <a:avLst/>
            </a:prstGeom>
            <a:noFill/>
            <a:ln w="19050" cap="flat">
              <a:solidFill>
                <a:srgbClr val="C0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062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1E5C7B-EDF4-CFD9-73F7-6CA62CE35A6B}"/>
                </a:ext>
              </a:extLst>
            </p:cNvPr>
            <p:cNvSpPr txBox="1"/>
            <p:nvPr/>
          </p:nvSpPr>
          <p:spPr>
            <a:xfrm>
              <a:off x="14485531" y="2086753"/>
              <a:ext cx="3237372" cy="5689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Arial"/>
                  <a:cs typeface="Arial"/>
                  <a:sym typeface="Arial"/>
                </a:rPr>
                <a:t>Lowest demand in R52W</a:t>
              </a:r>
            </a:p>
          </p:txBody>
        </p:sp>
      </p:grp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9FD051D-2C47-7E30-C39A-51E38DABCB24}"/>
              </a:ext>
            </a:extLst>
          </p:cNvPr>
          <p:cNvSpPr txBox="1">
            <a:spLocks/>
          </p:cNvSpPr>
          <p:nvPr/>
        </p:nvSpPr>
        <p:spPr>
          <a:xfrm>
            <a:off x="287701" y="615945"/>
            <a:ext cx="11823921" cy="295514"/>
          </a:xfrm>
          <a:prstGeom prst="rect">
            <a:avLst/>
          </a:prstGeom>
          <a:ln w="12700">
            <a:miter lim="400000"/>
          </a:ln>
        </p:spPr>
        <p:txBody>
          <a:bodyPr lIns="45720" tIns="45720" rIns="45719" bIns="4572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240" eaLnBrk="1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defRPr i="1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indent="-165100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indent="-173038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1% increase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 in Demand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in R4W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ending May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29</a:t>
            </a:r>
            <a:r>
              <a:rPr lang="en-US" baseline="3000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th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 </a:t>
            </a:r>
            <a:r>
              <a:rPr lang="en-US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vs P4W 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 </a:t>
            </a:r>
            <a:r>
              <a:rPr kumimoji="0" lang="en-US" sz="1800" b="0" i="1" u="none" strike="noStrike" kern="1200" cap="none" spc="0" normalizeH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 </a:t>
            </a:r>
            <a:endParaRPr lang="en-US" sz="1800" b="0" i="1" u="none" strike="noStrike" kern="1200" cap="none" spc="0" normalizeH="0" baseline="30000" noProof="0" dirty="0">
              <a:ln>
                <a:noFill/>
              </a:ln>
              <a:solidFill>
                <a:srgbClr val="017298"/>
              </a:solidFill>
              <a:effectLst/>
              <a:uLnTx/>
              <a:uFillTx/>
              <a:latin typeface="Trebuchet M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9243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04426-64AD-3165-EBFF-C3F96582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43C7440-82ED-59F1-BA37-0F14AC5E4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949783"/>
              </p:ext>
            </p:extLst>
          </p:nvPr>
        </p:nvGraphicFramePr>
        <p:xfrm>
          <a:off x="6694429" y="1342899"/>
          <a:ext cx="4744535" cy="232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41411541-0201-6378-CD8B-D029C0D05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965881"/>
              </p:ext>
            </p:extLst>
          </p:nvPr>
        </p:nvGraphicFramePr>
        <p:xfrm>
          <a:off x="9515127" y="1277250"/>
          <a:ext cx="2444925" cy="232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3E3CB2B9-D5C9-2D49-EEB3-FC19BD114F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19979"/>
              </p:ext>
            </p:extLst>
          </p:nvPr>
        </p:nvGraphicFramePr>
        <p:xfrm>
          <a:off x="4577767" y="1572867"/>
          <a:ext cx="1816317" cy="2138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00409C9-66CC-88C9-30A9-C63190B9C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922251"/>
              </p:ext>
            </p:extLst>
          </p:nvPr>
        </p:nvGraphicFramePr>
        <p:xfrm>
          <a:off x="481372" y="3664326"/>
          <a:ext cx="5308899" cy="232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F38D24A-31E8-D69E-62BE-7447C714C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7623683"/>
              </p:ext>
            </p:extLst>
          </p:nvPr>
        </p:nvGraphicFramePr>
        <p:xfrm>
          <a:off x="4199026" y="3595392"/>
          <a:ext cx="2444925" cy="232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ADD20EB-49D1-31E3-4FCA-82FEB8A4D46E}"/>
              </a:ext>
            </a:extLst>
          </p:cNvPr>
          <p:cNvSpPr/>
          <p:nvPr/>
        </p:nvSpPr>
        <p:spPr>
          <a:xfrm>
            <a:off x="5104627" y="4121268"/>
            <a:ext cx="677334" cy="1841473"/>
          </a:xfrm>
          <a:prstGeom prst="roundRect">
            <a:avLst/>
          </a:prstGeom>
          <a:noFill/>
          <a:ln w="28575" cap="flat">
            <a:solidFill>
              <a:srgbClr val="8DC1C5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4DB970-890B-43BC-2ADC-929C6017DA99}"/>
              </a:ext>
            </a:extLst>
          </p:cNvPr>
          <p:cNvSpPr txBox="1">
            <a:spLocks/>
          </p:cNvSpPr>
          <p:nvPr/>
        </p:nvSpPr>
        <p:spPr>
          <a:xfrm>
            <a:off x="276225" y="346229"/>
            <a:ext cx="11524615" cy="47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0" rIns="0" bIns="0" rtlCol="0" anchor="ctr">
            <a:normAutofit/>
          </a:bodyPr>
          <a:lstStyle>
            <a:lvl1pPr marL="0" marR="0" indent="0" algn="ctr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800" b="1" i="0" u="none" strike="noStrike" cap="none" spc="0" baseline="0" dirty="0">
                <a:solidFill>
                  <a:schemeClr val="bg1"/>
                </a:solidFill>
                <a:uFillTx/>
                <a:latin typeface="Arial Nova" panose="020B0504020202020204" pitchFamily="34" charset="0"/>
                <a:ea typeface="Arial Nova" panose="020B0504020202020204" pitchFamily="34" charset="0"/>
                <a:cs typeface="Arial Nova" panose="020B0504020202020204" pitchFamily="34" charset="0"/>
                <a:sym typeface="Avenir Black"/>
              </a:defRPr>
            </a:lvl1pPr>
            <a:lvl2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pPr marL="0" marR="0" lvl="0" indent="0" algn="l" defTabSz="91424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err="1">
                <a:ln>
                  <a:noFill/>
                </a:ln>
                <a:solidFill>
                  <a:srgbClr val="00859D"/>
                </a:solidFill>
                <a:effectLst/>
                <a:uLnTx/>
                <a:uFillTx/>
                <a:latin typeface="Arial Nova" panose="020B0504020202020204" pitchFamily="34" charset="0"/>
                <a:sym typeface="Avenir Black"/>
              </a:rPr>
              <a:t>Fyarro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859D"/>
                </a:solidFill>
                <a:effectLst/>
                <a:uLnTx/>
                <a:uFillTx/>
                <a:latin typeface="Arial Nova" panose="020B0504020202020204" pitchFamily="34" charset="0"/>
                <a:sym typeface="Avenir Black"/>
              </a:rPr>
              <a:t> Source of Business as of 05/31 (%)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620D8-08E4-3E65-B9E0-5E4E3247EE35}"/>
              </a:ext>
            </a:extLst>
          </p:cNvPr>
          <p:cNvSpPr txBox="1"/>
          <p:nvPr/>
        </p:nvSpPr>
        <p:spPr>
          <a:xfrm>
            <a:off x="468237" y="6431247"/>
            <a:ext cx="9488031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*Demand data duration: 17th Feb-22 till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Arial"/>
                <a:sym typeface="Arial"/>
              </a:rPr>
              <a:t>31</a:t>
            </a:r>
            <a:r>
              <a:rPr lang="en-US" sz="8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Arial"/>
                <a:sym typeface="Arial"/>
              </a:rPr>
              <a:t>st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Arial"/>
                <a:sym typeface="Arial"/>
              </a:rPr>
              <a:t> May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Calibri"/>
                <a:cs typeface="Arial"/>
                <a:sym typeface="Arial"/>
              </a:rPr>
              <a:t>-26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/>
                <a:cs typeface="Arial" panose="020B0604020202020204"/>
              </a:rPr>
              <a:t>340B data is updated till </a:t>
            </a:r>
            <a:r>
              <a:rPr lang="en-US" sz="800" dirty="0">
                <a:solidFill>
                  <a:srgbClr val="000000"/>
                </a:solidFill>
                <a:latin typeface="Arial" panose="020B0604020202020204"/>
                <a:ea typeface="Calibri"/>
                <a:cs typeface="Arial" panose="020B0604020202020204"/>
              </a:rPr>
              <a:t>05/31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E8B42F-052B-D45C-47CC-5372CA6CAD2A}"/>
              </a:ext>
            </a:extLst>
          </p:cNvPr>
          <p:cNvCxnSpPr>
            <a:cxnSpLocks/>
          </p:cNvCxnSpPr>
          <p:nvPr/>
        </p:nvCxnSpPr>
        <p:spPr>
          <a:xfrm>
            <a:off x="6570952" y="1453584"/>
            <a:ext cx="0" cy="2210742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90723BA-BCCD-8EA4-8A93-8D00926DF8D6}"/>
              </a:ext>
            </a:extLst>
          </p:cNvPr>
          <p:cNvSpPr/>
          <p:nvPr/>
        </p:nvSpPr>
        <p:spPr>
          <a:xfrm>
            <a:off x="10561937" y="1840230"/>
            <a:ext cx="493426" cy="1785526"/>
          </a:xfrm>
          <a:prstGeom prst="roundRect">
            <a:avLst/>
          </a:prstGeom>
          <a:noFill/>
          <a:ln w="28575" cap="flat">
            <a:solidFill>
              <a:srgbClr val="8DC1C5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6CEC8D5-DC6A-2055-17A7-5683B64CE012}"/>
              </a:ext>
            </a:extLst>
          </p:cNvPr>
          <p:cNvSpPr/>
          <p:nvPr/>
        </p:nvSpPr>
        <p:spPr>
          <a:xfrm>
            <a:off x="5123469" y="1843900"/>
            <a:ext cx="692274" cy="1785526"/>
          </a:xfrm>
          <a:prstGeom prst="roundRect">
            <a:avLst/>
          </a:prstGeom>
          <a:noFill/>
          <a:ln w="28575" cap="flat">
            <a:solidFill>
              <a:srgbClr val="ECAB1E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ECAB1E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50FB9D-5482-5EAA-3CCF-B6A563DC8211}"/>
              </a:ext>
            </a:extLst>
          </p:cNvPr>
          <p:cNvGrpSpPr/>
          <p:nvPr/>
        </p:nvGrpSpPr>
        <p:grpSpPr>
          <a:xfrm>
            <a:off x="386730" y="1306904"/>
            <a:ext cx="4862603" cy="2335000"/>
            <a:chOff x="6096000" y="4022731"/>
            <a:chExt cx="5833099" cy="23350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2D1C3C-B233-B296-AD55-BD50E06EBC2A}"/>
                </a:ext>
              </a:extLst>
            </p:cNvPr>
            <p:cNvSpPr txBox="1"/>
            <p:nvPr/>
          </p:nvSpPr>
          <p:spPr>
            <a:xfrm>
              <a:off x="6616402" y="4022731"/>
              <a:ext cx="5285173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 Nova" panose="020B0504020202020204" pitchFamily="34" charset="0"/>
                  <a:ea typeface="Arial"/>
                  <a:cs typeface="Arial"/>
                  <a:sym typeface="Arial"/>
                </a:rPr>
                <a:t>Ex Factory Vials by Wholesaler Type </a:t>
              </a:r>
              <a:endPara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endParaRPr>
            </a:p>
          </p:txBody>
        </p:sp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ACFB3D37-5FFE-24E6-964B-2C23FA2A638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98721070"/>
                </p:ext>
              </p:extLst>
            </p:nvPr>
          </p:nvGraphicFramePr>
          <p:xfrm>
            <a:off x="6096000" y="4265658"/>
            <a:ext cx="5833099" cy="20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C0AD22-F60F-D53D-3D50-DB233402A990}"/>
              </a:ext>
            </a:extLst>
          </p:cNvPr>
          <p:cNvSpPr/>
          <p:nvPr/>
        </p:nvSpPr>
        <p:spPr>
          <a:xfrm>
            <a:off x="10571267" y="4118477"/>
            <a:ext cx="493426" cy="1785526"/>
          </a:xfrm>
          <a:prstGeom prst="roundRect">
            <a:avLst/>
          </a:prstGeom>
          <a:noFill/>
          <a:ln w="28575" cap="flat">
            <a:solidFill>
              <a:srgbClr val="8DC1C5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66AC1B-D5EE-0E58-FF5D-CA97FC47838D}"/>
              </a:ext>
            </a:extLst>
          </p:cNvPr>
          <p:cNvCxnSpPr>
            <a:cxnSpLocks/>
          </p:cNvCxnSpPr>
          <p:nvPr/>
        </p:nvCxnSpPr>
        <p:spPr>
          <a:xfrm>
            <a:off x="6580280" y="3945709"/>
            <a:ext cx="0" cy="2210742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50A3554-8B23-C464-2B9D-6054F9B2A4CF}"/>
              </a:ext>
            </a:extLst>
          </p:cNvPr>
          <p:cNvGrpSpPr/>
          <p:nvPr/>
        </p:nvGrpSpPr>
        <p:grpSpPr>
          <a:xfrm>
            <a:off x="6694429" y="3609529"/>
            <a:ext cx="5538277" cy="2322518"/>
            <a:chOff x="6555212" y="3799766"/>
            <a:chExt cx="6198493" cy="2387834"/>
          </a:xfrm>
        </p:grpSpPr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89DB55C5-0E79-84A8-5E36-9A2CBD1D91F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89027916"/>
                </p:ext>
              </p:extLst>
            </p:nvPr>
          </p:nvGraphicFramePr>
          <p:xfrm>
            <a:off x="6555212" y="3799766"/>
            <a:ext cx="5149700" cy="23878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FAD75E3C-86FC-0FD7-E44F-B368A7EE404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3845803"/>
                </p:ext>
              </p:extLst>
            </p:nvPr>
          </p:nvGraphicFramePr>
          <p:xfrm>
            <a:off x="10308769" y="4057870"/>
            <a:ext cx="2444936" cy="20723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604029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C7C534A-956F-2E96-E32D-FD8ACD4ED0ED}"/>
              </a:ext>
            </a:extLst>
          </p:cNvPr>
          <p:cNvSpPr txBox="1">
            <a:spLocks/>
          </p:cNvSpPr>
          <p:nvPr/>
        </p:nvSpPr>
        <p:spPr>
          <a:xfrm>
            <a:off x="11826973" y="6506146"/>
            <a:ext cx="295358" cy="20422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0543ED3-111B-4842-9D2D-918F903AB236}" type="slidenum">
              <a:rPr lang="en-US" sz="800" smtClean="0">
                <a:solidFill>
                  <a:srgbClr val="50626A"/>
                </a:solidFill>
                <a:latin typeface="Montserrat Regular"/>
                <a:sym typeface="Montserrat Regular"/>
              </a:rPr>
              <a:pPr algn="ctr">
                <a:defRPr/>
              </a:pPr>
              <a:t>13</a:t>
            </a:fld>
            <a:endParaRPr lang="en-US" sz="800">
              <a:solidFill>
                <a:srgbClr val="50626A"/>
              </a:solidFill>
              <a:latin typeface="Montserrat Regular"/>
              <a:sym typeface="Montserrat Regular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FF6FFD3-3F9A-66DD-F6C4-1CB42FC979D3}"/>
              </a:ext>
            </a:extLst>
          </p:cNvPr>
          <p:cNvSpPr txBox="1">
            <a:spLocks/>
          </p:cNvSpPr>
          <p:nvPr/>
        </p:nvSpPr>
        <p:spPr>
          <a:xfrm>
            <a:off x="274992" y="346229"/>
            <a:ext cx="11524615" cy="47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40" rIns="45719" anchor="t">
            <a:norm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r>
              <a:rPr lang="en-US" sz="2400" kern="0" err="1">
                <a:solidFill>
                  <a:schemeClr val="accent1"/>
                </a:solidFill>
              </a:rPr>
              <a:t>Fyarro</a:t>
            </a:r>
            <a:r>
              <a:rPr lang="en-US" sz="2400" kern="0">
                <a:solidFill>
                  <a:schemeClr val="accent1"/>
                </a:solidFill>
              </a:rPr>
              <a:t> New and Active Accounts Trends as of 05/29</a:t>
            </a:r>
            <a:endParaRPr lang="en-IN" sz="2400"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CC4B8-8783-8F75-5DC6-C7D206E50364}"/>
              </a:ext>
            </a:extLst>
          </p:cNvPr>
          <p:cNvSpPr txBox="1"/>
          <p:nvPr/>
        </p:nvSpPr>
        <p:spPr>
          <a:xfrm>
            <a:off x="274992" y="6248710"/>
            <a:ext cx="904516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 </a:t>
            </a:r>
            <a:endParaRPr lang="en-US" sz="800" dirty="0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  <a:p>
            <a:pPr hangingPunct="0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Demand data duration: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17</a:t>
            </a:r>
            <a:r>
              <a:rPr lang="en-US" sz="8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 till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29</a:t>
            </a:r>
            <a:r>
              <a:rPr lang="en-US" sz="8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 May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-26 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data, Once Biologics dispense data is available, the chart is updated accordingly as per dispense info.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Active Account: Any Account ordering FYARRO in recent 4 weeks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4C49513-D07D-0AB2-7A54-5AC01240CA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445817"/>
              </p:ext>
            </p:extLst>
          </p:nvPr>
        </p:nvGraphicFramePr>
        <p:xfrm>
          <a:off x="5984240" y="3750367"/>
          <a:ext cx="6050608" cy="251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4828A28-6E75-DB18-410F-2315129A43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7614974"/>
              </p:ext>
            </p:extLst>
          </p:nvPr>
        </p:nvGraphicFramePr>
        <p:xfrm>
          <a:off x="274992" y="3750368"/>
          <a:ext cx="5526368" cy="2514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A7EE3FB-0123-9151-63CD-286C118C1B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8558058"/>
              </p:ext>
            </p:extLst>
          </p:nvPr>
        </p:nvGraphicFramePr>
        <p:xfrm>
          <a:off x="274992" y="1161198"/>
          <a:ext cx="5526368" cy="242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69C0CD6-88D5-2177-5AB6-3F8D0875B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1592382"/>
              </p:ext>
            </p:extLst>
          </p:nvPr>
        </p:nvGraphicFramePr>
        <p:xfrm>
          <a:off x="6020205" y="1161198"/>
          <a:ext cx="6050608" cy="2422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9971678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B646-939C-A3FF-F7FB-13B925F0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4D8BFC9A-153D-75F0-606C-14CED559E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345296"/>
            <a:ext cx="11524615" cy="477806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  <a:latin typeface="Arial Nova" panose="020B0504020202020204" pitchFamily="34" charset="0"/>
              </a:rPr>
              <a:t>Sarcoma Centers Penetration</a:t>
            </a:r>
            <a:endParaRPr lang="en-IN" sz="2400">
              <a:solidFill>
                <a:schemeClr val="accent4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B22E9-F965-DA9E-D284-C9324E980815}"/>
              </a:ext>
            </a:extLst>
          </p:cNvPr>
          <p:cNvSpPr txBox="1"/>
          <p:nvPr/>
        </p:nvSpPr>
        <p:spPr>
          <a:xfrm>
            <a:off x="6096000" y="1109377"/>
            <a:ext cx="5780956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Calibri"/>
              </a:rPr>
              <a:t> *Commercial Demand Contribution—Sarcoma Centers vs Others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0DAB2-677E-290C-8DA4-3C9005891D62}"/>
              </a:ext>
            </a:extLst>
          </p:cNvPr>
          <p:cNvSpPr txBox="1"/>
          <p:nvPr/>
        </p:nvSpPr>
        <p:spPr>
          <a:xfrm>
            <a:off x="276225" y="1109377"/>
            <a:ext cx="359132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Calibri"/>
              </a:rPr>
              <a:t>Sarcoma Centers(#65)-Penetration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D10C7-5FD0-489F-8F25-5AF3F52FB538}"/>
              </a:ext>
            </a:extLst>
          </p:cNvPr>
          <p:cNvSpPr txBox="1"/>
          <p:nvPr/>
        </p:nvSpPr>
        <p:spPr>
          <a:xfrm>
            <a:off x="368588" y="5897153"/>
            <a:ext cx="9488031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Portal; Demand data duration: 17</a:t>
            </a:r>
            <a:r>
              <a:rPr kumimoji="0" lang="en-US" sz="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th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 till 31</a:t>
            </a:r>
            <a:r>
              <a:rPr kumimoji="0" lang="en-US" sz="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May-26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Sites ordering PAP vials are also included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"/>
                <a:cs typeface="Arial"/>
                <a:sym typeface="Arial"/>
              </a:rPr>
              <a:t>*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"/>
                <a:cs typeface="Arial"/>
                <a:sym typeface="Arial"/>
              </a:rPr>
              <a:t>PAP demand is not included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B468DFA-5F67-01AF-A8D7-93574389CD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813332"/>
              </p:ext>
            </p:extLst>
          </p:nvPr>
        </p:nvGraphicFramePr>
        <p:xfrm>
          <a:off x="276225" y="1703429"/>
          <a:ext cx="5604712" cy="2129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7FAA825-1244-C7C8-BBB4-D158C9304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759530"/>
              </p:ext>
            </p:extLst>
          </p:nvPr>
        </p:nvGraphicFramePr>
        <p:xfrm>
          <a:off x="7124700" y="1703430"/>
          <a:ext cx="3403089" cy="2129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118176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D502198-CD7F-F28E-85BD-810905B2B2AA}"/>
              </a:ext>
            </a:extLst>
          </p:cNvPr>
          <p:cNvSpPr txBox="1">
            <a:spLocks/>
          </p:cNvSpPr>
          <p:nvPr/>
        </p:nvSpPr>
        <p:spPr>
          <a:xfrm>
            <a:off x="11826973" y="6506145"/>
            <a:ext cx="207875" cy="2184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543ED3-111B-4842-9D2D-918F903AB236}" type="slidenum">
              <a:rPr lang="en-US" sz="900" smtClean="0"/>
              <a:pPr/>
              <a:t>15</a:t>
            </a:fld>
            <a:endParaRPr lang="en-US" sz="90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9037D93-97A0-89A5-1A71-8EC1044D5BE7}"/>
              </a:ext>
            </a:extLst>
          </p:cNvPr>
          <p:cNvSpPr txBox="1">
            <a:spLocks/>
          </p:cNvSpPr>
          <p:nvPr/>
        </p:nvSpPr>
        <p:spPr>
          <a:xfrm>
            <a:off x="429208" y="156754"/>
            <a:ext cx="11123332" cy="49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rm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r>
              <a:rPr lang="en-US" sz="2400" kern="800">
                <a:solidFill>
                  <a:schemeClr val="accent1"/>
                </a:solidFill>
                <a:latin typeface="Trebuchet MS" panose="020B0703020202090204" pitchFamily="34" charset="0"/>
              </a:rPr>
              <a:t>Top 25 FYARRO Ordering Accounts 2025 till date (Including PAP)</a:t>
            </a:r>
            <a:endParaRPr lang="en-IN" sz="2400" kern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74BFF8-665C-0DF1-5FA7-BDB716946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036642"/>
              </p:ext>
            </p:extLst>
          </p:nvPr>
        </p:nvGraphicFramePr>
        <p:xfrm>
          <a:off x="270616" y="757646"/>
          <a:ext cx="11650767" cy="5725598"/>
        </p:xfrm>
        <a:graphic>
          <a:graphicData uri="http://schemas.openxmlformats.org/drawingml/2006/table">
            <a:tbl>
              <a:tblPr firstRow="1" bandRow="1"/>
              <a:tblGrid>
                <a:gridCol w="2631233">
                  <a:extLst>
                    <a:ext uri="{9D8B030D-6E8A-4147-A177-3AD203B41FA5}">
                      <a16:colId xmlns:a16="http://schemas.microsoft.com/office/drawing/2014/main" val="2120148881"/>
                    </a:ext>
                  </a:extLst>
                </a:gridCol>
                <a:gridCol w="986672">
                  <a:extLst>
                    <a:ext uri="{9D8B030D-6E8A-4147-A177-3AD203B41FA5}">
                      <a16:colId xmlns:a16="http://schemas.microsoft.com/office/drawing/2014/main" val="3846965455"/>
                    </a:ext>
                  </a:extLst>
                </a:gridCol>
                <a:gridCol w="938125">
                  <a:extLst>
                    <a:ext uri="{9D8B030D-6E8A-4147-A177-3AD203B41FA5}">
                      <a16:colId xmlns:a16="http://schemas.microsoft.com/office/drawing/2014/main" val="2901867873"/>
                    </a:ext>
                  </a:extLst>
                </a:gridCol>
                <a:gridCol w="960605">
                  <a:extLst>
                    <a:ext uri="{9D8B030D-6E8A-4147-A177-3AD203B41FA5}">
                      <a16:colId xmlns:a16="http://schemas.microsoft.com/office/drawing/2014/main" val="4054793336"/>
                    </a:ext>
                  </a:extLst>
                </a:gridCol>
                <a:gridCol w="1171898">
                  <a:extLst>
                    <a:ext uri="{9D8B030D-6E8A-4147-A177-3AD203B41FA5}">
                      <a16:colId xmlns:a16="http://schemas.microsoft.com/office/drawing/2014/main" val="3198574804"/>
                    </a:ext>
                  </a:extLst>
                </a:gridCol>
                <a:gridCol w="872813">
                  <a:extLst>
                    <a:ext uri="{9D8B030D-6E8A-4147-A177-3AD203B41FA5}">
                      <a16:colId xmlns:a16="http://schemas.microsoft.com/office/drawing/2014/main" val="2149558096"/>
                    </a:ext>
                  </a:extLst>
                </a:gridCol>
                <a:gridCol w="1022355">
                  <a:extLst>
                    <a:ext uri="{9D8B030D-6E8A-4147-A177-3AD203B41FA5}">
                      <a16:colId xmlns:a16="http://schemas.microsoft.com/office/drawing/2014/main" val="3162243589"/>
                    </a:ext>
                  </a:extLst>
                </a:gridCol>
                <a:gridCol w="1097820">
                  <a:extLst>
                    <a:ext uri="{9D8B030D-6E8A-4147-A177-3AD203B41FA5}">
                      <a16:colId xmlns:a16="http://schemas.microsoft.com/office/drawing/2014/main" val="1063593301"/>
                    </a:ext>
                  </a:extLst>
                </a:gridCol>
                <a:gridCol w="946891">
                  <a:extLst>
                    <a:ext uri="{9D8B030D-6E8A-4147-A177-3AD203B41FA5}">
                      <a16:colId xmlns:a16="http://schemas.microsoft.com/office/drawing/2014/main" val="1144397877"/>
                    </a:ext>
                  </a:extLst>
                </a:gridCol>
                <a:gridCol w="1022355">
                  <a:extLst>
                    <a:ext uri="{9D8B030D-6E8A-4147-A177-3AD203B41FA5}">
                      <a16:colId xmlns:a16="http://schemas.microsoft.com/office/drawing/2014/main" val="2408184898"/>
                    </a:ext>
                  </a:extLst>
                </a:gridCol>
              </a:tblGrid>
              <a:tr h="66784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Top 25 Parent Accounts​</a:t>
                      </a:r>
                    </a:p>
                    <a:p>
                      <a:pPr algn="ctr" rtl="0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(By </a:t>
                      </a:r>
                      <a:r>
                        <a:rPr lang="en-US" sz="1000" b="1" i="0" u="none" strike="noStrike" kern="1200" cap="none" spc="0" baseline="0" dirty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FYARRO</a:t>
                      </a: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Sales)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2025 to date Commercial 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2025 to date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PAP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2025 to date</a:t>
                      </a:r>
                    </a:p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%2025 to date contribution to Nation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R4W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P4W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Last ordered 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% change in (4weeks)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% change in (8weeks)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49267"/>
                  </a:ext>
                </a:extLst>
              </a:tr>
              <a:tr h="152587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TEXAS ONCOLOGY PA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113496"/>
                  </a:ext>
                </a:extLst>
              </a:tr>
              <a:tr h="295968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MEMORIAL SLOAN KETTERING CANCER CENTER GROUP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5/13/26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573141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STANFORD HEALTH CARE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5/22/26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766140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WASHINGTON UNIVERSITY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189896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DUKE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5/26/26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579792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TEXAS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5/26/26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346833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EMORY HEALTHCARE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5/20/26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067482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NORTHWESTERN MEDICINE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5/13/26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739222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DANA FARBER CANCER INSTITUTE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5/13/26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858103"/>
                  </a:ext>
                </a:extLst>
              </a:tr>
              <a:tr h="217109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UNC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5/11/26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573372"/>
                  </a:ext>
                </a:extLst>
              </a:tr>
              <a:tr h="295968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FLORIDA CANCER SPECIALISTS &amp; RESEARCH INSTITUTE LLC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42416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VIRGINIA CANCER SPECIALISTS P.C.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01898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UPMC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86501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KAISER PERMANENTE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40358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UMASS MEMORIAL HEALTH CARE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51709"/>
                  </a:ext>
                </a:extLst>
              </a:tr>
              <a:tr h="295968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NORTHEAST GEORGIA HEALTH SYSTEM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537806"/>
                  </a:ext>
                </a:extLst>
              </a:tr>
              <a:tr h="182632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MOUNT SINAI HEALTH SYSTEM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09736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ADVOCATE AURORA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488266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NUVANCE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498045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JOHNS HOPKINS MEDICINE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12/18/25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24920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DARTMOUTH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511539"/>
                  </a:ext>
                </a:extLst>
              </a:tr>
              <a:tr h="295968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NORTH SHORE HEMATOLOGY ONCOLOGY ASSOCIATES PC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545509"/>
                  </a:ext>
                </a:extLst>
              </a:tr>
              <a:tr h="217109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VIRGINIA ONCOLOGY ASSOCIATES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622321"/>
                  </a:ext>
                </a:extLst>
              </a:tr>
              <a:tr h="217109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FORREST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60940"/>
                  </a:ext>
                </a:extLst>
              </a:tr>
              <a:tr h="237320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SOUTHERN CALIFORNIA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1/13/26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81164"/>
                  </a:ext>
                </a:extLst>
              </a:tr>
              <a:tr h="14798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TOP 25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3560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3584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767792"/>
                  </a:ext>
                </a:extLst>
              </a:tr>
              <a:tr h="157233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TOTAL NATION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7171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000" b="1" i="0" u="none" strike="noStrike" cap="none" spc="0" baseline="0" dirty="0">
                        <a:solidFill>
                          <a:srgbClr val="00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2253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4567E9-DEFD-6FA0-158E-BB4A0310CA7C}"/>
              </a:ext>
            </a:extLst>
          </p:cNvPr>
          <p:cNvSpPr/>
          <p:nvPr/>
        </p:nvSpPr>
        <p:spPr>
          <a:xfrm>
            <a:off x="176206" y="6376979"/>
            <a:ext cx="5439590" cy="5811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hangingPunct="0"/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Portal; Demand data duration: 17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 till 29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May-26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9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41B3A-BAF2-AC4A-B490-25D03B6E899A}"/>
              </a:ext>
            </a:extLst>
          </p:cNvPr>
          <p:cNvSpPr/>
          <p:nvPr/>
        </p:nvSpPr>
        <p:spPr>
          <a:xfrm>
            <a:off x="10675353" y="161820"/>
            <a:ext cx="1087439" cy="326572"/>
          </a:xfrm>
          <a:prstGeom prst="rect">
            <a:avLst/>
          </a:prstGeom>
          <a:solidFill>
            <a:srgbClr val="ECAB1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Dormant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65979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23F19-609D-DD8B-57EF-BE5ABE3C98AE}"/>
              </a:ext>
            </a:extLst>
          </p:cNvPr>
          <p:cNvSpPr/>
          <p:nvPr/>
        </p:nvSpPr>
        <p:spPr>
          <a:xfrm>
            <a:off x="10764819" y="379555"/>
            <a:ext cx="882773" cy="369045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02928-0126-F477-004D-2E359B333185}"/>
              </a:ext>
            </a:extLst>
          </p:cNvPr>
          <p:cNvSpPr txBox="1">
            <a:spLocks/>
          </p:cNvSpPr>
          <p:nvPr/>
        </p:nvSpPr>
        <p:spPr>
          <a:xfrm>
            <a:off x="11826973" y="6542721"/>
            <a:ext cx="207875" cy="2184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0543ED3-111B-4842-9D2D-918F903AB236}" type="slidenum">
              <a:rPr lang="en-US" sz="800" smtClean="0">
                <a:solidFill>
                  <a:srgbClr val="50626A"/>
                </a:solidFill>
                <a:latin typeface="Montserrat Regular"/>
                <a:sym typeface="Montserrat Regular"/>
              </a:rPr>
              <a:pPr algn="ctr">
                <a:defRPr/>
              </a:pPr>
              <a:t>16</a:t>
            </a:fld>
            <a:endParaRPr lang="en-US" sz="800">
              <a:solidFill>
                <a:srgbClr val="50626A"/>
              </a:solidFill>
              <a:latin typeface="Montserrat Regular"/>
              <a:sym typeface="Montserrat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B2060-F2D8-995B-979D-E1100BDDC9D5}"/>
              </a:ext>
            </a:extLst>
          </p:cNvPr>
          <p:cNvSpPr txBox="1"/>
          <p:nvPr/>
        </p:nvSpPr>
        <p:spPr>
          <a:xfrm>
            <a:off x="10764819" y="376466"/>
            <a:ext cx="882773" cy="338552"/>
          </a:xfrm>
          <a:prstGeom prst="rect">
            <a:avLst/>
          </a:prstGeom>
          <a:solidFill>
            <a:srgbClr val="ECAB1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Dormant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23EB2-10A9-5940-2D08-2E2A281DFF04}"/>
              </a:ext>
            </a:extLst>
          </p:cNvPr>
          <p:cNvSpPr txBox="1"/>
          <p:nvPr/>
        </p:nvSpPr>
        <p:spPr>
          <a:xfrm>
            <a:off x="303367" y="6542721"/>
            <a:ext cx="8157587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Portal; Demand data duration: 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17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till 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29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May-26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9F419C8D-C3AF-629A-8123-FA5F7F746C1F}"/>
              </a:ext>
            </a:extLst>
          </p:cNvPr>
          <p:cNvSpPr txBox="1">
            <a:spLocks/>
          </p:cNvSpPr>
          <p:nvPr/>
        </p:nvSpPr>
        <p:spPr>
          <a:xfrm>
            <a:off x="303367" y="382805"/>
            <a:ext cx="11523606" cy="47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rm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pPr defTabSz="914400" rtl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kern="800">
                <a:solidFill>
                  <a:schemeClr val="accent1"/>
                </a:solidFill>
                <a:latin typeface="Trebuchet MS" panose="020B0703020202090204" pitchFamily="34" charset="0"/>
                <a:ea typeface="+mj-ea"/>
              </a:rPr>
              <a:t>Top Legacy FYARRO Ordering Accounts </a:t>
            </a:r>
            <a:r>
              <a:rPr lang="en-US" sz="2000" kern="800">
                <a:solidFill>
                  <a:schemeClr val="accent1"/>
                </a:solidFill>
                <a:latin typeface="Trebuchet MS" panose="020B0703020202090204" pitchFamily="34" charset="0"/>
                <a:ea typeface="+mj-ea"/>
              </a:rPr>
              <a:t>(Including PAP)</a:t>
            </a:r>
            <a:endParaRPr lang="en-US" sz="2400" kern="800">
              <a:solidFill>
                <a:schemeClr val="accent1"/>
              </a:solidFill>
              <a:latin typeface="Trebuchet MS" panose="020B0703020202090204" pitchFamily="34" charset="0"/>
              <a:ea typeface="+mj-e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675E22-0C23-92B1-18A8-31F5CE4CA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28700"/>
              </p:ext>
            </p:extLst>
          </p:nvPr>
        </p:nvGraphicFramePr>
        <p:xfrm>
          <a:off x="176206" y="1018957"/>
          <a:ext cx="11650767" cy="5211705"/>
        </p:xfrm>
        <a:graphic>
          <a:graphicData uri="http://schemas.openxmlformats.org/drawingml/2006/table">
            <a:tbl>
              <a:tblPr firstRow="1" bandRow="1"/>
              <a:tblGrid>
                <a:gridCol w="2645371">
                  <a:extLst>
                    <a:ext uri="{9D8B030D-6E8A-4147-A177-3AD203B41FA5}">
                      <a16:colId xmlns:a16="http://schemas.microsoft.com/office/drawing/2014/main" val="2120148881"/>
                    </a:ext>
                  </a:extLst>
                </a:gridCol>
                <a:gridCol w="972534">
                  <a:extLst>
                    <a:ext uri="{9D8B030D-6E8A-4147-A177-3AD203B41FA5}">
                      <a16:colId xmlns:a16="http://schemas.microsoft.com/office/drawing/2014/main" val="3846965455"/>
                    </a:ext>
                  </a:extLst>
                </a:gridCol>
                <a:gridCol w="941791">
                  <a:extLst>
                    <a:ext uri="{9D8B030D-6E8A-4147-A177-3AD203B41FA5}">
                      <a16:colId xmlns:a16="http://schemas.microsoft.com/office/drawing/2014/main" val="2901867873"/>
                    </a:ext>
                  </a:extLst>
                </a:gridCol>
                <a:gridCol w="956939">
                  <a:extLst>
                    <a:ext uri="{9D8B030D-6E8A-4147-A177-3AD203B41FA5}">
                      <a16:colId xmlns:a16="http://schemas.microsoft.com/office/drawing/2014/main" val="4054793336"/>
                    </a:ext>
                  </a:extLst>
                </a:gridCol>
                <a:gridCol w="1171898">
                  <a:extLst>
                    <a:ext uri="{9D8B030D-6E8A-4147-A177-3AD203B41FA5}">
                      <a16:colId xmlns:a16="http://schemas.microsoft.com/office/drawing/2014/main" val="3198574804"/>
                    </a:ext>
                  </a:extLst>
                </a:gridCol>
                <a:gridCol w="872813">
                  <a:extLst>
                    <a:ext uri="{9D8B030D-6E8A-4147-A177-3AD203B41FA5}">
                      <a16:colId xmlns:a16="http://schemas.microsoft.com/office/drawing/2014/main" val="2149558096"/>
                    </a:ext>
                  </a:extLst>
                </a:gridCol>
                <a:gridCol w="1022355">
                  <a:extLst>
                    <a:ext uri="{9D8B030D-6E8A-4147-A177-3AD203B41FA5}">
                      <a16:colId xmlns:a16="http://schemas.microsoft.com/office/drawing/2014/main" val="3162243589"/>
                    </a:ext>
                  </a:extLst>
                </a:gridCol>
                <a:gridCol w="1097820">
                  <a:extLst>
                    <a:ext uri="{9D8B030D-6E8A-4147-A177-3AD203B41FA5}">
                      <a16:colId xmlns:a16="http://schemas.microsoft.com/office/drawing/2014/main" val="1063593301"/>
                    </a:ext>
                  </a:extLst>
                </a:gridCol>
                <a:gridCol w="946891">
                  <a:extLst>
                    <a:ext uri="{9D8B030D-6E8A-4147-A177-3AD203B41FA5}">
                      <a16:colId xmlns:a16="http://schemas.microsoft.com/office/drawing/2014/main" val="1144397877"/>
                    </a:ext>
                  </a:extLst>
                </a:gridCol>
                <a:gridCol w="1022355">
                  <a:extLst>
                    <a:ext uri="{9D8B030D-6E8A-4147-A177-3AD203B41FA5}">
                      <a16:colId xmlns:a16="http://schemas.microsoft.com/office/drawing/2014/main" val="2408184898"/>
                    </a:ext>
                  </a:extLst>
                </a:gridCol>
              </a:tblGrid>
              <a:tr h="102755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Top Parent Accounts​</a:t>
                      </a:r>
                    </a:p>
                    <a:p>
                      <a:pPr algn="ctr" rtl="0" fontAlgn="base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(By FYARRO Sales)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LTD Commercial 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LTD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PAP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LTD</a:t>
                      </a:r>
                    </a:p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%LTD contribution to Nation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R4W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P4W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Vials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Last ordered 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% change in (4weeks)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% change in (8weeks)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49267"/>
                  </a:ext>
                </a:extLst>
              </a:tr>
              <a:tr h="217715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FROEDTERT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6/3/25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55467"/>
                  </a:ext>
                </a:extLst>
              </a:tr>
              <a:tr h="232109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VANDERBILT UNIVERSITY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5/28/26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573141"/>
                  </a:ext>
                </a:extLst>
              </a:tr>
              <a:tr h="324952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MAINE CENTER FOR CANCER MEDICINE &amp; BLOOD DISORDERS PA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766140"/>
                  </a:ext>
                </a:extLst>
              </a:tr>
              <a:tr h="16247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MIAMI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189896"/>
                  </a:ext>
                </a:extLst>
              </a:tr>
              <a:tr h="245691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SARCOMA ONCOLOGY CENTER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7/17/25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579792"/>
                  </a:ext>
                </a:extLst>
              </a:tr>
              <a:tr h="16247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MICHIGAN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1/6/26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346833"/>
                  </a:ext>
                </a:extLst>
              </a:tr>
              <a:tr h="18213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SUTTER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1/29/26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067482"/>
                  </a:ext>
                </a:extLst>
              </a:tr>
              <a:tr h="16247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CHRISTIANA CARE HEALTH SYSTEM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7/14/25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739222"/>
                  </a:ext>
                </a:extLst>
              </a:tr>
              <a:tr h="162476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CITY OF HOPE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2/17/26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858103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MARYLAND ONCOLOGY HEMATOLOGY PA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573372"/>
                  </a:ext>
                </a:extLst>
              </a:tr>
              <a:tr h="212174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ATRIUM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12/29/25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42416"/>
                  </a:ext>
                </a:extLst>
              </a:tr>
              <a:tr h="212012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UCHEALTH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5/26/26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01898"/>
                  </a:ext>
                </a:extLst>
              </a:tr>
              <a:tr h="324952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FRANCISCAN MISSIONARIES OF OUR LADY HEALTH SYSTEM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4/15/26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86501"/>
                  </a:ext>
                </a:extLst>
              </a:tr>
              <a:tr h="166041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CEDARS-SINAI HEALTH SYSTEM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11/7/25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40358"/>
                  </a:ext>
                </a:extLst>
              </a:tr>
              <a:tr h="171452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FRED HUTCHINSON CANCER CENTER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5/21/26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51709"/>
                  </a:ext>
                </a:extLst>
              </a:tr>
              <a:tr h="185688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NEWYORK - PRESBYTERIAN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11/3/25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537806"/>
                  </a:ext>
                </a:extLst>
              </a:tr>
              <a:tr h="166727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COREWELL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09391"/>
                  </a:ext>
                </a:extLst>
              </a:tr>
              <a:tr h="166727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UNIVERSAL HEALTH SERVICES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5/26/26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86739"/>
                  </a:ext>
                </a:extLst>
              </a:tr>
              <a:tr h="166727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SSM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0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A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767792"/>
                  </a:ext>
                </a:extLst>
              </a:tr>
              <a:tr h="166727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TOP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3256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3438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IN" sz="1000" b="1" i="0" u="none" strike="noStrike" cap="none" spc="0" baseline="0" dirty="0">
                        <a:solidFill>
                          <a:srgbClr val="00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56187"/>
                  </a:ext>
                </a:extLst>
              </a:tr>
              <a:tr h="172631"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TOTAL NATION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17436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17846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000" b="1" i="0" u="none" strike="noStrike" cap="none" spc="0" baseline="0" dirty="0">
                        <a:solidFill>
                          <a:srgbClr val="00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0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-6%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22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78812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43F683-723A-CAD2-5D7D-B9A88CCAF21C}"/>
              </a:ext>
            </a:extLst>
          </p:cNvPr>
          <p:cNvSpPr txBox="1">
            <a:spLocks/>
          </p:cNvSpPr>
          <p:nvPr/>
        </p:nvSpPr>
        <p:spPr>
          <a:xfrm>
            <a:off x="11826973" y="6506145"/>
            <a:ext cx="457200" cy="2778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543ED3-111B-4842-9D2D-918F903AB236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17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711ED6-A2F3-F7B8-5E51-F0D2FED8C814}"/>
              </a:ext>
            </a:extLst>
          </p:cNvPr>
          <p:cNvSpPr txBox="1">
            <a:spLocks/>
          </p:cNvSpPr>
          <p:nvPr/>
        </p:nvSpPr>
        <p:spPr>
          <a:xfrm>
            <a:off x="390616" y="265176"/>
            <a:ext cx="10892239" cy="718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r>
              <a:rPr lang="en-US" sz="2400" kern="0" err="1">
                <a:solidFill>
                  <a:schemeClr val="accent1"/>
                </a:solidFill>
              </a:rPr>
              <a:t>Fyarro</a:t>
            </a:r>
            <a:r>
              <a:rPr lang="en-US" sz="2400" kern="0">
                <a:solidFill>
                  <a:schemeClr val="accent1"/>
                </a:solidFill>
              </a:rPr>
              <a:t> New Child Accounts (R4W)</a:t>
            </a:r>
            <a:endParaRPr lang="en-IN" kern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37FF403A-677A-AFA7-4F15-57D7B9B84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3263"/>
              </p:ext>
            </p:extLst>
          </p:nvPr>
        </p:nvGraphicFramePr>
        <p:xfrm>
          <a:off x="279183" y="983833"/>
          <a:ext cx="11763292" cy="512087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7297">
                  <a:extLst>
                    <a:ext uri="{9D8B030D-6E8A-4147-A177-3AD203B41FA5}">
                      <a16:colId xmlns:a16="http://schemas.microsoft.com/office/drawing/2014/main" val="2131702879"/>
                    </a:ext>
                  </a:extLst>
                </a:gridCol>
                <a:gridCol w="1252779">
                  <a:extLst>
                    <a:ext uri="{9D8B030D-6E8A-4147-A177-3AD203B41FA5}">
                      <a16:colId xmlns:a16="http://schemas.microsoft.com/office/drawing/2014/main" val="3680354169"/>
                    </a:ext>
                  </a:extLst>
                </a:gridCol>
                <a:gridCol w="1569458">
                  <a:extLst>
                    <a:ext uri="{9D8B030D-6E8A-4147-A177-3AD203B41FA5}">
                      <a16:colId xmlns:a16="http://schemas.microsoft.com/office/drawing/2014/main" val="109579855"/>
                    </a:ext>
                  </a:extLst>
                </a:gridCol>
                <a:gridCol w="1009874">
                  <a:extLst>
                    <a:ext uri="{9D8B030D-6E8A-4147-A177-3AD203B41FA5}">
                      <a16:colId xmlns:a16="http://schemas.microsoft.com/office/drawing/2014/main" val="2368129063"/>
                    </a:ext>
                  </a:extLst>
                </a:gridCol>
                <a:gridCol w="1409710">
                  <a:extLst>
                    <a:ext uri="{9D8B030D-6E8A-4147-A177-3AD203B41FA5}">
                      <a16:colId xmlns:a16="http://schemas.microsoft.com/office/drawing/2014/main" val="1015831616"/>
                    </a:ext>
                  </a:extLst>
                </a:gridCol>
                <a:gridCol w="1737618">
                  <a:extLst>
                    <a:ext uri="{9D8B030D-6E8A-4147-A177-3AD203B41FA5}">
                      <a16:colId xmlns:a16="http://schemas.microsoft.com/office/drawing/2014/main" val="3173316217"/>
                    </a:ext>
                  </a:extLst>
                </a:gridCol>
                <a:gridCol w="1102360">
                  <a:extLst>
                    <a:ext uri="{9D8B030D-6E8A-4147-A177-3AD203B41FA5}">
                      <a16:colId xmlns:a16="http://schemas.microsoft.com/office/drawing/2014/main" val="2642700016"/>
                    </a:ext>
                  </a:extLst>
                </a:gridCol>
                <a:gridCol w="1644196">
                  <a:extLst>
                    <a:ext uri="{9D8B030D-6E8A-4147-A177-3AD203B41FA5}">
                      <a16:colId xmlns:a16="http://schemas.microsoft.com/office/drawing/2014/main" val="2755759529"/>
                    </a:ext>
                  </a:extLst>
                </a:gridCol>
              </a:tblGrid>
              <a:tr h="769191"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Account Name</a:t>
                      </a:r>
                      <a:endParaRPr lang="en-IN" sz="1200" b="1" i="0" u="none" strike="noStrike" cap="none" spc="0" baseline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City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First order date</a:t>
                      </a:r>
                      <a:endParaRPr lang="en-IN" sz="1200" b="1" i="0" u="none" strike="noStrike" cap="none" spc="0" baseline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Total Vials</a:t>
                      </a:r>
                      <a:endParaRPr lang="en-IN" sz="1200" b="1" i="0" u="none" strike="noStrike" cap="none" spc="0" baseline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No. of Orders</a:t>
                      </a:r>
                      <a:endParaRPr lang="en-IN" sz="1200" b="1" i="0" u="none" strike="noStrike" cap="none" spc="0" baseline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Parent Name</a:t>
                      </a:r>
                      <a:endParaRPr lang="en-IN" sz="1200" b="1" i="0" u="none" strike="noStrike" cap="none" spc="0" baseline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Region</a:t>
                      </a:r>
                      <a:endParaRPr lang="en-IN" sz="1200" b="1" i="0" u="none" strike="noStrike" cap="none" spc="0" baseline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Account </a:t>
                      </a:r>
                    </a:p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classification</a:t>
                      </a:r>
                      <a:endParaRPr lang="en-IN" sz="1200" b="1" i="0" u="none" strike="noStrike" cap="none" spc="0" baseline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50243"/>
                  </a:ext>
                </a:extLst>
              </a:tr>
              <a:tr h="7317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Adventist Health Physicians Network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Ukiah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7030A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5/27/26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Adventist Health West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West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rgbClr val="7030A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7030A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rgbClr val="7030A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6899406"/>
                  </a:ext>
                </a:extLst>
              </a:tr>
              <a:tr h="7317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University Hospital Cleveland Medical Center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Cleveland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7030A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5/26/26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4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University Hospitals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ova" panose="020B0504020202020204" pitchFamily="34" charset="0"/>
                        </a:rPr>
                        <a:t>Central</a:t>
                      </a:r>
                      <a:endParaRPr lang="en-IN" sz="1100" b="0" i="0" u="none" strike="noStrike" dirty="0">
                        <a:solidFill>
                          <a:srgbClr val="7030A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rgbClr val="7030A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7030A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rgbClr val="7030A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6092846"/>
                  </a:ext>
                </a:extLst>
              </a:tr>
              <a:tr h="7317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Ascension St. Vincent Hospital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Indianapolis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5/15/26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Ascension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Central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9242288"/>
                  </a:ext>
                </a:extLst>
              </a:tr>
              <a:tr h="7317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University of Miami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North Miami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5/12/26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University of Miami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East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5885233"/>
                  </a:ext>
                </a:extLst>
              </a:tr>
              <a:tr h="7317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Central Maine Medical Center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Lewiston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5/7/26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Central Maine Healthcare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East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8610286"/>
                  </a:ext>
                </a:extLst>
              </a:tr>
              <a:tr h="693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University Anesthesiology Associates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Portland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5/4/26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Oregon Health &amp; Science University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West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2549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736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2EB4F8-9932-E9CA-2475-88420E987725}"/>
              </a:ext>
            </a:extLst>
          </p:cNvPr>
          <p:cNvGraphicFramePr>
            <a:graphicFrameLocks noGrp="1"/>
          </p:cNvGraphicFramePr>
          <p:nvPr/>
        </p:nvGraphicFramePr>
        <p:xfrm>
          <a:off x="285391" y="945733"/>
          <a:ext cx="11130455" cy="526863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09450">
                  <a:extLst>
                    <a:ext uri="{9D8B030D-6E8A-4147-A177-3AD203B41FA5}">
                      <a16:colId xmlns:a16="http://schemas.microsoft.com/office/drawing/2014/main" val="2089336505"/>
                    </a:ext>
                  </a:extLst>
                </a:gridCol>
                <a:gridCol w="933319">
                  <a:extLst>
                    <a:ext uri="{9D8B030D-6E8A-4147-A177-3AD203B41FA5}">
                      <a16:colId xmlns:a16="http://schemas.microsoft.com/office/drawing/2014/main" val="4230906110"/>
                    </a:ext>
                  </a:extLst>
                </a:gridCol>
                <a:gridCol w="1488377">
                  <a:extLst>
                    <a:ext uri="{9D8B030D-6E8A-4147-A177-3AD203B41FA5}">
                      <a16:colId xmlns:a16="http://schemas.microsoft.com/office/drawing/2014/main" val="1736753360"/>
                    </a:ext>
                  </a:extLst>
                </a:gridCol>
                <a:gridCol w="1137842">
                  <a:extLst>
                    <a:ext uri="{9D8B030D-6E8A-4147-A177-3AD203B41FA5}">
                      <a16:colId xmlns:a16="http://schemas.microsoft.com/office/drawing/2014/main" val="1822667008"/>
                    </a:ext>
                  </a:extLst>
                </a:gridCol>
                <a:gridCol w="1213330">
                  <a:extLst>
                    <a:ext uri="{9D8B030D-6E8A-4147-A177-3AD203B41FA5}">
                      <a16:colId xmlns:a16="http://schemas.microsoft.com/office/drawing/2014/main" val="3984629292"/>
                    </a:ext>
                  </a:extLst>
                </a:gridCol>
                <a:gridCol w="2030419">
                  <a:extLst>
                    <a:ext uri="{9D8B030D-6E8A-4147-A177-3AD203B41FA5}">
                      <a16:colId xmlns:a16="http://schemas.microsoft.com/office/drawing/2014/main" val="3514747934"/>
                    </a:ext>
                  </a:extLst>
                </a:gridCol>
                <a:gridCol w="768090">
                  <a:extLst>
                    <a:ext uri="{9D8B030D-6E8A-4147-A177-3AD203B41FA5}">
                      <a16:colId xmlns:a16="http://schemas.microsoft.com/office/drawing/2014/main" val="3808412022"/>
                    </a:ext>
                  </a:extLst>
                </a:gridCol>
                <a:gridCol w="1149628">
                  <a:extLst>
                    <a:ext uri="{9D8B030D-6E8A-4147-A177-3AD203B41FA5}">
                      <a16:colId xmlns:a16="http://schemas.microsoft.com/office/drawing/2014/main" val="3247736512"/>
                    </a:ext>
                  </a:extLst>
                </a:gridCol>
              </a:tblGrid>
              <a:tr h="631071"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Account Name</a:t>
                      </a:r>
                      <a:endParaRPr lang="en-IN" sz="1200" b="1" i="0" u="none" strike="noStrike" cap="none" spc="0" baseline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City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Last order date Before Reactivation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Latest </a:t>
                      </a:r>
                    </a:p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order date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Latest </a:t>
                      </a:r>
                    </a:p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ordered Vials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Parent Name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Region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fontAlgn="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1" i="0" u="none" strike="noStrike" cap="none" spc="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Account Classification</a:t>
                      </a:r>
                    </a:p>
                  </a:txBody>
                  <a:tcPr marL="9525" marR="9525" marT="9525" marB="0"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93162"/>
                  </a:ext>
                </a:extLst>
              </a:tr>
              <a:tr h="630440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Prisma Health -Midlands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Columbia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9/13/25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6/10/26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Prisma Health 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East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Non Academic-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Clinic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9704796"/>
                  </a:ext>
                </a:extLst>
              </a:tr>
              <a:tr h="630440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The Johns Hopkins Hospital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Baltimore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9/26/25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6/4/26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Johns Hopkins Medicine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East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4905807"/>
                  </a:ext>
                </a:extLst>
              </a:tr>
              <a:tr h="742683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Colorado Medicine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Aurora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6/11/25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6/3/26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UCHealth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West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3491799"/>
                  </a:ext>
                </a:extLst>
              </a:tr>
              <a:tr h="742683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John Muir Health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Walnut Creek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3/24/26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6/2/26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4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John Muir Health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West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Non Academic-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Hospital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8709800"/>
                  </a:ext>
                </a:extLst>
              </a:tr>
              <a:tr h="630440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Comprehensive Cancer Centers of Nevada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Las Vegas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8/21/25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5/21/26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Comprehensive Cancer Centers of Nevada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West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Non Academic-</a:t>
                      </a:r>
                    </a:p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Clinic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0538653"/>
                  </a:ext>
                </a:extLst>
              </a:tr>
              <a:tr h="630440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Stanford University Medical Center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Redwood City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3/11/26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5/20/26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Stanford Health care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West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4159628"/>
                  </a:ext>
                </a:extLst>
              </a:tr>
              <a:tr h="630440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Miami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Miami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10/17/24</a:t>
                      </a:r>
                      <a:endParaRPr lang="en-IN" sz="1100" b="0" i="0" u="none" strike="noStrike" cap="none" spc="0" baseline="0" dirty="0">
                        <a:solidFill>
                          <a:srgbClr val="FF000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5/16/26</a:t>
                      </a:r>
                      <a:endParaRPr lang="en-IN" sz="1100" b="1" i="0" u="none" strike="noStrike" cap="none" spc="0" baseline="0" dirty="0">
                        <a:solidFill>
                          <a:srgbClr val="00B050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2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University of Miami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Calibri"/>
                          <a:cs typeface="Calibri"/>
                          <a:sym typeface="Montserrat Regular"/>
                        </a:rPr>
                        <a:t>East</a:t>
                      </a:r>
                      <a:endParaRPr kumimoji="0" lang="en-I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Calibri"/>
                        <a:cs typeface="Calibri"/>
                        <a:sym typeface="Montserrat Regula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Academic</a:t>
                      </a:r>
                      <a:endParaRPr lang="en-IN" sz="11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7833764"/>
                  </a:ext>
                </a:extLst>
              </a:tr>
            </a:tbl>
          </a:graphicData>
        </a:graphic>
      </p:graphicFrame>
      <p:sp>
        <p:nvSpPr>
          <p:cNvPr id="9" name="Title 3">
            <a:extLst>
              <a:ext uri="{FF2B5EF4-FFF2-40B4-BE49-F238E27FC236}">
                <a16:creationId xmlns:a16="http://schemas.microsoft.com/office/drawing/2014/main" id="{F7804C6A-942E-08EB-B766-F7C72951512A}"/>
              </a:ext>
            </a:extLst>
          </p:cNvPr>
          <p:cNvSpPr txBox="1">
            <a:spLocks/>
          </p:cNvSpPr>
          <p:nvPr/>
        </p:nvSpPr>
        <p:spPr>
          <a:xfrm>
            <a:off x="190500" y="329453"/>
            <a:ext cx="11130456" cy="616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rmAutofit/>
          </a:bodyPr>
          <a:lstStyle>
            <a:lvl1pPr marL="0" marR="0" indent="0" algn="l" defTabSz="91424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u="none" strike="noStrike" cap="none" spc="0" baseline="0">
                <a:solidFill>
                  <a:schemeClr val="accent4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venir Black"/>
              </a:defRPr>
            </a:lvl1pPr>
            <a:lvl2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err="1">
                <a:ln>
                  <a:noFill/>
                </a:ln>
                <a:solidFill>
                  <a:srgbClr val="00859D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Avenir Black"/>
              </a:rPr>
              <a:t>Fyarro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859D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Avenir Black"/>
              </a:rPr>
              <a:t> Reactivated Child Accounts(R4W)</a:t>
            </a:r>
            <a:endParaRPr kumimoji="0" lang="en-IN" sz="2400" b="1" i="0" u="none" strike="noStrike" kern="0" cap="none" spc="0" normalizeH="0" baseline="0" noProof="0">
              <a:ln>
                <a:noFill/>
              </a:ln>
              <a:solidFill>
                <a:srgbClr val="017298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venir Black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1660FF2-95E6-31B6-C021-E0FAC66EAE12}"/>
              </a:ext>
            </a:extLst>
          </p:cNvPr>
          <p:cNvSpPr txBox="1">
            <a:spLocks/>
          </p:cNvSpPr>
          <p:nvPr/>
        </p:nvSpPr>
        <p:spPr>
          <a:xfrm>
            <a:off x="11826973" y="6506145"/>
            <a:ext cx="457200" cy="2778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543ED3-111B-4842-9D2D-918F903AB23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A34E1-93AA-715C-6FF2-8A8E65D51A8D}"/>
              </a:ext>
            </a:extLst>
          </p:cNvPr>
          <p:cNvSpPr txBox="1"/>
          <p:nvPr/>
        </p:nvSpPr>
        <p:spPr>
          <a:xfrm>
            <a:off x="285391" y="6414647"/>
            <a:ext cx="948803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Source: Mckesson Portal; 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Demand data duration: 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17</a:t>
            </a:r>
            <a:r>
              <a:rPr lang="en-US" sz="900" baseline="30000" dirty="0">
                <a:solidFill>
                  <a:srgbClr val="000000"/>
                </a:solidFill>
                <a:latin typeface="Arial Nova" panose="020B050402020202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Feb-22 till </a:t>
            </a:r>
            <a:r>
              <a:rPr lang="en-US" sz="90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12</a:t>
            </a:r>
            <a:r>
              <a:rPr lang="en-US" sz="900" baseline="3000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th</a:t>
            </a:r>
            <a:r>
              <a:rPr lang="en-US" sz="900">
                <a:solidFill>
                  <a:srgbClr val="000000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 Jun-26</a:t>
            </a:r>
            <a:endParaRPr kumimoji="0" lang="en-IN" sz="9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 Nova" panose="020B05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716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2.xml><?xml version="1.0" encoding="utf-8"?>
<a:theme xmlns:a="http://schemas.openxmlformats.org/drawingml/2006/main" name="1_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3.xml><?xml version="1.0" encoding="utf-8"?>
<a:theme xmlns:a="http://schemas.openxmlformats.org/drawingml/2006/main" name="19_Bayer_RTP_Overview_tjd">
  <a:themeElements>
    <a:clrScheme name="Custom 75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99CCFF"/>
      </a:accent1>
      <a:accent2>
        <a:srgbClr val="FF9900"/>
      </a:accent2>
      <a:accent3>
        <a:srgbClr val="AAAAFF"/>
      </a:accent3>
      <a:accent4>
        <a:srgbClr val="DADADA"/>
      </a:accent4>
      <a:accent5>
        <a:srgbClr val="CAE2FF"/>
      </a:accent5>
      <a:accent6>
        <a:srgbClr val="E78A00"/>
      </a:accent6>
      <a:hlink>
        <a:srgbClr val="008080"/>
      </a:hlink>
      <a:folHlink>
        <a:srgbClr val="6A8B2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1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1" charset="0"/>
            <a:ea typeface="ＭＳ Ｐゴシック" pitchFamily="1" charset="-128"/>
          </a:defRPr>
        </a:defPPr>
      </a:lstStyle>
    </a:lnDef>
  </a:objectDefaults>
  <a:extraClrSchemeLst>
    <a:extraClrScheme>
      <a:clrScheme name="Bayer_RTP_Overview_tj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yer_RTP_Overview_tj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yer_RTP_Overview_tjd 8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99CCFF"/>
        </a:accent1>
        <a:accent2>
          <a:srgbClr val="FF9900"/>
        </a:accent2>
        <a:accent3>
          <a:srgbClr val="AAAAFF"/>
        </a:accent3>
        <a:accent4>
          <a:srgbClr val="DADADA"/>
        </a:accent4>
        <a:accent5>
          <a:srgbClr val="CAE2FF"/>
        </a:accent5>
        <a:accent6>
          <a:srgbClr val="E78A00"/>
        </a:accent6>
        <a:hlink>
          <a:srgbClr val="008080"/>
        </a:hlink>
        <a:folHlink>
          <a:srgbClr val="6A8B2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5.xml><?xml version="1.0" encoding="utf-8"?>
<a:theme xmlns:a="http://schemas.openxmlformats.org/drawingml/2006/main" name="3_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6.xml><?xml version="1.0" encoding="utf-8"?>
<a:theme xmlns:a="http://schemas.openxmlformats.org/drawingml/2006/main" name="4_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pth">
    <a:dk1>
      <a:srgbClr val="000000"/>
    </a:dk1>
    <a:lt1>
      <a:srgbClr val="FFFFFF"/>
    </a:lt1>
    <a:dk2>
      <a:srgbClr val="A7A7A7"/>
    </a:dk2>
    <a:lt2>
      <a:srgbClr val="535353"/>
    </a:lt2>
    <a:accent1>
      <a:srgbClr val="00859D"/>
    </a:accent1>
    <a:accent2>
      <a:srgbClr val="ECAB1E"/>
    </a:accent2>
    <a:accent3>
      <a:srgbClr val="E2F0D9"/>
    </a:accent3>
    <a:accent4>
      <a:srgbClr val="F40000"/>
    </a:accent4>
    <a:accent5>
      <a:srgbClr val="820000"/>
    </a:accent5>
    <a:accent6>
      <a:srgbClr val="F4B183"/>
    </a:accent6>
    <a:hlink>
      <a:srgbClr val="0000FF"/>
    </a:hlink>
    <a:folHlink>
      <a:srgbClr val="FF00FF"/>
    </a:folHlink>
  </a:clrScheme>
  <a:fontScheme name="Depth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Depth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epth">
    <a:dk1>
      <a:srgbClr val="000000"/>
    </a:dk1>
    <a:lt1>
      <a:srgbClr val="FFFFFF"/>
    </a:lt1>
    <a:dk2>
      <a:srgbClr val="A7A7A7"/>
    </a:dk2>
    <a:lt2>
      <a:srgbClr val="535353"/>
    </a:lt2>
    <a:accent1>
      <a:srgbClr val="00859D"/>
    </a:accent1>
    <a:accent2>
      <a:srgbClr val="ECAB1E"/>
    </a:accent2>
    <a:accent3>
      <a:srgbClr val="E2F0D9"/>
    </a:accent3>
    <a:accent4>
      <a:srgbClr val="F40000"/>
    </a:accent4>
    <a:accent5>
      <a:srgbClr val="820000"/>
    </a:accent5>
    <a:accent6>
      <a:srgbClr val="F4B183"/>
    </a:accent6>
    <a:hlink>
      <a:srgbClr val="0000FF"/>
    </a:hlink>
    <a:folHlink>
      <a:srgbClr val="FF00FF"/>
    </a:folHlink>
  </a:clrScheme>
  <a:fontScheme name="Depth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Depth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19">
    <a:dk1>
      <a:srgbClr val="54565B"/>
    </a:dk1>
    <a:lt1>
      <a:srgbClr val="FFFFFF"/>
    </a:lt1>
    <a:dk2>
      <a:srgbClr val="C50E3C"/>
    </a:dk2>
    <a:lt2>
      <a:srgbClr val="C6CAC6"/>
    </a:lt2>
    <a:accent1>
      <a:srgbClr val="203661"/>
    </a:accent1>
    <a:accent2>
      <a:srgbClr val="3C587F"/>
    </a:accent2>
    <a:accent3>
      <a:srgbClr val="8DC1C5"/>
    </a:accent3>
    <a:accent4>
      <a:srgbClr val="688C38"/>
    </a:accent4>
    <a:accent5>
      <a:srgbClr val="AEB618"/>
    </a:accent5>
    <a:accent6>
      <a:srgbClr val="000000"/>
    </a:accent6>
    <a:hlink>
      <a:srgbClr val="3A6C8A"/>
    </a:hlink>
    <a:folHlink>
      <a:srgbClr val="8F7F9E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5095D3B376442BD8A39DC5A9008BD" ma:contentTypeVersion="16" ma:contentTypeDescription="Create a new document." ma:contentTypeScope="" ma:versionID="d8e649e7995a4de1b5c4d7cc31c168d7">
  <xsd:schema xmlns:xsd="http://www.w3.org/2001/XMLSchema" xmlns:xs="http://www.w3.org/2001/XMLSchema" xmlns:p="http://schemas.microsoft.com/office/2006/metadata/properties" xmlns:ns3="5e7d7682-d79f-4125-b85f-7fdf802f5803" xmlns:ns4="b7fa760e-defd-4713-bf1b-98d0bf2430af" targetNamespace="http://schemas.microsoft.com/office/2006/metadata/properties" ma:root="true" ma:fieldsID="cf84744a074cb4583786e912fea2ec93" ns3:_="" ns4:_="">
    <xsd:import namespace="5e7d7682-d79f-4125-b85f-7fdf802f5803"/>
    <xsd:import namespace="b7fa760e-defd-4713-bf1b-98d0bf2430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_activity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d7682-d79f-4125-b85f-7fdf802f58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fa760e-defd-4713-bf1b-98d0bf2430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7d7682-d79f-4125-b85f-7fdf802f5803" xsi:nil="true"/>
  </documentManagement>
</p:properties>
</file>

<file path=customXml/itemProps1.xml><?xml version="1.0" encoding="utf-8"?>
<ds:datastoreItem xmlns:ds="http://schemas.openxmlformats.org/officeDocument/2006/customXml" ds:itemID="{204F5BBA-395C-4700-B5D4-E9ED77F9A7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276288-4E04-40DF-B54B-18BD8DB3D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7d7682-d79f-4125-b85f-7fdf802f5803"/>
    <ds:schemaRef ds:uri="b7fa760e-defd-4713-bf1b-98d0bf2430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81194D-5E03-4512-91A2-888B7521D190}">
  <ds:schemaRefs>
    <ds:schemaRef ds:uri="http://schemas.microsoft.com/office/2006/documentManagement/types"/>
    <ds:schemaRef ds:uri="b7fa760e-defd-4713-bf1b-98d0bf2430af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5e7d7682-d79f-4125-b85f-7fdf802f5803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23300</TotalTime>
  <Words>2553</Words>
  <Application>Microsoft Office PowerPoint</Application>
  <PresentationFormat>Widescreen</PresentationFormat>
  <Paragraphs>1010</Paragraphs>
  <Slides>18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41" baseType="lpstr">
      <vt:lpstr>Aptos</vt:lpstr>
      <vt:lpstr>Arial</vt:lpstr>
      <vt:lpstr>Arial Nova</vt:lpstr>
      <vt:lpstr>Avenir Black</vt:lpstr>
      <vt:lpstr>Avenir Book</vt:lpstr>
      <vt:lpstr>Calibri</vt:lpstr>
      <vt:lpstr>Calibri (Body)</vt:lpstr>
      <vt:lpstr>Courier New</vt:lpstr>
      <vt:lpstr>Helvetica Neue</vt:lpstr>
      <vt:lpstr>Montserrat</vt:lpstr>
      <vt:lpstr>Montserrat Regular</vt:lpstr>
      <vt:lpstr>System Font Regular</vt:lpstr>
      <vt:lpstr>Times</vt:lpstr>
      <vt:lpstr>Trebuchet MS</vt:lpstr>
      <vt:lpstr>Verdana</vt:lpstr>
      <vt:lpstr>Wingdings</vt:lpstr>
      <vt:lpstr>AADI-2022</vt:lpstr>
      <vt:lpstr>1_AADI-2022</vt:lpstr>
      <vt:lpstr>19_Bayer_RTP_Overview_tjd</vt:lpstr>
      <vt:lpstr>2_AADI-2022</vt:lpstr>
      <vt:lpstr>3_AADI-2022</vt:lpstr>
      <vt:lpstr>4_AADI-2022</vt:lpstr>
      <vt:lpstr>think-cell スライド</vt:lpstr>
      <vt:lpstr>May 2026 FYARRO Business Review</vt:lpstr>
      <vt:lpstr>May Sales Performance</vt:lpstr>
      <vt:lpstr>Demand </vt:lpstr>
      <vt:lpstr>Inventory at Specialty Distributor</vt:lpstr>
      <vt:lpstr>May 2026 FYARRO Performance</vt:lpstr>
      <vt:lpstr>PowerPoint Presentation</vt:lpstr>
      <vt:lpstr>PowerPoint Presentation</vt:lpstr>
      <vt:lpstr>Appendix</vt:lpstr>
      <vt:lpstr>PowerPoint Presentation</vt:lpstr>
      <vt:lpstr>PowerPoint Presentation</vt:lpstr>
      <vt:lpstr>Fyarro Weekly run rate</vt:lpstr>
      <vt:lpstr>PowerPoint Presentation</vt:lpstr>
      <vt:lpstr>PowerPoint Presentation</vt:lpstr>
      <vt:lpstr>Sarcoma Centers Penetration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Christa Perlaza</dc:creator>
  <cp:lastModifiedBy>Deepak Dubey</cp:lastModifiedBy>
  <cp:revision>35</cp:revision>
  <dcterms:created xsi:type="dcterms:W3CDTF">2025-08-12T14:22:34Z</dcterms:created>
  <dcterms:modified xsi:type="dcterms:W3CDTF">2026-06-18T16:11:54Z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0x01010050E5095D3B376442BD8A39DC5A9008BD</vt:lpwstr>
  </property>
</Properties>
</file>