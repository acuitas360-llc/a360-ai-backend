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1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2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notesSlides/notesSlide3.xml" ContentType="application/vnd.openxmlformats-officedocument.presentationml.notesSl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4.xml" ContentType="application/vnd.openxmlformats-officedocument.presentationml.notesSl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drawings/drawing1.xml" ContentType="application/vnd.openxmlformats-officedocument.drawingml.chartshapes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33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34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35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36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charts/chart37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charts/chart38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39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charts/chart40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charts/chart41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2" r:id="rId4"/>
  </p:sldMasterIdLst>
  <p:notesMasterIdLst>
    <p:notesMasterId r:id="rId39"/>
  </p:notesMasterIdLst>
  <p:handoutMasterIdLst>
    <p:handoutMasterId r:id="rId40"/>
  </p:handoutMasterIdLst>
  <p:sldIdLst>
    <p:sldId id="266" r:id="rId5"/>
    <p:sldId id="2147472770" r:id="rId6"/>
    <p:sldId id="2147472796" r:id="rId7"/>
    <p:sldId id="2147472773" r:id="rId8"/>
    <p:sldId id="2147472777" r:id="rId9"/>
    <p:sldId id="2147472793" r:id="rId10"/>
    <p:sldId id="2147472766" r:id="rId11"/>
    <p:sldId id="2147472774" r:id="rId12"/>
    <p:sldId id="2147472778" r:id="rId13"/>
    <p:sldId id="2147472792" r:id="rId14"/>
    <p:sldId id="2147472775" r:id="rId15"/>
    <p:sldId id="2147472776" r:id="rId16"/>
    <p:sldId id="2147472787" r:id="rId17"/>
    <p:sldId id="2147472768" r:id="rId18"/>
    <p:sldId id="2147472781" r:id="rId19"/>
    <p:sldId id="2147472779" r:id="rId20"/>
    <p:sldId id="2147472794" r:id="rId21"/>
    <p:sldId id="2147472795" r:id="rId22"/>
    <p:sldId id="2147472780" r:id="rId23"/>
    <p:sldId id="2147472797" r:id="rId24"/>
    <p:sldId id="2147472764" r:id="rId25"/>
    <p:sldId id="2147472761" r:id="rId26"/>
    <p:sldId id="2147472765" r:id="rId27"/>
    <p:sldId id="267" r:id="rId28"/>
    <p:sldId id="2147472769" r:id="rId29"/>
    <p:sldId id="2147472767" r:id="rId30"/>
    <p:sldId id="2147472763" r:id="rId31"/>
    <p:sldId id="2147472762" r:id="rId32"/>
    <p:sldId id="2147472753" r:id="rId33"/>
    <p:sldId id="2147472754" r:id="rId34"/>
    <p:sldId id="2147472755" r:id="rId35"/>
    <p:sldId id="2147472756" r:id="rId36"/>
    <p:sldId id="2147472757" r:id="rId37"/>
    <p:sldId id="2147472759" r:id="rId38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PT" id="{EBD3A5A2-9EB3-0840-BC1A-662ACB4E8EE5}">
          <p14:sldIdLst>
            <p14:sldId id="266"/>
            <p14:sldId id="2147472770"/>
            <p14:sldId id="2147472796"/>
            <p14:sldId id="2147472773"/>
            <p14:sldId id="2147472777"/>
            <p14:sldId id="2147472793"/>
            <p14:sldId id="2147472766"/>
            <p14:sldId id="2147472774"/>
            <p14:sldId id="2147472778"/>
            <p14:sldId id="2147472792"/>
            <p14:sldId id="2147472775"/>
            <p14:sldId id="2147472776"/>
            <p14:sldId id="2147472787"/>
            <p14:sldId id="2147472768"/>
            <p14:sldId id="2147472781"/>
            <p14:sldId id="2147472779"/>
            <p14:sldId id="2147472794"/>
            <p14:sldId id="2147472795"/>
            <p14:sldId id="2147472780"/>
            <p14:sldId id="2147472797"/>
            <p14:sldId id="2147472764"/>
            <p14:sldId id="2147472761"/>
            <p14:sldId id="2147472765"/>
            <p14:sldId id="267"/>
            <p14:sldId id="2147472769"/>
            <p14:sldId id="2147472767"/>
            <p14:sldId id="2147472763"/>
            <p14:sldId id="2147472762"/>
            <p14:sldId id="2147472753"/>
            <p14:sldId id="2147472754"/>
            <p14:sldId id="2147472755"/>
            <p14:sldId id="2147472756"/>
            <p14:sldId id="2147472757"/>
            <p14:sldId id="21474727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C4F30F-4D60-D392-CAF4-A9AC49641EF7}" name="Vega, Kim" initials="VK" userId="S::kim.vega@syneoshealth.com::cb833b6e-e547-4528-8c0c-180a98846a8b" providerId="AD"/>
  <p188:author id="{227E9C67-9BE9-CFE5-E101-05DAEA3DC16A}" name="Bloom, Olivia" initials="OB" userId="Bloom, Olivia" providerId="None"/>
  <p188:author id="{3614C86C-330F-83BA-6CA2-70EF101404AA}" name="Reichelt, Lindsey" initials="RL" userId="S::lindsey.reichelt@syneoshealth.com::d4b7e7f2-95fa-46a3-bd49-f841d52c371f" providerId="AD"/>
  <p188:author id="{F5B20A92-AED3-4D9A-3A42-5434FA53D415}" name="Kelly, Jason" initials="KJ" userId="S::jason.kelly@syneoshealth.com::ab777ac8-2af6-4052-95a6-fd840fdafb8e" providerId="AD"/>
  <p188:author id="{9F1594A2-820B-5894-14AC-CC92FB10FBA7}" name="Stephanie Budnick" initials="SB" userId="S::stephanie.budnick@syneoshealth.com::1fa86c18-bb33-4796-a117-dc4e5575bcc7" providerId="AD"/>
  <p188:author id="{60AC15CD-EDC3-2CDC-85DF-D4138039B5A8}" name="Lindsey Reichelt" initials="LR" userId="d2f7f19e680ebc9c" providerId="Windows Live"/>
  <p188:author id="{FC3A19D5-F5FC-FFBC-5C76-028A9CF5C20A}" name="Ganadhar Reddy" initials="GR" userId="S::Greddy@acuitas360.com::b910b586-a944-479f-a296-2270f4facc79" providerId="AD"/>
  <p188:author id="{2FF4F8E4-DA99-A989-B43D-D0FCA517F8EB}" name="Feingold, Aron" initials="FA" userId="S::afeingold@geron.com::cf96835a-4b64-4b69-947f-0334a421dbfd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zo, Aleksandra" initials="RA" lastIdx="30" clrIdx="0">
    <p:extLst>
      <p:ext uri="{19B8F6BF-5375-455C-9EA6-DF929625EA0E}">
        <p15:presenceInfo xmlns:p15="http://schemas.microsoft.com/office/powerpoint/2012/main" userId="S::arizo@geron.com::e723c94b-7527-428f-97f9-b43ac98efc61" providerId="AD"/>
      </p:ext>
    </p:extLst>
  </p:cmAuthor>
  <p:cmAuthor id="2" name="Kapur, Anil" initials="KA" lastIdx="4" clrIdx="1">
    <p:extLst>
      <p:ext uri="{19B8F6BF-5375-455C-9EA6-DF929625EA0E}">
        <p15:presenceInfo xmlns:p15="http://schemas.microsoft.com/office/powerpoint/2012/main" userId="S::akapur@geron.com::0d578734-723d-47b4-8a47-90cdc3c730d1" providerId="AD"/>
      </p:ext>
    </p:extLst>
  </p:cmAuthor>
  <p:cmAuthor id="3" name="Bloom, Olivia" initials="OB" lastIdx="5" clrIdx="2">
    <p:extLst>
      <p:ext uri="{19B8F6BF-5375-455C-9EA6-DF929625EA0E}">
        <p15:presenceInfo xmlns:p15="http://schemas.microsoft.com/office/powerpoint/2012/main" userId="Bloom, Olivia" providerId="None"/>
      </p:ext>
    </p:extLst>
  </p:cmAuthor>
  <p:cmAuthor id="4" name="Khaleghpour, Kia (Consultant)" initials="KK(" lastIdx="16" clrIdx="3">
    <p:extLst>
      <p:ext uri="{19B8F6BF-5375-455C-9EA6-DF929625EA0E}">
        <p15:presenceInfo xmlns:p15="http://schemas.microsoft.com/office/powerpoint/2012/main" userId="S::kkhaleghpour@geron.com::cfa7654a-a92c-4962-9d76-2ce2ae15055f" providerId="AD"/>
      </p:ext>
    </p:extLst>
  </p:cmAuthor>
  <p:cmAuthor id="5" name="Pham, Mai" initials="PM" lastIdx="12" clrIdx="4">
    <p:extLst>
      <p:ext uri="{19B8F6BF-5375-455C-9EA6-DF929625EA0E}">
        <p15:presenceInfo xmlns:p15="http://schemas.microsoft.com/office/powerpoint/2012/main" userId="S::mpham@geron.com::c21e7102-6a2e-4afb-b8cc-719e29c7655d" providerId="AD"/>
      </p:ext>
    </p:extLst>
  </p:cmAuthor>
  <p:cmAuthor id="6" name="Yamada, Michael" initials="YM" lastIdx="1" clrIdx="5">
    <p:extLst>
      <p:ext uri="{19B8F6BF-5375-455C-9EA6-DF929625EA0E}">
        <p15:presenceInfo xmlns:p15="http://schemas.microsoft.com/office/powerpoint/2012/main" userId="S::myamada@geron.com::1555a8c7-c425-402d-a586-eaf802c2dc9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8080"/>
    <a:srgbClr val="2B81AA"/>
    <a:srgbClr val="003B5C"/>
    <a:srgbClr val="FFA300"/>
    <a:srgbClr val="FFFFFF"/>
    <a:srgbClr val="92D050"/>
    <a:srgbClr val="EF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92" autoAdjust="0"/>
    <p:restoredTop sz="94551" autoAdjust="0"/>
  </p:normalViewPr>
  <p:slideViewPr>
    <p:cSldViewPr snapToGrid="0">
      <p:cViewPr varScale="1">
        <p:scale>
          <a:sx n="127" d="100"/>
          <a:sy n="127" d="100"/>
        </p:scale>
        <p:origin x="366" y="90"/>
      </p:cViewPr>
      <p:guideLst/>
    </p:cSldViewPr>
  </p:slideViewPr>
  <p:outlineViewPr>
    <p:cViewPr>
      <p:scale>
        <a:sx n="33" d="100"/>
        <a:sy n="33" d="100"/>
      </p:scale>
      <p:origin x="0" y="-109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44" d="100"/>
        <a:sy n="44" d="100"/>
      </p:scale>
      <p:origin x="0" y="0"/>
    </p:cViewPr>
  </p:sorterViewPr>
  <p:notesViewPr>
    <p:cSldViewPr snapToGrid="0">
      <p:cViewPr varScale="1">
        <p:scale>
          <a:sx n="112" d="100"/>
          <a:sy n="112" d="100"/>
        </p:scale>
        <p:origin x="4608" y="208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47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nadhar Reddy" userId="b910b586-a944-479f-a296-2270f4facc79" providerId="ADAL" clId="{96770CBF-81D6-4109-8F3D-6DC6AB156DAB}"/>
    <pc:docChg chg="modSld">
      <pc:chgData name="Ganadhar Reddy" userId="b910b586-a944-479f-a296-2270f4facc79" providerId="ADAL" clId="{96770CBF-81D6-4109-8F3D-6DC6AB156DAB}" dt="2025-10-28T06:09:07.001" v="2" actId="27918"/>
      <pc:docMkLst>
        <pc:docMk/>
      </pc:docMkLst>
      <pc:sldChg chg="mod">
        <pc:chgData name="Ganadhar Reddy" userId="b910b586-a944-479f-a296-2270f4facc79" providerId="ADAL" clId="{96770CBF-81D6-4109-8F3D-6DC6AB156DAB}" dt="2025-10-28T06:09:07.001" v="2" actId="27918"/>
        <pc:sldMkLst>
          <pc:docMk/>
          <pc:sldMk cId="336384887" sldId="214747279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Relationship Id="rId4" Type="http://schemas.openxmlformats.org/officeDocument/2006/relationships/chartUserShapes" Target="../drawings/drawing1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0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1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2.xlsx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3.xlsx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4.xlsx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5.xlsx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6.xlsx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7.xlsx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8.xlsx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9.xlsx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0.xlsx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</a:rPr>
              <a:t>Lift Chart</a:t>
            </a:r>
          </a:p>
        </c:rich>
      </c:tx>
      <c:layout>
        <c:manualLayout>
          <c:xMode val="edge"/>
          <c:yMode val="edge"/>
          <c:x val="0.4398267670775007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8310498859993822E-2"/>
          <c:y val="0.23834720351615629"/>
          <c:w val="0.8676057288622111"/>
          <c:h val="0.568647284060498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Targeting</c:v>
                </c:pt>
              </c:strCache>
            </c:strRef>
          </c:tx>
          <c:spPr>
            <a:ln w="28575" cap="rnd">
              <a:solidFill>
                <a:schemeClr val="accent3">
                  <a:lumMod val="25000"/>
                  <a:lumOff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0%</c:formatCode>
                <c:ptCount val="1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</c:numCache>
            </c:numRef>
          </c:cat>
          <c:val>
            <c:numRef>
              <c:f>Sheet1!$B$2:$B$11</c:f>
              <c:numCache>
                <c:formatCode>0%</c:formatCode>
                <c:ptCount val="10"/>
                <c:pt idx="0">
                  <c:v>9.5937499999999995E-2</c:v>
                </c:pt>
                <c:pt idx="1">
                  <c:v>9.6562499999999996E-2</c:v>
                </c:pt>
                <c:pt idx="2">
                  <c:v>9.6875000000000003E-2</c:v>
                </c:pt>
                <c:pt idx="3">
                  <c:v>9.2968750000000003E-2</c:v>
                </c:pt>
                <c:pt idx="4">
                  <c:v>9.5000000000000001E-2</c:v>
                </c:pt>
                <c:pt idx="5">
                  <c:v>9.4114583333333335E-2</c:v>
                </c:pt>
                <c:pt idx="6">
                  <c:v>9.4910714285714279E-2</c:v>
                </c:pt>
                <c:pt idx="7">
                  <c:v>9.5312499999999994E-2</c:v>
                </c:pt>
                <c:pt idx="8">
                  <c:v>9.5000000000000001E-2</c:v>
                </c:pt>
                <c:pt idx="9">
                  <c:v>9.4468750000000004E-2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6F-4AC2-BF1B-9A7B173E9D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Predictive Model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0%</c:formatCode>
                <c:ptCount val="1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</c:numCache>
            </c:numRef>
          </c:cat>
          <c:val>
            <c:numRef>
              <c:f>Sheet1!$C$2:$C$11</c:f>
              <c:numCache>
                <c:formatCode>0%</c:formatCode>
                <c:ptCount val="10"/>
                <c:pt idx="0">
                  <c:v>0.375</c:v>
                </c:pt>
                <c:pt idx="1">
                  <c:v>0.296875</c:v>
                </c:pt>
                <c:pt idx="2">
                  <c:v>0.27083333333333331</c:v>
                </c:pt>
                <c:pt idx="3">
                  <c:v>0.234375</c:v>
                </c:pt>
                <c:pt idx="4">
                  <c:v>0.23125000000000001</c:v>
                </c:pt>
                <c:pt idx="5">
                  <c:v>0.21875</c:v>
                </c:pt>
                <c:pt idx="6">
                  <c:v>0.21428571428571427</c:v>
                </c:pt>
                <c:pt idx="7">
                  <c:v>0.203125</c:v>
                </c:pt>
                <c:pt idx="8">
                  <c:v>0.18402777777777779</c:v>
                </c:pt>
                <c:pt idx="9">
                  <c:v>0.171875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36F-4AC2-BF1B-9A7B173E9D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36218048"/>
        <c:axId val="1636218528"/>
      </c:lineChart>
      <c:catAx>
        <c:axId val="1636218048"/>
        <c:scaling>
          <c:orientation val="minMax"/>
        </c:scaling>
        <c:delete val="0"/>
        <c:axPos val="b"/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6218528"/>
        <c:crosses val="autoZero"/>
        <c:auto val="1"/>
        <c:lblAlgn val="ctr"/>
        <c:lblOffset val="100"/>
        <c:noMultiLvlLbl val="0"/>
      </c:catAx>
      <c:valAx>
        <c:axId val="1636218528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6218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322167757903322"/>
          <c:y val="0.10284330114222251"/>
          <c:w val="0.71389970593308605"/>
          <c:h val="7.076844619511066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003B5C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</a:rPr>
              <a:t>Lift Chart</a:t>
            </a:r>
          </a:p>
        </c:rich>
      </c:tx>
      <c:layout>
        <c:manualLayout>
          <c:xMode val="edge"/>
          <c:yMode val="edge"/>
          <c:x val="0.4398267670775007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8310498859993822E-2"/>
          <c:y val="0.23834720351615629"/>
          <c:w val="0.8676057288622111"/>
          <c:h val="0.568647284060498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Targeting</c:v>
                </c:pt>
              </c:strCache>
            </c:strRef>
          </c:tx>
          <c:spPr>
            <a:ln w="28575" cap="rnd">
              <a:solidFill>
                <a:schemeClr val="accent3">
                  <a:lumMod val="25000"/>
                  <a:lumOff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0%</c:formatCode>
                <c:ptCount val="1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</c:numCache>
            </c:numRef>
          </c:cat>
          <c:val>
            <c:numRef>
              <c:f>Sheet1!$B$2:$B$11</c:f>
              <c:numCache>
                <c:formatCode>0%</c:formatCode>
                <c:ptCount val="10"/>
                <c:pt idx="0">
                  <c:v>0.14000000000000001</c:v>
                </c:pt>
                <c:pt idx="1">
                  <c:v>0.14000000000000001</c:v>
                </c:pt>
                <c:pt idx="2">
                  <c:v>0.13</c:v>
                </c:pt>
                <c:pt idx="3">
                  <c:v>0.13</c:v>
                </c:pt>
                <c:pt idx="4">
                  <c:v>0.13</c:v>
                </c:pt>
                <c:pt idx="5">
                  <c:v>0.13</c:v>
                </c:pt>
                <c:pt idx="6">
                  <c:v>0.13</c:v>
                </c:pt>
                <c:pt idx="7">
                  <c:v>0.13</c:v>
                </c:pt>
                <c:pt idx="8">
                  <c:v>0.13</c:v>
                </c:pt>
                <c:pt idx="9">
                  <c:v>0.13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F6-4412-949F-D88D41874F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Predictive Model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0%</c:formatCode>
                <c:ptCount val="1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</c:numCache>
            </c:numRef>
          </c:cat>
          <c:val>
            <c:numRef>
              <c:f>Sheet1!$C$2:$C$11</c:f>
              <c:numCache>
                <c:formatCode>0%</c:formatCode>
                <c:ptCount val="10"/>
                <c:pt idx="0">
                  <c:v>0.375</c:v>
                </c:pt>
                <c:pt idx="1">
                  <c:v>0.296875</c:v>
                </c:pt>
                <c:pt idx="2">
                  <c:v>0.27083333333333331</c:v>
                </c:pt>
                <c:pt idx="3">
                  <c:v>0.234375</c:v>
                </c:pt>
                <c:pt idx="4">
                  <c:v>0.23125000000000001</c:v>
                </c:pt>
                <c:pt idx="5">
                  <c:v>0.21875</c:v>
                </c:pt>
                <c:pt idx="6">
                  <c:v>0.21428571428571427</c:v>
                </c:pt>
                <c:pt idx="7">
                  <c:v>0.203125</c:v>
                </c:pt>
                <c:pt idx="8">
                  <c:v>0.18402777777777779</c:v>
                </c:pt>
                <c:pt idx="9">
                  <c:v>0.171875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AF6-4412-949F-D88D41874F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36218048"/>
        <c:axId val="1636218528"/>
      </c:lineChart>
      <c:catAx>
        <c:axId val="1636218048"/>
        <c:scaling>
          <c:orientation val="minMax"/>
        </c:scaling>
        <c:delete val="0"/>
        <c:axPos val="b"/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6218528"/>
        <c:crosses val="autoZero"/>
        <c:auto val="1"/>
        <c:lblAlgn val="ctr"/>
        <c:lblOffset val="100"/>
        <c:noMultiLvlLbl val="0"/>
      </c:catAx>
      <c:valAx>
        <c:axId val="1636218528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6218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322167757903322"/>
          <c:y val="0.10284330114222251"/>
          <c:w val="0.71389970593308605"/>
          <c:h val="7.076844619511066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003B5C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</a:rPr>
              <a:t>Lift Chart</a:t>
            </a:r>
          </a:p>
        </c:rich>
      </c:tx>
      <c:layout>
        <c:manualLayout>
          <c:xMode val="edge"/>
          <c:yMode val="edge"/>
          <c:x val="0.4398267670775007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8310498859993822E-2"/>
          <c:y val="0.23834720351615629"/>
          <c:w val="0.8676057288622111"/>
          <c:h val="0.568647284060498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Targeting</c:v>
                </c:pt>
              </c:strCache>
            </c:strRef>
          </c:tx>
          <c:spPr>
            <a:ln w="28575" cap="rnd">
              <a:solidFill>
                <a:schemeClr val="accent3">
                  <a:lumMod val="25000"/>
                  <a:lumOff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0%</c:formatCode>
                <c:ptCount val="1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</c:numCache>
            </c:numRef>
          </c:cat>
          <c:val>
            <c:numRef>
              <c:f>Sheet1!$B$2:$B$11</c:f>
              <c:numCache>
                <c:formatCode>0%</c:formatCode>
                <c:ptCount val="10"/>
                <c:pt idx="0">
                  <c:v>0.13</c:v>
                </c:pt>
                <c:pt idx="1">
                  <c:v>0.12</c:v>
                </c:pt>
                <c:pt idx="2">
                  <c:v>0.12</c:v>
                </c:pt>
                <c:pt idx="3">
                  <c:v>0.12</c:v>
                </c:pt>
                <c:pt idx="4">
                  <c:v>0.12</c:v>
                </c:pt>
                <c:pt idx="5">
                  <c:v>0.12</c:v>
                </c:pt>
                <c:pt idx="6">
                  <c:v>0.12</c:v>
                </c:pt>
                <c:pt idx="7">
                  <c:v>0.12</c:v>
                </c:pt>
                <c:pt idx="8">
                  <c:v>0.12</c:v>
                </c:pt>
                <c:pt idx="9">
                  <c:v>0.12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411-477D-B123-BE66D8BAAE4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Predictive Model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0%</c:formatCode>
                <c:ptCount val="1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</c:numCache>
            </c:numRef>
          </c:cat>
          <c:val>
            <c:numRef>
              <c:f>Sheet1!$C$2:$C$11</c:f>
              <c:numCache>
                <c:formatCode>0%</c:formatCode>
                <c:ptCount val="10"/>
                <c:pt idx="0">
                  <c:v>0.375</c:v>
                </c:pt>
                <c:pt idx="1">
                  <c:v>0.296875</c:v>
                </c:pt>
                <c:pt idx="2">
                  <c:v>0.27083333333333331</c:v>
                </c:pt>
                <c:pt idx="3">
                  <c:v>0.234375</c:v>
                </c:pt>
                <c:pt idx="4">
                  <c:v>0.23125000000000001</c:v>
                </c:pt>
                <c:pt idx="5">
                  <c:v>0.21875</c:v>
                </c:pt>
                <c:pt idx="6">
                  <c:v>0.21428571428571427</c:v>
                </c:pt>
                <c:pt idx="7">
                  <c:v>0.203125</c:v>
                </c:pt>
                <c:pt idx="8">
                  <c:v>0.18402777777777779</c:v>
                </c:pt>
                <c:pt idx="9">
                  <c:v>0.171875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411-477D-B123-BE66D8BAAE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36218048"/>
        <c:axId val="1636218528"/>
      </c:lineChart>
      <c:catAx>
        <c:axId val="1636218048"/>
        <c:scaling>
          <c:orientation val="minMax"/>
        </c:scaling>
        <c:delete val="0"/>
        <c:axPos val="b"/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6218528"/>
        <c:crosses val="autoZero"/>
        <c:auto val="1"/>
        <c:lblAlgn val="ctr"/>
        <c:lblOffset val="100"/>
        <c:noMultiLvlLbl val="0"/>
      </c:catAx>
      <c:valAx>
        <c:axId val="1636218528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6218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322167757903322"/>
          <c:y val="0.10284330114222251"/>
          <c:w val="0.71389970593308605"/>
          <c:h val="7.076844619511066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003B5C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</a:rPr>
              <a:t>Lift Chart</a:t>
            </a:r>
          </a:p>
        </c:rich>
      </c:tx>
      <c:layout>
        <c:manualLayout>
          <c:xMode val="edge"/>
          <c:yMode val="edge"/>
          <c:x val="0.4398267670775007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8310498859993822E-2"/>
          <c:y val="0.23834720351615629"/>
          <c:w val="0.8676057288622111"/>
          <c:h val="0.568647284060498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Targeting</c:v>
                </c:pt>
              </c:strCache>
            </c:strRef>
          </c:tx>
          <c:spPr>
            <a:ln w="28575" cap="rnd">
              <a:solidFill>
                <a:schemeClr val="accent3">
                  <a:lumMod val="25000"/>
                  <a:lumOff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0%</c:formatCode>
                <c:ptCount val="1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</c:numCache>
            </c:numRef>
          </c:cat>
          <c:val>
            <c:numRef>
              <c:f>Sheet1!$B$2:$B$11</c:f>
              <c:numCache>
                <c:formatCode>0%</c:formatCode>
                <c:ptCount val="10"/>
                <c:pt idx="0">
                  <c:v>0.14000000000000001</c:v>
                </c:pt>
                <c:pt idx="1">
                  <c:v>0.14000000000000001</c:v>
                </c:pt>
                <c:pt idx="2">
                  <c:v>0.14000000000000001</c:v>
                </c:pt>
                <c:pt idx="3">
                  <c:v>0.13</c:v>
                </c:pt>
                <c:pt idx="4">
                  <c:v>0.13</c:v>
                </c:pt>
                <c:pt idx="5">
                  <c:v>0.13</c:v>
                </c:pt>
                <c:pt idx="6">
                  <c:v>0.14000000000000001</c:v>
                </c:pt>
                <c:pt idx="7">
                  <c:v>0.13</c:v>
                </c:pt>
                <c:pt idx="8">
                  <c:v>0.14000000000000001</c:v>
                </c:pt>
                <c:pt idx="9">
                  <c:v>0.13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65A-4DCB-A6E4-B213335A2C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Predictive Model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0%</c:formatCode>
                <c:ptCount val="1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</c:numCache>
            </c:numRef>
          </c:cat>
          <c:val>
            <c:numRef>
              <c:f>Sheet1!$C$2:$C$11</c:f>
              <c:numCache>
                <c:formatCode>0%</c:formatCode>
                <c:ptCount val="10"/>
                <c:pt idx="0">
                  <c:v>0.375</c:v>
                </c:pt>
                <c:pt idx="1">
                  <c:v>0.296875</c:v>
                </c:pt>
                <c:pt idx="2">
                  <c:v>0.27083333333333331</c:v>
                </c:pt>
                <c:pt idx="3">
                  <c:v>0.234375</c:v>
                </c:pt>
                <c:pt idx="4">
                  <c:v>0.23125000000000001</c:v>
                </c:pt>
                <c:pt idx="5">
                  <c:v>0.21875</c:v>
                </c:pt>
                <c:pt idx="6">
                  <c:v>0.21428571428571427</c:v>
                </c:pt>
                <c:pt idx="7">
                  <c:v>0.203125</c:v>
                </c:pt>
                <c:pt idx="8">
                  <c:v>0.18402777777777779</c:v>
                </c:pt>
                <c:pt idx="9">
                  <c:v>0.171875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65A-4DCB-A6E4-B213335A2C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36218048"/>
        <c:axId val="1636218528"/>
      </c:lineChart>
      <c:catAx>
        <c:axId val="1636218048"/>
        <c:scaling>
          <c:orientation val="minMax"/>
        </c:scaling>
        <c:delete val="0"/>
        <c:axPos val="b"/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6218528"/>
        <c:crosses val="autoZero"/>
        <c:auto val="1"/>
        <c:lblAlgn val="ctr"/>
        <c:lblOffset val="100"/>
        <c:noMultiLvlLbl val="0"/>
      </c:catAx>
      <c:valAx>
        <c:axId val="1636218528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6218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322167757903322"/>
          <c:y val="0.10284330114222251"/>
          <c:w val="0.71389970593308605"/>
          <c:h val="7.076844619511066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003B5C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1" i="0" u="none" strike="noStrike" kern="1200" spc="0" baseline="0">
                <a:solidFill>
                  <a:schemeClr val="tx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>
                <a:solidFill>
                  <a:schemeClr val="tx2">
                    <a:lumMod val="10000"/>
                  </a:schemeClr>
                </a:solidFill>
              </a:rPr>
              <a:t>Territory Distribution by Patient alert volume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400" b="1" i="0" u="none" strike="noStrike" kern="1200" spc="0" baseline="0">
              <a:solidFill>
                <a:schemeClr val="tx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No. of territories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400" b="1" i="0" u="none" strike="noStrike" kern="1200" spc="0" baseline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[1-2]</c:v>
                </c:pt>
                <c:pt idx="1">
                  <c:v>[3-5]</c:v>
                </c:pt>
                <c:pt idx="2">
                  <c:v>[6-8]</c:v>
                </c:pt>
                <c:pt idx="3">
                  <c:v>&gt;8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10</c:v>
                </c:pt>
                <c:pt idx="2">
                  <c:v>15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7C-4835-91EE-0479EFBA81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712577584"/>
        <c:axId val="1712600144"/>
      </c:barChart>
      <c:catAx>
        <c:axId val="17125775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 algn="ctr" rtl="0">
                  <a:defRPr lang="en-US" sz="1400" b="1" i="0" u="none" strike="noStrike" kern="1200" spc="0" baseline="0">
                    <a:solidFill>
                      <a:schemeClr val="tx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>
                    <a:solidFill>
                      <a:schemeClr val="tx2">
                        <a:lumMod val="10000"/>
                      </a:schemeClr>
                    </a:solidFill>
                  </a:rPr>
                  <a:t>No. of Patient</a:t>
                </a:r>
                <a:r>
                  <a:rPr lang="en-US" baseline="0" dirty="0">
                    <a:solidFill>
                      <a:schemeClr val="tx2">
                        <a:lumMod val="10000"/>
                      </a:schemeClr>
                    </a:solidFill>
                  </a:rPr>
                  <a:t> alerts</a:t>
                </a:r>
                <a:endParaRPr lang="en-US" dirty="0">
                  <a:solidFill>
                    <a:schemeClr val="tx2">
                      <a:lumMod val="10000"/>
                    </a:scheme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 rtl="0">
                <a:defRPr lang="en-US" sz="1400" b="1" i="0" u="none" strike="noStrike" kern="1200" spc="0" baseline="0">
                  <a:solidFill>
                    <a:schemeClr val="tx2">
                      <a:lumMod val="1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400" b="1" i="0" u="none" strike="noStrike" kern="1200" spc="0" baseline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2600144"/>
        <c:crosses val="autoZero"/>
        <c:auto val="1"/>
        <c:lblAlgn val="ctr"/>
        <c:lblOffset val="100"/>
        <c:noMultiLvlLbl val="0"/>
      </c:catAx>
      <c:valAx>
        <c:axId val="171260014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en-US" sz="1400" b="1" i="0" u="none" strike="noStrike" kern="1200" spc="0" baseline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No. of Territories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en-US" sz="1400" b="1" i="0" u="none" strike="noStrike" kern="1200" spc="0" baseline="0">
                  <a:solidFill>
                    <a:schemeClr val="tx1">
                      <a:lumMod val="90000"/>
                      <a:lumOff val="1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400" b="1" i="0" u="none" strike="noStrike" kern="1200" spc="0" baseline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2577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>
      <a:solidFill>
        <a:schemeClr val="tx2">
          <a:lumMod val="10000"/>
        </a:schemeClr>
      </a:solidFill>
    </a:ln>
    <a:effectLst/>
  </c:spPr>
  <c:txPr>
    <a:bodyPr/>
    <a:lstStyle/>
    <a:p>
      <a:pPr algn="ctr" rtl="0">
        <a:defRPr lang="en-US" sz="1400" b="1" i="0" u="none" strike="noStrike" kern="1200" spc="0" baseline="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1" i="0" u="none" strike="noStrike" kern="1200" spc="0" baseline="0">
                <a:solidFill>
                  <a:schemeClr val="tx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>
                <a:solidFill>
                  <a:schemeClr val="tx2">
                    <a:lumMod val="10000"/>
                  </a:schemeClr>
                </a:solidFill>
              </a:rPr>
              <a:t>Territory Distribution by Patient alert volume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400" b="1" i="0" u="none" strike="noStrike" kern="1200" spc="0" baseline="0">
              <a:solidFill>
                <a:schemeClr val="tx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No. of territories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400" b="1" i="0" u="none" strike="noStrike" kern="1200" spc="0" baseline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[1-2]</c:v>
                </c:pt>
                <c:pt idx="1">
                  <c:v>[3-5]</c:v>
                </c:pt>
                <c:pt idx="2">
                  <c:v>[6-8]</c:v>
                </c:pt>
                <c:pt idx="3">
                  <c:v>&gt;8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5</c:v>
                </c:pt>
                <c:pt idx="2">
                  <c:v>11</c:v>
                </c:pt>
                <c:pt idx="3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0D-43A6-9E53-AF267004ABC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712577584"/>
        <c:axId val="1712600144"/>
      </c:barChart>
      <c:catAx>
        <c:axId val="17125775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 algn="ctr" rtl="0">
                  <a:defRPr lang="en-US" sz="1400" b="1" i="0" u="none" strike="noStrike" kern="1200" spc="0" baseline="0">
                    <a:solidFill>
                      <a:schemeClr val="tx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chemeClr val="tx2">
                        <a:lumMod val="10000"/>
                      </a:schemeClr>
                    </a:solidFill>
                  </a:rPr>
                  <a:t>No. of Patients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 rtl="0">
                <a:defRPr lang="en-US" sz="1400" b="1" i="0" u="none" strike="noStrike" kern="1200" spc="0" baseline="0">
                  <a:solidFill>
                    <a:schemeClr val="tx2">
                      <a:lumMod val="1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400" b="1" i="0" u="none" strike="noStrike" kern="1200" spc="0" baseline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2600144"/>
        <c:crosses val="autoZero"/>
        <c:auto val="1"/>
        <c:lblAlgn val="ctr"/>
        <c:lblOffset val="100"/>
        <c:noMultiLvlLbl val="0"/>
      </c:catAx>
      <c:valAx>
        <c:axId val="171260014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en-US" sz="1400" b="1" i="0" u="none" strike="noStrike" kern="1200" spc="0" baseline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No. of Territories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en-US" sz="1400" b="1" i="0" u="none" strike="noStrike" kern="1200" spc="0" baseline="0">
                  <a:solidFill>
                    <a:schemeClr val="tx1">
                      <a:lumMod val="90000"/>
                      <a:lumOff val="1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400" b="1" i="0" u="none" strike="noStrike" kern="1200" spc="0" baseline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2577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>
      <a:solidFill>
        <a:schemeClr val="tx2">
          <a:lumMod val="10000"/>
        </a:schemeClr>
      </a:solidFill>
    </a:ln>
    <a:effectLst/>
  </c:spPr>
  <c:txPr>
    <a:bodyPr/>
    <a:lstStyle/>
    <a:p>
      <a:pPr algn="ctr" rtl="0">
        <a:defRPr lang="en-US" sz="1400" b="1" i="0" u="none" strike="noStrike" kern="1200" spc="0" baseline="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1" i="0" u="none" strike="noStrike" kern="1200" spc="0" baseline="0">
                <a:solidFill>
                  <a:schemeClr val="tx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chemeClr val="tx2">
                    <a:lumMod val="10000"/>
                  </a:schemeClr>
                </a:solidFill>
              </a:rPr>
              <a:t>Territory Distribution by Patient alert volume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400" b="1" i="0" u="none" strike="noStrike" kern="1200" spc="0" baseline="0">
              <a:solidFill>
                <a:schemeClr val="tx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No. of territories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400" b="1" i="0" u="none" strike="noStrike" kern="1200" spc="0" baseline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[1-2]</c:v>
                </c:pt>
                <c:pt idx="1">
                  <c:v>[3-5]</c:v>
                </c:pt>
                <c:pt idx="2">
                  <c:v>[6-8]</c:v>
                </c:pt>
                <c:pt idx="3">
                  <c:v>&gt;8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3</c:v>
                </c:pt>
                <c:pt idx="2">
                  <c:v>17</c:v>
                </c:pt>
                <c:pt idx="3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EA-433E-BBE0-B3E05703B3A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712577584"/>
        <c:axId val="1712600144"/>
      </c:barChart>
      <c:catAx>
        <c:axId val="17125775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 algn="ctr" rtl="0">
                  <a:defRPr lang="en-US" sz="1400" b="1" i="0" u="none" strike="noStrike" kern="1200" spc="0" baseline="0">
                    <a:solidFill>
                      <a:schemeClr val="tx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chemeClr val="tx2">
                        <a:lumMod val="10000"/>
                      </a:schemeClr>
                    </a:solidFill>
                  </a:rPr>
                  <a:t>No. of Patients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 rtl="0">
                <a:defRPr lang="en-US" sz="1400" b="1" i="0" u="none" strike="noStrike" kern="1200" spc="0" baseline="0">
                  <a:solidFill>
                    <a:schemeClr val="tx2">
                      <a:lumMod val="1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400" b="1" i="0" u="none" strike="noStrike" kern="1200" spc="0" baseline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2600144"/>
        <c:crosses val="autoZero"/>
        <c:auto val="1"/>
        <c:lblAlgn val="ctr"/>
        <c:lblOffset val="100"/>
        <c:noMultiLvlLbl val="0"/>
      </c:catAx>
      <c:valAx>
        <c:axId val="171260014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en-US" sz="1400" b="1" i="0" u="none" strike="noStrike" kern="1200" spc="0" baseline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No. of Territories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en-US" sz="1400" b="1" i="0" u="none" strike="noStrike" kern="1200" spc="0" baseline="0">
                  <a:solidFill>
                    <a:schemeClr val="tx1">
                      <a:lumMod val="90000"/>
                      <a:lumOff val="1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400" b="1" i="0" u="none" strike="noStrike" kern="1200" spc="0" baseline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2577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>
      <a:solidFill>
        <a:schemeClr val="tx2">
          <a:lumMod val="10000"/>
        </a:schemeClr>
      </a:solidFill>
    </a:ln>
    <a:effectLst/>
  </c:spPr>
  <c:txPr>
    <a:bodyPr/>
    <a:lstStyle/>
    <a:p>
      <a:pPr algn="ctr" rtl="0">
        <a:defRPr lang="en-US" sz="1400" b="1" i="0" u="none" strike="noStrike" kern="1200" spc="0" baseline="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tx1"/>
                </a:solidFill>
              </a:rPr>
              <a:t>Important features </a:t>
            </a:r>
          </a:p>
          <a:p>
            <a:pPr algn="ctr">
              <a:defRPr>
                <a:solidFill>
                  <a:schemeClr val="tx1"/>
                </a:solidFill>
              </a:defRPr>
            </a:pPr>
            <a:r>
              <a:rPr lang="en-US" sz="1300">
                <a:solidFill>
                  <a:schemeClr val="tx1"/>
                </a:solidFill>
              </a:rPr>
              <a:t>(based on reduction in gain for </a:t>
            </a:r>
            <a:r>
              <a:rPr lang="en-US" sz="1300" err="1">
                <a:solidFill>
                  <a:schemeClr val="tx1"/>
                </a:solidFill>
              </a:rPr>
              <a:t>LightGBM</a:t>
            </a:r>
            <a:r>
              <a:rPr lang="en-US" sz="1300" baseline="0">
                <a:solidFill>
                  <a:schemeClr val="tx1"/>
                </a:solidFill>
              </a:rPr>
              <a:t> model)</a:t>
            </a:r>
            <a:endParaRPr lang="en-US" sz="130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35760248482738288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60842239303711754"/>
          <c:y val="0.13411103609796082"/>
          <c:w val="0.32164797572081838"/>
          <c:h val="0.8217251154031511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model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Sheet1!$A$3:$A$21</c:f>
              <c:strCache>
                <c:ptCount val="19"/>
                <c:pt idx="0">
                  <c:v>Frequency_of_serum_ferritin_test</c:v>
                </c:pt>
                <c:pt idx="1">
                  <c:v>Frequency_of_disease_of_white_bloood_cells</c:v>
                </c:pt>
                <c:pt idx="2">
                  <c:v>Duration_previous_regimen</c:v>
                </c:pt>
                <c:pt idx="3">
                  <c:v>Recency_of_hypertension_dx</c:v>
                </c:pt>
                <c:pt idx="4">
                  <c:v>Change_in_frequency_of_blood_tests_3vs6_months</c:v>
                </c:pt>
                <c:pt idx="5">
                  <c:v>Recency_of_blood_transfusions</c:v>
                </c:pt>
                <c:pt idx="6">
                  <c:v>RS_status_of_patient</c:v>
                </c:pt>
                <c:pt idx="7">
                  <c:v>Recency_of_chronic_kidney_disease_dx</c:v>
                </c:pt>
                <c:pt idx="8">
                  <c:v>Recency_of_high_complexity_visit</c:v>
                </c:pt>
                <c:pt idx="9">
                  <c:v>Change_in_frequency_of_mediumcomplexity_visits_3vs6_months</c:v>
                </c:pt>
                <c:pt idx="10">
                  <c:v>Duration_ongoing_regimen</c:v>
                </c:pt>
                <c:pt idx="11">
                  <c:v>Current_regimen_ESA</c:v>
                </c:pt>
                <c:pt idx="12">
                  <c:v>Active_on_therapy</c:v>
                </c:pt>
                <c:pt idx="13">
                  <c:v>Frequency_of_blood_transfusions_recent3months</c:v>
                </c:pt>
                <c:pt idx="14">
                  <c:v>Change_in_frequency_of_mds_diagnoses_3vs6_months</c:v>
                </c:pt>
                <c:pt idx="15">
                  <c:v>Frequency_of_high_complexity_office_vistis_recent3months</c:v>
                </c:pt>
                <c:pt idx="16">
                  <c:v>Current_line_of_therapy</c:v>
                </c:pt>
                <c:pt idx="17">
                  <c:v>Change_in_frequency_of_hem_onc_visits</c:v>
                </c:pt>
                <c:pt idx="18">
                  <c:v>Days_since_Last_Therapy</c:v>
                </c:pt>
              </c:strCache>
            </c:strRef>
          </c:cat>
          <c:val>
            <c:numRef>
              <c:f>Sheet1!$B$3:$B$21</c:f>
              <c:numCache>
                <c:formatCode>0%</c:formatCode>
                <c:ptCount val="19"/>
                <c:pt idx="0">
                  <c:v>9.2096760262252317E-2</c:v>
                </c:pt>
                <c:pt idx="1">
                  <c:v>9.2894778613993242E-2</c:v>
                </c:pt>
                <c:pt idx="2">
                  <c:v>9.6404926586878173E-2</c:v>
                </c:pt>
                <c:pt idx="3">
                  <c:v>9.6791472581490096E-2</c:v>
                </c:pt>
                <c:pt idx="4">
                  <c:v>9.8986753913809331E-2</c:v>
                </c:pt>
                <c:pt idx="5">
                  <c:v>0.11867188873639205</c:v>
                </c:pt>
                <c:pt idx="6">
                  <c:v>0.16332916277393669</c:v>
                </c:pt>
                <c:pt idx="7">
                  <c:v>0.19905768606321345</c:v>
                </c:pt>
                <c:pt idx="8">
                  <c:v>0.22359194713310726</c:v>
                </c:pt>
                <c:pt idx="9">
                  <c:v>0.25037474813573812</c:v>
                </c:pt>
                <c:pt idx="10">
                  <c:v>0.25644775931487496</c:v>
                </c:pt>
                <c:pt idx="11">
                  <c:v>0.32464680780017607</c:v>
                </c:pt>
                <c:pt idx="12">
                  <c:v>0.36192303883776689</c:v>
                </c:pt>
                <c:pt idx="13">
                  <c:v>0.51296710459559747</c:v>
                </c:pt>
                <c:pt idx="14">
                  <c:v>0.53960591244830736</c:v>
                </c:pt>
                <c:pt idx="15">
                  <c:v>0.59022720307397591</c:v>
                </c:pt>
                <c:pt idx="16">
                  <c:v>0.59529759143139827</c:v>
                </c:pt>
                <c:pt idx="17">
                  <c:v>0.79371153727532406</c:v>
                </c:pt>
                <c:pt idx="1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DE-430D-9B5E-31A5E1F2931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084873567"/>
        <c:axId val="1084863999"/>
      </c:barChart>
      <c:catAx>
        <c:axId val="10848735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4863999"/>
        <c:crosses val="autoZero"/>
        <c:auto val="0"/>
        <c:lblAlgn val="ctr"/>
        <c:lblOffset val="100"/>
        <c:noMultiLvlLbl val="0"/>
      </c:catAx>
      <c:valAx>
        <c:axId val="1084863999"/>
        <c:scaling>
          <c:orientation val="minMax"/>
          <c:max val="1"/>
        </c:scaling>
        <c:delete val="1"/>
        <c:axPos val="b"/>
        <c:numFmt formatCode="0%" sourceLinked="1"/>
        <c:majorTickMark val="none"/>
        <c:minorTickMark val="none"/>
        <c:tickLblPos val="nextTo"/>
        <c:crossAx val="1084873567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2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200" u="none" dirty="0">
                <a:solidFill>
                  <a:schemeClr val="tx1"/>
                </a:solidFill>
                <a:effectLst/>
                <a:latin typeface="+mj-lt"/>
              </a:rPr>
              <a:t>1L to 2L Progressors</a:t>
            </a:r>
          </a:p>
        </c:rich>
      </c:tx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2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740073811489"/>
          <c:y val="0.17706711663168287"/>
          <c:w val="0.84504332284069528"/>
          <c:h val="0.6077686044789141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1 to Line 2 Progressors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B2CF3A0F-D213-43CA-BC2B-6BF94945CEF0}" type="CELLRANGE">
                      <a:rPr lang="en-IN"/>
                      <a:pPr/>
                      <a:t>[CELLRANGE]</a:t>
                    </a:fld>
                    <a:r>
                      <a:rPr lang="en-IN" baseline="0"/>
                      <a:t>, </a:t>
                    </a:r>
                    <a:fld id="{E93CC7D9-6053-4403-BDE9-F0515BDA5CD8}" type="VALUE">
                      <a:rPr lang="en-IN" baseline="0"/>
                      <a:pPr/>
                      <a:t>[VALUE]</a:t>
                    </a:fld>
                    <a:endParaRPr lang="en-IN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773E-4057-91F8-533EBB202FF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901F36E-8DCC-470F-8590-6E5F6151DA1B}" type="CELLRANGE">
                      <a:rPr lang="en-IN"/>
                      <a:pPr/>
                      <a:t>[CELLRANGE]</a:t>
                    </a:fld>
                    <a:r>
                      <a:rPr lang="en-IN" baseline="0"/>
                      <a:t>, </a:t>
                    </a:r>
                    <a:fld id="{78493E0F-0E6B-4E95-8E21-1F7DF371485E}" type="VALUE">
                      <a:rPr lang="en-IN" baseline="0"/>
                      <a:pPr/>
                      <a:t>[VALUE]</a:t>
                    </a:fld>
                    <a:endParaRPr lang="en-IN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773E-4057-91F8-533EBB202FF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3B5174E5-3A56-4A62-A703-8D48D4BBA430}" type="CELLRANGE">
                      <a:rPr lang="en-IN"/>
                      <a:pPr/>
                      <a:t>[CELLRANGE]</a:t>
                    </a:fld>
                    <a:r>
                      <a:rPr lang="en-IN" baseline="0"/>
                      <a:t>, </a:t>
                    </a:r>
                    <a:fld id="{00DA51DF-7791-4DA8-9E75-284AF6881789}" type="VALUE">
                      <a:rPr lang="en-IN" baseline="0"/>
                      <a:pPr/>
                      <a:t>[VALUE]</a:t>
                    </a:fld>
                    <a:endParaRPr lang="en-IN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773E-4057-91F8-533EBB202FF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Sheet1!$B$2:$D$2</c:f>
              <c:numCache>
                <c:formatCode>0%</c:formatCode>
                <c:ptCount val="3"/>
                <c:pt idx="0">
                  <c:v>0.28840034712178192</c:v>
                </c:pt>
                <c:pt idx="1">
                  <c:v>0.26208285385500574</c:v>
                </c:pt>
                <c:pt idx="2">
                  <c:v>0.13751545117428923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Sheet1!$G$2:$I$2</c15:f>
                <c15:dlblRangeCache>
                  <c:ptCount val="3"/>
                  <c:pt idx="0">
                    <c:v>1994</c:v>
                  </c:pt>
                  <c:pt idx="1">
                    <c:v>1822</c:v>
                  </c:pt>
                  <c:pt idx="2">
                    <c:v>890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773E-4057-91F8-533EBB202FFF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Line 1 No Progressors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8608D5BE-DF8E-4741-9AC6-67069C1D3205}" type="CELLRANGE">
                      <a:rPr lang="en-IN"/>
                      <a:pPr/>
                      <a:t>[CELLRANGE]</a:t>
                    </a:fld>
                    <a:r>
                      <a:rPr lang="en-IN" baseline="0"/>
                      <a:t>, </a:t>
                    </a:r>
                    <a:fld id="{20A5F033-F686-4031-A56E-491E4FA7BF6E}" type="VALUE">
                      <a:rPr lang="en-IN" baseline="0"/>
                      <a:pPr/>
                      <a:t>[VALUE]</a:t>
                    </a:fld>
                    <a:endParaRPr lang="en-IN" baseline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773E-4057-91F8-533EBB202FF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DF17D7E-1D0E-40B6-9145-F186CD41B6FF}" type="CELLRANGE">
                      <a:rPr lang="en-IN"/>
                      <a:pPr/>
                      <a:t>[CELLRANGE]</a:t>
                    </a:fld>
                    <a:r>
                      <a:rPr lang="en-IN" baseline="0"/>
                      <a:t>, </a:t>
                    </a:r>
                    <a:fld id="{1B2DE35C-F0D5-4278-9071-61E5EB42C346}" type="VALUE">
                      <a:rPr lang="en-IN" baseline="0"/>
                      <a:pPr/>
                      <a:t>[VALUE]</a:t>
                    </a:fld>
                    <a:endParaRPr lang="en-IN" baseline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773E-4057-91F8-533EBB202FF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9ED51F7-4795-40BA-A79D-B950EFA5A433}" type="CELLRANGE">
                      <a:rPr lang="en-IN"/>
                      <a:pPr/>
                      <a:t>[CELLRANGE]</a:t>
                    </a:fld>
                    <a:r>
                      <a:rPr lang="en-IN" baseline="0"/>
                      <a:t>, </a:t>
                    </a:r>
                    <a:fld id="{25A5D2FC-C842-490F-8353-C8F6C7D38E76}" type="VALUE">
                      <a:rPr lang="en-IN" baseline="0"/>
                      <a:pPr/>
                      <a:t>[VALUE]</a:t>
                    </a:fld>
                    <a:endParaRPr lang="en-IN" baseline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773E-4057-91F8-533EBB202FF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Sheet1!$B$3:$D$3</c:f>
              <c:numCache>
                <c:formatCode>0%</c:formatCode>
                <c:ptCount val="3"/>
                <c:pt idx="0">
                  <c:v>0.71159965287821803</c:v>
                </c:pt>
                <c:pt idx="1">
                  <c:v>0.73791714614499426</c:v>
                </c:pt>
                <c:pt idx="2">
                  <c:v>0.8624845488257108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Sheet1!$G$3:$I$3</c15:f>
                <c15:dlblRangeCache>
                  <c:ptCount val="3"/>
                  <c:pt idx="0">
                    <c:v>4920</c:v>
                  </c:pt>
                  <c:pt idx="1">
                    <c:v>5130</c:v>
                  </c:pt>
                  <c:pt idx="2">
                    <c:v>5582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7-773E-4057-91F8-533EBB202FF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5108776"/>
        <c:axId val="745109760"/>
      </c:bar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1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 dirty="0">
                    <a:solidFill>
                      <a:schemeClr val="tx1"/>
                    </a:solidFill>
                  </a:rPr>
                  <a:t>%Patients</a:t>
                </a:r>
              </a:p>
            </c:rich>
          </c:tx>
          <c:layout>
            <c:manualLayout>
              <c:xMode val="edge"/>
              <c:yMode val="edge"/>
              <c:x val="2.7939318957870582E-3"/>
              <c:y val="0.3725184079319910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accent3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IN" sz="12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IN" sz="1200" b="1" i="0" u="none" strike="noStrike" kern="1200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Progression time for 1L to 2L by RS Status in 2022, 2023 and 2024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IN" sz="12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826787762989719"/>
          <c:y val="0.21355161351836577"/>
          <c:w val="0.84634013700402932"/>
          <c:h val="0.6004263414941255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on Therapy</c:v>
                </c:pt>
              </c:strCache>
            </c:strRef>
          </c:tx>
          <c:spPr>
            <a:solidFill>
              <a:schemeClr val="accent3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RS- and RS+</c:v>
                </c:pt>
                <c:pt idx="1">
                  <c:v>RS-</c:v>
                </c:pt>
                <c:pt idx="2">
                  <c:v>RS+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5.7</c:v>
                </c:pt>
                <c:pt idx="1">
                  <c:v>5.3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94-48B1-9208-EA1B5876BCA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Therapy Duration</c:v>
                </c:pt>
              </c:strCache>
            </c:strRef>
          </c:tx>
          <c:spPr>
            <a:solidFill>
              <a:schemeClr val="accent3">
                <a:tint val="77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RS- and RS+</c:v>
                </c:pt>
                <c:pt idx="1">
                  <c:v>RS-</c:v>
                </c:pt>
                <c:pt idx="2">
                  <c:v>RS+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3.2</c:v>
                </c:pt>
                <c:pt idx="1">
                  <c:v>3.5000000000000009</c:v>
                </c:pt>
                <c:pt idx="2">
                  <c:v>2.3000000000000007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F94-48B1-9208-EA1B5876BC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43526975"/>
        <c:axId val="1643523615"/>
      </c:barChart>
      <c:catAx>
        <c:axId val="16435269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3523615"/>
        <c:crosses val="autoZero"/>
        <c:auto val="1"/>
        <c:lblAlgn val="ctr"/>
        <c:lblOffset val="100"/>
        <c:noMultiLvlLbl val="0"/>
      </c:catAx>
      <c:valAx>
        <c:axId val="164352361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>
                    <a:solidFill>
                      <a:schemeClr val="tx1"/>
                    </a:solidFill>
                  </a:rPr>
                  <a:t>Months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35269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5618215777710889"/>
          <c:y val="0.91288474376935802"/>
          <c:w val="0.77623873956915468"/>
          <c:h val="6.768394591261622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IN" sz="12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IN" sz="1200" b="1" i="0" u="none" strike="noStrike" kern="1200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Progression time for 1L to 2L by RS Status in 2022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IN" sz="12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826787762989719"/>
          <c:y val="0.21355161351836577"/>
          <c:w val="0.84634013700402932"/>
          <c:h val="0.6004263414941255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on Therapy</c:v>
                </c:pt>
              </c:strCache>
            </c:strRef>
          </c:tx>
          <c:spPr>
            <a:solidFill>
              <a:schemeClr val="accent3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RS- and RS+</c:v>
                </c:pt>
                <c:pt idx="1">
                  <c:v>RS-</c:v>
                </c:pt>
                <c:pt idx="2">
                  <c:v>RS+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7.3</c:v>
                </c:pt>
                <c:pt idx="1">
                  <c:v>6.9</c:v>
                </c:pt>
                <c:pt idx="2">
                  <c:v>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BE-40AC-BE2D-A9BEA527272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Therapy Duration</c:v>
                </c:pt>
              </c:strCache>
            </c:strRef>
          </c:tx>
          <c:spPr>
            <a:solidFill>
              <a:schemeClr val="accent3">
                <a:tint val="77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RS- and RS+</c:v>
                </c:pt>
                <c:pt idx="1">
                  <c:v>RS-</c:v>
                </c:pt>
                <c:pt idx="2">
                  <c:v>RS+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4.5</c:v>
                </c:pt>
                <c:pt idx="2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BE-40AC-BE2D-A9BEA52727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43526975"/>
        <c:axId val="1643523615"/>
      </c:barChart>
      <c:catAx>
        <c:axId val="16435269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3523615"/>
        <c:crosses val="autoZero"/>
        <c:auto val="1"/>
        <c:lblAlgn val="ctr"/>
        <c:lblOffset val="100"/>
        <c:noMultiLvlLbl val="0"/>
      </c:catAx>
      <c:valAx>
        <c:axId val="164352361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>
                    <a:solidFill>
                      <a:schemeClr val="tx1"/>
                    </a:solidFill>
                  </a:rPr>
                  <a:t>Months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35269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6696538524423623E-2"/>
          <c:y val="0.91288474376935802"/>
          <c:w val="0.84405496801550706"/>
          <c:h val="6.768394591261622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2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200" u="none" dirty="0">
                <a:solidFill>
                  <a:schemeClr val="tx1"/>
                </a:solidFill>
                <a:effectLst/>
                <a:latin typeface="+mj-lt"/>
              </a:rPr>
              <a:t>Overall MDS</a:t>
            </a:r>
            <a:r>
              <a:rPr lang="en-US" sz="1200" u="none" baseline="0" dirty="0">
                <a:solidFill>
                  <a:schemeClr val="tx1"/>
                </a:solidFill>
                <a:effectLst/>
                <a:latin typeface="+mj-lt"/>
              </a:rPr>
              <a:t> New Patients starts by Semester (Monthly Average)</a:t>
            </a:r>
            <a:endParaRPr lang="en-US" sz="1200" u="none" dirty="0">
              <a:solidFill>
                <a:schemeClr val="tx1"/>
              </a:solidFill>
              <a:effectLst/>
              <a:latin typeface="+mj-lt"/>
            </a:endParaRPr>
          </a:p>
        </c:rich>
      </c:tx>
      <c:layout>
        <c:manualLayout>
          <c:xMode val="edge"/>
          <c:yMode val="edge"/>
          <c:x val="0.14434526884043686"/>
          <c:y val="2.71081030037640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2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740073811489"/>
          <c:y val="0.10100375685119252"/>
          <c:w val="0.84504332284069528"/>
          <c:h val="0.5874852034853079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4">
                        <a:lumMod val="20000"/>
                        <a:lumOff val="8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598.66666666666663</c:v>
                </c:pt>
                <c:pt idx="1">
                  <c:v>615.16666666666663</c:v>
                </c:pt>
                <c:pt idx="2">
                  <c:v>620.33333333333337</c:v>
                </c:pt>
                <c:pt idx="3">
                  <c:v>610.16666666666663</c:v>
                </c:pt>
                <c:pt idx="4">
                  <c:v>566.5</c:v>
                </c:pt>
                <c:pt idx="5">
                  <c:v>572.33333333333337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CD-444C-99E4-F09B32110D54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Line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Sheet1!$B$3:$G$3</c:f>
              <c:numCache>
                <c:formatCode>0</c:formatCode>
                <c:ptCount val="6"/>
                <c:pt idx="0">
                  <c:v>214.33333333333334</c:v>
                </c:pt>
                <c:pt idx="1">
                  <c:v>208.33333333333334</c:v>
                </c:pt>
                <c:pt idx="2">
                  <c:v>202.33333333333334</c:v>
                </c:pt>
                <c:pt idx="3">
                  <c:v>264.83333333333331</c:v>
                </c:pt>
                <c:pt idx="4">
                  <c:v>233.83333333333334</c:v>
                </c:pt>
                <c:pt idx="5">
                  <c:v>230.33333333333334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CD-444C-99E4-F09B32110D54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Line 3L+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Sheet1!$B$4:$G$4</c:f>
              <c:numCache>
                <c:formatCode>0</c:formatCode>
                <c:ptCount val="6"/>
                <c:pt idx="0">
                  <c:v>147</c:v>
                </c:pt>
                <c:pt idx="1">
                  <c:v>160.33333333333334</c:v>
                </c:pt>
                <c:pt idx="2">
                  <c:v>151</c:v>
                </c:pt>
                <c:pt idx="3">
                  <c:v>172.83333333333334</c:v>
                </c:pt>
                <c:pt idx="4">
                  <c:v>178</c:v>
                </c:pt>
                <c:pt idx="5">
                  <c:v>187.66666666666666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CCD-444C-99E4-F09B32110D5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5108776"/>
        <c:axId val="745109760"/>
        <c:extLst/>
      </c:bar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12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>
                    <a:solidFill>
                      <a:schemeClr val="tx1"/>
                    </a:solidFill>
                  </a:rPr>
                  <a:t># </a:t>
                </a:r>
                <a:r>
                  <a:rPr lang="en-US" sz="1000" b="1" i="0" u="none" strike="noStrike" baseline="0">
                    <a:solidFill>
                      <a:prstClr val="black"/>
                    </a:solidFill>
                    <a:effectLst/>
                  </a:rPr>
                  <a:t>New </a:t>
                </a:r>
                <a:r>
                  <a:rPr lang="en-US" sz="1000" b="1">
                    <a:solidFill>
                      <a:schemeClr val="tx1"/>
                    </a:solidFill>
                  </a:rPr>
                  <a:t>Patients</a:t>
                </a:r>
              </a:p>
            </c:rich>
          </c:tx>
          <c:layout>
            <c:manualLayout>
              <c:xMode val="edge"/>
              <c:yMode val="edge"/>
              <c:x val="1.1688496402436129E-2"/>
              <c:y val="0.22546241148909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378937146775186"/>
          <c:y val="0.85892742277772205"/>
          <c:w val="0.3383541347635724"/>
          <c:h val="9.13195535539955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2">
                  <a:lumMod val="10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3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300" u="none" baseline="0" dirty="0">
                <a:solidFill>
                  <a:schemeClr val="tx1"/>
                </a:solidFill>
                <a:effectLst/>
                <a:latin typeface="+mj-lt"/>
              </a:rPr>
              <a:t>ESA Semesterly New Patients starts (Monthly Average)</a:t>
            </a:r>
            <a:endParaRPr lang="en-US" sz="1300" u="none" dirty="0">
              <a:solidFill>
                <a:schemeClr val="tx1"/>
              </a:solidFill>
              <a:effectLst/>
              <a:latin typeface="+mj-lt"/>
            </a:endParaRPr>
          </a:p>
        </c:rich>
      </c:tx>
      <c:layout>
        <c:manualLayout>
          <c:xMode val="edge"/>
          <c:yMode val="edge"/>
          <c:x val="0.14434526884043686"/>
          <c:y val="2.71081030037640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3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740073811489"/>
          <c:y val="0.10100375685119252"/>
          <c:w val="0.84504332284069528"/>
          <c:h val="0.5874852034853079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4">
                        <a:lumMod val="20000"/>
                        <a:lumOff val="8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388.5</c:v>
                </c:pt>
                <c:pt idx="1">
                  <c:v>404.16666666666669</c:v>
                </c:pt>
                <c:pt idx="2">
                  <c:v>401.5</c:v>
                </c:pt>
                <c:pt idx="3">
                  <c:v>358.33333333333331</c:v>
                </c:pt>
                <c:pt idx="4">
                  <c:v>286.33333333333331</c:v>
                </c:pt>
                <c:pt idx="5">
                  <c:v>279.83333333333331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9E-41E8-8C99-7003C5D2DDB7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Line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Sheet1!$B$3:$G$3</c:f>
              <c:numCache>
                <c:formatCode>0</c:formatCode>
                <c:ptCount val="6"/>
                <c:pt idx="0">
                  <c:v>89.5</c:v>
                </c:pt>
                <c:pt idx="1">
                  <c:v>77.166666666666671</c:v>
                </c:pt>
                <c:pt idx="2">
                  <c:v>76.333333333333329</c:v>
                </c:pt>
                <c:pt idx="3">
                  <c:v>97.333333333333329</c:v>
                </c:pt>
                <c:pt idx="4">
                  <c:v>56</c:v>
                </c:pt>
                <c:pt idx="5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59E-41E8-8C99-7003C5D2DDB7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Line 3L+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Sheet1!$B$4:$G$4</c:f>
              <c:numCache>
                <c:formatCode>0</c:formatCode>
                <c:ptCount val="6"/>
                <c:pt idx="0">
                  <c:v>47.666666666666664</c:v>
                </c:pt>
                <c:pt idx="1">
                  <c:v>53.333333333333336</c:v>
                </c:pt>
                <c:pt idx="2">
                  <c:v>43.333333333333336</c:v>
                </c:pt>
                <c:pt idx="3">
                  <c:v>51.166666666666664</c:v>
                </c:pt>
                <c:pt idx="4">
                  <c:v>42.666666666666664</c:v>
                </c:pt>
                <c:pt idx="5">
                  <c:v>38.333333333333336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59E-41E8-8C99-7003C5D2DDB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5108776"/>
        <c:axId val="745109760"/>
        <c:extLst/>
      </c:bar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8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>
                    <a:solidFill>
                      <a:schemeClr val="tx1"/>
                    </a:solidFill>
                  </a:rPr>
                  <a:t># </a:t>
                </a:r>
                <a:r>
                  <a:rPr lang="en-US" sz="1000" b="1" i="0" u="none" strike="noStrike" baseline="0">
                    <a:solidFill>
                      <a:prstClr val="black"/>
                    </a:solidFill>
                    <a:effectLst/>
                  </a:rPr>
                  <a:t>New </a:t>
                </a:r>
                <a:r>
                  <a:rPr lang="en-US" sz="1000" b="1">
                    <a:solidFill>
                      <a:schemeClr val="tx1"/>
                    </a:solidFill>
                  </a:rPr>
                  <a:t>Patients</a:t>
                </a:r>
              </a:p>
            </c:rich>
          </c:tx>
          <c:layout>
            <c:manualLayout>
              <c:xMode val="edge"/>
              <c:yMode val="edge"/>
              <c:x val="1.1688496402436129E-2"/>
              <c:y val="0.22546241148909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378937146775186"/>
          <c:y val="0.85892742277772205"/>
          <c:w val="0.3383541347635724"/>
          <c:h val="9.13195535539955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2">
                  <a:lumMod val="10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2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200" u="none" baseline="0" dirty="0">
                <a:solidFill>
                  <a:schemeClr val="tx1"/>
                </a:solidFill>
                <a:effectLst/>
                <a:latin typeface="+mj-lt"/>
              </a:rPr>
              <a:t>Reblozyl </a:t>
            </a:r>
            <a:r>
              <a:rPr lang="en-US" sz="1200" b="1" i="0" u="none" strike="noStrike" kern="1200" spc="0" baseline="0" dirty="0">
                <a:solidFill>
                  <a:schemeClr val="tx1"/>
                </a:solidFill>
                <a:effectLst/>
              </a:rPr>
              <a:t>New Patients starts by Semester (Monthly Average)</a:t>
            </a:r>
            <a:endParaRPr lang="en-US" sz="1200" u="none" dirty="0">
              <a:solidFill>
                <a:schemeClr val="tx1"/>
              </a:solidFill>
              <a:effectLst/>
              <a:latin typeface="+mj-lt"/>
            </a:endParaRPr>
          </a:p>
        </c:rich>
      </c:tx>
      <c:layout>
        <c:manualLayout>
          <c:xMode val="edge"/>
          <c:yMode val="edge"/>
          <c:x val="0.14434526884043686"/>
          <c:y val="2.71081030037640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2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740073811489"/>
          <c:y val="0.10100375685119252"/>
          <c:w val="0.84504332284069528"/>
          <c:h val="0.5874852034853079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4">
                        <a:lumMod val="20000"/>
                        <a:lumOff val="8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16.833333333333332</c:v>
                </c:pt>
                <c:pt idx="1">
                  <c:v>21.833333333333332</c:v>
                </c:pt>
                <c:pt idx="2">
                  <c:v>22</c:v>
                </c:pt>
                <c:pt idx="3">
                  <c:v>56.166666666666664</c:v>
                </c:pt>
                <c:pt idx="4">
                  <c:v>76.166666666666671</c:v>
                </c:pt>
                <c:pt idx="5">
                  <c:v>99.333333333333329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5C-43CE-941C-FD073C2EBF5B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Line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Sheet1!$B$3:$G$3</c:f>
              <c:numCache>
                <c:formatCode>0</c:formatCode>
                <c:ptCount val="6"/>
                <c:pt idx="0">
                  <c:v>43</c:v>
                </c:pt>
                <c:pt idx="1">
                  <c:v>48.333333333333336</c:v>
                </c:pt>
                <c:pt idx="2">
                  <c:v>49</c:v>
                </c:pt>
                <c:pt idx="3">
                  <c:v>85.666666666666671</c:v>
                </c:pt>
                <c:pt idx="4">
                  <c:v>78.166666666666671</c:v>
                </c:pt>
                <c:pt idx="5">
                  <c:v>77.333333333333329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5C-43CE-941C-FD073C2EBF5B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Line 3L+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Sheet1!$B$4:$G$4</c:f>
              <c:numCache>
                <c:formatCode>0</c:formatCode>
                <c:ptCount val="6"/>
                <c:pt idx="0">
                  <c:v>29</c:v>
                </c:pt>
                <c:pt idx="1">
                  <c:v>28.333333333333332</c:v>
                </c:pt>
                <c:pt idx="2">
                  <c:v>30.833333333333332</c:v>
                </c:pt>
                <c:pt idx="3">
                  <c:v>51.166666666666664</c:v>
                </c:pt>
                <c:pt idx="4">
                  <c:v>53.5</c:v>
                </c:pt>
                <c:pt idx="5">
                  <c:v>54.833333333333336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5C-43CE-941C-FD073C2EBF5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5108776"/>
        <c:axId val="745109760"/>
        <c:extLst/>
      </c:bar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3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>
                    <a:solidFill>
                      <a:schemeClr val="tx1"/>
                    </a:solidFill>
                  </a:rPr>
                  <a:t># </a:t>
                </a:r>
                <a:r>
                  <a:rPr lang="en-US" sz="1000" b="1" i="0" u="none" strike="noStrike" baseline="0">
                    <a:solidFill>
                      <a:prstClr val="black"/>
                    </a:solidFill>
                    <a:effectLst/>
                  </a:rPr>
                  <a:t>New </a:t>
                </a:r>
                <a:r>
                  <a:rPr lang="en-US" sz="1000" b="1">
                    <a:solidFill>
                      <a:schemeClr val="tx1"/>
                    </a:solidFill>
                  </a:rPr>
                  <a:t>Patients</a:t>
                </a:r>
              </a:p>
            </c:rich>
          </c:tx>
          <c:layout>
            <c:manualLayout>
              <c:xMode val="edge"/>
              <c:yMode val="edge"/>
              <c:x val="1.1688496402436129E-2"/>
              <c:y val="0.22546241148909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378937146775186"/>
          <c:y val="0.85892742277772205"/>
          <c:w val="0.3383541347635724"/>
          <c:h val="9.13195535539955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2">
                  <a:lumMod val="10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2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200" u="none" dirty="0">
                <a:solidFill>
                  <a:schemeClr val="tx1"/>
                </a:solidFill>
                <a:effectLst/>
                <a:latin typeface="+mj-lt"/>
              </a:rPr>
              <a:t>1L LR MDS New Patient Starts by Year</a:t>
            </a:r>
          </a:p>
        </c:rich>
      </c:tx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2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740073811489"/>
          <c:y val="0.10100375685119252"/>
          <c:w val="0.84504332284069528"/>
          <c:h val="0.72946998012769859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Sheet1!$B$1:$F$1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  <c:extLst/>
            </c:strRef>
          </c:cat>
          <c:val>
            <c:numRef>
              <c:f>Sheet1!$B$2:$F$2</c:f>
              <c:numCache>
                <c:formatCode>0</c:formatCode>
                <c:ptCount val="3"/>
                <c:pt idx="0">
                  <c:v>6914</c:v>
                </c:pt>
                <c:pt idx="1">
                  <c:v>6952</c:v>
                </c:pt>
                <c:pt idx="2">
                  <c:v>6472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0-DCCD-444C-99E4-F09B32110D5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45108776"/>
        <c:axId val="745109760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Sheet1!$B$1:$F$1</c15:sqref>
                        </c15:formulaRef>
                      </c:ext>
                    </c:extLst>
                    <c:strCache>
                      <c:ptCount val="4"/>
                      <c:pt idx="0">
                        <c:v>2022</c:v>
                      </c:pt>
                      <c:pt idx="1">
                        <c:v>2023</c:v>
                      </c:pt>
                      <c:pt idx="2">
                        <c:v>2024</c:v>
                      </c:pt>
                      <c:pt idx="3">
                        <c:v>2025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Sheet1!#REF!</c15:sqref>
                        </c15:formulaRef>
                      </c:ext>
                    </c:extLst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DCCD-444C-99E4-F09B32110D54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Sheet1!$B$1:$F$1</c15:sqref>
                        </c15:formulaRef>
                      </c:ext>
                    </c:extLst>
                    <c:strCache>
                      <c:ptCount val="4"/>
                      <c:pt idx="0">
                        <c:v>2022</c:v>
                      </c:pt>
                      <c:pt idx="1">
                        <c:v>2023</c:v>
                      </c:pt>
                      <c:pt idx="2">
                        <c:v>2024</c:v>
                      </c:pt>
                      <c:pt idx="3">
                        <c:v>2025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Sheet1!#REF!</c15:sqref>
                        </c15:formulaRef>
                      </c:ext>
                    </c:extLst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DCCD-444C-99E4-F09B32110D54}"/>
                  </c:ext>
                </c:extLst>
              </c15:ser>
            </c15:filteredLineSeries>
          </c:ext>
        </c:extLst>
      </c:line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100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>
                    <a:solidFill>
                      <a:schemeClr val="tx1"/>
                    </a:solidFill>
                  </a:rPr>
                  <a:t># </a:t>
                </a:r>
                <a:r>
                  <a:rPr lang="en-US" sz="1000" b="1" i="0" u="none" strike="noStrike" baseline="0">
                    <a:solidFill>
                      <a:prstClr val="black"/>
                    </a:solidFill>
                    <a:effectLst/>
                  </a:rPr>
                  <a:t>New </a:t>
                </a:r>
                <a:r>
                  <a:rPr lang="en-US" sz="1000" b="1">
                    <a:solidFill>
                      <a:schemeClr val="tx1"/>
                    </a:solidFill>
                  </a:rPr>
                  <a:t>Patients</a:t>
                </a:r>
              </a:p>
            </c:rich>
          </c:tx>
          <c:layout>
            <c:manualLayout>
              <c:xMode val="edge"/>
              <c:yMode val="edge"/>
              <c:x val="2.7939318957870595E-3"/>
              <c:y val="0.2254625790230430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20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2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200" u="none" dirty="0">
                <a:solidFill>
                  <a:schemeClr val="tx1"/>
                </a:solidFill>
                <a:effectLst/>
                <a:latin typeface="+mj-lt"/>
              </a:rPr>
              <a:t>1L to 2L Progressors</a:t>
            </a:r>
          </a:p>
        </c:rich>
      </c:tx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2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740073811489"/>
          <c:y val="0.17706711663168287"/>
          <c:w val="0.84504332284069528"/>
          <c:h val="0.6077686044789141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1 to Line 2 Progressors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DFE26470-CD0F-4271-8B6C-32EC091DFF26}" type="CELLRANGE">
                      <a:rPr lang="en-IN"/>
                      <a:pPr/>
                      <a:t>[CELLRANGE]</a:t>
                    </a:fld>
                    <a:r>
                      <a:rPr lang="en-IN" baseline="0"/>
                      <a:t>, </a:t>
                    </a:r>
                    <a:fld id="{4632BCEE-0360-4CFE-9374-12BACAC78437}" type="VALUE">
                      <a:rPr lang="en-IN" baseline="0"/>
                      <a:pPr/>
                      <a:t>[VALUE]</a:t>
                    </a:fld>
                    <a:endParaRPr lang="en-IN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8ED8-40A6-B7BA-BD02D507AAC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3DEA188-3C31-425C-AC9C-8A9B8B54D46D}" type="CELLRANGE">
                      <a:rPr lang="en-IN"/>
                      <a:pPr/>
                      <a:t>[CELLRANGE]</a:t>
                    </a:fld>
                    <a:r>
                      <a:rPr lang="en-IN" baseline="0"/>
                      <a:t>, </a:t>
                    </a:r>
                    <a:fld id="{B9B7F60A-C9A1-4023-8690-9A53FD59BAE1}" type="VALUE">
                      <a:rPr lang="en-IN" baseline="0"/>
                      <a:pPr/>
                      <a:t>[VALUE]</a:t>
                    </a:fld>
                    <a:endParaRPr lang="en-IN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8ED8-40A6-B7BA-BD02D507AAC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100750C-4C57-4CD6-B2A8-677FAD8A851D}" type="CELLRANGE">
                      <a:rPr lang="en-IN"/>
                      <a:pPr/>
                      <a:t>[CELLRANGE]</a:t>
                    </a:fld>
                    <a:r>
                      <a:rPr lang="en-IN" baseline="0"/>
                      <a:t>, </a:t>
                    </a:r>
                    <a:fld id="{A287E3C9-B440-48B6-B8AD-A29E059864A5}" type="VALUE">
                      <a:rPr lang="en-IN" baseline="0"/>
                      <a:pPr/>
                      <a:t>[VALUE]</a:t>
                    </a:fld>
                    <a:endParaRPr lang="en-IN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8ED8-40A6-B7BA-BD02D507AAC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Sheet1!$B$2:$D$2</c:f>
              <c:numCache>
                <c:formatCode>0%</c:formatCode>
                <c:ptCount val="3"/>
                <c:pt idx="0">
                  <c:v>0.28840034712178192</c:v>
                </c:pt>
                <c:pt idx="1">
                  <c:v>0.26208285385500574</c:v>
                </c:pt>
                <c:pt idx="2">
                  <c:v>0.13751545117428923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Sheet1!$G$2:$I$2</c15:f>
                <c15:dlblRangeCache>
                  <c:ptCount val="3"/>
                  <c:pt idx="0">
                    <c:v>1994</c:v>
                  </c:pt>
                  <c:pt idx="1">
                    <c:v>1822</c:v>
                  </c:pt>
                  <c:pt idx="2">
                    <c:v>890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A130-4E96-B866-FC35F2C6854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Line 1 No Progressors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CB9342C7-5D1F-476E-9BDE-1A1AA89FCB4A}" type="CELLRANGE">
                      <a:rPr lang="en-IN"/>
                      <a:pPr/>
                      <a:t>[CELLRANGE]</a:t>
                    </a:fld>
                    <a:r>
                      <a:rPr lang="en-IN" baseline="0"/>
                      <a:t>, </a:t>
                    </a:r>
                    <a:fld id="{502FAA31-A582-499E-A62B-B287AA1A58D2}" type="VALUE">
                      <a:rPr lang="en-IN" baseline="0"/>
                      <a:pPr/>
                      <a:t>[VALUE]</a:t>
                    </a:fld>
                    <a:endParaRPr lang="en-IN" baseline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8ED8-40A6-B7BA-BD02D507AAC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C249B19-0AA1-4D35-B21A-D188D943B554}" type="CELLRANGE">
                      <a:rPr lang="en-IN"/>
                      <a:pPr/>
                      <a:t>[CELLRANGE]</a:t>
                    </a:fld>
                    <a:r>
                      <a:rPr lang="en-IN" baseline="0"/>
                      <a:t>, </a:t>
                    </a:r>
                    <a:fld id="{3C166EDC-3691-4147-8E11-2B4082B1F649}" type="VALUE">
                      <a:rPr lang="en-IN" baseline="0"/>
                      <a:pPr/>
                      <a:t>[VALUE]</a:t>
                    </a:fld>
                    <a:endParaRPr lang="en-IN" baseline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8ED8-40A6-B7BA-BD02D507AAC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5FAD91E5-CD53-4965-A218-FE133EA1E8D1}" type="CELLRANGE">
                      <a:rPr lang="en-IN"/>
                      <a:pPr/>
                      <a:t>[CELLRANGE]</a:t>
                    </a:fld>
                    <a:r>
                      <a:rPr lang="en-IN" baseline="0"/>
                      <a:t>, </a:t>
                    </a:r>
                    <a:fld id="{4C46D8B9-78BE-4A72-BE01-046C86B04DDF}" type="VALUE">
                      <a:rPr lang="en-IN" baseline="0"/>
                      <a:pPr/>
                      <a:t>[VALUE]</a:t>
                    </a:fld>
                    <a:endParaRPr lang="en-IN" baseline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8ED8-40A6-B7BA-BD02D507AAC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Sheet1!$B$3:$D$3</c:f>
              <c:numCache>
                <c:formatCode>0%</c:formatCode>
                <c:ptCount val="3"/>
                <c:pt idx="0">
                  <c:v>0.71159965287821803</c:v>
                </c:pt>
                <c:pt idx="1">
                  <c:v>0.73791714614499426</c:v>
                </c:pt>
                <c:pt idx="2">
                  <c:v>0.8624845488257108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Sheet1!$G$3:$I$3</c15:f>
                <c15:dlblRangeCache>
                  <c:ptCount val="3"/>
                  <c:pt idx="0">
                    <c:v>4920</c:v>
                  </c:pt>
                  <c:pt idx="1">
                    <c:v>5130</c:v>
                  </c:pt>
                  <c:pt idx="2">
                    <c:v>5582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1-A130-4E96-B866-FC35F2C6854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5108776"/>
        <c:axId val="745109760"/>
      </c:bar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1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 dirty="0">
                    <a:solidFill>
                      <a:schemeClr val="tx1"/>
                    </a:solidFill>
                  </a:rPr>
                  <a:t>%Patients</a:t>
                </a:r>
              </a:p>
            </c:rich>
          </c:tx>
          <c:layout>
            <c:manualLayout>
              <c:xMode val="edge"/>
              <c:yMode val="edge"/>
              <c:x val="2.7939318957870582E-3"/>
              <c:y val="0.3725184079319910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accent3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300" b="1" i="0" u="none" strike="noStrike" kern="1200" spc="0" baseline="0" dirty="0" smtClean="0">
                <a:solidFill>
                  <a:schemeClr val="tx2">
                    <a:lumMod val="10000"/>
                  </a:schemeClr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200" b="1" i="1" u="none" strike="noStrike" cap="none" dirty="0">
                <a:solidFill>
                  <a:schemeClr val="tx2">
                    <a:lumMod val="10000"/>
                  </a:schemeClr>
                </a:solidFill>
                <a:ea typeface="Trebuchet MS"/>
                <a:cs typeface="Trebuchet MS"/>
                <a:sym typeface="Trebuchet MS"/>
              </a:rPr>
              <a:t>2L new patient starts with prior usage of ESA in 1L (Monthly Average)</a:t>
            </a:r>
          </a:p>
        </c:rich>
      </c:tx>
      <c:layout>
        <c:manualLayout>
          <c:xMode val="edge"/>
          <c:yMode val="edge"/>
          <c:x val="0.14434526884043686"/>
          <c:y val="2.71081030037640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300" b="1" i="0" u="none" strike="noStrike" kern="1200" spc="0" baseline="0" dirty="0" smtClean="0">
              <a:solidFill>
                <a:schemeClr val="tx2">
                  <a:lumMod val="10000"/>
                </a:schemeClr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740073811489"/>
          <c:y val="0.10100375685119252"/>
          <c:w val="0.84504332284069528"/>
          <c:h val="0.58748520348530797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2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118.66666666666667</c:v>
                </c:pt>
                <c:pt idx="1">
                  <c:v>115</c:v>
                </c:pt>
                <c:pt idx="2">
                  <c:v>116.33333333333333</c:v>
                </c:pt>
                <c:pt idx="3">
                  <c:v>167.16666666666666</c:v>
                </c:pt>
                <c:pt idx="4">
                  <c:v>125</c:v>
                </c:pt>
                <c:pt idx="5">
                  <c:v>111.66666666666667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F1C-4036-B5E2-FC876D3A8F5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45108776"/>
        <c:axId val="745109760"/>
      </c:line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4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>
                    <a:solidFill>
                      <a:schemeClr val="tx1"/>
                    </a:solidFill>
                  </a:rPr>
                  <a:t># </a:t>
                </a:r>
                <a:r>
                  <a:rPr lang="en-US" sz="1000" b="1" i="0" u="none" strike="noStrike" baseline="0">
                    <a:solidFill>
                      <a:prstClr val="black"/>
                    </a:solidFill>
                    <a:effectLst/>
                  </a:rPr>
                  <a:t>New </a:t>
                </a:r>
                <a:r>
                  <a:rPr lang="en-US" sz="1000" b="1">
                    <a:solidFill>
                      <a:schemeClr val="tx1"/>
                    </a:solidFill>
                  </a:rPr>
                  <a:t>Patients</a:t>
                </a:r>
              </a:p>
            </c:rich>
          </c:tx>
          <c:layout>
            <c:manualLayout>
              <c:xMode val="edge"/>
              <c:yMode val="edge"/>
              <c:x val="1.1688496402436129E-2"/>
              <c:y val="0.22546241148909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378937146775186"/>
          <c:y val="0.85892742277772205"/>
          <c:w val="0.13723533636614813"/>
          <c:h val="9.13195535539955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2">
                  <a:lumMod val="10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2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200" b="1" i="1" u="none" strike="noStrike" kern="1200" cap="none" spc="0" baseline="0" dirty="0">
                <a:solidFill>
                  <a:schemeClr val="tx2">
                    <a:lumMod val="10000"/>
                  </a:schemeClr>
                </a:solidFill>
                <a:effectLst/>
                <a:ea typeface="Trebuchet MS"/>
                <a:cs typeface="Trebuchet MS"/>
                <a:sym typeface="Trebuchet MS"/>
              </a:rPr>
              <a:t>3L+ new patient starts with prior usage of ESA in 1L or 2L (Monthly Average)</a:t>
            </a:r>
          </a:p>
        </c:rich>
      </c:tx>
      <c:layout>
        <c:manualLayout>
          <c:xMode val="edge"/>
          <c:yMode val="edge"/>
          <c:x val="0.14434526884043686"/>
          <c:y val="2.71081030037640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2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740073811489"/>
          <c:y val="0.10100375685119252"/>
          <c:w val="0.84504332284069528"/>
          <c:h val="0.58748520348530797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3L+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50.166666666666664</c:v>
                </c:pt>
                <c:pt idx="1">
                  <c:v>62.5</c:v>
                </c:pt>
                <c:pt idx="2">
                  <c:v>62.166666666666664</c:v>
                </c:pt>
                <c:pt idx="3">
                  <c:v>91.333333333333329</c:v>
                </c:pt>
                <c:pt idx="4">
                  <c:v>93.666666666666671</c:v>
                </c:pt>
                <c:pt idx="5">
                  <c:v>103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D5A-42E6-A925-2868CEE955F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45108776"/>
        <c:axId val="745109760"/>
      </c:line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2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>
                    <a:solidFill>
                      <a:schemeClr val="tx1"/>
                    </a:solidFill>
                  </a:rPr>
                  <a:t># </a:t>
                </a:r>
                <a:r>
                  <a:rPr lang="en-US" sz="1000" b="1" i="0" u="none" strike="noStrike" baseline="0">
                    <a:solidFill>
                      <a:prstClr val="black"/>
                    </a:solidFill>
                    <a:effectLst/>
                  </a:rPr>
                  <a:t>New </a:t>
                </a:r>
                <a:r>
                  <a:rPr lang="en-US" sz="1000" b="1">
                    <a:solidFill>
                      <a:schemeClr val="tx1"/>
                    </a:solidFill>
                  </a:rPr>
                  <a:t>Patients</a:t>
                </a:r>
              </a:p>
            </c:rich>
          </c:tx>
          <c:layout>
            <c:manualLayout>
              <c:xMode val="edge"/>
              <c:yMode val="edge"/>
              <c:x val="1.1688496402436129E-2"/>
              <c:y val="0.22546241148909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378937146775186"/>
          <c:y val="0.85892742277772205"/>
          <c:w val="0.16861554957832764"/>
          <c:h val="9.13195535539955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2">
                  <a:lumMod val="10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 b="1" i="0" u="none" strike="noStrike" kern="1200" spc="0" baseline="0" dirty="0" smtClean="0">
                <a:solidFill>
                  <a:srgbClr val="003B5C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200" b="1" i="1" dirty="0">
                <a:solidFill>
                  <a:schemeClr val="tx2">
                    <a:lumMod val="10000"/>
                  </a:schemeClr>
                </a:solidFill>
                <a:ea typeface="Trebuchet MS"/>
                <a:cs typeface="Trebuchet MS"/>
                <a:sym typeface="Trebuchet MS"/>
              </a:rPr>
              <a:t>3</a:t>
            </a:r>
            <a:r>
              <a:rPr lang="en-US" sz="1200" b="1" i="1" u="none" strike="noStrike" cap="none" dirty="0">
                <a:solidFill>
                  <a:schemeClr val="tx2">
                    <a:lumMod val="10000"/>
                  </a:schemeClr>
                </a:solidFill>
                <a:ea typeface="Trebuchet MS"/>
                <a:cs typeface="Trebuchet MS"/>
                <a:sym typeface="Trebuchet MS"/>
              </a:rPr>
              <a:t>L+ new patient starts with prior usage of ESA in 1L  and Reblozyl in 2L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 b="1" dirty="0" smtClean="0">
                <a:solidFill>
                  <a:srgbClr val="003B5C"/>
                </a:solidFill>
                <a:effectLst/>
                <a:latin typeface="+mj-lt"/>
              </a:defRPr>
            </a:pPr>
            <a:r>
              <a:rPr lang="en-US" sz="1200" u="none" baseline="0" dirty="0">
                <a:solidFill>
                  <a:schemeClr val="tx1"/>
                </a:solidFill>
                <a:effectLst/>
                <a:latin typeface="+mj-lt"/>
              </a:rPr>
              <a:t>(Monthly Average)</a:t>
            </a:r>
            <a:endParaRPr lang="en-US" sz="1200" u="none" dirty="0">
              <a:solidFill>
                <a:schemeClr val="tx1"/>
              </a:solidFill>
              <a:effectLst/>
              <a:latin typeface="+mj-lt"/>
            </a:endParaRPr>
          </a:p>
        </c:rich>
      </c:tx>
      <c:layout>
        <c:manualLayout>
          <c:xMode val="edge"/>
          <c:yMode val="edge"/>
          <c:x val="0.14434526884043686"/>
          <c:y val="2.71081030037640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lang="en-US" sz="1200" b="1" i="0" u="none" strike="noStrike" kern="1200" spc="0" baseline="0" dirty="0" smtClean="0">
              <a:solidFill>
                <a:srgbClr val="003B5C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740073811489"/>
          <c:y val="0.10100375685119252"/>
          <c:w val="0.84504332284069528"/>
          <c:h val="0.58748520348530797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3L+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8.8333333333333339</c:v>
                </c:pt>
                <c:pt idx="1">
                  <c:v>13.833333333333334</c:v>
                </c:pt>
                <c:pt idx="2">
                  <c:v>18.666666666666668</c:v>
                </c:pt>
                <c:pt idx="3">
                  <c:v>23.166666666666668</c:v>
                </c:pt>
                <c:pt idx="4">
                  <c:v>31.166666666666668</c:v>
                </c:pt>
                <c:pt idx="5">
                  <c:v>40.166666666666664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845-4D8A-90E0-6C66527EB98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45108776"/>
        <c:axId val="745109760"/>
      </c:line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2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>
                    <a:solidFill>
                      <a:schemeClr val="tx1"/>
                    </a:solidFill>
                  </a:rPr>
                  <a:t># </a:t>
                </a:r>
                <a:r>
                  <a:rPr lang="en-US" sz="1000" b="1" i="0" u="none" strike="noStrike" baseline="0">
                    <a:solidFill>
                      <a:prstClr val="black"/>
                    </a:solidFill>
                    <a:effectLst/>
                  </a:rPr>
                  <a:t>New </a:t>
                </a:r>
                <a:r>
                  <a:rPr lang="en-US" sz="1000" b="1">
                    <a:solidFill>
                      <a:schemeClr val="tx1"/>
                    </a:solidFill>
                  </a:rPr>
                  <a:t>Patients</a:t>
                </a:r>
              </a:p>
            </c:rich>
          </c:tx>
          <c:layout>
            <c:manualLayout>
              <c:xMode val="edge"/>
              <c:yMode val="edge"/>
              <c:x val="1.1688496402436129E-2"/>
              <c:y val="0.22546241148909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378937146775186"/>
          <c:y val="0.85892742277772205"/>
          <c:w val="0.16861554957832764"/>
          <c:h val="9.13195535539955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2">
                  <a:lumMod val="10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300" b="1" i="0" u="none" strike="noStrike" kern="1200" spc="0" baseline="0" dirty="0" smtClean="0">
                <a:solidFill>
                  <a:schemeClr val="tx2">
                    <a:lumMod val="10000"/>
                  </a:schemeClr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200" b="1" i="1" dirty="0">
                <a:solidFill>
                  <a:schemeClr val="tx2">
                    <a:lumMod val="10000"/>
                  </a:schemeClr>
                </a:solidFill>
                <a:ea typeface="Trebuchet MS"/>
                <a:cs typeface="Trebuchet MS"/>
                <a:sym typeface="Trebuchet MS"/>
              </a:rPr>
              <a:t>3</a:t>
            </a:r>
            <a:r>
              <a:rPr lang="en-US" sz="1200" b="1" i="1" u="none" strike="noStrike" cap="none" dirty="0">
                <a:solidFill>
                  <a:schemeClr val="tx2">
                    <a:lumMod val="10000"/>
                  </a:schemeClr>
                </a:solidFill>
                <a:ea typeface="Trebuchet MS"/>
                <a:cs typeface="Trebuchet MS"/>
                <a:sym typeface="Trebuchet MS"/>
              </a:rPr>
              <a:t>L+ new patient starts with prior usage of ESA in 2L  and Reblozyl in 1L (Monthly Average)</a:t>
            </a:r>
          </a:p>
        </c:rich>
      </c:tx>
      <c:layout>
        <c:manualLayout>
          <c:xMode val="edge"/>
          <c:yMode val="edge"/>
          <c:x val="0.14434526884043686"/>
          <c:y val="2.71081030037640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300" b="1" i="0" u="none" strike="noStrike" kern="1200" spc="0" baseline="0" dirty="0" smtClean="0">
              <a:solidFill>
                <a:schemeClr val="tx2">
                  <a:lumMod val="10000"/>
                </a:schemeClr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740073811489"/>
          <c:y val="0.10100375685119252"/>
          <c:w val="0.84504332284069528"/>
          <c:h val="0.58748520348530797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3L+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0.16666666666666666</c:v>
                </c:pt>
                <c:pt idx="1">
                  <c:v>0.16666666666666666</c:v>
                </c:pt>
                <c:pt idx="2">
                  <c:v>0.83333333333333337</c:v>
                </c:pt>
                <c:pt idx="3">
                  <c:v>1</c:v>
                </c:pt>
                <c:pt idx="4">
                  <c:v>1.3333333333333333</c:v>
                </c:pt>
                <c:pt idx="5">
                  <c:v>1.8333333333333333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FEF-4ECE-AA93-8EC5E8A3642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45108776"/>
        <c:axId val="745109760"/>
      </c:line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2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>
                    <a:solidFill>
                      <a:schemeClr val="tx1"/>
                    </a:solidFill>
                  </a:rPr>
                  <a:t># </a:t>
                </a:r>
                <a:r>
                  <a:rPr lang="en-US" sz="1000" b="1" i="0" u="none" strike="noStrike" baseline="0">
                    <a:solidFill>
                      <a:prstClr val="black"/>
                    </a:solidFill>
                    <a:effectLst/>
                  </a:rPr>
                  <a:t>New </a:t>
                </a:r>
                <a:r>
                  <a:rPr lang="en-US" sz="1000" b="1">
                    <a:solidFill>
                      <a:schemeClr val="tx1"/>
                    </a:solidFill>
                  </a:rPr>
                  <a:t>Patients</a:t>
                </a:r>
              </a:p>
            </c:rich>
          </c:tx>
          <c:layout>
            <c:manualLayout>
              <c:xMode val="edge"/>
              <c:yMode val="edge"/>
              <c:x val="1.1688496402436129E-2"/>
              <c:y val="0.22546241148909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378937146775186"/>
          <c:y val="0.85892742277772205"/>
          <c:w val="0.16861554957832764"/>
          <c:h val="9.13195535539955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2">
                  <a:lumMod val="10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3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300" u="none" dirty="0">
                <a:solidFill>
                  <a:schemeClr val="tx1"/>
                </a:solidFill>
                <a:effectLst/>
                <a:latin typeface="+mj-lt"/>
              </a:rPr>
              <a:t>MDS</a:t>
            </a:r>
            <a:r>
              <a:rPr lang="en-US" sz="1300" u="none" baseline="0" dirty="0">
                <a:solidFill>
                  <a:schemeClr val="tx1"/>
                </a:solidFill>
                <a:effectLst/>
                <a:latin typeface="+mj-lt"/>
              </a:rPr>
              <a:t> Semesterly New Patients starts (Monthly Average)</a:t>
            </a:r>
            <a:endParaRPr lang="en-US" sz="1300" u="none" dirty="0">
              <a:solidFill>
                <a:schemeClr val="tx1"/>
              </a:solidFill>
              <a:effectLst/>
              <a:latin typeface="+mj-lt"/>
            </a:endParaRPr>
          </a:p>
        </c:rich>
      </c:tx>
      <c:layout>
        <c:manualLayout>
          <c:xMode val="edge"/>
          <c:yMode val="edge"/>
          <c:x val="0.14434526884043686"/>
          <c:y val="2.71081030037640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3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740073811489"/>
          <c:y val="0.10100375685119252"/>
          <c:w val="0.84504332284069528"/>
          <c:h val="0.5874852034853079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4">
                        <a:lumMod val="20000"/>
                        <a:lumOff val="8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598.66666666666663</c:v>
                </c:pt>
                <c:pt idx="1">
                  <c:v>615.16666666666663</c:v>
                </c:pt>
                <c:pt idx="2">
                  <c:v>620.33333333333337</c:v>
                </c:pt>
                <c:pt idx="3">
                  <c:v>610.16666666666663</c:v>
                </c:pt>
                <c:pt idx="4">
                  <c:v>566.5</c:v>
                </c:pt>
                <c:pt idx="5">
                  <c:v>572.33333333333337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CD-444C-99E4-F09B32110D54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Line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Sheet1!$B$3:$G$3</c:f>
              <c:numCache>
                <c:formatCode>0</c:formatCode>
                <c:ptCount val="6"/>
                <c:pt idx="0">
                  <c:v>214.33333333333334</c:v>
                </c:pt>
                <c:pt idx="1">
                  <c:v>208.33333333333334</c:v>
                </c:pt>
                <c:pt idx="2">
                  <c:v>202.33333333333334</c:v>
                </c:pt>
                <c:pt idx="3">
                  <c:v>264.83333333333331</c:v>
                </c:pt>
                <c:pt idx="4">
                  <c:v>233.83333333333334</c:v>
                </c:pt>
                <c:pt idx="5">
                  <c:v>230.33333333333334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CD-444C-99E4-F09B32110D54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Line 3L+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Sheet1!$B$4:$G$4</c:f>
              <c:numCache>
                <c:formatCode>0</c:formatCode>
                <c:ptCount val="6"/>
                <c:pt idx="0">
                  <c:v>147</c:v>
                </c:pt>
                <c:pt idx="1">
                  <c:v>160.33333333333334</c:v>
                </c:pt>
                <c:pt idx="2">
                  <c:v>151</c:v>
                </c:pt>
                <c:pt idx="3">
                  <c:v>172.83333333333334</c:v>
                </c:pt>
                <c:pt idx="4">
                  <c:v>178</c:v>
                </c:pt>
                <c:pt idx="5">
                  <c:v>187.66666666666666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CCD-444C-99E4-F09B32110D5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5108776"/>
        <c:axId val="745109760"/>
        <c:extLst/>
      </c:bar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12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>
                    <a:solidFill>
                      <a:schemeClr val="tx1"/>
                    </a:solidFill>
                  </a:rPr>
                  <a:t># </a:t>
                </a:r>
                <a:r>
                  <a:rPr lang="en-US" sz="1000" b="1" i="0" u="none" strike="noStrike" baseline="0">
                    <a:solidFill>
                      <a:prstClr val="black"/>
                    </a:solidFill>
                    <a:effectLst/>
                  </a:rPr>
                  <a:t>New </a:t>
                </a:r>
                <a:r>
                  <a:rPr lang="en-US" sz="1000" b="1">
                    <a:solidFill>
                      <a:schemeClr val="tx1"/>
                    </a:solidFill>
                  </a:rPr>
                  <a:t>Patients</a:t>
                </a:r>
              </a:p>
            </c:rich>
          </c:tx>
          <c:layout>
            <c:manualLayout>
              <c:xMode val="edge"/>
              <c:yMode val="edge"/>
              <c:x val="1.1688496402436129E-2"/>
              <c:y val="0.22546241148909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378937146775186"/>
          <c:y val="0.85892742277772205"/>
          <c:w val="0.3383541347635724"/>
          <c:h val="9.13195535539955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2">
                  <a:lumMod val="10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3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300" b="1" i="0" u="none" strike="noStrike" kern="1200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RS+ Semesterly New Patients starts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300" b="1" dirty="0" smtClean="0">
                <a:solidFill>
                  <a:schemeClr val="tx1"/>
                </a:solidFill>
                <a:effectLst/>
                <a:latin typeface="+mj-lt"/>
              </a:defRPr>
            </a:pPr>
            <a:r>
              <a:rPr lang="en-US" sz="1300" b="1" i="0" u="none" strike="noStrike" kern="1200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(Monthly Average)</a:t>
            </a:r>
          </a:p>
        </c:rich>
      </c:tx>
      <c:layout>
        <c:manualLayout>
          <c:xMode val="edge"/>
          <c:yMode val="edge"/>
          <c:x val="0.2073769766115231"/>
          <c:y val="3.41982003052833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lang="en-US" sz="13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718739286600998"/>
          <c:y val="0.12128723442219477"/>
          <c:w val="0.84504332284069528"/>
          <c:h val="0.5874852034853079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4">
                        <a:lumMod val="20000"/>
                        <a:lumOff val="8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77</c:v>
                </c:pt>
                <c:pt idx="1">
                  <c:v>94</c:v>
                </c:pt>
                <c:pt idx="2">
                  <c:v>77.833333333333329</c:v>
                </c:pt>
                <c:pt idx="3">
                  <c:v>79</c:v>
                </c:pt>
                <c:pt idx="4">
                  <c:v>70.5</c:v>
                </c:pt>
                <c:pt idx="5">
                  <c:v>65.333333333333329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6E-40F4-9AEA-1B9F3CA0F282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Line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Sheet1!$B$3:$G$3</c:f>
              <c:numCache>
                <c:formatCode>0</c:formatCode>
                <c:ptCount val="6"/>
                <c:pt idx="0">
                  <c:v>48</c:v>
                </c:pt>
                <c:pt idx="1">
                  <c:v>51</c:v>
                </c:pt>
                <c:pt idx="2">
                  <c:v>50</c:v>
                </c:pt>
                <c:pt idx="3">
                  <c:v>63.666666666666664</c:v>
                </c:pt>
                <c:pt idx="4">
                  <c:v>46.166666666666664</c:v>
                </c:pt>
                <c:pt idx="5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6E-40F4-9AEA-1B9F3CA0F282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Line 3L+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Sheet1!$B$4:$G$4</c:f>
              <c:numCache>
                <c:formatCode>0</c:formatCode>
                <c:ptCount val="6"/>
                <c:pt idx="0">
                  <c:v>38.5</c:v>
                </c:pt>
                <c:pt idx="1">
                  <c:v>43</c:v>
                </c:pt>
                <c:pt idx="2">
                  <c:v>44.5</c:v>
                </c:pt>
                <c:pt idx="3">
                  <c:v>52.166666666666664</c:v>
                </c:pt>
                <c:pt idx="4">
                  <c:v>50.333333333333336</c:v>
                </c:pt>
                <c:pt idx="5">
                  <c:v>52.5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66E-40F4-9AEA-1B9F3CA0F28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5108776"/>
        <c:axId val="745109760"/>
        <c:extLst/>
      </c:bar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5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>
                    <a:solidFill>
                      <a:schemeClr val="tx1"/>
                    </a:solidFill>
                  </a:rPr>
                  <a:t># </a:t>
                </a:r>
                <a:r>
                  <a:rPr lang="en-US" sz="1000" b="1" i="0" u="none" strike="noStrike" baseline="0">
                    <a:solidFill>
                      <a:prstClr val="black"/>
                    </a:solidFill>
                    <a:effectLst/>
                  </a:rPr>
                  <a:t>New </a:t>
                </a:r>
                <a:r>
                  <a:rPr lang="en-US" sz="1000" b="1">
                    <a:solidFill>
                      <a:schemeClr val="tx1"/>
                    </a:solidFill>
                  </a:rPr>
                  <a:t>Patients</a:t>
                </a:r>
              </a:p>
            </c:rich>
          </c:tx>
          <c:layout>
            <c:manualLayout>
              <c:xMode val="edge"/>
              <c:yMode val="edge"/>
              <c:x val="1.1688496402436129E-2"/>
              <c:y val="0.22546241148909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8915276668568168"/>
          <c:y val="0.87358360209759223"/>
          <c:w val="0.3383541347635724"/>
          <c:h val="9.13195535539955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2">
                  <a:lumMod val="10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3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300" u="none" baseline="0" dirty="0">
                <a:solidFill>
                  <a:schemeClr val="tx1"/>
                </a:solidFill>
                <a:effectLst/>
                <a:latin typeface="+mj-lt"/>
              </a:rPr>
              <a:t>RS- Semesterly New Patients starts (Monthly Average)</a:t>
            </a:r>
            <a:endParaRPr lang="en-US" sz="1300" u="none" dirty="0">
              <a:solidFill>
                <a:schemeClr val="tx1"/>
              </a:solidFill>
              <a:effectLst/>
              <a:latin typeface="+mj-lt"/>
            </a:endParaRPr>
          </a:p>
        </c:rich>
      </c:tx>
      <c:layout>
        <c:manualLayout>
          <c:xMode val="edge"/>
          <c:yMode val="edge"/>
          <c:x val="0.14434526884043686"/>
          <c:y val="2.71081030037640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3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740073811489"/>
          <c:y val="0.10100375685119252"/>
          <c:w val="0.84504332284069528"/>
          <c:h val="0.5874852034853079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4">
                        <a:lumMod val="20000"/>
                        <a:lumOff val="8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521.66666666666663</c:v>
                </c:pt>
                <c:pt idx="1">
                  <c:v>521.16666666666663</c:v>
                </c:pt>
                <c:pt idx="2">
                  <c:v>542.5</c:v>
                </c:pt>
                <c:pt idx="3">
                  <c:v>531.16666666666663</c:v>
                </c:pt>
                <c:pt idx="4">
                  <c:v>496</c:v>
                </c:pt>
                <c:pt idx="5">
                  <c:v>507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1E-4CF2-9069-EA326C6C6F38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Line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Sheet1!$B$3:$G$3</c:f>
              <c:numCache>
                <c:formatCode>0</c:formatCode>
                <c:ptCount val="6"/>
                <c:pt idx="0">
                  <c:v>166.33333333333334</c:v>
                </c:pt>
                <c:pt idx="1">
                  <c:v>157.33333333333334</c:v>
                </c:pt>
                <c:pt idx="2">
                  <c:v>152.33333333333334</c:v>
                </c:pt>
                <c:pt idx="3">
                  <c:v>201.16666666666666</c:v>
                </c:pt>
                <c:pt idx="4">
                  <c:v>187.66666666666666</c:v>
                </c:pt>
                <c:pt idx="5">
                  <c:v>184.33333333333334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51E-4CF2-9069-EA326C6C6F38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Line 3L+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Sheet1!$B$4:$G$4</c:f>
              <c:numCache>
                <c:formatCode>0</c:formatCode>
                <c:ptCount val="6"/>
                <c:pt idx="0">
                  <c:v>108.5</c:v>
                </c:pt>
                <c:pt idx="1">
                  <c:v>117.33333333333333</c:v>
                </c:pt>
                <c:pt idx="2">
                  <c:v>106.5</c:v>
                </c:pt>
                <c:pt idx="3">
                  <c:v>120.66666666666667</c:v>
                </c:pt>
                <c:pt idx="4">
                  <c:v>127.66666666666667</c:v>
                </c:pt>
                <c:pt idx="5">
                  <c:v>135.16666666666666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51E-4CF2-9069-EA326C6C6F3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5108776"/>
        <c:axId val="745109760"/>
        <c:extLst/>
      </c:bar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12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>
                    <a:solidFill>
                      <a:schemeClr val="tx1"/>
                    </a:solidFill>
                  </a:rPr>
                  <a:t># </a:t>
                </a:r>
                <a:r>
                  <a:rPr lang="en-US" sz="1000" b="1" i="0" u="none" strike="noStrike" baseline="0">
                    <a:solidFill>
                      <a:prstClr val="black"/>
                    </a:solidFill>
                    <a:effectLst/>
                  </a:rPr>
                  <a:t>New </a:t>
                </a:r>
                <a:r>
                  <a:rPr lang="en-US" sz="1000" b="1">
                    <a:solidFill>
                      <a:schemeClr val="tx1"/>
                    </a:solidFill>
                  </a:rPr>
                  <a:t>Patients</a:t>
                </a:r>
              </a:p>
            </c:rich>
          </c:tx>
          <c:layout>
            <c:manualLayout>
              <c:xMode val="edge"/>
              <c:yMode val="edge"/>
              <c:x val="1.1688496402436129E-2"/>
              <c:y val="0.22546241148909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378937146775186"/>
          <c:y val="0.8931254308434684"/>
          <c:w val="0.3383541347635724"/>
          <c:h val="9.13195535539955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2">
                  <a:lumMod val="10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3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300" u="none" baseline="0" dirty="0">
                <a:solidFill>
                  <a:schemeClr val="tx1"/>
                </a:solidFill>
                <a:effectLst/>
                <a:latin typeface="+mj-lt"/>
              </a:rPr>
              <a:t>ESA Semesterly New Patients starts (Monthly Average)</a:t>
            </a:r>
            <a:endParaRPr lang="en-US" sz="1300" u="none" dirty="0">
              <a:solidFill>
                <a:schemeClr val="tx1"/>
              </a:solidFill>
              <a:effectLst/>
              <a:latin typeface="+mj-lt"/>
            </a:endParaRPr>
          </a:p>
        </c:rich>
      </c:tx>
      <c:layout>
        <c:manualLayout>
          <c:xMode val="edge"/>
          <c:yMode val="edge"/>
          <c:x val="0.14434526884043686"/>
          <c:y val="2.71081030037640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3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740073811489"/>
          <c:y val="0.10100375685119252"/>
          <c:w val="0.84504332284069528"/>
          <c:h val="0.5874852034853079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4">
                        <a:lumMod val="20000"/>
                        <a:lumOff val="8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388.5</c:v>
                </c:pt>
                <c:pt idx="1">
                  <c:v>404.16666666666669</c:v>
                </c:pt>
                <c:pt idx="2">
                  <c:v>401.5</c:v>
                </c:pt>
                <c:pt idx="3">
                  <c:v>358.33333333333331</c:v>
                </c:pt>
                <c:pt idx="4">
                  <c:v>286.33333333333331</c:v>
                </c:pt>
                <c:pt idx="5">
                  <c:v>279.83333333333331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CD-444C-99E4-F09B32110D54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Line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Sheet1!$B$3:$G$3</c:f>
              <c:numCache>
                <c:formatCode>0</c:formatCode>
                <c:ptCount val="6"/>
                <c:pt idx="0">
                  <c:v>89.5</c:v>
                </c:pt>
                <c:pt idx="1">
                  <c:v>77.166666666666671</c:v>
                </c:pt>
                <c:pt idx="2">
                  <c:v>76.333333333333329</c:v>
                </c:pt>
                <c:pt idx="3">
                  <c:v>97.333333333333329</c:v>
                </c:pt>
                <c:pt idx="4">
                  <c:v>56</c:v>
                </c:pt>
                <c:pt idx="5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CD-444C-99E4-F09B32110D54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Line 3L+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Sheet1!$B$4:$G$4</c:f>
              <c:numCache>
                <c:formatCode>0</c:formatCode>
                <c:ptCount val="6"/>
                <c:pt idx="0">
                  <c:v>47.666666666666664</c:v>
                </c:pt>
                <c:pt idx="1">
                  <c:v>53.333333333333336</c:v>
                </c:pt>
                <c:pt idx="2">
                  <c:v>43.333333333333336</c:v>
                </c:pt>
                <c:pt idx="3">
                  <c:v>51.166666666666664</c:v>
                </c:pt>
                <c:pt idx="4">
                  <c:v>42.666666666666664</c:v>
                </c:pt>
                <c:pt idx="5">
                  <c:v>38.333333333333336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CCD-444C-99E4-F09B32110D5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5108776"/>
        <c:axId val="745109760"/>
        <c:extLst/>
      </c:bar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8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>
                    <a:solidFill>
                      <a:schemeClr val="tx1"/>
                    </a:solidFill>
                  </a:rPr>
                  <a:t># </a:t>
                </a:r>
                <a:r>
                  <a:rPr lang="en-US" sz="1000" b="1" i="0" u="none" strike="noStrike" baseline="0">
                    <a:solidFill>
                      <a:prstClr val="black"/>
                    </a:solidFill>
                    <a:effectLst/>
                  </a:rPr>
                  <a:t>New </a:t>
                </a:r>
                <a:r>
                  <a:rPr lang="en-US" sz="1000" b="1">
                    <a:solidFill>
                      <a:schemeClr val="tx1"/>
                    </a:solidFill>
                  </a:rPr>
                  <a:t>Patients</a:t>
                </a:r>
              </a:p>
            </c:rich>
          </c:tx>
          <c:layout>
            <c:manualLayout>
              <c:xMode val="edge"/>
              <c:yMode val="edge"/>
              <c:x val="1.1688496402436129E-2"/>
              <c:y val="0.22546241148909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378937146775186"/>
          <c:y val="0.85892742277772205"/>
          <c:w val="0.3383541347635724"/>
          <c:h val="9.13195535539955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2">
                  <a:lumMod val="10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3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300" b="1" i="0" u="none" strike="noStrike" kern="1200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ESA RS+ Semesterly New Patients starts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300" b="1" dirty="0" smtClean="0">
                <a:solidFill>
                  <a:schemeClr val="tx1"/>
                </a:solidFill>
                <a:effectLst/>
                <a:latin typeface="+mj-lt"/>
              </a:defRPr>
            </a:pPr>
            <a:r>
              <a:rPr lang="en-US" sz="1300" b="1" i="0" u="none" strike="noStrike" kern="1200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(Monthly Average)</a:t>
            </a:r>
          </a:p>
        </c:rich>
      </c:tx>
      <c:layout>
        <c:manualLayout>
          <c:xMode val="edge"/>
          <c:yMode val="edge"/>
          <c:x val="0.27563920154753291"/>
          <c:y val="2.535445326016344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lang="en-US" sz="13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718739286600998"/>
          <c:y val="0.12128723442219477"/>
          <c:w val="0.84504332284069528"/>
          <c:h val="0.5874852034853079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4">
                        <a:lumMod val="20000"/>
                        <a:lumOff val="8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58.166666666666664</c:v>
                </c:pt>
                <c:pt idx="1">
                  <c:v>71.333333333333329</c:v>
                </c:pt>
                <c:pt idx="2">
                  <c:v>55.833333333333336</c:v>
                </c:pt>
                <c:pt idx="3">
                  <c:v>47.333333333333336</c:v>
                </c:pt>
                <c:pt idx="4">
                  <c:v>32.666666666666664</c:v>
                </c:pt>
                <c:pt idx="5">
                  <c:v>28.666666666666668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6E-40F4-9AEA-1B9F3CA0F282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Line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Sheet1!$B$3:$G$3</c:f>
              <c:numCache>
                <c:formatCode>0</c:formatCode>
                <c:ptCount val="6"/>
                <c:pt idx="0">
                  <c:v>16.5</c:v>
                </c:pt>
                <c:pt idx="1">
                  <c:v>16.5</c:v>
                </c:pt>
                <c:pt idx="2">
                  <c:v>14.5</c:v>
                </c:pt>
                <c:pt idx="3">
                  <c:v>16.333333333333332</c:v>
                </c:pt>
                <c:pt idx="4">
                  <c:v>8</c:v>
                </c:pt>
                <c:pt idx="5">
                  <c:v>8.6666666666666661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6E-40F4-9AEA-1B9F3CA0F282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Line 3L+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Sheet1!$B$4:$G$4</c:f>
              <c:numCache>
                <c:formatCode>0</c:formatCode>
                <c:ptCount val="6"/>
                <c:pt idx="0">
                  <c:v>10.5</c:v>
                </c:pt>
                <c:pt idx="1">
                  <c:v>14.333333333333334</c:v>
                </c:pt>
                <c:pt idx="2">
                  <c:v>12.5</c:v>
                </c:pt>
                <c:pt idx="3">
                  <c:v>13.666666666666666</c:v>
                </c:pt>
                <c:pt idx="4">
                  <c:v>10</c:v>
                </c:pt>
                <c:pt idx="5">
                  <c:v>8.1666666666666661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66E-40F4-9AEA-1B9F3CA0F28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5108776"/>
        <c:axId val="745109760"/>
        <c:extLst/>
      </c:bar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2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>
                    <a:solidFill>
                      <a:schemeClr val="tx1"/>
                    </a:solidFill>
                  </a:rPr>
                  <a:t># </a:t>
                </a:r>
                <a:r>
                  <a:rPr lang="en-US" sz="1000" b="1" i="0" u="none" strike="noStrike" baseline="0">
                    <a:solidFill>
                      <a:prstClr val="black"/>
                    </a:solidFill>
                    <a:effectLst/>
                  </a:rPr>
                  <a:t>New </a:t>
                </a:r>
                <a:r>
                  <a:rPr lang="en-US" sz="1000" b="1">
                    <a:solidFill>
                      <a:schemeClr val="tx1"/>
                    </a:solidFill>
                  </a:rPr>
                  <a:t>Patients</a:t>
                </a:r>
              </a:p>
            </c:rich>
          </c:tx>
          <c:layout>
            <c:manualLayout>
              <c:xMode val="edge"/>
              <c:yMode val="edge"/>
              <c:x val="1.1688496402436129E-2"/>
              <c:y val="0.22546241148909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8916810644092172"/>
          <c:y val="0.90456543864601635"/>
          <c:w val="0.3383541347635724"/>
          <c:h val="9.13195535539955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2">
                  <a:lumMod val="10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3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300" u="none" baseline="0" dirty="0">
                <a:solidFill>
                  <a:schemeClr val="tx1"/>
                </a:solidFill>
                <a:effectLst/>
                <a:latin typeface="+mj-lt"/>
              </a:rPr>
              <a:t>ESA RS- Semesterly New Patients starts </a:t>
            </a:r>
          </a:p>
          <a:p>
            <a:pPr algn="ctr" rtl="0">
              <a:defRPr lang="en-US" sz="1300" b="1" dirty="0" smtClean="0">
                <a:solidFill>
                  <a:schemeClr val="tx1"/>
                </a:solidFill>
                <a:effectLst/>
                <a:latin typeface="+mj-lt"/>
              </a:defRPr>
            </a:pPr>
            <a:r>
              <a:rPr lang="en-US" sz="1300" u="none" baseline="0" dirty="0">
                <a:solidFill>
                  <a:schemeClr val="tx1"/>
                </a:solidFill>
                <a:effectLst/>
                <a:latin typeface="+mj-lt"/>
              </a:rPr>
              <a:t>(Monthly Average)</a:t>
            </a:r>
            <a:endParaRPr lang="en-US" sz="1300" u="none" dirty="0">
              <a:solidFill>
                <a:schemeClr val="tx1"/>
              </a:solidFill>
              <a:effectLst/>
              <a:latin typeface="+mj-lt"/>
            </a:endParaRPr>
          </a:p>
        </c:rich>
      </c:tx>
      <c:layout>
        <c:manualLayout>
          <c:xMode val="edge"/>
          <c:yMode val="edge"/>
          <c:x val="0.28665947858510826"/>
          <c:y val="2.203721235173134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3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740073811489"/>
          <c:y val="0.10100375685119252"/>
          <c:w val="0.84504332284069528"/>
          <c:h val="0.5874852034853079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4">
                        <a:lumMod val="20000"/>
                        <a:lumOff val="8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330.33333333333331</c:v>
                </c:pt>
                <c:pt idx="1">
                  <c:v>332.83333333333331</c:v>
                </c:pt>
                <c:pt idx="2">
                  <c:v>345.66666666666669</c:v>
                </c:pt>
                <c:pt idx="3">
                  <c:v>311</c:v>
                </c:pt>
                <c:pt idx="4">
                  <c:v>253.66666666666666</c:v>
                </c:pt>
                <c:pt idx="5">
                  <c:v>251.16666666666666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1E-4CF2-9069-EA326C6C6F38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Line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Sheet1!$B$3:$G$3</c:f>
              <c:numCache>
                <c:formatCode>0</c:formatCode>
                <c:ptCount val="6"/>
                <c:pt idx="0">
                  <c:v>73</c:v>
                </c:pt>
                <c:pt idx="1">
                  <c:v>60.666666666666664</c:v>
                </c:pt>
                <c:pt idx="2">
                  <c:v>61.833333333333336</c:v>
                </c:pt>
                <c:pt idx="3">
                  <c:v>81</c:v>
                </c:pt>
                <c:pt idx="4">
                  <c:v>48</c:v>
                </c:pt>
                <c:pt idx="5">
                  <c:v>42.333333333333336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51E-4CF2-9069-EA326C6C6F38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Line 3L+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Sheet1!$B$4:$G$4</c:f>
              <c:numCache>
                <c:formatCode>0</c:formatCode>
                <c:ptCount val="6"/>
                <c:pt idx="0">
                  <c:v>37.166666666666664</c:v>
                </c:pt>
                <c:pt idx="1">
                  <c:v>39</c:v>
                </c:pt>
                <c:pt idx="2">
                  <c:v>30.833333333333332</c:v>
                </c:pt>
                <c:pt idx="3">
                  <c:v>37.5</c:v>
                </c:pt>
                <c:pt idx="4">
                  <c:v>32.666666666666664</c:v>
                </c:pt>
                <c:pt idx="5">
                  <c:v>30.166666666666668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51E-4CF2-9069-EA326C6C6F3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5108776"/>
        <c:axId val="745109760"/>
        <c:extLst/>
      </c:bar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6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>
                    <a:solidFill>
                      <a:schemeClr val="tx1"/>
                    </a:solidFill>
                  </a:rPr>
                  <a:t># </a:t>
                </a:r>
                <a:r>
                  <a:rPr lang="en-US" sz="1000" b="1" i="0" u="none" strike="noStrike" baseline="0">
                    <a:solidFill>
                      <a:prstClr val="black"/>
                    </a:solidFill>
                    <a:effectLst/>
                  </a:rPr>
                  <a:t>New </a:t>
                </a:r>
                <a:r>
                  <a:rPr lang="en-US" sz="1000" b="1">
                    <a:solidFill>
                      <a:schemeClr val="tx1"/>
                    </a:solidFill>
                  </a:rPr>
                  <a:t>Patients</a:t>
                </a:r>
              </a:p>
            </c:rich>
          </c:tx>
          <c:layout>
            <c:manualLayout>
              <c:xMode val="edge"/>
              <c:yMode val="edge"/>
              <c:x val="1.1688496402436129E-2"/>
              <c:y val="0.22546241148909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378937146775186"/>
          <c:y val="0.85892742277772205"/>
          <c:w val="0.3383541347635724"/>
          <c:h val="9.13195535539955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2">
                  <a:lumMod val="10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3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300" u="none" baseline="0" dirty="0">
                <a:solidFill>
                  <a:schemeClr val="tx1"/>
                </a:solidFill>
                <a:effectLst/>
                <a:latin typeface="+mj-lt"/>
              </a:rPr>
              <a:t>Reblozyl Semesterly New Patients starts (Monthly Average)</a:t>
            </a:r>
            <a:endParaRPr lang="en-US" sz="1300" u="none" dirty="0">
              <a:solidFill>
                <a:schemeClr val="tx1"/>
              </a:solidFill>
              <a:effectLst/>
              <a:latin typeface="+mj-lt"/>
            </a:endParaRPr>
          </a:p>
        </c:rich>
      </c:tx>
      <c:layout>
        <c:manualLayout>
          <c:xMode val="edge"/>
          <c:yMode val="edge"/>
          <c:x val="0.14434526884043686"/>
          <c:y val="2.71081030037640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3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740073811489"/>
          <c:y val="0.10100375685119252"/>
          <c:w val="0.84504332284069528"/>
          <c:h val="0.5874852034853079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4">
                        <a:lumMod val="20000"/>
                        <a:lumOff val="8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16.833333333333332</c:v>
                </c:pt>
                <c:pt idx="1">
                  <c:v>21.833333333333332</c:v>
                </c:pt>
                <c:pt idx="2">
                  <c:v>22</c:v>
                </c:pt>
                <c:pt idx="3">
                  <c:v>56.166666666666664</c:v>
                </c:pt>
                <c:pt idx="4">
                  <c:v>76.166666666666671</c:v>
                </c:pt>
                <c:pt idx="5">
                  <c:v>99.333333333333329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CD-444C-99E4-F09B32110D54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Line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Sheet1!$B$3:$G$3</c:f>
              <c:numCache>
                <c:formatCode>0</c:formatCode>
                <c:ptCount val="6"/>
                <c:pt idx="0">
                  <c:v>43</c:v>
                </c:pt>
                <c:pt idx="1">
                  <c:v>48.333333333333336</c:v>
                </c:pt>
                <c:pt idx="2">
                  <c:v>49</c:v>
                </c:pt>
                <c:pt idx="3">
                  <c:v>85.666666666666671</c:v>
                </c:pt>
                <c:pt idx="4">
                  <c:v>78.166666666666671</c:v>
                </c:pt>
                <c:pt idx="5">
                  <c:v>77.333333333333329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CD-444C-99E4-F09B32110D54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Line 3L+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Sheet1!$B$4:$G$4</c:f>
              <c:numCache>
                <c:formatCode>0</c:formatCode>
                <c:ptCount val="6"/>
                <c:pt idx="0">
                  <c:v>29</c:v>
                </c:pt>
                <c:pt idx="1">
                  <c:v>28.333333333333332</c:v>
                </c:pt>
                <c:pt idx="2">
                  <c:v>30.833333333333332</c:v>
                </c:pt>
                <c:pt idx="3">
                  <c:v>51.166666666666664</c:v>
                </c:pt>
                <c:pt idx="4">
                  <c:v>53.5</c:v>
                </c:pt>
                <c:pt idx="5">
                  <c:v>54.833333333333336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CCD-444C-99E4-F09B32110D5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5108776"/>
        <c:axId val="745109760"/>
        <c:extLst/>
      </c:bar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3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>
                    <a:solidFill>
                      <a:schemeClr val="tx1"/>
                    </a:solidFill>
                  </a:rPr>
                  <a:t># </a:t>
                </a:r>
                <a:r>
                  <a:rPr lang="en-US" sz="1000" b="1" i="0" u="none" strike="noStrike" baseline="0">
                    <a:solidFill>
                      <a:prstClr val="black"/>
                    </a:solidFill>
                    <a:effectLst/>
                  </a:rPr>
                  <a:t>New </a:t>
                </a:r>
                <a:r>
                  <a:rPr lang="en-US" sz="1000" b="1">
                    <a:solidFill>
                      <a:schemeClr val="tx1"/>
                    </a:solidFill>
                  </a:rPr>
                  <a:t>Patients</a:t>
                </a:r>
              </a:p>
            </c:rich>
          </c:tx>
          <c:layout>
            <c:manualLayout>
              <c:xMode val="edge"/>
              <c:yMode val="edge"/>
              <c:x val="1.1688496402436129E-2"/>
              <c:y val="0.22546241148909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378937146775186"/>
          <c:y val="0.85892742277772205"/>
          <c:w val="0.3383541347635724"/>
          <c:h val="9.13195535539955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2">
                  <a:lumMod val="10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3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300" b="1" i="0" u="none" strike="noStrike" kern="1200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Reblozyl RS+ Semesterly New Patients starts (Monthly Average)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lang="en-US" sz="13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718739286600998"/>
          <c:y val="0.12128723442219477"/>
          <c:w val="0.84504332284069528"/>
          <c:h val="0.5874852034853079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4">
                        <a:lumMod val="20000"/>
                        <a:lumOff val="8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8.3333333333333339</c:v>
                </c:pt>
                <c:pt idx="1">
                  <c:v>10.333333333333334</c:v>
                </c:pt>
                <c:pt idx="2">
                  <c:v>10.666666666666666</c:v>
                </c:pt>
                <c:pt idx="3">
                  <c:v>21.5</c:v>
                </c:pt>
                <c:pt idx="4">
                  <c:v>24.666666666666668</c:v>
                </c:pt>
                <c:pt idx="5">
                  <c:v>26.666666666666668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6E-40F4-9AEA-1B9F3CA0F282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Line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Sheet1!$B$3:$G$3</c:f>
              <c:numCache>
                <c:formatCode>0</c:formatCode>
                <c:ptCount val="6"/>
                <c:pt idx="0">
                  <c:v>24.333333333333332</c:v>
                </c:pt>
                <c:pt idx="1">
                  <c:v>25.833333333333332</c:v>
                </c:pt>
                <c:pt idx="2">
                  <c:v>27.666666666666668</c:v>
                </c:pt>
                <c:pt idx="3">
                  <c:v>39.166666666666664</c:v>
                </c:pt>
                <c:pt idx="4">
                  <c:v>28</c:v>
                </c:pt>
                <c:pt idx="5">
                  <c:v>25.333333333333332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6E-40F4-9AEA-1B9F3CA0F282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Line 3L+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Sheet1!$B$4:$G$4</c:f>
              <c:numCache>
                <c:formatCode>0</c:formatCode>
                <c:ptCount val="6"/>
                <c:pt idx="0">
                  <c:v>16.833333333333332</c:v>
                </c:pt>
                <c:pt idx="1">
                  <c:v>17.333333333333332</c:v>
                </c:pt>
                <c:pt idx="2">
                  <c:v>18.166666666666668</c:v>
                </c:pt>
                <c:pt idx="3">
                  <c:v>24.833333333333332</c:v>
                </c:pt>
                <c:pt idx="4">
                  <c:v>25.166666666666668</c:v>
                </c:pt>
                <c:pt idx="5">
                  <c:v>24.333333333333332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66E-40F4-9AEA-1B9F3CA0F28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5108776"/>
        <c:axId val="745109760"/>
        <c:extLst/>
      </c:bar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2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>
                    <a:solidFill>
                      <a:schemeClr val="tx1"/>
                    </a:solidFill>
                  </a:rPr>
                  <a:t># </a:t>
                </a:r>
                <a:r>
                  <a:rPr lang="en-US" sz="1000" b="1" i="0" u="none" strike="noStrike" baseline="0">
                    <a:solidFill>
                      <a:prstClr val="black"/>
                    </a:solidFill>
                    <a:effectLst/>
                  </a:rPr>
                  <a:t>New </a:t>
                </a:r>
                <a:r>
                  <a:rPr lang="en-US" sz="1000" b="1">
                    <a:solidFill>
                      <a:schemeClr val="tx1"/>
                    </a:solidFill>
                  </a:rPr>
                  <a:t>Patients</a:t>
                </a:r>
              </a:p>
            </c:rich>
          </c:tx>
          <c:layout>
            <c:manualLayout>
              <c:xMode val="edge"/>
              <c:yMode val="edge"/>
              <c:x val="1.1688496402436129E-2"/>
              <c:y val="0.22546241148909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378945430251124"/>
          <c:y val="0.89949454799398365"/>
          <c:w val="0.3383541347635724"/>
          <c:h val="9.13195535539955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2">
                  <a:lumMod val="10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3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300" u="none" baseline="0" dirty="0">
                <a:solidFill>
                  <a:schemeClr val="tx1"/>
                </a:solidFill>
                <a:effectLst/>
                <a:latin typeface="+mj-lt"/>
              </a:rPr>
              <a:t>Reblozyl RS- Semesterly New Patients starts </a:t>
            </a:r>
          </a:p>
          <a:p>
            <a:pPr algn="ctr" rtl="0">
              <a:defRPr lang="en-US" sz="1300" b="1" dirty="0" smtClean="0">
                <a:solidFill>
                  <a:schemeClr val="tx1"/>
                </a:solidFill>
                <a:effectLst/>
                <a:latin typeface="+mj-lt"/>
              </a:defRPr>
            </a:pPr>
            <a:r>
              <a:rPr lang="en-US" sz="1300" u="none" baseline="0" dirty="0">
                <a:solidFill>
                  <a:schemeClr val="tx1"/>
                </a:solidFill>
                <a:effectLst/>
                <a:latin typeface="+mj-lt"/>
              </a:rPr>
              <a:t>(Monthly Average)</a:t>
            </a:r>
            <a:endParaRPr lang="en-US" sz="1300" u="none" dirty="0">
              <a:solidFill>
                <a:schemeClr val="tx1"/>
              </a:solidFill>
              <a:effectLst/>
              <a:latin typeface="+mj-lt"/>
            </a:endParaRPr>
          </a:p>
        </c:rich>
      </c:tx>
      <c:layout>
        <c:manualLayout>
          <c:xMode val="edge"/>
          <c:yMode val="edge"/>
          <c:x val="0.22217335229455398"/>
          <c:y val="2.203721235173134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3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740073811489"/>
          <c:y val="0.10100375685119252"/>
          <c:w val="0.84504332284069528"/>
          <c:h val="0.5874852034853079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4">
                        <a:lumMod val="20000"/>
                        <a:lumOff val="8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8.5</c:v>
                </c:pt>
                <c:pt idx="1">
                  <c:v>11.5</c:v>
                </c:pt>
                <c:pt idx="2">
                  <c:v>11.333333333333334</c:v>
                </c:pt>
                <c:pt idx="3">
                  <c:v>34.666666666666664</c:v>
                </c:pt>
                <c:pt idx="4">
                  <c:v>51.5</c:v>
                </c:pt>
                <c:pt idx="5">
                  <c:v>72.666666666666671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1E-4CF2-9069-EA326C6C6F38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Line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Sheet1!$B$3:$G$3</c:f>
              <c:numCache>
                <c:formatCode>0</c:formatCode>
                <c:ptCount val="6"/>
                <c:pt idx="0">
                  <c:v>18.666666666666668</c:v>
                </c:pt>
                <c:pt idx="1">
                  <c:v>22.5</c:v>
                </c:pt>
                <c:pt idx="2">
                  <c:v>21.333333333333332</c:v>
                </c:pt>
                <c:pt idx="3">
                  <c:v>46.5</c:v>
                </c:pt>
                <c:pt idx="4">
                  <c:v>50.166666666666664</c:v>
                </c:pt>
                <c:pt idx="5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51E-4CF2-9069-EA326C6C6F38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Line 3L+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Sheet1!$B$4:$G$4</c:f>
              <c:numCache>
                <c:formatCode>0</c:formatCode>
                <c:ptCount val="6"/>
                <c:pt idx="0">
                  <c:v>12.166666666666666</c:v>
                </c:pt>
                <c:pt idx="1">
                  <c:v>11</c:v>
                </c:pt>
                <c:pt idx="2">
                  <c:v>12.666666666666666</c:v>
                </c:pt>
                <c:pt idx="3">
                  <c:v>26.333333333333332</c:v>
                </c:pt>
                <c:pt idx="4">
                  <c:v>28.333333333333332</c:v>
                </c:pt>
                <c:pt idx="5">
                  <c:v>30.5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51E-4CF2-9069-EA326C6C6F3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5108776"/>
        <c:axId val="745109760"/>
        <c:extLst/>
      </c:bar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2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>
                    <a:solidFill>
                      <a:schemeClr val="tx1"/>
                    </a:solidFill>
                  </a:rPr>
                  <a:t># </a:t>
                </a:r>
                <a:r>
                  <a:rPr lang="en-US" sz="1000" b="1" i="0" u="none" strike="noStrike" baseline="0">
                    <a:solidFill>
                      <a:prstClr val="black"/>
                    </a:solidFill>
                    <a:effectLst/>
                  </a:rPr>
                  <a:t>New </a:t>
                </a:r>
                <a:r>
                  <a:rPr lang="en-US" sz="1000" b="1">
                    <a:solidFill>
                      <a:schemeClr val="tx1"/>
                    </a:solidFill>
                  </a:rPr>
                  <a:t>Patients</a:t>
                </a:r>
              </a:p>
            </c:rich>
          </c:tx>
          <c:layout>
            <c:manualLayout>
              <c:xMode val="edge"/>
              <c:yMode val="edge"/>
              <c:x val="1.1688496402436129E-2"/>
              <c:y val="0.22546241148909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4938085964926408"/>
          <c:y val="0.87414009473382015"/>
          <c:w val="0.3383541347635724"/>
          <c:h val="9.13195535539955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2">
                  <a:lumMod val="10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3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300" u="none" baseline="0" dirty="0">
                <a:solidFill>
                  <a:schemeClr val="tx1"/>
                </a:solidFill>
                <a:effectLst/>
                <a:latin typeface="+mj-lt"/>
              </a:rPr>
              <a:t>Semesterly New Patients starts (Monthly Average)</a:t>
            </a:r>
            <a:endParaRPr lang="en-US" sz="1300" u="none" dirty="0">
              <a:solidFill>
                <a:schemeClr val="tx1"/>
              </a:solidFill>
              <a:effectLst/>
              <a:latin typeface="+mj-lt"/>
            </a:endParaRPr>
          </a:p>
        </c:rich>
      </c:tx>
      <c:layout>
        <c:manualLayout>
          <c:xMode val="edge"/>
          <c:yMode val="edge"/>
          <c:x val="0.14434526884043686"/>
          <c:y val="2.71081030037640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3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740073811489"/>
          <c:y val="0.10100375685119252"/>
          <c:w val="0.84504332284069528"/>
          <c:h val="0.58748520348530797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2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118.66666666666667</c:v>
                </c:pt>
                <c:pt idx="1">
                  <c:v>115</c:v>
                </c:pt>
                <c:pt idx="2">
                  <c:v>116.33333333333333</c:v>
                </c:pt>
                <c:pt idx="3">
                  <c:v>167.16666666666666</c:v>
                </c:pt>
                <c:pt idx="4">
                  <c:v>125</c:v>
                </c:pt>
                <c:pt idx="5">
                  <c:v>111.66666666666667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CCD-444C-99E4-F09B32110D5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45108776"/>
        <c:axId val="745109760"/>
      </c:line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4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>
                    <a:solidFill>
                      <a:schemeClr val="tx1"/>
                    </a:solidFill>
                  </a:rPr>
                  <a:t># </a:t>
                </a:r>
                <a:r>
                  <a:rPr lang="en-US" sz="1000" b="1" i="0" u="none" strike="noStrike" baseline="0">
                    <a:solidFill>
                      <a:prstClr val="black"/>
                    </a:solidFill>
                    <a:effectLst/>
                  </a:rPr>
                  <a:t>New </a:t>
                </a:r>
                <a:r>
                  <a:rPr lang="en-US" sz="1000" b="1">
                    <a:solidFill>
                      <a:schemeClr val="tx1"/>
                    </a:solidFill>
                  </a:rPr>
                  <a:t>Patients</a:t>
                </a:r>
              </a:p>
            </c:rich>
          </c:tx>
          <c:layout>
            <c:manualLayout>
              <c:xMode val="edge"/>
              <c:yMode val="edge"/>
              <c:x val="1.1688496402436129E-2"/>
              <c:y val="0.22546241148909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378937146775186"/>
          <c:y val="0.85892742277772205"/>
          <c:w val="0.13723533636614813"/>
          <c:h val="9.13195535539955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2">
                  <a:lumMod val="10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3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300" u="none" baseline="0" dirty="0">
                <a:solidFill>
                  <a:schemeClr val="tx1"/>
                </a:solidFill>
                <a:effectLst/>
                <a:latin typeface="+mj-lt"/>
              </a:rPr>
              <a:t>RS+ Semesterly New Patients starts (Monthly Average)</a:t>
            </a:r>
            <a:endParaRPr lang="en-US" sz="1300" u="none" dirty="0">
              <a:solidFill>
                <a:schemeClr val="tx1"/>
              </a:solidFill>
              <a:effectLst/>
              <a:latin typeface="+mj-lt"/>
            </a:endParaRPr>
          </a:p>
        </c:rich>
      </c:tx>
      <c:layout>
        <c:manualLayout>
          <c:xMode val="edge"/>
          <c:yMode val="edge"/>
          <c:x val="0.14434526884043686"/>
          <c:y val="2.71081030037640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3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740073811489"/>
          <c:y val="0.10100375685119252"/>
          <c:w val="0.84504332284069528"/>
          <c:h val="0.58748520348530797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2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34.833333333333336</c:v>
                </c:pt>
                <c:pt idx="1">
                  <c:v>37.333333333333336</c:v>
                </c:pt>
                <c:pt idx="2">
                  <c:v>36</c:v>
                </c:pt>
                <c:pt idx="3">
                  <c:v>50</c:v>
                </c:pt>
                <c:pt idx="4">
                  <c:v>31</c:v>
                </c:pt>
                <c:pt idx="5">
                  <c:v>27.333333333333332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F89-466D-8662-64CFFAE2843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45108776"/>
        <c:axId val="745109760"/>
      </c:line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2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>
                    <a:solidFill>
                      <a:schemeClr val="tx1"/>
                    </a:solidFill>
                  </a:rPr>
                  <a:t># </a:t>
                </a:r>
                <a:r>
                  <a:rPr lang="en-US" sz="1000" b="1" i="0" u="none" strike="noStrike" baseline="0">
                    <a:solidFill>
                      <a:prstClr val="black"/>
                    </a:solidFill>
                    <a:effectLst/>
                  </a:rPr>
                  <a:t>New </a:t>
                </a:r>
                <a:r>
                  <a:rPr lang="en-US" sz="1000" b="1">
                    <a:solidFill>
                      <a:schemeClr val="tx1"/>
                    </a:solidFill>
                  </a:rPr>
                  <a:t>Patients</a:t>
                </a:r>
              </a:p>
            </c:rich>
          </c:tx>
          <c:layout>
            <c:manualLayout>
              <c:xMode val="edge"/>
              <c:yMode val="edge"/>
              <c:x val="1.1688496402436129E-2"/>
              <c:y val="0.22546241148909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378937146775186"/>
          <c:y val="0.85892742277772205"/>
          <c:w val="0.13723533636614813"/>
          <c:h val="9.13195535539955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2">
                  <a:lumMod val="10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3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300" u="none" baseline="0" dirty="0">
                <a:solidFill>
                  <a:schemeClr val="tx1"/>
                </a:solidFill>
                <a:effectLst/>
                <a:latin typeface="+mj-lt"/>
              </a:rPr>
              <a:t>RS- Semesterly New Patients starts (Monthly Average)</a:t>
            </a:r>
            <a:endParaRPr lang="en-US" sz="1300" u="none" dirty="0">
              <a:solidFill>
                <a:schemeClr val="tx1"/>
              </a:solidFill>
              <a:effectLst/>
              <a:latin typeface="+mj-lt"/>
            </a:endParaRPr>
          </a:p>
        </c:rich>
      </c:tx>
      <c:layout>
        <c:manualLayout>
          <c:xMode val="edge"/>
          <c:yMode val="edge"/>
          <c:x val="0.14434526884043686"/>
          <c:y val="2.71081030037640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3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740073811489"/>
          <c:y val="0.10100375685119252"/>
          <c:w val="0.84504332284069528"/>
          <c:h val="0.58748520348530797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2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83.833333333333329</c:v>
                </c:pt>
                <c:pt idx="1">
                  <c:v>77.666666666666671</c:v>
                </c:pt>
                <c:pt idx="2">
                  <c:v>80.333333333333329</c:v>
                </c:pt>
                <c:pt idx="3">
                  <c:v>117.16666666666667</c:v>
                </c:pt>
                <c:pt idx="4">
                  <c:v>94</c:v>
                </c:pt>
                <c:pt idx="5">
                  <c:v>84.333333333333329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39E-4E2F-8092-38B202FCD21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45108776"/>
        <c:axId val="745109760"/>
      </c:line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2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>
                    <a:solidFill>
                      <a:schemeClr val="tx1"/>
                    </a:solidFill>
                  </a:rPr>
                  <a:t># </a:t>
                </a:r>
                <a:r>
                  <a:rPr lang="en-US" sz="1000" b="1" i="0" u="none" strike="noStrike" baseline="0">
                    <a:solidFill>
                      <a:prstClr val="black"/>
                    </a:solidFill>
                    <a:effectLst/>
                  </a:rPr>
                  <a:t>New </a:t>
                </a:r>
                <a:r>
                  <a:rPr lang="en-US" sz="1000" b="1">
                    <a:solidFill>
                      <a:schemeClr val="tx1"/>
                    </a:solidFill>
                  </a:rPr>
                  <a:t>Patients</a:t>
                </a:r>
              </a:p>
            </c:rich>
          </c:tx>
          <c:layout>
            <c:manualLayout>
              <c:xMode val="edge"/>
              <c:yMode val="edge"/>
              <c:x val="1.1688496402436129E-2"/>
              <c:y val="0.22546241148909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378937146775186"/>
          <c:y val="0.85892742277772205"/>
          <c:w val="0.13723533636614813"/>
          <c:h val="9.13195535539955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2">
                  <a:lumMod val="10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3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300" u="none" baseline="0" dirty="0">
                <a:solidFill>
                  <a:schemeClr val="tx1"/>
                </a:solidFill>
                <a:effectLst/>
                <a:latin typeface="+mj-lt"/>
              </a:rPr>
              <a:t>Semesterly New Patients starts (Monthly Average)</a:t>
            </a:r>
            <a:endParaRPr lang="en-US" sz="1300" u="none" dirty="0">
              <a:solidFill>
                <a:schemeClr val="tx1"/>
              </a:solidFill>
              <a:effectLst/>
              <a:latin typeface="+mj-lt"/>
            </a:endParaRPr>
          </a:p>
        </c:rich>
      </c:tx>
      <c:layout>
        <c:manualLayout>
          <c:xMode val="edge"/>
          <c:yMode val="edge"/>
          <c:x val="0.14434526884043686"/>
          <c:y val="2.71081030037640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3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740073811489"/>
          <c:y val="0.10100375685119252"/>
          <c:w val="0.84504332284069528"/>
          <c:h val="0.58748520348530797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3L+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50.166666666666664</c:v>
                </c:pt>
                <c:pt idx="1">
                  <c:v>62.5</c:v>
                </c:pt>
                <c:pt idx="2">
                  <c:v>62.166666666666664</c:v>
                </c:pt>
                <c:pt idx="3">
                  <c:v>91.333333333333329</c:v>
                </c:pt>
                <c:pt idx="4">
                  <c:v>93.666666666666671</c:v>
                </c:pt>
                <c:pt idx="5">
                  <c:v>103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CCD-444C-99E4-F09B32110D5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45108776"/>
        <c:axId val="745109760"/>
      </c:line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2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>
                    <a:solidFill>
                      <a:schemeClr val="tx1"/>
                    </a:solidFill>
                  </a:rPr>
                  <a:t># </a:t>
                </a:r>
                <a:r>
                  <a:rPr lang="en-US" sz="1000" b="1" i="0" u="none" strike="noStrike" baseline="0">
                    <a:solidFill>
                      <a:prstClr val="black"/>
                    </a:solidFill>
                    <a:effectLst/>
                  </a:rPr>
                  <a:t>New </a:t>
                </a:r>
                <a:r>
                  <a:rPr lang="en-US" sz="1000" b="1">
                    <a:solidFill>
                      <a:schemeClr val="tx1"/>
                    </a:solidFill>
                  </a:rPr>
                  <a:t>Patients</a:t>
                </a:r>
              </a:p>
            </c:rich>
          </c:tx>
          <c:layout>
            <c:manualLayout>
              <c:xMode val="edge"/>
              <c:yMode val="edge"/>
              <c:x val="1.1688496402436129E-2"/>
              <c:y val="0.22546241148909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378937146775186"/>
          <c:y val="0.85892742277772205"/>
          <c:w val="0.16861554957832764"/>
          <c:h val="9.13195535539955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2">
                  <a:lumMod val="10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3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300" u="none" baseline="0" dirty="0">
                <a:solidFill>
                  <a:schemeClr val="tx1"/>
                </a:solidFill>
                <a:effectLst/>
                <a:latin typeface="+mj-lt"/>
              </a:rPr>
              <a:t>RS+ Semesterly New Patients starts (Monthly Average)</a:t>
            </a:r>
            <a:endParaRPr lang="en-US" sz="1300" u="none" dirty="0">
              <a:solidFill>
                <a:schemeClr val="tx1"/>
              </a:solidFill>
              <a:effectLst/>
              <a:latin typeface="+mj-lt"/>
            </a:endParaRPr>
          </a:p>
        </c:rich>
      </c:tx>
      <c:layout>
        <c:manualLayout>
          <c:xMode val="edge"/>
          <c:yMode val="edge"/>
          <c:x val="0.14434526884043686"/>
          <c:y val="2.71081030037640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3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740073811489"/>
          <c:y val="0.10100375685119252"/>
          <c:w val="0.84504332284069528"/>
          <c:h val="0.58748520348530797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3L+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14.666666666666666</c:v>
                </c:pt>
                <c:pt idx="1">
                  <c:v>20.666666666666668</c:v>
                </c:pt>
                <c:pt idx="2">
                  <c:v>22.166666666666668</c:v>
                </c:pt>
                <c:pt idx="3">
                  <c:v>32.666666666666664</c:v>
                </c:pt>
                <c:pt idx="4">
                  <c:v>31</c:v>
                </c:pt>
                <c:pt idx="5">
                  <c:v>34.333333333333336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F89-466D-8662-64CFFAE2843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45108776"/>
        <c:axId val="745109760"/>
      </c:line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2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>
                    <a:solidFill>
                      <a:schemeClr val="tx1"/>
                    </a:solidFill>
                  </a:rPr>
                  <a:t># </a:t>
                </a:r>
                <a:r>
                  <a:rPr lang="en-US" sz="1000" b="1" i="0" u="none" strike="noStrike" baseline="0">
                    <a:solidFill>
                      <a:prstClr val="black"/>
                    </a:solidFill>
                    <a:effectLst/>
                  </a:rPr>
                  <a:t>New </a:t>
                </a:r>
                <a:r>
                  <a:rPr lang="en-US" sz="1000" b="1">
                    <a:solidFill>
                      <a:schemeClr val="tx1"/>
                    </a:solidFill>
                  </a:rPr>
                  <a:t>Patients</a:t>
                </a:r>
              </a:p>
            </c:rich>
          </c:tx>
          <c:layout>
            <c:manualLayout>
              <c:xMode val="edge"/>
              <c:yMode val="edge"/>
              <c:x val="1.1688496402436129E-2"/>
              <c:y val="0.22546241148909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378937146775186"/>
          <c:y val="0.85892742277772205"/>
          <c:w val="0.17948486738409744"/>
          <c:h val="9.63904442060282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2">
                  <a:lumMod val="10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3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300" u="none" baseline="0" dirty="0">
                <a:solidFill>
                  <a:schemeClr val="tx1"/>
                </a:solidFill>
                <a:effectLst/>
                <a:latin typeface="+mj-lt"/>
              </a:rPr>
              <a:t>RS- Semesterly New Patients starts (Monthly Average)</a:t>
            </a:r>
            <a:endParaRPr lang="en-US" sz="1300" u="none" dirty="0">
              <a:solidFill>
                <a:schemeClr val="tx1"/>
              </a:solidFill>
              <a:effectLst/>
              <a:latin typeface="+mj-lt"/>
            </a:endParaRPr>
          </a:p>
        </c:rich>
      </c:tx>
      <c:layout>
        <c:manualLayout>
          <c:xMode val="edge"/>
          <c:yMode val="edge"/>
          <c:x val="0.14434526884043686"/>
          <c:y val="2.71081030037640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3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740073811489"/>
          <c:y val="0.10100375685119252"/>
          <c:w val="0.84504332284069528"/>
          <c:h val="0.58748520348530797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3L+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35.5</c:v>
                </c:pt>
                <c:pt idx="1">
                  <c:v>41.833333333333336</c:v>
                </c:pt>
                <c:pt idx="2">
                  <c:v>40</c:v>
                </c:pt>
                <c:pt idx="3">
                  <c:v>58.666666666666664</c:v>
                </c:pt>
                <c:pt idx="4">
                  <c:v>62.666666666666664</c:v>
                </c:pt>
                <c:pt idx="5">
                  <c:v>68.666666666666671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39E-4E2F-8092-38B202FCD21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45108776"/>
        <c:axId val="745109760"/>
      </c:line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2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>
                    <a:solidFill>
                      <a:schemeClr val="tx1"/>
                    </a:solidFill>
                  </a:rPr>
                  <a:t># </a:t>
                </a:r>
                <a:r>
                  <a:rPr lang="en-US" sz="1000" b="1" i="0" u="none" strike="noStrike" baseline="0">
                    <a:solidFill>
                      <a:prstClr val="black"/>
                    </a:solidFill>
                    <a:effectLst/>
                  </a:rPr>
                  <a:t>New </a:t>
                </a:r>
                <a:r>
                  <a:rPr lang="en-US" sz="1000" b="1">
                    <a:solidFill>
                      <a:schemeClr val="tx1"/>
                    </a:solidFill>
                  </a:rPr>
                  <a:t>Patients</a:t>
                </a:r>
              </a:p>
            </c:rich>
          </c:tx>
          <c:layout>
            <c:manualLayout>
              <c:xMode val="edge"/>
              <c:yMode val="edge"/>
              <c:x val="1.1688496402436129E-2"/>
              <c:y val="0.22546241148909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378937146775186"/>
          <c:y val="0.85892742277772205"/>
          <c:w val="0.1906031650203999"/>
          <c:h val="9.63904442060282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2">
                  <a:lumMod val="10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3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300" u="none" baseline="0" dirty="0">
                <a:solidFill>
                  <a:schemeClr val="tx1"/>
                </a:solidFill>
                <a:effectLst/>
                <a:latin typeface="+mj-lt"/>
              </a:rPr>
              <a:t>Semesterly New Patients starts (Monthly Average)</a:t>
            </a:r>
            <a:endParaRPr lang="en-US" sz="1300" u="none" dirty="0">
              <a:solidFill>
                <a:schemeClr val="tx1"/>
              </a:solidFill>
              <a:effectLst/>
              <a:latin typeface="+mj-lt"/>
            </a:endParaRPr>
          </a:p>
        </c:rich>
      </c:tx>
      <c:layout>
        <c:manualLayout>
          <c:xMode val="edge"/>
          <c:yMode val="edge"/>
          <c:x val="0.14434526884043686"/>
          <c:y val="2.71081030037640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3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740073811489"/>
          <c:y val="0.10100375685119252"/>
          <c:w val="0.84504332284069528"/>
          <c:h val="0.58748520348530797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3L+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8.8333333333333339</c:v>
                </c:pt>
                <c:pt idx="1">
                  <c:v>13.833333333333334</c:v>
                </c:pt>
                <c:pt idx="2">
                  <c:v>18.666666666666668</c:v>
                </c:pt>
                <c:pt idx="3">
                  <c:v>23.166666666666668</c:v>
                </c:pt>
                <c:pt idx="4">
                  <c:v>31.166666666666668</c:v>
                </c:pt>
                <c:pt idx="5">
                  <c:v>40.166666666666664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CCD-444C-99E4-F09B32110D5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45108776"/>
        <c:axId val="745109760"/>
      </c:line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2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>
                    <a:solidFill>
                      <a:schemeClr val="tx1"/>
                    </a:solidFill>
                  </a:rPr>
                  <a:t># </a:t>
                </a:r>
                <a:r>
                  <a:rPr lang="en-US" sz="1000" b="1" i="0" u="none" strike="noStrike" baseline="0">
                    <a:solidFill>
                      <a:prstClr val="black"/>
                    </a:solidFill>
                    <a:effectLst/>
                  </a:rPr>
                  <a:t>New </a:t>
                </a:r>
                <a:r>
                  <a:rPr lang="en-US" sz="1000" b="1">
                    <a:solidFill>
                      <a:schemeClr val="tx1"/>
                    </a:solidFill>
                  </a:rPr>
                  <a:t>Patients</a:t>
                </a:r>
              </a:p>
            </c:rich>
          </c:tx>
          <c:layout>
            <c:manualLayout>
              <c:xMode val="edge"/>
              <c:yMode val="edge"/>
              <c:x val="1.1688496402436129E-2"/>
              <c:y val="0.22546241148909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378937146775186"/>
          <c:y val="0.85892742277772205"/>
          <c:w val="0.16861554957832764"/>
          <c:h val="9.13195535539955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2">
                  <a:lumMod val="10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3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300" u="none" baseline="0" dirty="0">
                <a:solidFill>
                  <a:schemeClr val="tx1"/>
                </a:solidFill>
                <a:effectLst/>
                <a:latin typeface="+mj-lt"/>
              </a:rPr>
              <a:t>RS+ Semesterly New Patients starts (Monthly Average)</a:t>
            </a:r>
            <a:endParaRPr lang="en-US" sz="1300" u="none" dirty="0">
              <a:solidFill>
                <a:schemeClr val="tx1"/>
              </a:solidFill>
              <a:effectLst/>
              <a:latin typeface="+mj-lt"/>
            </a:endParaRPr>
          </a:p>
        </c:rich>
      </c:tx>
      <c:layout>
        <c:manualLayout>
          <c:xMode val="edge"/>
          <c:yMode val="edge"/>
          <c:x val="0.14434526884043686"/>
          <c:y val="2.71081030037640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3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740073811489"/>
          <c:y val="0.10100375685119252"/>
          <c:w val="0.84504332284069528"/>
          <c:h val="0.58748520348530797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3L+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4</c:v>
                </c:pt>
                <c:pt idx="1">
                  <c:v>7</c:v>
                </c:pt>
                <c:pt idx="2">
                  <c:v>11.5</c:v>
                </c:pt>
                <c:pt idx="3">
                  <c:v>13.666666666666666</c:v>
                </c:pt>
                <c:pt idx="4">
                  <c:v>17.666666666666668</c:v>
                </c:pt>
                <c:pt idx="5">
                  <c:v>19.666666666666668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F89-466D-8662-64CFFAE2843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45108776"/>
        <c:axId val="745109760"/>
      </c:line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2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>
                    <a:solidFill>
                      <a:schemeClr val="tx1"/>
                    </a:solidFill>
                  </a:rPr>
                  <a:t># </a:t>
                </a:r>
                <a:r>
                  <a:rPr lang="en-US" sz="1000" b="1" i="0" u="none" strike="noStrike" baseline="0">
                    <a:solidFill>
                      <a:prstClr val="black"/>
                    </a:solidFill>
                    <a:effectLst/>
                  </a:rPr>
                  <a:t>New </a:t>
                </a:r>
                <a:r>
                  <a:rPr lang="en-US" sz="1000" b="1">
                    <a:solidFill>
                      <a:schemeClr val="tx1"/>
                    </a:solidFill>
                  </a:rPr>
                  <a:t>Patients</a:t>
                </a:r>
              </a:p>
            </c:rich>
          </c:tx>
          <c:layout>
            <c:manualLayout>
              <c:xMode val="edge"/>
              <c:yMode val="edge"/>
              <c:x val="1.1688496402436129E-2"/>
              <c:y val="0.22546241148909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378937146775186"/>
          <c:y val="0.85892742277772205"/>
          <c:w val="0.17948486738409744"/>
          <c:h val="9.63904442060282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2">
                  <a:lumMod val="10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3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300" u="none" baseline="0" dirty="0">
                <a:solidFill>
                  <a:schemeClr val="tx1"/>
                </a:solidFill>
                <a:effectLst/>
                <a:latin typeface="+mj-lt"/>
              </a:rPr>
              <a:t>RS- Semesterly New Patients starts (Monthly Average)</a:t>
            </a:r>
            <a:endParaRPr lang="en-US" sz="1300" u="none" dirty="0">
              <a:solidFill>
                <a:schemeClr val="tx1"/>
              </a:solidFill>
              <a:effectLst/>
              <a:latin typeface="+mj-lt"/>
            </a:endParaRPr>
          </a:p>
        </c:rich>
      </c:tx>
      <c:layout>
        <c:manualLayout>
          <c:xMode val="edge"/>
          <c:yMode val="edge"/>
          <c:x val="0.14434526884043686"/>
          <c:y val="2.71081030037640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3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740073811489"/>
          <c:y val="0.10100375685119252"/>
          <c:w val="0.84504332284069528"/>
          <c:h val="0.58748520348530797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3L+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4.833333333333333</c:v>
                </c:pt>
                <c:pt idx="1">
                  <c:v>6.833333333333333</c:v>
                </c:pt>
                <c:pt idx="2">
                  <c:v>7.166666666666667</c:v>
                </c:pt>
                <c:pt idx="3">
                  <c:v>9.5</c:v>
                </c:pt>
                <c:pt idx="4">
                  <c:v>13.5</c:v>
                </c:pt>
                <c:pt idx="5">
                  <c:v>20.5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39E-4E2F-8092-38B202FCD21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45108776"/>
        <c:axId val="745109760"/>
      </c:line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2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>
                    <a:solidFill>
                      <a:schemeClr val="tx1"/>
                    </a:solidFill>
                  </a:rPr>
                  <a:t># </a:t>
                </a:r>
                <a:r>
                  <a:rPr lang="en-US" sz="1000" b="1" i="0" u="none" strike="noStrike" baseline="0">
                    <a:solidFill>
                      <a:prstClr val="black"/>
                    </a:solidFill>
                    <a:effectLst/>
                  </a:rPr>
                  <a:t>New </a:t>
                </a:r>
                <a:r>
                  <a:rPr lang="en-US" sz="1000" b="1">
                    <a:solidFill>
                      <a:schemeClr val="tx1"/>
                    </a:solidFill>
                  </a:rPr>
                  <a:t>Patients</a:t>
                </a:r>
              </a:p>
            </c:rich>
          </c:tx>
          <c:layout>
            <c:manualLayout>
              <c:xMode val="edge"/>
              <c:yMode val="edge"/>
              <c:x val="1.1688496402436129E-2"/>
              <c:y val="0.22546241148909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378937146775186"/>
          <c:y val="0.85892742277772205"/>
          <c:w val="0.1906031650203999"/>
          <c:h val="9.63904442060282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2">
                  <a:lumMod val="10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3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300" u="none" baseline="0" dirty="0">
                <a:solidFill>
                  <a:schemeClr val="tx1"/>
                </a:solidFill>
                <a:effectLst/>
                <a:latin typeface="+mj-lt"/>
              </a:rPr>
              <a:t>Semesterly New Patients starts (Monthly Average)</a:t>
            </a:r>
            <a:endParaRPr lang="en-US" sz="1300" u="none" dirty="0">
              <a:solidFill>
                <a:schemeClr val="tx1"/>
              </a:solidFill>
              <a:effectLst/>
              <a:latin typeface="+mj-lt"/>
            </a:endParaRPr>
          </a:p>
        </c:rich>
      </c:tx>
      <c:layout>
        <c:manualLayout>
          <c:xMode val="edge"/>
          <c:yMode val="edge"/>
          <c:x val="0.14434526884043686"/>
          <c:y val="2.71081030037640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3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740073811489"/>
          <c:y val="0.10100375685119252"/>
          <c:w val="0.84504332284069528"/>
          <c:h val="0.58748520348530797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3L+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0.16666666666666666</c:v>
                </c:pt>
                <c:pt idx="1">
                  <c:v>0.16666666666666666</c:v>
                </c:pt>
                <c:pt idx="2">
                  <c:v>0.83333333333333337</c:v>
                </c:pt>
                <c:pt idx="3">
                  <c:v>1</c:v>
                </c:pt>
                <c:pt idx="4">
                  <c:v>1.3333333333333333</c:v>
                </c:pt>
                <c:pt idx="5">
                  <c:v>1.8333333333333333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CCD-444C-99E4-F09B32110D5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45108776"/>
        <c:axId val="745109760"/>
      </c:line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2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>
                    <a:solidFill>
                      <a:schemeClr val="tx1"/>
                    </a:solidFill>
                  </a:rPr>
                  <a:t># </a:t>
                </a:r>
                <a:r>
                  <a:rPr lang="en-US" sz="1000" b="1" i="0" u="none" strike="noStrike" baseline="0">
                    <a:solidFill>
                      <a:prstClr val="black"/>
                    </a:solidFill>
                    <a:effectLst/>
                  </a:rPr>
                  <a:t>New </a:t>
                </a:r>
                <a:r>
                  <a:rPr lang="en-US" sz="1000" b="1">
                    <a:solidFill>
                      <a:schemeClr val="tx1"/>
                    </a:solidFill>
                  </a:rPr>
                  <a:t>Patients</a:t>
                </a:r>
              </a:p>
            </c:rich>
          </c:tx>
          <c:layout>
            <c:manualLayout>
              <c:xMode val="edge"/>
              <c:yMode val="edge"/>
              <c:x val="1.1688496402436129E-2"/>
              <c:y val="0.22546241148909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378937146775186"/>
          <c:y val="0.85892742277772205"/>
          <c:w val="0.16861554957832764"/>
          <c:h val="9.13195535539955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2">
                  <a:lumMod val="10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3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300" u="none" baseline="0" dirty="0">
                <a:solidFill>
                  <a:schemeClr val="tx1"/>
                </a:solidFill>
                <a:effectLst/>
                <a:latin typeface="+mj-lt"/>
              </a:rPr>
              <a:t>RS+ Semesterly New Patients starts (Monthly Average)</a:t>
            </a:r>
            <a:endParaRPr lang="en-US" sz="1300" u="none" dirty="0">
              <a:solidFill>
                <a:schemeClr val="tx1"/>
              </a:solidFill>
              <a:effectLst/>
              <a:latin typeface="+mj-lt"/>
            </a:endParaRPr>
          </a:p>
        </c:rich>
      </c:tx>
      <c:layout>
        <c:manualLayout>
          <c:xMode val="edge"/>
          <c:yMode val="edge"/>
          <c:x val="0.14434526884043686"/>
          <c:y val="2.71081030037640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3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740073811489"/>
          <c:y val="0.10100375685119252"/>
          <c:w val="0.84504332284069528"/>
          <c:h val="0.58748520348530797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3L+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0.16666666666666666</c:v>
                </c:pt>
                <c:pt idx="3">
                  <c:v>0.5</c:v>
                </c:pt>
                <c:pt idx="4">
                  <c:v>0.5</c:v>
                </c:pt>
                <c:pt idx="5">
                  <c:v>1.1666666666666667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F89-466D-8662-64CFFAE2843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45108776"/>
        <c:axId val="745109760"/>
      </c:line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12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>
                    <a:solidFill>
                      <a:schemeClr val="tx1"/>
                    </a:solidFill>
                  </a:rPr>
                  <a:t># </a:t>
                </a:r>
                <a:r>
                  <a:rPr lang="en-US" sz="1000" b="1" i="0" u="none" strike="noStrike" baseline="0">
                    <a:solidFill>
                      <a:prstClr val="black"/>
                    </a:solidFill>
                    <a:effectLst/>
                  </a:rPr>
                  <a:t>New </a:t>
                </a:r>
                <a:r>
                  <a:rPr lang="en-US" sz="1000" b="1">
                    <a:solidFill>
                      <a:schemeClr val="tx1"/>
                    </a:solidFill>
                  </a:rPr>
                  <a:t>Patients</a:t>
                </a:r>
              </a:p>
            </c:rich>
          </c:tx>
          <c:layout>
            <c:manualLayout>
              <c:xMode val="edge"/>
              <c:yMode val="edge"/>
              <c:x val="1.1688496402436129E-2"/>
              <c:y val="0.22546241148909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378937146775186"/>
          <c:y val="0.85892742277772205"/>
          <c:w val="0.17948486738409744"/>
          <c:h val="9.63904442060282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2">
                  <a:lumMod val="10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300" b="1" i="0" u="none" strike="noStrike" kern="1200" spc="0" baseline="0" dirty="0" smtClean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pPr>
            <a:r>
              <a:rPr lang="en-US" sz="1300" u="none" baseline="0" dirty="0">
                <a:solidFill>
                  <a:schemeClr val="tx1"/>
                </a:solidFill>
                <a:effectLst/>
                <a:latin typeface="+mj-lt"/>
              </a:rPr>
              <a:t>RS- Semesterly New Patients starts (Monthly Average)</a:t>
            </a:r>
            <a:endParaRPr lang="en-US" sz="1300" u="none" dirty="0">
              <a:solidFill>
                <a:schemeClr val="tx1"/>
              </a:solidFill>
              <a:effectLst/>
              <a:latin typeface="+mj-lt"/>
            </a:endParaRPr>
          </a:p>
        </c:rich>
      </c:tx>
      <c:layout>
        <c:manualLayout>
          <c:xMode val="edge"/>
          <c:yMode val="edge"/>
          <c:x val="0.14434526884043686"/>
          <c:y val="2.71081030037640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300" b="1" i="0" u="none" strike="noStrike" kern="1200" spc="0" baseline="0" dirty="0" smtClean="0">
              <a:solidFill>
                <a:schemeClr val="tx1"/>
              </a:solidFill>
              <a:effectLst/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740073811489"/>
          <c:y val="0.10100375685119252"/>
          <c:w val="0.84504332284069528"/>
          <c:h val="0.58748520348530797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Line 3L+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S1 2022</c:v>
                </c:pt>
                <c:pt idx="1">
                  <c:v>S2 2022</c:v>
                </c:pt>
                <c:pt idx="2">
                  <c:v>S1 2023</c:v>
                </c:pt>
                <c:pt idx="3">
                  <c:v>S2 2023</c:v>
                </c:pt>
                <c:pt idx="4">
                  <c:v>S1 2024</c:v>
                </c:pt>
                <c:pt idx="5">
                  <c:v>S2 2024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0.16666666666666666</c:v>
                </c:pt>
                <c:pt idx="1">
                  <c:v>0.16666666666666666</c:v>
                </c:pt>
                <c:pt idx="2">
                  <c:v>0.66666666666666663</c:v>
                </c:pt>
                <c:pt idx="3">
                  <c:v>0.5</c:v>
                </c:pt>
                <c:pt idx="4">
                  <c:v>0.83333333333333337</c:v>
                </c:pt>
                <c:pt idx="5">
                  <c:v>0.66666666666666663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39E-4E2F-8092-38B202FCD21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45108776"/>
        <c:axId val="745109760"/>
      </c:lineChart>
      <c:catAx>
        <c:axId val="74510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9760"/>
        <c:crosses val="autoZero"/>
        <c:auto val="1"/>
        <c:lblAlgn val="ctr"/>
        <c:lblOffset val="100"/>
        <c:noMultiLvlLbl val="0"/>
      </c:catAx>
      <c:valAx>
        <c:axId val="745109760"/>
        <c:scaling>
          <c:orientation val="minMax"/>
          <c:max val="12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>
                    <a:solidFill>
                      <a:schemeClr val="tx1"/>
                    </a:solidFill>
                  </a:rPr>
                  <a:t># </a:t>
                </a:r>
                <a:r>
                  <a:rPr lang="en-US" sz="1000" b="1" i="0" u="none" strike="noStrike" baseline="0">
                    <a:solidFill>
                      <a:prstClr val="black"/>
                    </a:solidFill>
                    <a:effectLst/>
                  </a:rPr>
                  <a:t>New </a:t>
                </a:r>
                <a:r>
                  <a:rPr lang="en-US" sz="1000" b="1">
                    <a:solidFill>
                      <a:schemeClr val="tx1"/>
                    </a:solidFill>
                  </a:rPr>
                  <a:t>Patients</a:t>
                </a:r>
              </a:p>
            </c:rich>
          </c:tx>
          <c:layout>
            <c:manualLayout>
              <c:xMode val="edge"/>
              <c:yMode val="edge"/>
              <c:x val="1.1688496402436129E-2"/>
              <c:y val="0.22546241148909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rgbClr val="DBE3E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108776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378937146775186"/>
          <c:y val="0.85892742277772205"/>
          <c:w val="0.1906031650203999"/>
          <c:h val="9.63904442060282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2">
                  <a:lumMod val="10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1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FBADDE-A2C2-4130-83E4-C3D2E5E9BC7B}" type="doc">
      <dgm:prSet loTypeId="urn:microsoft.com/office/officeart/2005/8/layout/funnel1" loCatId="process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2DFAC017-E091-47F5-A09B-4869100253DF}">
      <dgm:prSet phldrT="[Text]"/>
      <dgm:spPr/>
      <dgm:t>
        <a:bodyPr/>
        <a:lstStyle/>
        <a:p>
          <a:r>
            <a:rPr lang="en-US" dirty="0"/>
            <a:t>Frequency, Change in Frequency (90, 180 and 360 days)</a:t>
          </a:r>
        </a:p>
      </dgm:t>
    </dgm:pt>
    <dgm:pt modelId="{0C0755D0-3334-4A35-B084-952FDFFA0662}" type="parTrans" cxnId="{628FF16F-97D5-4D8A-AB26-5A29A9A9FD1B}">
      <dgm:prSet/>
      <dgm:spPr/>
      <dgm:t>
        <a:bodyPr/>
        <a:lstStyle/>
        <a:p>
          <a:endParaRPr lang="en-US"/>
        </a:p>
      </dgm:t>
    </dgm:pt>
    <dgm:pt modelId="{4528B586-9B57-42E1-A88B-04D310BEF512}" type="sibTrans" cxnId="{628FF16F-97D5-4D8A-AB26-5A29A9A9FD1B}">
      <dgm:prSet/>
      <dgm:spPr/>
      <dgm:t>
        <a:bodyPr/>
        <a:lstStyle/>
        <a:p>
          <a:endParaRPr lang="en-US"/>
        </a:p>
      </dgm:t>
    </dgm:pt>
    <dgm:pt modelId="{03A85310-339D-42C9-AFCB-4605933CB73B}">
      <dgm:prSet phldrT="[Text]"/>
      <dgm:spPr/>
      <dgm:t>
        <a:bodyPr/>
        <a:lstStyle/>
        <a:p>
          <a:r>
            <a:rPr lang="en-US" dirty="0"/>
            <a:t>Treatment</a:t>
          </a:r>
        </a:p>
      </dgm:t>
    </dgm:pt>
    <dgm:pt modelId="{4CAB827D-0EDC-4E39-9B71-F72FE23B44B0}" type="parTrans" cxnId="{EABE7294-5E3B-46A8-88CF-24495C53E4F5}">
      <dgm:prSet/>
      <dgm:spPr/>
      <dgm:t>
        <a:bodyPr/>
        <a:lstStyle/>
        <a:p>
          <a:endParaRPr lang="en-US"/>
        </a:p>
      </dgm:t>
    </dgm:pt>
    <dgm:pt modelId="{E9C0E744-4843-4F79-A963-5DA9DB64DE90}" type="sibTrans" cxnId="{EABE7294-5E3B-46A8-88CF-24495C53E4F5}">
      <dgm:prSet/>
      <dgm:spPr/>
      <dgm:t>
        <a:bodyPr/>
        <a:lstStyle/>
        <a:p>
          <a:endParaRPr lang="en-US"/>
        </a:p>
      </dgm:t>
    </dgm:pt>
    <dgm:pt modelId="{CB75B18D-EBE8-404E-80DC-E5852428A875}">
      <dgm:prSet phldrT="[Text]"/>
      <dgm:spPr/>
      <dgm:t>
        <a:bodyPr/>
        <a:lstStyle/>
        <a:p>
          <a:pPr algn="ctr"/>
          <a:r>
            <a:rPr lang="en-US" dirty="0"/>
            <a:t>~470 features are considered for the model after analyzing for data sparsity, relevance and correlation among variables</a:t>
          </a:r>
        </a:p>
      </dgm:t>
    </dgm:pt>
    <dgm:pt modelId="{DA26E5CB-16A6-4612-BB62-53BBC41DA6B1}" type="parTrans" cxnId="{32860F71-D6E2-4686-AC24-96CA21CF94DD}">
      <dgm:prSet/>
      <dgm:spPr/>
      <dgm:t>
        <a:bodyPr/>
        <a:lstStyle/>
        <a:p>
          <a:endParaRPr lang="en-US"/>
        </a:p>
      </dgm:t>
    </dgm:pt>
    <dgm:pt modelId="{2A637A90-AC72-4CBB-9E18-4CF1B17002A1}" type="sibTrans" cxnId="{32860F71-D6E2-4686-AC24-96CA21CF94DD}">
      <dgm:prSet/>
      <dgm:spPr/>
      <dgm:t>
        <a:bodyPr/>
        <a:lstStyle/>
        <a:p>
          <a:endParaRPr lang="en-US"/>
        </a:p>
      </dgm:t>
    </dgm:pt>
    <dgm:pt modelId="{266538EE-1E13-473C-9B4D-B6309601839C}">
      <dgm:prSet phldrT="[Text]"/>
      <dgm:spPr/>
      <dgm:t>
        <a:bodyPr/>
        <a:lstStyle/>
        <a:p>
          <a:r>
            <a:rPr lang="en-US"/>
            <a:t>Recency</a:t>
          </a:r>
          <a:endParaRPr lang="en-US" dirty="0"/>
        </a:p>
      </dgm:t>
    </dgm:pt>
    <dgm:pt modelId="{1AB0E8E8-B4A1-472F-97C1-CACA32463B61}" type="parTrans" cxnId="{A1874D3C-7EC9-4AAD-BFD0-09CF38603277}">
      <dgm:prSet/>
      <dgm:spPr/>
      <dgm:t>
        <a:bodyPr/>
        <a:lstStyle/>
        <a:p>
          <a:endParaRPr lang="en-US"/>
        </a:p>
      </dgm:t>
    </dgm:pt>
    <dgm:pt modelId="{00B18E09-B224-410A-BD4D-098AAA767FF4}" type="sibTrans" cxnId="{A1874D3C-7EC9-4AAD-BFD0-09CF38603277}">
      <dgm:prSet/>
      <dgm:spPr/>
      <dgm:t>
        <a:bodyPr/>
        <a:lstStyle/>
        <a:p>
          <a:endParaRPr lang="en-US"/>
        </a:p>
      </dgm:t>
    </dgm:pt>
    <dgm:pt modelId="{7D936C57-8C12-4E6B-98AB-156D8B9DACDB}" type="pres">
      <dgm:prSet presAssocID="{E9FBADDE-A2C2-4130-83E4-C3D2E5E9BC7B}" presName="Name0" presStyleCnt="0">
        <dgm:presLayoutVars>
          <dgm:chMax val="4"/>
          <dgm:resizeHandles val="exact"/>
        </dgm:presLayoutVars>
      </dgm:prSet>
      <dgm:spPr/>
    </dgm:pt>
    <dgm:pt modelId="{7C36378E-4428-4E15-A583-4DA3EC148402}" type="pres">
      <dgm:prSet presAssocID="{E9FBADDE-A2C2-4130-83E4-C3D2E5E9BC7B}" presName="ellipse" presStyleLbl="trBgShp" presStyleIdx="0" presStyleCnt="1"/>
      <dgm:spPr/>
    </dgm:pt>
    <dgm:pt modelId="{6F8434D6-778C-42B5-BB49-65C4C4E57F5F}" type="pres">
      <dgm:prSet presAssocID="{E9FBADDE-A2C2-4130-83E4-C3D2E5E9BC7B}" presName="arrow1" presStyleLbl="fgShp" presStyleIdx="0" presStyleCnt="1"/>
      <dgm:spPr/>
    </dgm:pt>
    <dgm:pt modelId="{1E73D8C4-E16A-4433-BCE9-48D875E73C5A}" type="pres">
      <dgm:prSet presAssocID="{E9FBADDE-A2C2-4130-83E4-C3D2E5E9BC7B}" presName="rectangle" presStyleLbl="revTx" presStyleIdx="0" presStyleCnt="1" custScaleX="128044">
        <dgm:presLayoutVars>
          <dgm:bulletEnabled val="1"/>
        </dgm:presLayoutVars>
      </dgm:prSet>
      <dgm:spPr/>
    </dgm:pt>
    <dgm:pt modelId="{286FF7D0-E742-45B7-BBCA-B5C9C1E2134E}" type="pres">
      <dgm:prSet presAssocID="{03A85310-339D-42C9-AFCB-4605933CB73B}" presName="item1" presStyleLbl="node1" presStyleIdx="0" presStyleCnt="3">
        <dgm:presLayoutVars>
          <dgm:bulletEnabled val="1"/>
        </dgm:presLayoutVars>
      </dgm:prSet>
      <dgm:spPr/>
    </dgm:pt>
    <dgm:pt modelId="{18418110-E509-41F4-8E07-90BB6D2EC6E7}" type="pres">
      <dgm:prSet presAssocID="{266538EE-1E13-473C-9B4D-B6309601839C}" presName="item2" presStyleLbl="node1" presStyleIdx="1" presStyleCnt="3">
        <dgm:presLayoutVars>
          <dgm:bulletEnabled val="1"/>
        </dgm:presLayoutVars>
      </dgm:prSet>
      <dgm:spPr/>
    </dgm:pt>
    <dgm:pt modelId="{384C582E-A9BE-4BF6-87D9-2DE4E0F07B07}" type="pres">
      <dgm:prSet presAssocID="{CB75B18D-EBE8-404E-80DC-E5852428A875}" presName="item3" presStyleLbl="node1" presStyleIdx="2" presStyleCnt="3">
        <dgm:presLayoutVars>
          <dgm:bulletEnabled val="1"/>
        </dgm:presLayoutVars>
      </dgm:prSet>
      <dgm:spPr/>
    </dgm:pt>
    <dgm:pt modelId="{26533934-29E0-4AF1-97F2-41B7FBE9FF4C}" type="pres">
      <dgm:prSet presAssocID="{E9FBADDE-A2C2-4130-83E4-C3D2E5E9BC7B}" presName="funnel" presStyleLbl="trAlignAcc1" presStyleIdx="0" presStyleCnt="1"/>
      <dgm:spPr/>
    </dgm:pt>
  </dgm:ptLst>
  <dgm:cxnLst>
    <dgm:cxn modelId="{A1874D3C-7EC9-4AAD-BFD0-09CF38603277}" srcId="{E9FBADDE-A2C2-4130-83E4-C3D2E5E9BC7B}" destId="{266538EE-1E13-473C-9B4D-B6309601839C}" srcOrd="2" destOrd="0" parTransId="{1AB0E8E8-B4A1-472F-97C1-CACA32463B61}" sibTransId="{00B18E09-B224-410A-BD4D-098AAA767FF4}"/>
    <dgm:cxn modelId="{628FF16F-97D5-4D8A-AB26-5A29A9A9FD1B}" srcId="{E9FBADDE-A2C2-4130-83E4-C3D2E5E9BC7B}" destId="{2DFAC017-E091-47F5-A09B-4869100253DF}" srcOrd="0" destOrd="0" parTransId="{0C0755D0-3334-4A35-B084-952FDFFA0662}" sibTransId="{4528B586-9B57-42E1-A88B-04D310BEF512}"/>
    <dgm:cxn modelId="{32860F71-D6E2-4686-AC24-96CA21CF94DD}" srcId="{E9FBADDE-A2C2-4130-83E4-C3D2E5E9BC7B}" destId="{CB75B18D-EBE8-404E-80DC-E5852428A875}" srcOrd="3" destOrd="0" parTransId="{DA26E5CB-16A6-4612-BB62-53BBC41DA6B1}" sibTransId="{2A637A90-AC72-4CBB-9E18-4CF1B17002A1}"/>
    <dgm:cxn modelId="{C13E9785-241C-4A6F-BF6C-7BB15BBBB6D9}" type="presOf" srcId="{03A85310-339D-42C9-AFCB-4605933CB73B}" destId="{18418110-E509-41F4-8E07-90BB6D2EC6E7}" srcOrd="0" destOrd="0" presId="urn:microsoft.com/office/officeart/2005/8/layout/funnel1"/>
    <dgm:cxn modelId="{D424FA87-7C7A-449E-A668-69CDEFB91967}" type="presOf" srcId="{CB75B18D-EBE8-404E-80DC-E5852428A875}" destId="{1E73D8C4-E16A-4433-BCE9-48D875E73C5A}" srcOrd="0" destOrd="0" presId="urn:microsoft.com/office/officeart/2005/8/layout/funnel1"/>
    <dgm:cxn modelId="{EABE7294-5E3B-46A8-88CF-24495C53E4F5}" srcId="{E9FBADDE-A2C2-4130-83E4-C3D2E5E9BC7B}" destId="{03A85310-339D-42C9-AFCB-4605933CB73B}" srcOrd="1" destOrd="0" parTransId="{4CAB827D-0EDC-4E39-9B71-F72FE23B44B0}" sibTransId="{E9C0E744-4843-4F79-A963-5DA9DB64DE90}"/>
    <dgm:cxn modelId="{053540AD-9AC3-44BA-8905-223D7664EA83}" type="presOf" srcId="{266538EE-1E13-473C-9B4D-B6309601839C}" destId="{286FF7D0-E742-45B7-BBCA-B5C9C1E2134E}" srcOrd="0" destOrd="0" presId="urn:microsoft.com/office/officeart/2005/8/layout/funnel1"/>
    <dgm:cxn modelId="{11DB53BF-6949-4650-ABB4-F2A4AC55025F}" type="presOf" srcId="{E9FBADDE-A2C2-4130-83E4-C3D2E5E9BC7B}" destId="{7D936C57-8C12-4E6B-98AB-156D8B9DACDB}" srcOrd="0" destOrd="0" presId="urn:microsoft.com/office/officeart/2005/8/layout/funnel1"/>
    <dgm:cxn modelId="{D09ED3DA-535B-45C4-B810-DDE23BF94E3E}" type="presOf" srcId="{2DFAC017-E091-47F5-A09B-4869100253DF}" destId="{384C582E-A9BE-4BF6-87D9-2DE4E0F07B07}" srcOrd="0" destOrd="0" presId="urn:microsoft.com/office/officeart/2005/8/layout/funnel1"/>
    <dgm:cxn modelId="{77A8E8A6-EF32-413B-8B22-4401340A042E}" type="presParOf" srcId="{7D936C57-8C12-4E6B-98AB-156D8B9DACDB}" destId="{7C36378E-4428-4E15-A583-4DA3EC148402}" srcOrd="0" destOrd="0" presId="urn:microsoft.com/office/officeart/2005/8/layout/funnel1"/>
    <dgm:cxn modelId="{114CBF93-3E80-4A51-81CF-B4F01E0C0E83}" type="presParOf" srcId="{7D936C57-8C12-4E6B-98AB-156D8B9DACDB}" destId="{6F8434D6-778C-42B5-BB49-65C4C4E57F5F}" srcOrd="1" destOrd="0" presId="urn:microsoft.com/office/officeart/2005/8/layout/funnel1"/>
    <dgm:cxn modelId="{F73BF44C-2B36-44C3-9F38-F64FDD4268DA}" type="presParOf" srcId="{7D936C57-8C12-4E6B-98AB-156D8B9DACDB}" destId="{1E73D8C4-E16A-4433-BCE9-48D875E73C5A}" srcOrd="2" destOrd="0" presId="urn:microsoft.com/office/officeart/2005/8/layout/funnel1"/>
    <dgm:cxn modelId="{797A658B-72BA-4978-AD6E-B553F8CFA9CB}" type="presParOf" srcId="{7D936C57-8C12-4E6B-98AB-156D8B9DACDB}" destId="{286FF7D0-E742-45B7-BBCA-B5C9C1E2134E}" srcOrd="3" destOrd="0" presId="urn:microsoft.com/office/officeart/2005/8/layout/funnel1"/>
    <dgm:cxn modelId="{E8411620-57AB-4049-9E46-E0FE9CBF8C1A}" type="presParOf" srcId="{7D936C57-8C12-4E6B-98AB-156D8B9DACDB}" destId="{18418110-E509-41F4-8E07-90BB6D2EC6E7}" srcOrd="4" destOrd="0" presId="urn:microsoft.com/office/officeart/2005/8/layout/funnel1"/>
    <dgm:cxn modelId="{437330AD-A92B-4891-9703-5EA802B6B1C0}" type="presParOf" srcId="{7D936C57-8C12-4E6B-98AB-156D8B9DACDB}" destId="{384C582E-A9BE-4BF6-87D9-2DE4E0F07B07}" srcOrd="5" destOrd="0" presId="urn:microsoft.com/office/officeart/2005/8/layout/funnel1"/>
    <dgm:cxn modelId="{4A65AC3C-A076-49D5-AE52-4B05B8610AAB}" type="presParOf" srcId="{7D936C57-8C12-4E6B-98AB-156D8B9DACDB}" destId="{26533934-29E0-4AF1-97F2-41B7FBE9FF4C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36378E-4428-4E15-A583-4DA3EC148402}">
      <dsp:nvSpPr>
        <dsp:cNvPr id="0" name=""/>
        <dsp:cNvSpPr/>
      </dsp:nvSpPr>
      <dsp:spPr>
        <a:xfrm>
          <a:off x="863057" y="396914"/>
          <a:ext cx="3153948" cy="1095324"/>
        </a:xfrm>
        <a:prstGeom prst="ellipse">
          <a:avLst/>
        </a:prstGeom>
        <a:solidFill>
          <a:schemeClr val="accent5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8434D6-778C-42B5-BB49-65C4C4E57F5F}">
      <dsp:nvSpPr>
        <dsp:cNvPr id="0" name=""/>
        <dsp:cNvSpPr/>
      </dsp:nvSpPr>
      <dsp:spPr>
        <a:xfrm>
          <a:off x="2139305" y="3078992"/>
          <a:ext cx="611230" cy="391187"/>
        </a:xfrm>
        <a:prstGeom prst="downArrow">
          <a:avLst/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73D8C4-E16A-4433-BCE9-48D875E73C5A}">
      <dsp:nvSpPr>
        <dsp:cNvPr id="0" name=""/>
        <dsp:cNvSpPr/>
      </dsp:nvSpPr>
      <dsp:spPr>
        <a:xfrm>
          <a:off x="566576" y="3391942"/>
          <a:ext cx="3756689" cy="7334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~470 features are considered for the model after analyzing for data sparsity, relevance and correlation among variables</a:t>
          </a:r>
        </a:p>
      </dsp:txBody>
      <dsp:txXfrm>
        <a:off x="566576" y="3391942"/>
        <a:ext cx="3756689" cy="733476"/>
      </dsp:txXfrm>
    </dsp:sp>
    <dsp:sp modelId="{286FF7D0-E742-45B7-BBCA-B5C9C1E2134E}">
      <dsp:nvSpPr>
        <dsp:cNvPr id="0" name=""/>
        <dsp:cNvSpPr/>
      </dsp:nvSpPr>
      <dsp:spPr>
        <a:xfrm>
          <a:off x="2009725" y="1576832"/>
          <a:ext cx="1100214" cy="110021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Recency</a:t>
          </a:r>
          <a:endParaRPr lang="en-US" sz="1000" kern="1200" dirty="0"/>
        </a:p>
      </dsp:txBody>
      <dsp:txXfrm>
        <a:off x="2170848" y="1737955"/>
        <a:ext cx="777968" cy="777968"/>
      </dsp:txXfrm>
    </dsp:sp>
    <dsp:sp modelId="{18418110-E509-41F4-8E07-90BB6D2EC6E7}">
      <dsp:nvSpPr>
        <dsp:cNvPr id="0" name=""/>
        <dsp:cNvSpPr/>
      </dsp:nvSpPr>
      <dsp:spPr>
        <a:xfrm>
          <a:off x="1222460" y="751427"/>
          <a:ext cx="1100214" cy="110021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Treatment</a:t>
          </a:r>
        </a:p>
      </dsp:txBody>
      <dsp:txXfrm>
        <a:off x="1383583" y="912550"/>
        <a:ext cx="777968" cy="777968"/>
      </dsp:txXfrm>
    </dsp:sp>
    <dsp:sp modelId="{384C582E-A9BE-4BF6-87D9-2DE4E0F07B07}">
      <dsp:nvSpPr>
        <dsp:cNvPr id="0" name=""/>
        <dsp:cNvSpPr/>
      </dsp:nvSpPr>
      <dsp:spPr>
        <a:xfrm>
          <a:off x="2347124" y="485420"/>
          <a:ext cx="1100214" cy="110021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Frequency, Change in Frequency (90, 180 and 360 days)</a:t>
          </a:r>
        </a:p>
      </dsp:txBody>
      <dsp:txXfrm>
        <a:off x="2508247" y="646543"/>
        <a:ext cx="777968" cy="777968"/>
      </dsp:txXfrm>
    </dsp:sp>
    <dsp:sp modelId="{26533934-29E0-4AF1-97F2-41B7FBE9FF4C}">
      <dsp:nvSpPr>
        <dsp:cNvPr id="0" name=""/>
        <dsp:cNvSpPr/>
      </dsp:nvSpPr>
      <dsp:spPr>
        <a:xfrm>
          <a:off x="733476" y="262443"/>
          <a:ext cx="3422889" cy="2738311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0.13954</cdr:x>
      <cdr:y>0.8152</cdr:y>
    </cdr:from>
    <cdr:to>
      <cdr:x>0.2047</cdr:x>
      <cdr:y>0.87655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92A87433-5130-D185-1F94-18EDD697550F}"/>
            </a:ext>
          </a:extLst>
        </cdr:cNvPr>
        <cdr:cNvSpPr/>
      </cdr:nvSpPr>
      <cdr:spPr>
        <a:xfrm xmlns:a="http://schemas.openxmlformats.org/drawingml/2006/main">
          <a:off x="796972" y="2119157"/>
          <a:ext cx="372140" cy="159488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>
          <a:solidFill>
            <a:schemeClr val="tx2">
              <a:lumMod val="10000"/>
            </a:schemeClr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>
            <a:lnSpc>
              <a:spcPct val="90000"/>
            </a:lnSpc>
          </a:pPr>
          <a:r>
            <a:rPr lang="en-US" sz="900" b="1" dirty="0">
              <a:solidFill>
                <a:schemeClr val="tx2">
                  <a:lumMod val="10000"/>
                </a:schemeClr>
              </a:solidFill>
            </a:rPr>
            <a:t>797</a:t>
          </a:r>
        </a:p>
      </cdr:txBody>
    </cdr:sp>
  </cdr:relSizeAnchor>
  <cdr:relSizeAnchor xmlns:cdr="http://schemas.openxmlformats.org/drawingml/2006/chartDrawing">
    <cdr:from>
      <cdr:x>0.28168</cdr:x>
      <cdr:y>0.8152</cdr:y>
    </cdr:from>
    <cdr:to>
      <cdr:x>0.34684</cdr:x>
      <cdr:y>0.87655</cdr:y>
    </cdr:to>
    <cdr:sp macro="" textlink="">
      <cdr:nvSpPr>
        <cdr:cNvPr id="3" name="Rectangle 2">
          <a:extLst xmlns:a="http://schemas.openxmlformats.org/drawingml/2006/main">
            <a:ext uri="{FF2B5EF4-FFF2-40B4-BE49-F238E27FC236}">
              <a16:creationId xmlns:a16="http://schemas.microsoft.com/office/drawing/2014/main" id="{74D59CEE-02C8-DEAE-F884-5C27097C2E3B}"/>
            </a:ext>
          </a:extLst>
        </cdr:cNvPr>
        <cdr:cNvSpPr/>
      </cdr:nvSpPr>
      <cdr:spPr>
        <a:xfrm xmlns:a="http://schemas.openxmlformats.org/drawingml/2006/main">
          <a:off x="1608744" y="2119157"/>
          <a:ext cx="372140" cy="159488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>
          <a:solidFill>
            <a:schemeClr val="tx2">
              <a:lumMod val="10000"/>
            </a:schemeClr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>
            <a:lnSpc>
              <a:spcPct val="90000"/>
            </a:lnSpc>
          </a:pPr>
          <a:r>
            <a:rPr lang="en-US" sz="900" b="1" dirty="0">
              <a:solidFill>
                <a:schemeClr val="tx2">
                  <a:lumMod val="10000"/>
                </a:schemeClr>
              </a:solidFill>
            </a:rPr>
            <a:t>796</a:t>
          </a:r>
        </a:p>
      </cdr:txBody>
    </cdr:sp>
  </cdr:relSizeAnchor>
  <cdr:relSizeAnchor xmlns:cdr="http://schemas.openxmlformats.org/drawingml/2006/chartDrawing">
    <cdr:from>
      <cdr:x>0.4182</cdr:x>
      <cdr:y>0.8152</cdr:y>
    </cdr:from>
    <cdr:to>
      <cdr:x>0.48336</cdr:x>
      <cdr:y>0.87655</cdr:y>
    </cdr:to>
    <cdr:sp macro="" textlink="">
      <cdr:nvSpPr>
        <cdr:cNvPr id="4" name="Rectangle 3">
          <a:extLst xmlns:a="http://schemas.openxmlformats.org/drawingml/2006/main">
            <a:ext uri="{FF2B5EF4-FFF2-40B4-BE49-F238E27FC236}">
              <a16:creationId xmlns:a16="http://schemas.microsoft.com/office/drawing/2014/main" id="{7A6A2D38-3618-16E4-4B12-651EC84D12BD}"/>
            </a:ext>
          </a:extLst>
        </cdr:cNvPr>
        <cdr:cNvSpPr/>
      </cdr:nvSpPr>
      <cdr:spPr>
        <a:xfrm xmlns:a="http://schemas.openxmlformats.org/drawingml/2006/main">
          <a:off x="2388471" y="2119157"/>
          <a:ext cx="372140" cy="159488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>
          <a:solidFill>
            <a:schemeClr val="tx2">
              <a:lumMod val="10000"/>
            </a:schemeClr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>
            <a:lnSpc>
              <a:spcPct val="90000"/>
            </a:lnSpc>
          </a:pPr>
          <a:r>
            <a:rPr lang="en-US" sz="900" b="1" dirty="0">
              <a:solidFill>
                <a:schemeClr val="tx2">
                  <a:lumMod val="10000"/>
                </a:schemeClr>
              </a:solidFill>
            </a:rPr>
            <a:t>801</a:t>
          </a:r>
        </a:p>
      </cdr:txBody>
    </cdr:sp>
  </cdr:relSizeAnchor>
  <cdr:relSizeAnchor xmlns:cdr="http://schemas.openxmlformats.org/drawingml/2006/chartDrawing">
    <cdr:from>
      <cdr:x>0.56143</cdr:x>
      <cdr:y>0.8152</cdr:y>
    </cdr:from>
    <cdr:to>
      <cdr:x>0.62659</cdr:x>
      <cdr:y>0.87655</cdr:y>
    </cdr:to>
    <cdr:sp macro="" textlink="">
      <cdr:nvSpPr>
        <cdr:cNvPr id="5" name="Rectangle 4">
          <a:extLst xmlns:a="http://schemas.openxmlformats.org/drawingml/2006/main">
            <a:ext uri="{FF2B5EF4-FFF2-40B4-BE49-F238E27FC236}">
              <a16:creationId xmlns:a16="http://schemas.microsoft.com/office/drawing/2014/main" id="{090C3D43-77B6-6182-5905-0EB7BF49A2CF}"/>
            </a:ext>
          </a:extLst>
        </cdr:cNvPr>
        <cdr:cNvSpPr/>
      </cdr:nvSpPr>
      <cdr:spPr>
        <a:xfrm xmlns:a="http://schemas.openxmlformats.org/drawingml/2006/main">
          <a:off x="3206507" y="2119157"/>
          <a:ext cx="372140" cy="159488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>
          <a:solidFill>
            <a:schemeClr val="tx2">
              <a:lumMod val="10000"/>
            </a:schemeClr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>
            <a:lnSpc>
              <a:spcPct val="90000"/>
            </a:lnSpc>
          </a:pPr>
          <a:r>
            <a:rPr lang="en-US" sz="900" b="1" dirty="0">
              <a:solidFill>
                <a:schemeClr val="tx2">
                  <a:lumMod val="10000"/>
                </a:schemeClr>
              </a:solidFill>
            </a:rPr>
            <a:t>853</a:t>
          </a:r>
        </a:p>
      </cdr:txBody>
    </cdr:sp>
  </cdr:relSizeAnchor>
  <cdr:relSizeAnchor xmlns:cdr="http://schemas.openxmlformats.org/drawingml/2006/chartDrawing">
    <cdr:from>
      <cdr:x>0.69726</cdr:x>
      <cdr:y>0.8152</cdr:y>
    </cdr:from>
    <cdr:to>
      <cdr:x>0.76242</cdr:x>
      <cdr:y>0.87655</cdr:y>
    </cdr:to>
    <cdr:sp macro="" textlink="">
      <cdr:nvSpPr>
        <cdr:cNvPr id="6" name="Rectangle 5">
          <a:extLst xmlns:a="http://schemas.openxmlformats.org/drawingml/2006/main">
            <a:ext uri="{FF2B5EF4-FFF2-40B4-BE49-F238E27FC236}">
              <a16:creationId xmlns:a16="http://schemas.microsoft.com/office/drawing/2014/main" id="{15413FE6-126F-06CA-0821-B978F6772B1A}"/>
            </a:ext>
          </a:extLst>
        </cdr:cNvPr>
        <cdr:cNvSpPr/>
      </cdr:nvSpPr>
      <cdr:spPr>
        <a:xfrm xmlns:a="http://schemas.openxmlformats.org/drawingml/2006/main">
          <a:off x="3982254" y="2119157"/>
          <a:ext cx="372140" cy="159488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>
          <a:solidFill>
            <a:schemeClr val="tx2">
              <a:lumMod val="10000"/>
            </a:schemeClr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>
            <a:lnSpc>
              <a:spcPct val="90000"/>
            </a:lnSpc>
          </a:pPr>
          <a:r>
            <a:rPr lang="en-US" sz="900" b="1" dirty="0">
              <a:solidFill>
                <a:schemeClr val="tx2">
                  <a:lumMod val="10000"/>
                </a:schemeClr>
              </a:solidFill>
            </a:rPr>
            <a:t>811</a:t>
          </a:r>
        </a:p>
      </cdr:txBody>
    </cdr:sp>
  </cdr:relSizeAnchor>
  <cdr:relSizeAnchor xmlns:cdr="http://schemas.openxmlformats.org/drawingml/2006/chartDrawing">
    <cdr:from>
      <cdr:x>0.85518</cdr:x>
      <cdr:y>0.8152</cdr:y>
    </cdr:from>
    <cdr:to>
      <cdr:x>0.92034</cdr:x>
      <cdr:y>0.87655</cdr:y>
    </cdr:to>
    <cdr:sp macro="" textlink="">
      <cdr:nvSpPr>
        <cdr:cNvPr id="7" name="Rectangle 6">
          <a:extLst xmlns:a="http://schemas.openxmlformats.org/drawingml/2006/main">
            <a:ext uri="{FF2B5EF4-FFF2-40B4-BE49-F238E27FC236}">
              <a16:creationId xmlns:a16="http://schemas.microsoft.com/office/drawing/2014/main" id="{3C06516A-D5C6-D7A7-916E-E63D17E07251}"/>
            </a:ext>
          </a:extLst>
        </cdr:cNvPr>
        <cdr:cNvSpPr/>
      </cdr:nvSpPr>
      <cdr:spPr>
        <a:xfrm xmlns:a="http://schemas.openxmlformats.org/drawingml/2006/main">
          <a:off x="4884217" y="2119157"/>
          <a:ext cx="372140" cy="159488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>
          <a:solidFill>
            <a:schemeClr val="tx2">
              <a:lumMod val="10000"/>
            </a:schemeClr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>
            <a:lnSpc>
              <a:spcPct val="90000"/>
            </a:lnSpc>
          </a:pPr>
          <a:r>
            <a:rPr lang="en-US" sz="900" b="1" dirty="0">
              <a:solidFill>
                <a:schemeClr val="tx2">
                  <a:lumMod val="10000"/>
                </a:schemeClr>
              </a:solidFill>
            </a:rPr>
            <a:t>827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92C93BF-AFEB-48C0-978A-F2409ABEB7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28600" y="137344"/>
            <a:ext cx="4818413" cy="481727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1300"/>
            </a:lvl1pPr>
          </a:lstStyle>
          <a:p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Avenir Next LT Pro" panose="020B0504020202020204" pitchFamily="34" charset="77"/>
                <a:ea typeface="+mj-ea"/>
                <a:cs typeface="+mj-cs"/>
              </a:rPr>
              <a:t>Click to edit title</a:t>
            </a:r>
            <a:endParaRPr sz="18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B9851C-769C-4908-86BD-45866F09CD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248894" y="137344"/>
            <a:ext cx="1837706" cy="481727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300"/>
            </a:lvl1pPr>
          </a:lstStyle>
          <a:p>
            <a:pPr marL="9525" marR="0" lvl="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20000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ource Sans Pro"/>
                <a:ea typeface="+mn-ea"/>
                <a:cs typeface="+mn-cs"/>
              </a:rPr>
              <a:t>Click to add date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8A9735-2B81-DF69-6FF8-897AF853491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317" y="8895849"/>
            <a:ext cx="1249887" cy="611954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6F367BD4-3CE7-06A1-5A48-DDDD2C6319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5552572" y="9201827"/>
            <a:ext cx="1346200" cy="1523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100" normalizeH="0" baseline="0" noProof="0" dirty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10" name="Page #">
            <a:extLst>
              <a:ext uri="{FF2B5EF4-FFF2-40B4-BE49-F238E27FC236}">
                <a16:creationId xmlns:a16="http://schemas.microsoft.com/office/drawing/2014/main" id="{1C9EDE3E-8EE1-6313-426F-973BCBCBC123}"/>
              </a:ext>
            </a:extLst>
          </p:cNvPr>
          <p:cNvSpPr txBox="1"/>
          <p:nvPr/>
        </p:nvSpPr>
        <p:spPr bwMode="gray">
          <a:xfrm>
            <a:off x="6928106" y="9201826"/>
            <a:ext cx="49530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fld id="{A4670CCC-B41B-46C1-B4D3-0343C21FDFC0}" type="slidenum">
              <a:rPr lang="en-US" sz="1100" b="1" smtClean="0">
                <a:solidFill>
                  <a:schemeClr val="accent1"/>
                </a:solidFill>
              </a:rPr>
              <a:pPr algn="l"/>
              <a:t>‹#›</a:t>
            </a:fld>
            <a:endParaRPr sz="1100" b="1" dirty="0">
              <a:solidFill>
                <a:schemeClr val="accent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54A8F6-9397-446B-F872-8C90C0429C6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4395" y="509005"/>
            <a:ext cx="1777835" cy="44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27646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2" pos="4464" userDrawn="1">
          <p15:clr>
            <a:srgbClr val="F26B43"/>
          </p15:clr>
        </p15:guide>
        <p15:guide id="3" pos="144" userDrawn="1">
          <p15:clr>
            <a:srgbClr val="F26B43"/>
          </p15:clr>
        </p15:guide>
        <p15:guide id="4" orient="horz" pos="144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3900" y="342900"/>
            <a:ext cx="5867400" cy="3300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8" tIns="48330" rIns="96658" bIns="4833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7876" y="3808708"/>
            <a:ext cx="5959449" cy="5375049"/>
          </a:xfrm>
          <a:prstGeom prst="rect">
            <a:avLst/>
          </a:prstGeom>
        </p:spPr>
        <p:txBody>
          <a:bodyPr vert="horz" lIns="96658" tIns="48330" rIns="96658" bIns="4833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B4D9A424-DFC1-49AE-A3A1-123CCB343027}"/>
              </a:ext>
            </a:extLst>
          </p:cNvPr>
          <p:cNvSpPr txBox="1">
            <a:spLocks/>
          </p:cNvSpPr>
          <p:nvPr/>
        </p:nvSpPr>
        <p:spPr>
          <a:xfrm>
            <a:off x="3274248" y="9233163"/>
            <a:ext cx="765015" cy="294986"/>
          </a:xfrm>
          <a:prstGeom prst="rect">
            <a:avLst/>
          </a:prstGeom>
        </p:spPr>
        <p:txBody>
          <a:bodyPr vert="horz" lIns="96658" tIns="48330" rIns="96658" bIns="48330" rtlCol="0" anchor="b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68A2C2-8945-4971-AB7F-0CB9C028F521}" type="slidenum">
              <a:rPr lang="en-US" sz="1000" b="1" smtClean="0">
                <a:solidFill>
                  <a:schemeClr val="accent1"/>
                </a:solidFill>
                <a:latin typeface="Tw Cen MT" panose="020B0602020104020603" pitchFamily="34" charset="0"/>
              </a:rPr>
              <a:pPr/>
              <a:t>‹#›</a:t>
            </a:fld>
            <a:endParaRPr lang="en-US" sz="1000" b="1" dirty="0">
              <a:solidFill>
                <a:schemeClr val="accent1"/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414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47638" indent="-146050" algn="l" defTabSz="914400" rtl="0" eaLnBrk="1" latinLnBrk="0" hangingPunct="1">
      <a:lnSpc>
        <a:spcPct val="90000"/>
      </a:lnSpc>
      <a:spcBef>
        <a:spcPts val="800"/>
      </a:spcBef>
      <a:buClr>
        <a:schemeClr val="tx1"/>
      </a:buClr>
      <a:buSzPct val="115000"/>
      <a:buFont typeface="Symbol" panose="05050102010706020507" pitchFamily="18" charset="2"/>
      <a:buChar char="·"/>
      <a:defRPr sz="1200" kern="1200" spc="-30" baseline="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1pPr>
    <a:lvl2pPr marL="347472" indent="-118872" algn="l" defTabSz="914400" rtl="0" eaLnBrk="1" latinLnBrk="0" hangingPunct="1">
      <a:lnSpc>
        <a:spcPct val="90000"/>
      </a:lnSpc>
      <a:spcBef>
        <a:spcPts val="400"/>
      </a:spcBef>
      <a:buClr>
        <a:schemeClr val="tx1"/>
      </a:buClr>
      <a:buFont typeface="Arial Narrow" panose="020B0606020202030204" pitchFamily="34" charset="0"/>
      <a:buChar char="–"/>
      <a:defRPr sz="1100" kern="1200" spc="-30" baseline="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2pPr>
    <a:lvl3pPr marL="512064" indent="-118872" algn="l" defTabSz="914400" rtl="0" eaLnBrk="1" latinLnBrk="0" hangingPunct="1">
      <a:lnSpc>
        <a:spcPct val="90000"/>
      </a:lnSpc>
      <a:spcBef>
        <a:spcPts val="200"/>
      </a:spcBef>
      <a:buClr>
        <a:schemeClr val="tx1"/>
      </a:buClr>
      <a:buFont typeface="Arial" panose="020B0604020202020204" pitchFamily="34" charset="0"/>
      <a:buChar char="◦"/>
      <a:defRPr sz="1000" kern="1200" spc="-30" baseline="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3pPr>
    <a:lvl4pPr marL="685800" indent="-118872" algn="l" defTabSz="914400" rtl="0" eaLnBrk="1" latinLnBrk="0" hangingPunct="1">
      <a:lnSpc>
        <a:spcPct val="90000"/>
      </a:lnSpc>
      <a:spcBef>
        <a:spcPts val="100"/>
      </a:spcBef>
      <a:buClr>
        <a:schemeClr val="tx1"/>
      </a:buClr>
      <a:buFont typeface="Arial" panose="020B0604020202020204" pitchFamily="34" charset="0"/>
      <a:buChar char="▪"/>
      <a:defRPr sz="900" kern="1200" spc="-30" baseline="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4pPr>
    <a:lvl5pPr marL="850392" indent="-118872" algn="l" defTabSz="914400" rtl="0" eaLnBrk="1" latinLnBrk="0" hangingPunct="1">
      <a:lnSpc>
        <a:spcPct val="90000"/>
      </a:lnSpc>
      <a:spcBef>
        <a:spcPts val="100"/>
      </a:spcBef>
      <a:buClr>
        <a:schemeClr val="tx1"/>
      </a:buClr>
      <a:buFont typeface="Arial" panose="020B0604020202020204" pitchFamily="34" charset="0"/>
      <a:buChar char="▫"/>
      <a:defRPr sz="800" kern="1200" spc="-30" baseline="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948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2B9C9-7963-8576-80F0-9AB63652C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646866-9158-8A55-2874-D23FDFB7C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91118-ADA1-3FB6-607D-47E0A4308F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4345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3096E-D9BF-BDC7-4F4B-0EF5AF236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ECD779-2F90-8C32-B117-F7C41627A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A3A043-299B-03E8-FA1D-059DBB413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8589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1358B-4C44-8CE6-91AC-427F417C0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FEBE6F-77F5-053D-7B64-7E312D7D0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7393AD-966C-9CB9-1772-80386659C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467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CF7547-6D97-F8C6-6622-361439B7AC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9599" y="6443530"/>
            <a:ext cx="1266016" cy="138939"/>
          </a:xfrm>
        </p:spPr>
        <p:txBody>
          <a:bodyPr lIns="0" tIns="0" rIns="0" bIns="0"/>
          <a:lstStyle>
            <a:lvl1pPr algn="l">
              <a:defRPr/>
            </a:lvl1pPr>
          </a:lstStyle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Location, Date">
            <a:extLst>
              <a:ext uri="{FF2B5EF4-FFF2-40B4-BE49-F238E27FC236}">
                <a16:creationId xmlns:a16="http://schemas.microsoft.com/office/drawing/2014/main" id="{38F3007B-F5FF-4086-915F-84576BCCC1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5931582"/>
            <a:ext cx="6934200" cy="232236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200"/>
              </a:spcBef>
              <a:buNone/>
              <a:defRPr sz="1800" b="1">
                <a:solidFill>
                  <a:schemeClr val="accent3"/>
                </a:solidFill>
              </a:defRPr>
            </a:lvl1pPr>
            <a:lvl2pPr marL="341312" indent="0">
              <a:buNone/>
              <a:defRPr/>
            </a:lvl2pPr>
            <a:lvl3pPr marL="684212" indent="0">
              <a:buNone/>
              <a:defRPr/>
            </a:lvl3pPr>
            <a:lvl4pPr marL="979487" indent="0">
              <a:buNone/>
              <a:defRPr/>
            </a:lvl4pPr>
            <a:lvl5pPr marL="1282700" indent="0">
              <a:buNone/>
              <a:defRPr/>
            </a:lvl5pPr>
          </a:lstStyle>
          <a:p>
            <a:pPr lvl="0"/>
            <a:r>
              <a:rPr lang="en-US" dirty="0"/>
              <a:t>Click to add date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750D67-EC49-5D5E-C0B5-D376B884FA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500" y="951"/>
            <a:ext cx="3692235" cy="18077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0F1500-BEC3-C098-E608-E741039318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2900" y="3571875"/>
            <a:ext cx="3200400" cy="850612"/>
          </a:xfrm>
          <a:prstGeom prst="rect">
            <a:avLst/>
          </a:prstGeom>
        </p:spPr>
      </p:pic>
      <p:sp>
        <p:nvSpPr>
          <p:cNvPr id="6" name="Presentation Subtitle">
            <a:extLst>
              <a:ext uri="{FF2B5EF4-FFF2-40B4-BE49-F238E27FC236}">
                <a16:creationId xmlns:a16="http://schemas.microsoft.com/office/drawing/2014/main" id="{20379D6C-349B-EC5D-3CBA-EED1E430E1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599" y="4366942"/>
            <a:ext cx="8397241" cy="1012677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cap="none" baseline="0">
                <a:solidFill>
                  <a:schemeClr val="accent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cover slide subtitle</a:t>
            </a:r>
          </a:p>
        </p:txBody>
      </p:sp>
      <p:sp>
        <p:nvSpPr>
          <p:cNvPr id="3" name="Text Placeholder 24">
            <a:extLst>
              <a:ext uri="{FF2B5EF4-FFF2-40B4-BE49-F238E27FC236}">
                <a16:creationId xmlns:a16="http://schemas.microsoft.com/office/drawing/2014/main" id="{22AB6EE2-07B3-85DE-B628-0368E994CFB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1889908"/>
            <a:ext cx="8397172" cy="1807745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4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cover slide title</a:t>
            </a:r>
          </a:p>
        </p:txBody>
      </p:sp>
    </p:spTree>
    <p:extLst>
      <p:ext uri="{BB962C8B-B14F-4D97-AF65-F5344CB8AC3E}">
        <p14:creationId xmlns:p14="http://schemas.microsoft.com/office/powerpoint/2010/main" val="3471123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7D31CB86-CB4A-FABA-D284-8AD05B682E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100" y="816264"/>
            <a:ext cx="2705100" cy="678324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303987C-9F7E-081D-A41C-A9657C352F9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09600" y="1428206"/>
            <a:ext cx="10972800" cy="473496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769B8-AB21-994C-076B-6263A68ECD5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C365DF21-4D84-13A1-E532-1C7F01B01F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7487" y="6336793"/>
            <a:ext cx="8620065" cy="422715"/>
          </a:xfrm>
          <a:prstGeom prst="rect">
            <a:avLst/>
          </a:prstGeom>
        </p:spPr>
        <p:txBody>
          <a:bodyPr anchor="ctr"/>
          <a:lstStyle>
            <a:lvl1pPr marL="9525" indent="0">
              <a:lnSpc>
                <a:spcPct val="85000"/>
              </a:lnSpc>
              <a:spcAft>
                <a:spcPts val="0"/>
              </a:spcAft>
              <a:buNone/>
              <a:defRPr sz="1000"/>
            </a:lvl1pPr>
          </a:lstStyle>
          <a:p>
            <a:pPr lvl="0"/>
            <a:r>
              <a:rPr lang="en-US" dirty="0"/>
              <a:t>Click to edit footnote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305245E9-629F-FEA7-39DA-C0EA9B1614F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233650"/>
            <a:ext cx="10972800" cy="79017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301495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D9CCF643-727B-A12E-143E-A1591E4FAB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100" y="816264"/>
            <a:ext cx="2705100" cy="678324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C0AA0F-99F6-2D4E-6297-86D168A82E5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09600" y="1428205"/>
            <a:ext cx="5243331" cy="473496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A55475E9-898E-8DF5-DEF6-18C7855875C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339068" y="1428205"/>
            <a:ext cx="5243331" cy="473496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7E3AB-FDF8-83D2-562C-BF4155F194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F7BB85EC-85E2-012A-9A81-74E9B13E43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7487" y="6336793"/>
            <a:ext cx="8620065" cy="422715"/>
          </a:xfrm>
          <a:prstGeom prst="rect">
            <a:avLst/>
          </a:prstGeom>
        </p:spPr>
        <p:txBody>
          <a:bodyPr anchor="ctr"/>
          <a:lstStyle>
            <a:lvl1pPr marL="9525" indent="0">
              <a:lnSpc>
                <a:spcPct val="85000"/>
              </a:lnSpc>
              <a:spcAft>
                <a:spcPts val="0"/>
              </a:spcAft>
              <a:buNone/>
              <a:defRPr sz="1000"/>
            </a:lvl1pPr>
          </a:lstStyle>
          <a:p>
            <a:pPr lvl="0"/>
            <a:r>
              <a:rPr lang="en-US" dirty="0"/>
              <a:t>Click to edit footnote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8A31787F-5E9A-2099-7536-744D35CFCD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233650"/>
            <a:ext cx="10972800" cy="79017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283093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953EF8E-C469-EC37-D50C-0B0863BE89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100" y="816264"/>
            <a:ext cx="2705100" cy="678324"/>
          </a:xfrm>
          <a:prstGeom prst="rect">
            <a:avLst/>
          </a:prstGeom>
        </p:spPr>
      </p:pic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F840B07-7132-3F0D-3658-BC823A58BEA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419599" y="1428205"/>
            <a:ext cx="3352800" cy="473496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6D0451BA-BC61-626C-1028-AA8F8B55BD2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229600" y="1428205"/>
            <a:ext cx="3352800" cy="473496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5D2E5D88-04DD-3ADF-CAEE-D7A69742DC5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09600" y="1428205"/>
            <a:ext cx="3352800" cy="473496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CFEC4E2-84B3-F175-B736-8BB40AFACA9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AFB4B0A-969C-FA82-19E8-4E48493438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7487" y="6336793"/>
            <a:ext cx="8620065" cy="422715"/>
          </a:xfrm>
          <a:prstGeom prst="rect">
            <a:avLst/>
          </a:prstGeom>
        </p:spPr>
        <p:txBody>
          <a:bodyPr anchor="ctr"/>
          <a:lstStyle>
            <a:lvl1pPr marL="9525" indent="0">
              <a:lnSpc>
                <a:spcPct val="85000"/>
              </a:lnSpc>
              <a:spcAft>
                <a:spcPts val="0"/>
              </a:spcAft>
              <a:buNone/>
              <a:defRPr sz="1000"/>
            </a:lvl1pPr>
          </a:lstStyle>
          <a:p>
            <a:pPr lvl="0"/>
            <a:r>
              <a:rPr lang="en-US" dirty="0"/>
              <a:t>Click to edit footnote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06BBC625-F6EC-75F6-D713-EF9DB48A6E5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" y="233650"/>
            <a:ext cx="10972800" cy="79017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100650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ubtitl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4FFB0F7-6477-4888-8052-CC0620AC95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100" y="1119663"/>
            <a:ext cx="2705100" cy="678324"/>
          </a:xfrm>
          <a:prstGeom prst="rect">
            <a:avLst/>
          </a:prstGeom>
        </p:spPr>
      </p:pic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095F6197-1168-F8A1-18F4-50A831E3262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09600" y="1731605"/>
            <a:ext cx="10972800" cy="44315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9D65B418-E884-20A9-F776-8389618128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7487" y="6336793"/>
            <a:ext cx="8620065" cy="422715"/>
          </a:xfrm>
          <a:prstGeom prst="rect">
            <a:avLst/>
          </a:prstGeom>
        </p:spPr>
        <p:txBody>
          <a:bodyPr anchor="ctr"/>
          <a:lstStyle>
            <a:lvl1pPr marL="9525" indent="0">
              <a:lnSpc>
                <a:spcPct val="85000"/>
              </a:lnSpc>
              <a:spcAft>
                <a:spcPts val="0"/>
              </a:spcAft>
              <a:buNone/>
              <a:defRPr sz="1000"/>
            </a:lvl1pPr>
          </a:lstStyle>
          <a:p>
            <a:pPr lvl="0"/>
            <a:r>
              <a:rPr lang="en-US" dirty="0"/>
              <a:t>Click to edit footnote</a:t>
            </a:r>
          </a:p>
        </p:txBody>
      </p:sp>
      <p:sp>
        <p:nvSpPr>
          <p:cNvPr id="3" name="Presentation Subtitle">
            <a:extLst>
              <a:ext uri="{FF2B5EF4-FFF2-40B4-BE49-F238E27FC236}">
                <a16:creationId xmlns:a16="http://schemas.microsoft.com/office/drawing/2014/main" id="{F4C9A4EC-E4BA-B19B-A307-616E46F5C7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599" y="1070988"/>
            <a:ext cx="10972801" cy="26161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000" b="0" cap="none" baseline="0">
                <a:solidFill>
                  <a:schemeClr val="accent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16D757-5209-FDA9-C3FE-BA1641E2FC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Text Placeholder 24">
            <a:extLst>
              <a:ext uri="{FF2B5EF4-FFF2-40B4-BE49-F238E27FC236}">
                <a16:creationId xmlns:a16="http://schemas.microsoft.com/office/drawing/2014/main" id="{5D7AF882-09FA-624D-9ED9-6B8FD1DF97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233650"/>
            <a:ext cx="10972800" cy="79017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595809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ubtitle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1ED41-F9D4-BA23-498C-C8089392BEE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05CDFDC-BDA6-6099-E1B9-E9FCFC97CC1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09600" y="1731604"/>
            <a:ext cx="5257800" cy="443157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2517FA8-0553-9BDB-3FAD-590CB217A0FA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339068" y="1731604"/>
            <a:ext cx="5257800" cy="443157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9DF6AD-A9A8-D34D-2AD1-177A0BB6E8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100" y="1119663"/>
            <a:ext cx="2705100" cy="678324"/>
          </a:xfrm>
          <a:prstGeom prst="rect">
            <a:avLst/>
          </a:prstGeom>
        </p:spPr>
      </p:pic>
      <p:sp>
        <p:nvSpPr>
          <p:cNvPr id="10" name="Presentation Subtitle">
            <a:extLst>
              <a:ext uri="{FF2B5EF4-FFF2-40B4-BE49-F238E27FC236}">
                <a16:creationId xmlns:a16="http://schemas.microsoft.com/office/drawing/2014/main" id="{B5EB1554-8CBD-4604-F9D2-364245C683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599" y="1070988"/>
            <a:ext cx="10972801" cy="26161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000" b="0" cap="none" baseline="0">
                <a:solidFill>
                  <a:schemeClr val="accent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427AB2F2-7000-BFB8-C079-8AAEC9E11A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7487" y="6336793"/>
            <a:ext cx="8620065" cy="422715"/>
          </a:xfrm>
          <a:prstGeom prst="rect">
            <a:avLst/>
          </a:prstGeom>
        </p:spPr>
        <p:txBody>
          <a:bodyPr anchor="ctr"/>
          <a:lstStyle>
            <a:lvl1pPr marL="9525" indent="0">
              <a:lnSpc>
                <a:spcPct val="85000"/>
              </a:lnSpc>
              <a:spcAft>
                <a:spcPts val="0"/>
              </a:spcAft>
              <a:buNone/>
              <a:defRPr sz="1000"/>
            </a:lvl1pPr>
          </a:lstStyle>
          <a:p>
            <a:pPr lvl="0"/>
            <a:r>
              <a:rPr lang="en-US" dirty="0"/>
              <a:t>Click to edit footnote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A8E6ADA0-63DA-41B5-CFB8-45C086446BA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233650"/>
            <a:ext cx="10972800" cy="79017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973969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ubtitle_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E7039E-A554-CDAF-7216-D1D2AB57B70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FA6B2DF-C78B-5FD6-2FD5-9F56DDD82F4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09600" y="1731604"/>
            <a:ext cx="3352800" cy="443157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1F76841B-008B-B37A-571E-8D3ACE805488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419600" y="1731604"/>
            <a:ext cx="3352800" cy="443157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8BC68C1-083B-A131-3A9A-B9E27609A1C9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229600" y="1731604"/>
            <a:ext cx="3352800" cy="443157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846EA13D-B1A5-150D-15AD-DC753D11F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7487" y="6336793"/>
            <a:ext cx="8620065" cy="422715"/>
          </a:xfrm>
          <a:prstGeom prst="rect">
            <a:avLst/>
          </a:prstGeom>
        </p:spPr>
        <p:txBody>
          <a:bodyPr anchor="ctr"/>
          <a:lstStyle>
            <a:lvl1pPr marL="9525" indent="0">
              <a:lnSpc>
                <a:spcPct val="85000"/>
              </a:lnSpc>
              <a:spcAft>
                <a:spcPts val="0"/>
              </a:spcAft>
              <a:buNone/>
              <a:defRPr sz="1000"/>
            </a:lvl1pPr>
          </a:lstStyle>
          <a:p>
            <a:pPr lvl="0"/>
            <a:r>
              <a:rPr lang="en-US" dirty="0"/>
              <a:t>Click to edit footnote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3CA6220-59E6-526F-8894-DA35F809BD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100" y="1119663"/>
            <a:ext cx="2705100" cy="678324"/>
          </a:xfrm>
          <a:prstGeom prst="rect">
            <a:avLst/>
          </a:prstGeom>
        </p:spPr>
      </p:pic>
      <p:sp>
        <p:nvSpPr>
          <p:cNvPr id="14" name="Presentation Subtitle">
            <a:extLst>
              <a:ext uri="{FF2B5EF4-FFF2-40B4-BE49-F238E27FC236}">
                <a16:creationId xmlns:a16="http://schemas.microsoft.com/office/drawing/2014/main" id="{9ACE1134-04F9-2D45-789E-FC2BC2BA97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599" y="1070988"/>
            <a:ext cx="10972801" cy="26161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000" b="0" cap="none" baseline="0">
                <a:solidFill>
                  <a:schemeClr val="accent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4D4049C9-72EE-D8EA-068B-4E316335D09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233650"/>
            <a:ext cx="10972800" cy="79017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10005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_Blu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BCC9B1-3ED9-1FFC-A743-E649266586B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38401" y="3571875"/>
            <a:ext cx="3200400" cy="850612"/>
          </a:xfrm>
          <a:prstGeom prst="rect">
            <a:avLst/>
          </a:prstGeom>
        </p:spPr>
      </p:pic>
      <p:sp>
        <p:nvSpPr>
          <p:cNvPr id="6" name="Presentation Title">
            <a:extLst>
              <a:ext uri="{FF2B5EF4-FFF2-40B4-BE49-F238E27FC236}">
                <a16:creationId xmlns:a16="http://schemas.microsoft.com/office/drawing/2014/main" id="{37BA7CD2-77DC-A25B-82BC-92E7E75E869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2705100" y="3097059"/>
            <a:ext cx="8397173" cy="615553"/>
          </a:xfrm>
        </p:spPr>
        <p:txBody>
          <a:bodyPr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4000" b="1" cap="none" normalizeH="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divider slide title </a:t>
            </a:r>
          </a:p>
        </p:txBody>
      </p:sp>
      <p:sp>
        <p:nvSpPr>
          <p:cNvPr id="7" name="Presentation Subtitle">
            <a:extLst>
              <a:ext uri="{FF2B5EF4-FFF2-40B4-BE49-F238E27FC236}">
                <a16:creationId xmlns:a16="http://schemas.microsoft.com/office/drawing/2014/main" id="{8F71167E-F62B-190F-04EE-FFE7B3E3AFB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2705100" y="4366942"/>
            <a:ext cx="8397241" cy="151702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cap="none" baseline="0">
                <a:solidFill>
                  <a:schemeClr val="bg2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divider slide subtitle</a:t>
            </a:r>
          </a:p>
        </p:txBody>
      </p:sp>
      <p:sp>
        <p:nvSpPr>
          <p:cNvPr id="13" name="Page #">
            <a:extLst>
              <a:ext uri="{FF2B5EF4-FFF2-40B4-BE49-F238E27FC236}">
                <a16:creationId xmlns:a16="http://schemas.microsoft.com/office/drawing/2014/main" id="{75DD8D51-4A60-992F-2774-352CE7E62DC1}"/>
              </a:ext>
            </a:extLst>
          </p:cNvPr>
          <p:cNvSpPr txBox="1"/>
          <p:nvPr userDrawn="1"/>
        </p:nvSpPr>
        <p:spPr bwMode="gray">
          <a:xfrm>
            <a:off x="11562204" y="6471951"/>
            <a:ext cx="49530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fld id="{A4670CCC-B41B-46C1-B4D3-0343C21FDFC0}" type="slidenum">
              <a:rPr lang="en-US" sz="1100" b="1" smtClean="0">
                <a:solidFill>
                  <a:schemeClr val="bg2"/>
                </a:solidFill>
              </a:rPr>
              <a:pPr algn="l"/>
              <a:t>‹#›</a:t>
            </a:fld>
            <a:endParaRPr sz="1100" b="1" dirty="0">
              <a:solidFill>
                <a:schemeClr val="bg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488B1DA-4D5F-92AA-2A9F-563E429CC42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643" y="6216268"/>
            <a:ext cx="1249885" cy="611953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4ED4E912-047B-1014-C819-6D3C3AD866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86670" y="6471952"/>
            <a:ext cx="1346200" cy="1523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sz="1000" spc="100" dirty="0"/>
              <a:t>CONFIDENTIAL</a:t>
            </a:r>
            <a:r>
              <a:rPr lang="en-US" sz="1000" dirty="0"/>
              <a:t>  </a:t>
            </a:r>
            <a:r>
              <a:rPr lang="en-US" dirty="0"/>
              <a:t>|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97841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Blue_No Cont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ge #">
            <a:extLst>
              <a:ext uri="{FF2B5EF4-FFF2-40B4-BE49-F238E27FC236}">
                <a16:creationId xmlns:a16="http://schemas.microsoft.com/office/drawing/2014/main" id="{75DD8D51-4A60-992F-2774-352CE7E62DC1}"/>
              </a:ext>
            </a:extLst>
          </p:cNvPr>
          <p:cNvSpPr txBox="1"/>
          <p:nvPr userDrawn="1"/>
        </p:nvSpPr>
        <p:spPr bwMode="gray">
          <a:xfrm>
            <a:off x="11562204" y="6471951"/>
            <a:ext cx="49530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fld id="{A4670CCC-B41B-46C1-B4D3-0343C21FDFC0}" type="slidenum">
              <a:rPr lang="en-US" sz="1100" b="1" smtClean="0">
                <a:solidFill>
                  <a:schemeClr val="bg2"/>
                </a:solidFill>
              </a:rPr>
              <a:pPr algn="l"/>
              <a:t>‹#›</a:t>
            </a:fld>
            <a:endParaRPr sz="1100" b="1" dirty="0">
              <a:solidFill>
                <a:schemeClr val="bg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488B1DA-4D5F-92AA-2A9F-563E429CC4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643" y="6216268"/>
            <a:ext cx="1249885" cy="611953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4ED4E912-047B-1014-C819-6D3C3AD866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86670" y="6471952"/>
            <a:ext cx="1346200" cy="1523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sz="1000" spc="100" dirty="0"/>
              <a:t>CONFIDENTIAL</a:t>
            </a:r>
            <a:r>
              <a:rPr lang="en-US" sz="1000" dirty="0"/>
              <a:t>  </a:t>
            </a:r>
            <a:r>
              <a:rPr lang="en-US" dirty="0"/>
              <a:t>|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05164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ro_Blu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CF779AB-0812-52FE-776B-E228F8C91E9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991" y="4141891"/>
            <a:ext cx="3200400" cy="850612"/>
          </a:xfrm>
          <a:prstGeom prst="rect">
            <a:avLst/>
          </a:prstGeom>
        </p:spPr>
      </p:pic>
      <p:sp>
        <p:nvSpPr>
          <p:cNvPr id="12" name="Page #">
            <a:extLst>
              <a:ext uri="{FF2B5EF4-FFF2-40B4-BE49-F238E27FC236}">
                <a16:creationId xmlns:a16="http://schemas.microsoft.com/office/drawing/2014/main" id="{A0376C4C-A560-29B5-6C29-5FBA39459FCF}"/>
              </a:ext>
            </a:extLst>
          </p:cNvPr>
          <p:cNvSpPr txBox="1"/>
          <p:nvPr userDrawn="1"/>
        </p:nvSpPr>
        <p:spPr bwMode="gray">
          <a:xfrm>
            <a:off x="11562204" y="6471951"/>
            <a:ext cx="49530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fld id="{A4670CCC-B41B-46C1-B4D3-0343C21FDFC0}" type="slidenum">
              <a:rPr lang="en-US" sz="1100" b="1" smtClean="0">
                <a:solidFill>
                  <a:schemeClr val="bg2"/>
                </a:solidFill>
              </a:rPr>
              <a:pPr algn="l"/>
              <a:t>‹#›</a:t>
            </a:fld>
            <a:endParaRPr sz="1100" b="1" dirty="0">
              <a:solidFill>
                <a:schemeClr val="bg2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797E093-141C-FAD0-C400-AE1F2A13DE4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643" y="6216268"/>
            <a:ext cx="1249885" cy="611953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5C8AE2C-8778-0A5A-3F54-8CB09446B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86670" y="6471952"/>
            <a:ext cx="1346200" cy="1523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sz="1000" spc="100" dirty="0"/>
              <a:t>CONFIDENTIAL</a:t>
            </a:r>
            <a:r>
              <a:rPr lang="en-US" sz="1000" dirty="0"/>
              <a:t>  </a:t>
            </a:r>
            <a:r>
              <a:rPr lang="en-US" dirty="0"/>
              <a:t>|</a:t>
            </a:r>
            <a:endParaRPr lang="en-US" sz="100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CDC7D948-8032-8275-73EB-C4F528D07AE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10250" y="776747"/>
            <a:ext cx="10151513" cy="3598475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None/>
              <a:defRPr sz="48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Insert call-out hero text here.</a:t>
            </a:r>
          </a:p>
        </p:txBody>
      </p:sp>
    </p:spTree>
    <p:extLst>
      <p:ext uri="{BB962C8B-B14F-4D97-AF65-F5344CB8AC3E}">
        <p14:creationId xmlns:p14="http://schemas.microsoft.com/office/powerpoint/2010/main" val="2667633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_Title_Blu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ge #">
            <a:extLst>
              <a:ext uri="{FF2B5EF4-FFF2-40B4-BE49-F238E27FC236}">
                <a16:creationId xmlns:a16="http://schemas.microsoft.com/office/drawing/2014/main" id="{6DAF2E15-62C8-7BAE-EAE7-53CC5A8DDFDF}"/>
              </a:ext>
            </a:extLst>
          </p:cNvPr>
          <p:cNvSpPr txBox="1"/>
          <p:nvPr/>
        </p:nvSpPr>
        <p:spPr bwMode="gray">
          <a:xfrm>
            <a:off x="11562204" y="6471951"/>
            <a:ext cx="49530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fld id="{A4670CCC-B41B-46C1-B4D3-0343C21FDFC0}" type="slidenum">
              <a:rPr lang="en-US" sz="1100" b="1" smtClean="0">
                <a:solidFill>
                  <a:schemeClr val="accent1"/>
                </a:solidFill>
              </a:rPr>
              <a:pPr algn="l"/>
              <a:t>‹#›</a:t>
            </a:fld>
            <a:endParaRPr sz="1100" b="1" dirty="0">
              <a:solidFill>
                <a:schemeClr val="accent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DD198A-2DAF-397E-17C0-2BB65042656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D9707D4-2027-98D6-2249-5A91EE6337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643" y="6216268"/>
            <a:ext cx="1249885" cy="6119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BFCB9E-FED3-6262-F7E6-976124CF94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100" y="816264"/>
            <a:ext cx="2705100" cy="678324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F30706B-0EFF-9BFD-6FE5-C90941A87BC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09600" y="1428206"/>
            <a:ext cx="3432312" cy="4734969"/>
          </a:xfrm>
          <a:prstGeom prst="rect">
            <a:avLst/>
          </a:prstGeo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9">
            <a:extLst>
              <a:ext uri="{FF2B5EF4-FFF2-40B4-BE49-F238E27FC236}">
                <a16:creationId xmlns:a16="http://schemas.microsoft.com/office/drawing/2014/main" id="{783BA089-977F-B369-06E1-33B95B89320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46551" y="1104375"/>
            <a:ext cx="6235848" cy="5067825"/>
          </a:xfrm>
        </p:spPr>
        <p:txBody>
          <a:bodyPr/>
          <a:lstStyle/>
          <a:p>
            <a:pPr lvl="0"/>
            <a:r>
              <a:rPr lang="en-US" dirty="0"/>
              <a:t>Click to edit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0B299566-918F-5BC5-0E50-7B9891F1C6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46551" y="6336793"/>
            <a:ext cx="4811001" cy="422715"/>
          </a:xfrm>
          <a:prstGeom prst="rect">
            <a:avLst/>
          </a:prstGeom>
        </p:spPr>
        <p:txBody>
          <a:bodyPr anchor="ctr"/>
          <a:lstStyle>
            <a:lvl1pPr marL="9525" indent="0">
              <a:lnSpc>
                <a:spcPct val="85000"/>
              </a:lnSpc>
              <a:spcAft>
                <a:spcPts val="0"/>
              </a:spcAft>
              <a:buNone/>
              <a:defRPr sz="1000"/>
            </a:lvl1pPr>
          </a:lstStyle>
          <a:p>
            <a:pPr lvl="0"/>
            <a:r>
              <a:rPr lang="en-US" dirty="0"/>
              <a:t>Click to edit footnote</a:t>
            </a:r>
          </a:p>
        </p:txBody>
      </p:sp>
      <p:sp>
        <p:nvSpPr>
          <p:cNvPr id="21" name="Text Placeholder 24">
            <a:extLst>
              <a:ext uri="{FF2B5EF4-FFF2-40B4-BE49-F238E27FC236}">
                <a16:creationId xmlns:a16="http://schemas.microsoft.com/office/drawing/2014/main" id="{B10A82F9-A02A-2F55-A06A-4612212477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233650"/>
            <a:ext cx="3783724" cy="79017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319062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_Title_Subtitle_Blu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AAFDD56D-55E8-68E9-20D5-21455097820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46551" y="1104375"/>
            <a:ext cx="6235848" cy="5067825"/>
          </a:xfrm>
        </p:spPr>
        <p:txBody>
          <a:bodyPr/>
          <a:lstStyle/>
          <a:p>
            <a:pPr lvl="0"/>
            <a:r>
              <a:rPr lang="en-US" dirty="0"/>
              <a:t>Click to edit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7BF2BBF-24A1-1D94-E3B5-CA2ACB58EF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100" y="1416380"/>
            <a:ext cx="2705100" cy="678324"/>
          </a:xfrm>
          <a:prstGeom prst="rect">
            <a:avLst/>
          </a:prstGeom>
        </p:spPr>
      </p:pic>
      <p:sp>
        <p:nvSpPr>
          <p:cNvPr id="3" name="Presentation Subtitle">
            <a:extLst>
              <a:ext uri="{FF2B5EF4-FFF2-40B4-BE49-F238E27FC236}">
                <a16:creationId xmlns:a16="http://schemas.microsoft.com/office/drawing/2014/main" id="{F4C9A4EC-E4BA-B19B-A307-616E46F5C7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600" y="1104375"/>
            <a:ext cx="3783724" cy="52322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000" b="0" cap="none" baseline="0">
                <a:solidFill>
                  <a:schemeClr val="bg2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subtitle on two lines for best layout</a:t>
            </a:r>
          </a:p>
        </p:txBody>
      </p:sp>
      <p:sp>
        <p:nvSpPr>
          <p:cNvPr id="6" name="Page #">
            <a:extLst>
              <a:ext uri="{FF2B5EF4-FFF2-40B4-BE49-F238E27FC236}">
                <a16:creationId xmlns:a16="http://schemas.microsoft.com/office/drawing/2014/main" id="{6DAF2E15-62C8-7BAE-EAE7-53CC5A8DDFDF}"/>
              </a:ext>
            </a:extLst>
          </p:cNvPr>
          <p:cNvSpPr txBox="1"/>
          <p:nvPr userDrawn="1"/>
        </p:nvSpPr>
        <p:spPr bwMode="gray">
          <a:xfrm>
            <a:off x="11562204" y="6471951"/>
            <a:ext cx="49530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fld id="{A4670CCC-B41B-46C1-B4D3-0343C21FDFC0}" type="slidenum">
              <a:rPr lang="en-US" sz="1100" b="1" smtClean="0">
                <a:solidFill>
                  <a:schemeClr val="accent1"/>
                </a:solidFill>
              </a:rPr>
              <a:pPr algn="l"/>
              <a:t>‹#›</a:t>
            </a:fld>
            <a:endParaRPr sz="1100" b="1" dirty="0">
              <a:solidFill>
                <a:schemeClr val="accent1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EF65548-75F9-9E1A-E74C-F8928C8553B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8D5CDE7-2FD3-C94A-1A8E-29B21CC642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643" y="6216268"/>
            <a:ext cx="1249885" cy="611953"/>
          </a:xfrm>
          <a:prstGeom prst="rect">
            <a:avLst/>
          </a:prstGeom>
        </p:spPr>
      </p:pic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AD7DD142-C59F-C387-A444-204C2FFB08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46551" y="6336793"/>
            <a:ext cx="4811001" cy="422715"/>
          </a:xfrm>
          <a:prstGeom prst="rect">
            <a:avLst/>
          </a:prstGeom>
        </p:spPr>
        <p:txBody>
          <a:bodyPr anchor="ctr"/>
          <a:lstStyle>
            <a:lvl1pPr marL="9525" indent="0">
              <a:lnSpc>
                <a:spcPct val="85000"/>
              </a:lnSpc>
              <a:spcAft>
                <a:spcPts val="0"/>
              </a:spcAft>
              <a:buNone/>
              <a:defRPr sz="1000"/>
            </a:lvl1pPr>
          </a:lstStyle>
          <a:p>
            <a:pPr lvl="0"/>
            <a:r>
              <a:rPr lang="en-US" dirty="0"/>
              <a:t>Click to edit footnote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58E6EB80-7250-C114-C6E6-AE562E19EE8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09600" y="2028321"/>
            <a:ext cx="3352800" cy="41438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D6797256-74AB-C964-88F9-1EF04FC90B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233650"/>
            <a:ext cx="3783724" cy="79017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2328572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Title_Call-out_Blu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">
            <a:extLst>
              <a:ext uri="{FF2B5EF4-FFF2-40B4-BE49-F238E27FC236}">
                <a16:creationId xmlns:a16="http://schemas.microsoft.com/office/drawing/2014/main" id="{54F66C4B-70B2-2B7B-CDDB-D15C46509CA6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609599" y="1428206"/>
            <a:ext cx="5206999" cy="474399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Clr>
                <a:schemeClr val="accent1"/>
              </a:buClr>
              <a:defRPr>
                <a:solidFill>
                  <a:schemeClr val="accent3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3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3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3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dirty="0"/>
              <a:t>Click to edit</a:t>
            </a:r>
            <a:r>
              <a:rPr lang="en-US" dirty="0"/>
              <a:t> text</a:t>
            </a:r>
            <a:endParaRPr dirty="0"/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7" name="Page #">
            <a:extLst>
              <a:ext uri="{FF2B5EF4-FFF2-40B4-BE49-F238E27FC236}">
                <a16:creationId xmlns:a16="http://schemas.microsoft.com/office/drawing/2014/main" id="{6018ADF1-E059-2435-1A98-9D0694700903}"/>
              </a:ext>
            </a:extLst>
          </p:cNvPr>
          <p:cNvSpPr txBox="1"/>
          <p:nvPr userDrawn="1"/>
        </p:nvSpPr>
        <p:spPr bwMode="gray">
          <a:xfrm>
            <a:off x="11562204" y="6471951"/>
            <a:ext cx="49530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fld id="{A4670CCC-B41B-46C1-B4D3-0343C21FDFC0}" type="slidenum">
              <a:rPr lang="en-US" sz="1100" b="1" smtClean="0">
                <a:solidFill>
                  <a:schemeClr val="bg2"/>
                </a:solidFill>
              </a:rPr>
              <a:pPr algn="l"/>
              <a:t>‹#›</a:t>
            </a:fld>
            <a:endParaRPr sz="1100" b="1" dirty="0">
              <a:solidFill>
                <a:schemeClr val="bg2"/>
              </a:solidFill>
            </a:endParaRPr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E6A2496E-1493-DAEF-647A-096B6C51922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0186670" y="6471952"/>
            <a:ext cx="1346200" cy="15239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sz="1000" spc="100"/>
              <a:t>CONFIDENTIAL</a:t>
            </a:r>
            <a:r>
              <a:rPr lang="en-US" sz="1000"/>
              <a:t>  </a:t>
            </a:r>
            <a:r>
              <a:rPr lang="en-US"/>
              <a:t>|</a:t>
            </a:r>
            <a:endParaRPr lang="en-US" sz="1000" dirty="0"/>
          </a:p>
        </p:txBody>
      </p:sp>
      <p:sp>
        <p:nvSpPr>
          <p:cNvPr id="9" name="Content">
            <a:extLst>
              <a:ext uri="{FF2B5EF4-FFF2-40B4-BE49-F238E27FC236}">
                <a16:creationId xmlns:a16="http://schemas.microsoft.com/office/drawing/2014/main" id="{1B4FA3AB-014F-D0A6-388A-882E1085CF28}"/>
              </a:ext>
            </a:extLst>
          </p:cNvPr>
          <p:cNvSpPr>
            <a:spLocks noGrp="1"/>
          </p:cNvSpPr>
          <p:nvPr>
            <p:ph idx="12" hasCustomPrompt="1"/>
          </p:nvPr>
        </p:nvSpPr>
        <p:spPr bwMode="gray">
          <a:xfrm>
            <a:off x="7275442" y="1104376"/>
            <a:ext cx="4306957" cy="50678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9525" indent="0">
              <a:buNone/>
              <a:defRPr sz="4800" b="1">
                <a:solidFill>
                  <a:schemeClr val="bg2"/>
                </a:solidFill>
                <a:latin typeface="+mj-lt"/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dirty="0"/>
              <a:t>Click to edit</a:t>
            </a:r>
            <a:r>
              <a:rPr lang="en-US" dirty="0"/>
              <a:t> text.</a:t>
            </a:r>
            <a:endParaRPr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7A8518C1-1EF1-0B91-3053-BF3748FB6B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7487" y="6336793"/>
            <a:ext cx="4279113" cy="422715"/>
          </a:xfrm>
          <a:prstGeom prst="rect">
            <a:avLst/>
          </a:prstGeom>
        </p:spPr>
        <p:txBody>
          <a:bodyPr anchor="ctr"/>
          <a:lstStyle>
            <a:lvl1pPr marL="9525" indent="0">
              <a:lnSpc>
                <a:spcPct val="85000"/>
              </a:lnSpc>
              <a:spcAft>
                <a:spcPts val="0"/>
              </a:spcAft>
              <a:buNone/>
              <a:defRPr sz="1000"/>
            </a:lvl1pPr>
          </a:lstStyle>
          <a:p>
            <a:pPr lvl="0"/>
            <a:r>
              <a:rPr lang="en-US" dirty="0"/>
              <a:t>Click to edit footnote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01DA465-E6AB-4DD3-5588-6B708D689A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100" y="816264"/>
            <a:ext cx="2705100" cy="678324"/>
          </a:xfrm>
          <a:prstGeom prst="rect">
            <a:avLst/>
          </a:prstGeom>
        </p:spPr>
      </p:pic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2C7AACD0-2D52-8404-44F8-A4A2A3EE937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99" y="233650"/>
            <a:ext cx="5206999" cy="79017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1666694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Title_Subtitle_Call-out_Blu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6B039F-0F95-0635-9923-C5B6F7409C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100" y="1416380"/>
            <a:ext cx="2705100" cy="678324"/>
          </a:xfrm>
          <a:prstGeom prst="rect">
            <a:avLst/>
          </a:prstGeom>
        </p:spPr>
      </p:pic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BDFCE656-1EC7-9B32-82AF-4F3DA80CF41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09600" y="2028321"/>
            <a:ext cx="5207000" cy="41438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Clr>
                <a:schemeClr val="accent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">
            <a:extLst>
              <a:ext uri="{FF2B5EF4-FFF2-40B4-BE49-F238E27FC236}">
                <a16:creationId xmlns:a16="http://schemas.microsoft.com/office/drawing/2014/main" id="{6EC2BBD9-C320-7A9E-F256-C349EF3E7539}"/>
              </a:ext>
            </a:extLst>
          </p:cNvPr>
          <p:cNvSpPr>
            <a:spLocks noGrp="1"/>
          </p:cNvSpPr>
          <p:nvPr>
            <p:ph idx="12" hasCustomPrompt="1"/>
          </p:nvPr>
        </p:nvSpPr>
        <p:spPr bwMode="gray">
          <a:xfrm>
            <a:off x="7275442" y="1104376"/>
            <a:ext cx="4306957" cy="50678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9525" indent="0">
              <a:buNone/>
              <a:defRPr sz="4800" b="1">
                <a:solidFill>
                  <a:schemeClr val="bg2"/>
                </a:solidFill>
                <a:latin typeface="+mj-lt"/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dirty="0"/>
              <a:t>Click to edit</a:t>
            </a:r>
            <a:r>
              <a:rPr lang="en-US" dirty="0"/>
              <a:t> text.</a:t>
            </a:r>
            <a:endParaRPr dirty="0"/>
          </a:p>
        </p:txBody>
      </p:sp>
      <p:sp>
        <p:nvSpPr>
          <p:cNvPr id="7" name="Page #">
            <a:extLst>
              <a:ext uri="{FF2B5EF4-FFF2-40B4-BE49-F238E27FC236}">
                <a16:creationId xmlns:a16="http://schemas.microsoft.com/office/drawing/2014/main" id="{6018ADF1-E059-2435-1A98-9D0694700903}"/>
              </a:ext>
            </a:extLst>
          </p:cNvPr>
          <p:cNvSpPr txBox="1"/>
          <p:nvPr userDrawn="1"/>
        </p:nvSpPr>
        <p:spPr bwMode="gray">
          <a:xfrm>
            <a:off x="11562204" y="6471951"/>
            <a:ext cx="49530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fld id="{A4670CCC-B41B-46C1-B4D3-0343C21FDFC0}" type="slidenum">
              <a:rPr lang="en-US" sz="1100" b="1" smtClean="0">
                <a:solidFill>
                  <a:schemeClr val="bg2"/>
                </a:solidFill>
              </a:rPr>
              <a:pPr algn="l"/>
              <a:t>‹#›</a:t>
            </a:fld>
            <a:endParaRPr sz="1100" b="1" dirty="0">
              <a:solidFill>
                <a:schemeClr val="bg2"/>
              </a:solidFill>
            </a:endParaRP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83F45466-FB74-2698-CD6F-F7CCD2F1D90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0186670" y="6471952"/>
            <a:ext cx="1346200" cy="15239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sz="1000" spc="100"/>
              <a:t>CONFIDENTIAL</a:t>
            </a:r>
            <a:r>
              <a:rPr lang="en-US" sz="1000"/>
              <a:t>  </a:t>
            </a:r>
            <a:r>
              <a:rPr lang="en-US"/>
              <a:t>|</a:t>
            </a:r>
            <a:endParaRPr lang="en-US" sz="1000" dirty="0"/>
          </a:p>
        </p:txBody>
      </p:sp>
      <p:sp>
        <p:nvSpPr>
          <p:cNvPr id="10" name="Presentation Subtitle">
            <a:extLst>
              <a:ext uri="{FF2B5EF4-FFF2-40B4-BE49-F238E27FC236}">
                <a16:creationId xmlns:a16="http://schemas.microsoft.com/office/drawing/2014/main" id="{46217CE7-BD39-B067-A8DC-B467AAD21CB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600" y="1104375"/>
            <a:ext cx="5207000" cy="52322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000" b="0" cap="none" baseline="0">
                <a:solidFill>
                  <a:schemeClr val="accent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subtitle on two lines for best layout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9432C23E-E8D2-4A27-7B17-CEC1527EF7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7487" y="6336793"/>
            <a:ext cx="4279113" cy="422715"/>
          </a:xfrm>
          <a:prstGeom prst="rect">
            <a:avLst/>
          </a:prstGeom>
        </p:spPr>
        <p:txBody>
          <a:bodyPr anchor="ctr"/>
          <a:lstStyle>
            <a:lvl1pPr marL="9525" indent="0">
              <a:lnSpc>
                <a:spcPct val="85000"/>
              </a:lnSpc>
              <a:spcAft>
                <a:spcPts val="0"/>
              </a:spcAft>
              <a:buNone/>
              <a:defRPr sz="1000"/>
            </a:lvl1pPr>
          </a:lstStyle>
          <a:p>
            <a:pPr lvl="0"/>
            <a:r>
              <a:rPr lang="en-US" dirty="0"/>
              <a:t>Click to edit footnote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B0829E82-6628-8B10-E0C5-CA00DFF852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99" y="233650"/>
            <a:ext cx="5206999" cy="79017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42353270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_Title_Blu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477A12E-6DB4-13E6-95CD-3E6DFD5774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100" y="816264"/>
            <a:ext cx="2705100" cy="678324"/>
          </a:xfrm>
          <a:prstGeom prst="rect">
            <a:avLst/>
          </a:prstGeom>
        </p:spPr>
      </p:pic>
      <p:sp>
        <p:nvSpPr>
          <p:cNvPr id="11" name="Content">
            <a:extLst>
              <a:ext uri="{FF2B5EF4-FFF2-40B4-BE49-F238E27FC236}">
                <a16:creationId xmlns:a16="http://schemas.microsoft.com/office/drawing/2014/main" id="{3F3649AC-D8A0-1708-7589-F652AB4DC0B8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609599" y="1428206"/>
            <a:ext cx="3202745" cy="474399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Clr>
                <a:schemeClr val="accent1"/>
              </a:buClr>
              <a:defRPr>
                <a:solidFill>
                  <a:schemeClr val="accent3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3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3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3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dirty="0"/>
              <a:t>Click to edit</a:t>
            </a:r>
            <a:r>
              <a:rPr lang="en-US" dirty="0"/>
              <a:t> text</a:t>
            </a:r>
            <a:endParaRPr dirty="0"/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Page #">
            <a:extLst>
              <a:ext uri="{FF2B5EF4-FFF2-40B4-BE49-F238E27FC236}">
                <a16:creationId xmlns:a16="http://schemas.microsoft.com/office/drawing/2014/main" id="{6DAF2E15-62C8-7BAE-EAE7-53CC5A8DDFDF}"/>
              </a:ext>
            </a:extLst>
          </p:cNvPr>
          <p:cNvSpPr txBox="1"/>
          <p:nvPr userDrawn="1"/>
        </p:nvSpPr>
        <p:spPr bwMode="gray">
          <a:xfrm>
            <a:off x="11562204" y="6471951"/>
            <a:ext cx="49530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fld id="{A4670CCC-B41B-46C1-B4D3-0343C21FDFC0}" type="slidenum">
              <a:rPr lang="en-US" sz="1100" b="1" smtClean="0">
                <a:solidFill>
                  <a:schemeClr val="bg2"/>
                </a:solidFill>
              </a:rPr>
              <a:pPr algn="l"/>
              <a:t>‹#›</a:t>
            </a:fld>
            <a:endParaRPr sz="1100" b="1" dirty="0">
              <a:solidFill>
                <a:schemeClr val="bg2"/>
              </a:solidFill>
            </a:endParaRPr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CF5AA2CF-9A7F-29ED-408C-5D5D83886B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0186670" y="6471952"/>
            <a:ext cx="1346200" cy="15239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sz="1000" spc="100"/>
              <a:t>CONFIDENTIAL</a:t>
            </a:r>
            <a:r>
              <a:rPr lang="en-US" sz="1000"/>
              <a:t>  </a:t>
            </a:r>
            <a:r>
              <a:rPr lang="en-US"/>
              <a:t>|</a:t>
            </a:r>
            <a:endParaRPr lang="en-US" sz="1000" dirty="0"/>
          </a:p>
        </p:txBody>
      </p:sp>
      <p:sp>
        <p:nvSpPr>
          <p:cNvPr id="14" name="Content">
            <a:extLst>
              <a:ext uri="{FF2B5EF4-FFF2-40B4-BE49-F238E27FC236}">
                <a16:creationId xmlns:a16="http://schemas.microsoft.com/office/drawing/2014/main" id="{5BC170AC-D0AC-A757-6E38-E8F464ECB082}"/>
              </a:ext>
            </a:extLst>
          </p:cNvPr>
          <p:cNvSpPr>
            <a:spLocks noGrp="1"/>
          </p:cNvSpPr>
          <p:nvPr>
            <p:ph idx="12" hasCustomPrompt="1"/>
          </p:nvPr>
        </p:nvSpPr>
        <p:spPr bwMode="gray">
          <a:xfrm>
            <a:off x="5078437" y="1104376"/>
            <a:ext cx="6503964" cy="50678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dirty="0"/>
              <a:t>Click to edit</a:t>
            </a:r>
            <a:r>
              <a:rPr lang="en-US" dirty="0"/>
              <a:t> text</a:t>
            </a:r>
            <a:endParaRPr dirty="0"/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F68A2CDC-22C8-D254-14E7-DF5D6AD66F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8437" y="6336793"/>
            <a:ext cx="5079115" cy="422715"/>
          </a:xfrm>
          <a:prstGeom prst="rect">
            <a:avLst/>
          </a:prstGeom>
        </p:spPr>
        <p:txBody>
          <a:bodyPr anchor="ctr"/>
          <a:lstStyle>
            <a:lvl1pPr marL="9525" indent="0">
              <a:lnSpc>
                <a:spcPct val="85000"/>
              </a:lnSpc>
              <a:spcAft>
                <a:spcPts val="0"/>
              </a:spcAft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footnote</a:t>
            </a:r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BC67CA2C-3C12-0E46-D9B5-12EFF11C2BB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233650"/>
            <a:ext cx="3455964" cy="79017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761672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_Title_Subtitle_Blu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>
            <a:extLst>
              <a:ext uri="{FF2B5EF4-FFF2-40B4-BE49-F238E27FC236}">
                <a16:creationId xmlns:a16="http://schemas.microsoft.com/office/drawing/2014/main" id="{6EC2BBD9-C320-7A9E-F256-C349EF3E7539}"/>
              </a:ext>
            </a:extLst>
          </p:cNvPr>
          <p:cNvSpPr>
            <a:spLocks noGrp="1"/>
          </p:cNvSpPr>
          <p:nvPr>
            <p:ph idx="12" hasCustomPrompt="1"/>
          </p:nvPr>
        </p:nvSpPr>
        <p:spPr bwMode="gray">
          <a:xfrm>
            <a:off x="5078437" y="1104376"/>
            <a:ext cx="6503964" cy="50678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dirty="0"/>
              <a:t>Click to edit</a:t>
            </a:r>
            <a:r>
              <a:rPr lang="en-US" dirty="0"/>
              <a:t> text</a:t>
            </a:r>
            <a:endParaRPr dirty="0"/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301B4E60-A308-F8EA-69C7-D5C2D50126C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0186670" y="6471952"/>
            <a:ext cx="1346200" cy="15239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sz="1000" spc="100"/>
              <a:t>CONFIDENTIAL</a:t>
            </a:r>
            <a:r>
              <a:rPr lang="en-US" sz="1000"/>
              <a:t>  </a:t>
            </a:r>
            <a:r>
              <a:rPr lang="en-US"/>
              <a:t>|</a:t>
            </a:r>
            <a:endParaRPr lang="en-US" sz="1000" dirty="0"/>
          </a:p>
        </p:txBody>
      </p:sp>
      <p:sp>
        <p:nvSpPr>
          <p:cNvPr id="20" name="Page #">
            <a:extLst>
              <a:ext uri="{FF2B5EF4-FFF2-40B4-BE49-F238E27FC236}">
                <a16:creationId xmlns:a16="http://schemas.microsoft.com/office/drawing/2014/main" id="{4EE4B1E4-23D1-CCD0-64D0-1AB4410422BD}"/>
              </a:ext>
            </a:extLst>
          </p:cNvPr>
          <p:cNvSpPr txBox="1"/>
          <p:nvPr userDrawn="1"/>
        </p:nvSpPr>
        <p:spPr bwMode="gray">
          <a:xfrm>
            <a:off x="11562204" y="6471951"/>
            <a:ext cx="49530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fld id="{A4670CCC-B41B-46C1-B4D3-0343C21FDFC0}" type="slidenum">
              <a:rPr lang="en-US" sz="1100" b="1" smtClean="0">
                <a:solidFill>
                  <a:schemeClr val="bg2"/>
                </a:solidFill>
              </a:rPr>
              <a:pPr algn="l"/>
              <a:t>‹#›</a:t>
            </a:fld>
            <a:endParaRPr sz="1100" b="1" dirty="0">
              <a:solidFill>
                <a:schemeClr val="bg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693DB4-565D-751C-B984-7104CC8A70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100" y="1416380"/>
            <a:ext cx="2705100" cy="678324"/>
          </a:xfrm>
          <a:prstGeom prst="rect">
            <a:avLst/>
          </a:prstGeom>
        </p:spPr>
      </p:pic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C82CBA9-9E5C-A66A-CD3C-406CF74641B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09600" y="2028321"/>
            <a:ext cx="3202745" cy="41438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Clr>
                <a:schemeClr val="accent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resentation Subtitle">
            <a:extLst>
              <a:ext uri="{FF2B5EF4-FFF2-40B4-BE49-F238E27FC236}">
                <a16:creationId xmlns:a16="http://schemas.microsoft.com/office/drawing/2014/main" id="{18CC7EE4-4656-38FE-89A1-33635FBFAD2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600" y="1104375"/>
            <a:ext cx="3455963" cy="52322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000" b="0" cap="none" baseline="0">
                <a:solidFill>
                  <a:schemeClr val="accent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subtitle on two lines for best layout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998CE86-5E47-62A7-BC1F-2FCAAB676C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8437" y="6336793"/>
            <a:ext cx="5079115" cy="422715"/>
          </a:xfrm>
          <a:prstGeom prst="rect">
            <a:avLst/>
          </a:prstGeom>
        </p:spPr>
        <p:txBody>
          <a:bodyPr anchor="ctr"/>
          <a:lstStyle>
            <a:lvl1pPr marL="9525" indent="0">
              <a:lnSpc>
                <a:spcPct val="85000"/>
              </a:lnSpc>
              <a:spcAft>
                <a:spcPts val="0"/>
              </a:spcAft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footnote</a:t>
            </a:r>
          </a:p>
        </p:txBody>
      </p:sp>
      <p:sp>
        <p:nvSpPr>
          <p:cNvPr id="13" name="Text Placeholder 24">
            <a:extLst>
              <a:ext uri="{FF2B5EF4-FFF2-40B4-BE49-F238E27FC236}">
                <a16:creationId xmlns:a16="http://schemas.microsoft.com/office/drawing/2014/main" id="{B6F40740-3955-F006-BF93-AF8D5F67B9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233650"/>
            <a:ext cx="3455964" cy="79017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698057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4_Title_Blu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ge #">
            <a:extLst>
              <a:ext uri="{FF2B5EF4-FFF2-40B4-BE49-F238E27FC236}">
                <a16:creationId xmlns:a16="http://schemas.microsoft.com/office/drawing/2014/main" id="{6DAF2E15-62C8-7BAE-EAE7-53CC5A8DDFDF}"/>
              </a:ext>
            </a:extLst>
          </p:cNvPr>
          <p:cNvSpPr txBox="1"/>
          <p:nvPr userDrawn="1"/>
        </p:nvSpPr>
        <p:spPr bwMode="gray">
          <a:xfrm>
            <a:off x="11562204" y="6471951"/>
            <a:ext cx="49530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fld id="{A4670CCC-B41B-46C1-B4D3-0343C21FDFC0}" type="slidenum">
              <a:rPr lang="en-US" sz="1100" b="1" smtClean="0">
                <a:solidFill>
                  <a:schemeClr val="bg2"/>
                </a:solidFill>
              </a:rPr>
              <a:pPr algn="l"/>
              <a:t>‹#›</a:t>
            </a:fld>
            <a:endParaRPr sz="1100" b="1" dirty="0">
              <a:solidFill>
                <a:schemeClr val="bg2"/>
              </a:solidFill>
            </a:endParaRPr>
          </a:p>
        </p:txBody>
      </p:sp>
      <p:sp>
        <p:nvSpPr>
          <p:cNvPr id="23" name="Content">
            <a:extLst>
              <a:ext uri="{FF2B5EF4-FFF2-40B4-BE49-F238E27FC236}">
                <a16:creationId xmlns:a16="http://schemas.microsoft.com/office/drawing/2014/main" id="{0F542A97-D48E-9C71-7CF0-C83CDFFFDEF3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gray">
          <a:xfrm>
            <a:off x="9589166" y="685800"/>
            <a:ext cx="2286001" cy="60869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9525" indent="0">
              <a:lnSpc>
                <a:spcPct val="85000"/>
              </a:lnSpc>
              <a:spcAft>
                <a:spcPts val="0"/>
              </a:spcAft>
              <a:buClr>
                <a:schemeClr val="bg2"/>
              </a:buClr>
              <a:buNone/>
              <a:defRPr sz="1600" b="1">
                <a:solidFill>
                  <a:schemeClr val="bg2"/>
                </a:solidFill>
                <a:latin typeface="+mj-lt"/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Key message title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F7D9AC0F-561B-DCB7-DDCC-B0D8F45913F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0186670" y="6471952"/>
            <a:ext cx="1346200" cy="15239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sz="1000" spc="100" dirty="0"/>
              <a:t>CONFIDENTIAL</a:t>
            </a:r>
            <a:r>
              <a:rPr lang="en-US" sz="1000" dirty="0"/>
              <a:t>  </a:t>
            </a:r>
            <a:r>
              <a:rPr lang="en-US" dirty="0"/>
              <a:t>|</a:t>
            </a:r>
            <a:endParaRPr lang="en-US" sz="1000" dirty="0"/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83DC5595-305E-6368-B04D-36EE26C602AC}"/>
              </a:ext>
            </a:extLst>
          </p:cNvPr>
          <p:cNvSpPr>
            <a:spLocks noGrp="1"/>
          </p:cNvSpPr>
          <p:nvPr>
            <p:ph idx="12" hasCustomPrompt="1"/>
          </p:nvPr>
        </p:nvSpPr>
        <p:spPr bwMode="gray">
          <a:xfrm>
            <a:off x="9589167" y="1428207"/>
            <a:ext cx="2286001" cy="474399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lnSpc>
                <a:spcPct val="85000"/>
              </a:lnSpc>
              <a:spcAft>
                <a:spcPts val="1200"/>
              </a:spcAft>
              <a:buClr>
                <a:schemeClr val="bg2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Key message</a:t>
            </a:r>
          </a:p>
          <a:p>
            <a:pPr lvl="0"/>
            <a:r>
              <a:rPr lang="en-US" dirty="0"/>
              <a:t>Key message</a:t>
            </a:r>
          </a:p>
          <a:p>
            <a:pPr lvl="0"/>
            <a:r>
              <a:rPr lang="en-US" dirty="0"/>
              <a:t>Key message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11BBEE-FE9E-0347-3CB4-4A060C32D0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100" y="816264"/>
            <a:ext cx="2705100" cy="678324"/>
          </a:xfrm>
          <a:prstGeom prst="rect">
            <a:avLst/>
          </a:prstGeom>
        </p:spPr>
      </p:pic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650B97F6-CDB0-DCED-58D9-30678728B72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09600" y="1428206"/>
            <a:ext cx="8257674" cy="473496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F9713B60-E98B-9B97-34B4-F68198D05E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7488" y="6336793"/>
            <a:ext cx="7329786" cy="422715"/>
          </a:xfrm>
          <a:prstGeom prst="rect">
            <a:avLst/>
          </a:prstGeom>
        </p:spPr>
        <p:txBody>
          <a:bodyPr anchor="ctr"/>
          <a:lstStyle>
            <a:lvl1pPr marL="9525" indent="0">
              <a:lnSpc>
                <a:spcPct val="85000"/>
              </a:lnSpc>
              <a:spcAft>
                <a:spcPts val="0"/>
              </a:spcAft>
              <a:buNone/>
              <a:defRPr sz="1000"/>
            </a:lvl1pPr>
          </a:lstStyle>
          <a:p>
            <a:pPr lvl="0"/>
            <a:r>
              <a:rPr lang="en-US" dirty="0"/>
              <a:t>Click to edit footnote</a:t>
            </a:r>
          </a:p>
        </p:txBody>
      </p:sp>
      <p:sp>
        <p:nvSpPr>
          <p:cNvPr id="13" name="Text Placeholder 24">
            <a:extLst>
              <a:ext uri="{FF2B5EF4-FFF2-40B4-BE49-F238E27FC236}">
                <a16:creationId xmlns:a16="http://schemas.microsoft.com/office/drawing/2014/main" id="{911642E4-8A7C-0430-8194-FE6F6BB874F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99" y="233650"/>
            <a:ext cx="8257673" cy="79017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8317782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4_Title_Subtitle_Blu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ge #">
            <a:extLst>
              <a:ext uri="{FF2B5EF4-FFF2-40B4-BE49-F238E27FC236}">
                <a16:creationId xmlns:a16="http://schemas.microsoft.com/office/drawing/2014/main" id="{6DAF2E15-62C8-7BAE-EAE7-53CC5A8DDFDF}"/>
              </a:ext>
            </a:extLst>
          </p:cNvPr>
          <p:cNvSpPr txBox="1"/>
          <p:nvPr userDrawn="1"/>
        </p:nvSpPr>
        <p:spPr bwMode="gray">
          <a:xfrm>
            <a:off x="11562204" y="6471951"/>
            <a:ext cx="49530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fld id="{A4670CCC-B41B-46C1-B4D3-0343C21FDFC0}" type="slidenum">
              <a:rPr lang="en-US" sz="1100" b="1" smtClean="0">
                <a:solidFill>
                  <a:schemeClr val="bg2"/>
                </a:solidFill>
              </a:rPr>
              <a:pPr algn="l"/>
              <a:t>‹#›</a:t>
            </a:fld>
            <a:endParaRPr sz="1100" b="1" dirty="0">
              <a:solidFill>
                <a:schemeClr val="bg2"/>
              </a:solidFill>
            </a:endParaRPr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7BC0AFB5-BA47-E6AF-CB6A-E41AD67944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186670" y="6471952"/>
            <a:ext cx="1346200" cy="15239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sz="1000" spc="100"/>
              <a:t>CONFIDENTIAL</a:t>
            </a:r>
            <a:r>
              <a:rPr lang="en-US" sz="1000"/>
              <a:t>  </a:t>
            </a:r>
            <a:r>
              <a:rPr lang="en-US"/>
              <a:t>|</a:t>
            </a:r>
            <a:endParaRPr lang="en-US" sz="1000" dirty="0"/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1A65AA92-9FDF-7EE4-5BC0-C64459415CB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7488" y="6336793"/>
            <a:ext cx="7329786" cy="422715"/>
          </a:xfrm>
          <a:prstGeom prst="rect">
            <a:avLst/>
          </a:prstGeom>
        </p:spPr>
        <p:txBody>
          <a:bodyPr anchor="ctr"/>
          <a:lstStyle>
            <a:lvl1pPr marL="9525" indent="0">
              <a:lnSpc>
                <a:spcPct val="85000"/>
              </a:lnSpc>
              <a:spcAft>
                <a:spcPts val="0"/>
              </a:spcAft>
              <a:buNone/>
              <a:defRPr sz="1000"/>
            </a:lvl1pPr>
          </a:lstStyle>
          <a:p>
            <a:pPr lvl="0"/>
            <a:r>
              <a:rPr lang="en-US" dirty="0"/>
              <a:t>Click to edit footnote</a:t>
            </a:r>
          </a:p>
        </p:txBody>
      </p:sp>
      <p:sp>
        <p:nvSpPr>
          <p:cNvPr id="18" name="Content">
            <a:extLst>
              <a:ext uri="{FF2B5EF4-FFF2-40B4-BE49-F238E27FC236}">
                <a16:creationId xmlns:a16="http://schemas.microsoft.com/office/drawing/2014/main" id="{36E8DA89-CF75-DB05-BB1E-6548CBA7D301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gray">
          <a:xfrm>
            <a:off x="9589166" y="685800"/>
            <a:ext cx="2286001" cy="60869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9525" indent="0">
              <a:lnSpc>
                <a:spcPct val="85000"/>
              </a:lnSpc>
              <a:spcAft>
                <a:spcPts val="0"/>
              </a:spcAft>
              <a:buClr>
                <a:schemeClr val="bg2"/>
              </a:buClr>
              <a:buNone/>
              <a:defRPr sz="1600" b="1">
                <a:solidFill>
                  <a:schemeClr val="bg2"/>
                </a:solidFill>
                <a:latin typeface="+mj-lt"/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Key message title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4021CF5-3172-8507-0509-6F7A85EDD4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100" y="1119663"/>
            <a:ext cx="2705100" cy="678324"/>
          </a:xfrm>
          <a:prstGeom prst="rect">
            <a:avLst/>
          </a:prstGeom>
        </p:spPr>
      </p:pic>
      <p:sp>
        <p:nvSpPr>
          <p:cNvPr id="22" name="Content Placeholder 11">
            <a:extLst>
              <a:ext uri="{FF2B5EF4-FFF2-40B4-BE49-F238E27FC236}">
                <a16:creationId xmlns:a16="http://schemas.microsoft.com/office/drawing/2014/main" id="{3AD6B4CF-A655-BE67-FECE-D038E11A2F2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09600" y="1731605"/>
            <a:ext cx="8257674" cy="44315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resentation Subtitle">
            <a:extLst>
              <a:ext uri="{FF2B5EF4-FFF2-40B4-BE49-F238E27FC236}">
                <a16:creationId xmlns:a16="http://schemas.microsoft.com/office/drawing/2014/main" id="{BC6FFA27-B801-3965-F602-C6B9ABBECA3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599" y="1070988"/>
            <a:ext cx="8257675" cy="26161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000" b="0" cap="none" baseline="0">
                <a:solidFill>
                  <a:schemeClr val="accent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26D1357-612D-845B-068A-162D66288C7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99" y="233650"/>
            <a:ext cx="8257673" cy="79017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2" name="Content">
            <a:extLst>
              <a:ext uri="{FF2B5EF4-FFF2-40B4-BE49-F238E27FC236}">
                <a16:creationId xmlns:a16="http://schemas.microsoft.com/office/drawing/2014/main" id="{DE987220-D8D0-1B07-EEF4-4E7A3166C420}"/>
              </a:ext>
            </a:extLst>
          </p:cNvPr>
          <p:cNvSpPr>
            <a:spLocks noGrp="1"/>
          </p:cNvSpPr>
          <p:nvPr>
            <p:ph idx="12" hasCustomPrompt="1"/>
          </p:nvPr>
        </p:nvSpPr>
        <p:spPr bwMode="gray">
          <a:xfrm>
            <a:off x="9589167" y="1428207"/>
            <a:ext cx="2286001" cy="474399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lnSpc>
                <a:spcPct val="85000"/>
              </a:lnSpc>
              <a:spcAft>
                <a:spcPts val="1200"/>
              </a:spcAft>
              <a:buClr>
                <a:schemeClr val="bg2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Key message</a:t>
            </a:r>
          </a:p>
          <a:p>
            <a:pPr lvl="0"/>
            <a:r>
              <a:rPr lang="en-US" dirty="0"/>
              <a:t>Key message</a:t>
            </a:r>
          </a:p>
          <a:p>
            <a:pPr lvl="0"/>
            <a:r>
              <a:rPr lang="en-US" dirty="0"/>
              <a:t>Key message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1075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_Blu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EAE40E3-DF72-44F6-97D9-B98CD2B980E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44600" y="1606550"/>
            <a:ext cx="2082800" cy="2082800"/>
          </a:xfrm>
          <a:prstGeom prst="rect">
            <a:avLst/>
          </a:prstGeom>
        </p:spPr>
        <p:txBody>
          <a:bodyPr/>
          <a:lstStyle>
            <a:lvl1pPr marL="9525" indent="0" algn="ctr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F2BB9C6-66B6-621C-6916-B8A218B9C0A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054600" y="1606550"/>
            <a:ext cx="2082800" cy="2082800"/>
          </a:xfrm>
          <a:prstGeom prst="rect">
            <a:avLst/>
          </a:prstGeom>
        </p:spPr>
        <p:txBody>
          <a:bodyPr/>
          <a:lstStyle>
            <a:lvl1pPr marL="9525" indent="0" algn="ctr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D45DC67-206F-6FBB-4B36-9C599A797A7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864600" y="1606550"/>
            <a:ext cx="2082800" cy="2082800"/>
          </a:xfrm>
          <a:prstGeom prst="rect">
            <a:avLst/>
          </a:prstGeom>
        </p:spPr>
        <p:txBody>
          <a:bodyPr/>
          <a:lstStyle>
            <a:lvl1pPr marL="9525" indent="0" algn="ctr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2" name="Page #">
            <a:extLst>
              <a:ext uri="{FF2B5EF4-FFF2-40B4-BE49-F238E27FC236}">
                <a16:creationId xmlns:a16="http://schemas.microsoft.com/office/drawing/2014/main" id="{1CFD3303-5870-24B2-1E69-4190A58AF4EC}"/>
              </a:ext>
            </a:extLst>
          </p:cNvPr>
          <p:cNvSpPr txBox="1"/>
          <p:nvPr userDrawn="1"/>
        </p:nvSpPr>
        <p:spPr bwMode="gray">
          <a:xfrm>
            <a:off x="11562204" y="6471951"/>
            <a:ext cx="49530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fld id="{A4670CCC-B41B-46C1-B4D3-0343C21FDFC0}" type="slidenum">
              <a:rPr lang="en-US" sz="1100" b="1" smtClean="0">
                <a:solidFill>
                  <a:schemeClr val="bg2"/>
                </a:solidFill>
              </a:rPr>
              <a:pPr algn="l"/>
              <a:t>‹#›</a:t>
            </a:fld>
            <a:endParaRPr sz="1100" b="1" dirty="0">
              <a:solidFill>
                <a:schemeClr val="bg2"/>
              </a:solidFill>
            </a:endParaRPr>
          </a:p>
        </p:txBody>
      </p:sp>
      <p:sp>
        <p:nvSpPr>
          <p:cNvPr id="14" name="Content">
            <a:extLst>
              <a:ext uri="{FF2B5EF4-FFF2-40B4-BE49-F238E27FC236}">
                <a16:creationId xmlns:a16="http://schemas.microsoft.com/office/drawing/2014/main" id="{E571DDD2-72D3-D80A-6035-3D37D810AB25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609600" y="3835400"/>
            <a:ext cx="3352800" cy="2754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9525" indent="0" algn="ctr">
              <a:buClr>
                <a:schemeClr val="bg2"/>
              </a:buClr>
              <a:buNone/>
              <a:defRPr sz="2000" b="1">
                <a:solidFill>
                  <a:schemeClr val="bg2"/>
                </a:solidFill>
              </a:defRPr>
            </a:lvl1pPr>
            <a:lvl2pPr marL="236538" indent="0" algn="ctr">
              <a:buClr>
                <a:schemeClr val="bg2"/>
              </a:buClr>
              <a:buNone/>
              <a:defRPr>
                <a:solidFill>
                  <a:schemeClr val="bg2"/>
                </a:solidFill>
              </a:defRPr>
            </a:lvl2pPr>
            <a:lvl3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dirty="0"/>
              <a:t>Click to edit</a:t>
            </a:r>
            <a:r>
              <a:rPr lang="en-US" dirty="0"/>
              <a:t> headline</a:t>
            </a:r>
            <a:endParaRPr dirty="0"/>
          </a:p>
        </p:txBody>
      </p:sp>
      <p:sp>
        <p:nvSpPr>
          <p:cNvPr id="16" name="Content">
            <a:extLst>
              <a:ext uri="{FF2B5EF4-FFF2-40B4-BE49-F238E27FC236}">
                <a16:creationId xmlns:a16="http://schemas.microsoft.com/office/drawing/2014/main" id="{410D4BE5-04E6-BDFE-59E8-754D01955BE0}"/>
              </a:ext>
            </a:extLst>
          </p:cNvPr>
          <p:cNvSpPr>
            <a:spLocks noGrp="1"/>
          </p:cNvSpPr>
          <p:nvPr>
            <p:ph idx="12" hasCustomPrompt="1"/>
          </p:nvPr>
        </p:nvSpPr>
        <p:spPr bwMode="gray">
          <a:xfrm>
            <a:off x="8229600" y="3835400"/>
            <a:ext cx="3352800" cy="2754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9525" indent="0" algn="ctr">
              <a:buClr>
                <a:schemeClr val="bg2"/>
              </a:buClr>
              <a:buNone/>
              <a:defRPr sz="2000" b="1">
                <a:solidFill>
                  <a:schemeClr val="bg2"/>
                </a:solidFill>
              </a:defRPr>
            </a:lvl1pPr>
            <a:lvl2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headline</a:t>
            </a:r>
          </a:p>
        </p:txBody>
      </p:sp>
      <p:sp>
        <p:nvSpPr>
          <p:cNvPr id="17" name="Content">
            <a:extLst>
              <a:ext uri="{FF2B5EF4-FFF2-40B4-BE49-F238E27FC236}">
                <a16:creationId xmlns:a16="http://schemas.microsoft.com/office/drawing/2014/main" id="{235CBFEB-301F-8FAA-4758-73AA9DF19CFE}"/>
              </a:ext>
            </a:extLst>
          </p:cNvPr>
          <p:cNvSpPr>
            <a:spLocks noGrp="1"/>
          </p:cNvSpPr>
          <p:nvPr>
            <p:ph idx="17" hasCustomPrompt="1"/>
          </p:nvPr>
        </p:nvSpPr>
        <p:spPr bwMode="gray">
          <a:xfrm>
            <a:off x="609600" y="4184181"/>
            <a:ext cx="3352800" cy="160067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9525" indent="0" algn="ctr">
              <a:buClr>
                <a:schemeClr val="bg2"/>
              </a:buClr>
              <a:buNone/>
              <a:defRPr sz="2000" b="0">
                <a:solidFill>
                  <a:schemeClr val="bg2"/>
                </a:solidFill>
              </a:defRPr>
            </a:lvl1pPr>
            <a:lvl2pPr marL="236538" indent="0" algn="ctr">
              <a:buClr>
                <a:schemeClr val="bg2"/>
              </a:buClr>
              <a:buNone/>
              <a:defRPr>
                <a:solidFill>
                  <a:schemeClr val="bg2"/>
                </a:solidFill>
              </a:defRPr>
            </a:lvl2pPr>
            <a:lvl3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dirty="0"/>
              <a:t>Click to edit</a:t>
            </a:r>
            <a:r>
              <a:rPr lang="en-US" dirty="0"/>
              <a:t> </a:t>
            </a:r>
            <a:r>
              <a:rPr dirty="0"/>
              <a:t>text</a:t>
            </a:r>
          </a:p>
        </p:txBody>
      </p:sp>
      <p:sp>
        <p:nvSpPr>
          <p:cNvPr id="19" name="Content">
            <a:extLst>
              <a:ext uri="{FF2B5EF4-FFF2-40B4-BE49-F238E27FC236}">
                <a16:creationId xmlns:a16="http://schemas.microsoft.com/office/drawing/2014/main" id="{693F143F-A0CC-A68D-9ABB-F49B279F3B7D}"/>
              </a:ext>
            </a:extLst>
          </p:cNvPr>
          <p:cNvSpPr>
            <a:spLocks noGrp="1"/>
          </p:cNvSpPr>
          <p:nvPr>
            <p:ph idx="18" hasCustomPrompt="1"/>
          </p:nvPr>
        </p:nvSpPr>
        <p:spPr bwMode="gray">
          <a:xfrm>
            <a:off x="4419600" y="3835400"/>
            <a:ext cx="3352800" cy="2754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9525" indent="0" algn="ctr">
              <a:buClr>
                <a:schemeClr val="bg2"/>
              </a:buClr>
              <a:buNone/>
              <a:defRPr sz="2000" b="1">
                <a:solidFill>
                  <a:schemeClr val="bg2"/>
                </a:solidFill>
              </a:defRPr>
            </a:lvl1pPr>
            <a:lvl2pPr marL="236538" indent="0" algn="ctr">
              <a:buClr>
                <a:schemeClr val="bg2"/>
              </a:buClr>
              <a:buNone/>
              <a:defRPr>
                <a:solidFill>
                  <a:schemeClr val="bg2"/>
                </a:solidFill>
              </a:defRPr>
            </a:lvl2pPr>
            <a:lvl3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headline</a:t>
            </a:r>
          </a:p>
        </p:txBody>
      </p:sp>
      <p:sp>
        <p:nvSpPr>
          <p:cNvPr id="21" name="Content">
            <a:extLst>
              <a:ext uri="{FF2B5EF4-FFF2-40B4-BE49-F238E27FC236}">
                <a16:creationId xmlns:a16="http://schemas.microsoft.com/office/drawing/2014/main" id="{51F45A3E-3278-7D1F-3E4A-34AE40B1AC29}"/>
              </a:ext>
            </a:extLst>
          </p:cNvPr>
          <p:cNvSpPr>
            <a:spLocks noGrp="1"/>
          </p:cNvSpPr>
          <p:nvPr>
            <p:ph idx="19" hasCustomPrompt="1"/>
          </p:nvPr>
        </p:nvSpPr>
        <p:spPr bwMode="gray">
          <a:xfrm>
            <a:off x="4419600" y="4184181"/>
            <a:ext cx="3352800" cy="160067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9525" indent="0" algn="ctr">
              <a:buClr>
                <a:schemeClr val="bg2"/>
              </a:buClr>
              <a:buNone/>
              <a:defRPr sz="2000" b="0">
                <a:solidFill>
                  <a:schemeClr val="bg2"/>
                </a:solidFill>
              </a:defRPr>
            </a:lvl1pPr>
            <a:lvl2pPr marL="236538" indent="0" algn="ctr">
              <a:buClr>
                <a:schemeClr val="bg2"/>
              </a:buClr>
              <a:buNone/>
              <a:defRPr>
                <a:solidFill>
                  <a:schemeClr val="bg2"/>
                </a:solidFill>
              </a:defRPr>
            </a:lvl2pPr>
            <a:lvl3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Content">
            <a:extLst>
              <a:ext uri="{FF2B5EF4-FFF2-40B4-BE49-F238E27FC236}">
                <a16:creationId xmlns:a16="http://schemas.microsoft.com/office/drawing/2014/main" id="{C58A2884-02F8-217A-0C7A-73583B4FA199}"/>
              </a:ext>
            </a:extLst>
          </p:cNvPr>
          <p:cNvSpPr>
            <a:spLocks noGrp="1"/>
          </p:cNvSpPr>
          <p:nvPr>
            <p:ph idx="20" hasCustomPrompt="1"/>
          </p:nvPr>
        </p:nvSpPr>
        <p:spPr bwMode="gray">
          <a:xfrm>
            <a:off x="8229599" y="4184181"/>
            <a:ext cx="3352800" cy="160067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9525" indent="0" algn="ctr">
              <a:buClr>
                <a:schemeClr val="bg2"/>
              </a:buClr>
              <a:buNone/>
              <a:defRPr sz="2000" b="0">
                <a:solidFill>
                  <a:schemeClr val="bg2"/>
                </a:solidFill>
              </a:defRPr>
            </a:lvl1pPr>
            <a:lvl2pPr marL="236538" indent="0" algn="ctr">
              <a:buClr>
                <a:schemeClr val="bg2"/>
              </a:buClr>
              <a:buNone/>
              <a:defRPr>
                <a:solidFill>
                  <a:schemeClr val="bg2"/>
                </a:solidFill>
              </a:defRPr>
            </a:lvl2pPr>
            <a:lvl3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BCE3649A-3992-A826-9FD7-23BCD268F07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10186670" y="6471952"/>
            <a:ext cx="1346200" cy="15239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sz="1000" spc="100"/>
              <a:t>CONFIDENTIAL</a:t>
            </a:r>
            <a:r>
              <a:rPr lang="en-US" sz="1000"/>
              <a:t>  </a:t>
            </a:r>
            <a:r>
              <a:rPr lang="en-US"/>
              <a:t>|</a:t>
            </a:r>
            <a:endParaRPr lang="en-US" sz="10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A7FC6BD-D1FF-0E4E-E495-C51ED73DA4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643" y="6216268"/>
            <a:ext cx="1249885" cy="611953"/>
          </a:xfrm>
          <a:prstGeom prst="rect">
            <a:avLst/>
          </a:prstGeom>
        </p:spPr>
      </p:pic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A65835B4-4467-5C25-67A2-62A7B97E11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" y="5899354"/>
            <a:ext cx="10972799" cy="422715"/>
          </a:xfrm>
          <a:prstGeom prst="rect">
            <a:avLst/>
          </a:prstGeom>
        </p:spPr>
        <p:txBody>
          <a:bodyPr anchor="b"/>
          <a:lstStyle>
            <a:lvl1pPr marL="9525" indent="0">
              <a:lnSpc>
                <a:spcPct val="85000"/>
              </a:lnSpc>
              <a:spcAft>
                <a:spcPts val="0"/>
              </a:spcAft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footnote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A2618B-6960-A630-A725-2BF1917DD8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43450" y="1119663"/>
            <a:ext cx="2705100" cy="678324"/>
          </a:xfrm>
          <a:prstGeom prst="rect">
            <a:avLst/>
          </a:prstGeom>
        </p:spPr>
      </p:pic>
      <p:sp>
        <p:nvSpPr>
          <p:cNvPr id="15" name="Presentation Subtitle">
            <a:extLst>
              <a:ext uri="{FF2B5EF4-FFF2-40B4-BE49-F238E27FC236}">
                <a16:creationId xmlns:a16="http://schemas.microsoft.com/office/drawing/2014/main" id="{B2F43906-B0B7-1C74-FC9F-4D2B362613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599" y="1070988"/>
            <a:ext cx="10972801" cy="26161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000" b="0" cap="none" baseline="0">
                <a:solidFill>
                  <a:schemeClr val="accent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DCC5D872-C38C-FEF8-F951-08E06DF3729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599" y="233650"/>
            <a:ext cx="10972801" cy="790173"/>
          </a:xfr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015355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Dark Blu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age #">
            <a:extLst>
              <a:ext uri="{FF2B5EF4-FFF2-40B4-BE49-F238E27FC236}">
                <a16:creationId xmlns:a16="http://schemas.microsoft.com/office/drawing/2014/main" id="{63C6382E-FC0D-F94D-5F96-4A6E391D2B04}"/>
              </a:ext>
            </a:extLst>
          </p:cNvPr>
          <p:cNvSpPr txBox="1"/>
          <p:nvPr userDrawn="1"/>
        </p:nvSpPr>
        <p:spPr bwMode="gray">
          <a:xfrm>
            <a:off x="11562204" y="6471951"/>
            <a:ext cx="49530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fld id="{A4670CCC-B41B-46C1-B4D3-0343C21FDFC0}" type="slidenum">
              <a:rPr lang="en-US" sz="1100" b="1" smtClean="0">
                <a:solidFill>
                  <a:schemeClr val="bg2"/>
                </a:solidFill>
              </a:rPr>
              <a:pPr algn="l"/>
              <a:t>‹#›</a:t>
            </a:fld>
            <a:endParaRPr sz="1100" b="1" dirty="0">
              <a:solidFill>
                <a:schemeClr val="bg2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DD7401-F195-48D3-525B-755EAD5A1D3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38401" y="3571875"/>
            <a:ext cx="3200400" cy="8506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C03EAD-7A90-17AE-4F14-1EC9178CF91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643" y="6216268"/>
            <a:ext cx="1249885" cy="611953"/>
          </a:xfrm>
          <a:prstGeom prst="rect">
            <a:avLst/>
          </a:prstGeom>
        </p:spPr>
      </p:pic>
      <p:sp>
        <p:nvSpPr>
          <p:cNvPr id="3" name="Presentation Title">
            <a:extLst>
              <a:ext uri="{FF2B5EF4-FFF2-40B4-BE49-F238E27FC236}">
                <a16:creationId xmlns:a16="http://schemas.microsoft.com/office/drawing/2014/main" id="{D25D8102-DE45-D3CA-1340-E6AA51C70A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2705100" y="3097059"/>
            <a:ext cx="8397173" cy="615553"/>
          </a:xfrm>
        </p:spPr>
        <p:txBody>
          <a:bodyPr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4000" b="1" cap="none" normalizeH="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divider slide title </a:t>
            </a:r>
          </a:p>
        </p:txBody>
      </p:sp>
      <p:sp>
        <p:nvSpPr>
          <p:cNvPr id="4" name="Presentation Subtitle">
            <a:extLst>
              <a:ext uri="{FF2B5EF4-FFF2-40B4-BE49-F238E27FC236}">
                <a16:creationId xmlns:a16="http://schemas.microsoft.com/office/drawing/2014/main" id="{7069D5F8-4B0A-9A24-C660-83EB0B599C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2705100" y="4366942"/>
            <a:ext cx="8397241" cy="151702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cap="none" baseline="0">
                <a:solidFill>
                  <a:schemeClr val="bg2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divider slide subtitle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D7BBC4-3A5D-842B-57A7-DF5E0E77E2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86670" y="6471952"/>
            <a:ext cx="1346200" cy="1523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sz="1000" spc="100" dirty="0"/>
              <a:t>CONFIDENTIAL</a:t>
            </a:r>
            <a:r>
              <a:rPr lang="en-US" sz="1000" dirty="0"/>
              <a:t>  </a:t>
            </a:r>
            <a:r>
              <a:rPr lang="en-US" dirty="0"/>
              <a:t>|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552058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ro_Dark Blu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CF779AB-0812-52FE-776B-E228F8C91E9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991" y="4141891"/>
            <a:ext cx="3200400" cy="850612"/>
          </a:xfrm>
          <a:prstGeom prst="rect">
            <a:avLst/>
          </a:prstGeom>
        </p:spPr>
      </p:pic>
      <p:sp>
        <p:nvSpPr>
          <p:cNvPr id="10" name="Page #">
            <a:extLst>
              <a:ext uri="{FF2B5EF4-FFF2-40B4-BE49-F238E27FC236}">
                <a16:creationId xmlns:a16="http://schemas.microsoft.com/office/drawing/2014/main" id="{85AC91C4-6A48-CC3F-9F73-DF913BCF754E}"/>
              </a:ext>
            </a:extLst>
          </p:cNvPr>
          <p:cNvSpPr txBox="1"/>
          <p:nvPr userDrawn="1"/>
        </p:nvSpPr>
        <p:spPr bwMode="gray">
          <a:xfrm>
            <a:off x="11562204" y="6471951"/>
            <a:ext cx="49530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fld id="{A4670CCC-B41B-46C1-B4D3-0343C21FDFC0}" type="slidenum">
              <a:rPr lang="en-US" sz="1100" b="1" smtClean="0">
                <a:solidFill>
                  <a:schemeClr val="bg2"/>
                </a:solidFill>
              </a:rPr>
              <a:pPr algn="l"/>
              <a:t>‹#›</a:t>
            </a:fld>
            <a:endParaRPr sz="1100" b="1" dirty="0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923284B-2873-653B-E233-DA478C5F2C0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643" y="6216268"/>
            <a:ext cx="1249885" cy="611953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AB2CFAC-C885-8113-4541-FEB84A3D6E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86670" y="6471952"/>
            <a:ext cx="1346200" cy="1523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sz="1000" spc="100" dirty="0"/>
              <a:t>CONFIDENTIAL</a:t>
            </a:r>
            <a:r>
              <a:rPr lang="en-US" sz="1000" dirty="0"/>
              <a:t>  </a:t>
            </a:r>
            <a:r>
              <a:rPr lang="en-US" dirty="0"/>
              <a:t>|</a:t>
            </a:r>
            <a:endParaRPr lang="en-US" sz="1000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1A99BCAA-6EB8-61D2-4F3E-F671BCE7365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10250" y="776747"/>
            <a:ext cx="10151513" cy="3598475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None/>
              <a:defRPr sz="48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Insert call-out hero text here.</a:t>
            </a:r>
          </a:p>
        </p:txBody>
      </p:sp>
    </p:spTree>
    <p:extLst>
      <p:ext uri="{BB962C8B-B14F-4D97-AF65-F5344CB8AC3E}">
        <p14:creationId xmlns:p14="http://schemas.microsoft.com/office/powerpoint/2010/main" val="42271374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_Title_Gray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95F9F2-6E2D-8AC0-4B08-99897FFD209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3585E5-413F-5373-EAA1-2135775E01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100" y="816264"/>
            <a:ext cx="2705100" cy="678324"/>
          </a:xfrm>
          <a:prstGeom prst="rect">
            <a:avLst/>
          </a:prstGeom>
        </p:spPr>
      </p:pic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37F53D11-0412-E522-FC00-A859DEA0D9E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09600" y="1428206"/>
            <a:ext cx="3432312" cy="4734969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62F99818-2A34-B2F0-3C0C-EDB514094D4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46551" y="1104375"/>
            <a:ext cx="6235848" cy="5067825"/>
          </a:xfrm>
        </p:spPr>
        <p:txBody>
          <a:bodyPr/>
          <a:lstStyle/>
          <a:p>
            <a:pPr lvl="0"/>
            <a:r>
              <a:rPr lang="en-US" dirty="0"/>
              <a:t>Click to edit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FA258DBF-9C81-C866-E986-A9494FE3E9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46551" y="6336793"/>
            <a:ext cx="4811001" cy="422715"/>
          </a:xfrm>
          <a:prstGeom prst="rect">
            <a:avLst/>
          </a:prstGeom>
        </p:spPr>
        <p:txBody>
          <a:bodyPr anchor="ctr"/>
          <a:lstStyle>
            <a:lvl1pPr marL="9525" indent="0">
              <a:lnSpc>
                <a:spcPct val="85000"/>
              </a:lnSpc>
              <a:spcAft>
                <a:spcPts val="0"/>
              </a:spcAft>
              <a:buNone/>
              <a:defRPr sz="1000"/>
            </a:lvl1pPr>
          </a:lstStyle>
          <a:p>
            <a:pPr lvl="0"/>
            <a:r>
              <a:rPr lang="en-US" dirty="0"/>
              <a:t>Click to edit footnote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52FF53E6-F1C9-9653-BD15-945FF940EB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233650"/>
            <a:ext cx="3783724" cy="79017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0432061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_Title_Subtitle_Gray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6A1FB4-25A9-7A51-2738-9292446791C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D0AEF05B-D67C-5C37-1EE1-2FB2F5C2B1F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46551" y="1104375"/>
            <a:ext cx="6235848" cy="5067825"/>
          </a:xfrm>
        </p:spPr>
        <p:txBody>
          <a:bodyPr/>
          <a:lstStyle/>
          <a:p>
            <a:pPr lvl="0"/>
            <a:r>
              <a:rPr lang="en-US" dirty="0"/>
              <a:t>Click to edit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987EE0-D2AF-AADF-F933-8A8EECF685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100" y="1416380"/>
            <a:ext cx="2705100" cy="678324"/>
          </a:xfrm>
          <a:prstGeom prst="rect">
            <a:avLst/>
          </a:prstGeom>
        </p:spPr>
      </p:pic>
      <p:sp>
        <p:nvSpPr>
          <p:cNvPr id="12" name="Presentation Subtitle">
            <a:extLst>
              <a:ext uri="{FF2B5EF4-FFF2-40B4-BE49-F238E27FC236}">
                <a16:creationId xmlns:a16="http://schemas.microsoft.com/office/drawing/2014/main" id="{BDD77809-196E-2CCF-8987-708F7B83E4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600" y="1104375"/>
            <a:ext cx="3783724" cy="52322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000" b="0" cap="none" baseline="0">
                <a:solidFill>
                  <a:schemeClr val="accent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subtitle on two lines for best layout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B263C5EC-9B94-08CA-DDEE-7F8FFEC463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46551" y="6336793"/>
            <a:ext cx="4811001" cy="422715"/>
          </a:xfrm>
          <a:prstGeom prst="rect">
            <a:avLst/>
          </a:prstGeom>
        </p:spPr>
        <p:txBody>
          <a:bodyPr anchor="ctr"/>
          <a:lstStyle>
            <a:lvl1pPr marL="9525" indent="0">
              <a:lnSpc>
                <a:spcPct val="85000"/>
              </a:lnSpc>
              <a:spcAft>
                <a:spcPts val="0"/>
              </a:spcAft>
              <a:buNone/>
              <a:defRPr sz="1000"/>
            </a:lvl1pPr>
          </a:lstStyle>
          <a:p>
            <a:pPr lvl="0"/>
            <a:r>
              <a:rPr lang="en-US" dirty="0"/>
              <a:t>Click to edit footnote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345A12C-0ACD-53E7-5E13-F8008E05F9FE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09600" y="2028321"/>
            <a:ext cx="3352800" cy="41438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Clr>
                <a:schemeClr val="accent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ED1D001D-6591-1608-0498-138CCC3F6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233650"/>
            <a:ext cx="3783724" cy="79017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459105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Title_Call-out_Gray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60C516-2A64-46D3-895B-0FB50BFC926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">
            <a:extLst>
              <a:ext uri="{FF2B5EF4-FFF2-40B4-BE49-F238E27FC236}">
                <a16:creationId xmlns:a16="http://schemas.microsoft.com/office/drawing/2014/main" id="{DCA43136-60F2-9D0E-F087-2E56F14A6B81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609599" y="1428206"/>
            <a:ext cx="5206999" cy="474399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Clr>
                <a:schemeClr val="accent1"/>
              </a:buClr>
              <a:defRPr>
                <a:solidFill>
                  <a:schemeClr val="accent3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3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3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3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dirty="0"/>
              <a:t>Click to edit</a:t>
            </a:r>
            <a:r>
              <a:rPr lang="en-US" dirty="0"/>
              <a:t> text</a:t>
            </a:r>
            <a:endParaRPr dirty="0"/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11" name="Content">
            <a:extLst>
              <a:ext uri="{FF2B5EF4-FFF2-40B4-BE49-F238E27FC236}">
                <a16:creationId xmlns:a16="http://schemas.microsoft.com/office/drawing/2014/main" id="{C4825237-3674-6820-CA77-6568040B93C6}"/>
              </a:ext>
            </a:extLst>
          </p:cNvPr>
          <p:cNvSpPr>
            <a:spLocks noGrp="1"/>
          </p:cNvSpPr>
          <p:nvPr>
            <p:ph idx="12" hasCustomPrompt="1"/>
          </p:nvPr>
        </p:nvSpPr>
        <p:spPr bwMode="gray">
          <a:xfrm>
            <a:off x="7275442" y="1104376"/>
            <a:ext cx="4306957" cy="50678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9525" indent="0">
              <a:buNone/>
              <a:defRPr sz="4800" b="1">
                <a:solidFill>
                  <a:schemeClr val="tx1"/>
                </a:solidFill>
                <a:latin typeface="+mj-lt"/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dirty="0"/>
              <a:t>Click to edit</a:t>
            </a:r>
            <a:r>
              <a:rPr lang="en-US" dirty="0"/>
              <a:t> text.</a:t>
            </a:r>
            <a:endParaRPr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4365F77-4433-7231-DDA8-DE8861A071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7487" y="6336793"/>
            <a:ext cx="4279113" cy="422715"/>
          </a:xfrm>
          <a:prstGeom prst="rect">
            <a:avLst/>
          </a:prstGeom>
        </p:spPr>
        <p:txBody>
          <a:bodyPr anchor="ctr"/>
          <a:lstStyle>
            <a:lvl1pPr marL="9525" indent="0">
              <a:lnSpc>
                <a:spcPct val="85000"/>
              </a:lnSpc>
              <a:spcAft>
                <a:spcPts val="0"/>
              </a:spcAft>
              <a:buNone/>
              <a:defRPr sz="1000"/>
            </a:lvl1pPr>
          </a:lstStyle>
          <a:p>
            <a:pPr lvl="0"/>
            <a:r>
              <a:rPr lang="en-US" dirty="0"/>
              <a:t>Click to edit footnote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A9243F-962B-FC06-FCF0-9B98974225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100" y="816264"/>
            <a:ext cx="2705100" cy="678324"/>
          </a:xfrm>
          <a:prstGeom prst="rect">
            <a:avLst/>
          </a:prstGeom>
        </p:spPr>
      </p:pic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A75120B9-5D8E-3C00-3D39-5C28480BC2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99" y="233650"/>
            <a:ext cx="5206999" cy="79017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41827210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Title_Subtitle_Call-out_Gray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ABC2CF-7032-E431-15E2-923F376E37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1E70C0-7856-C28F-D84C-7750CB4A6C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100" y="1416380"/>
            <a:ext cx="2705100" cy="678324"/>
          </a:xfrm>
          <a:prstGeom prst="rect">
            <a:avLst/>
          </a:prstGeom>
        </p:spPr>
      </p:pic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2A3895C-CB8A-0E74-0D81-DA81470D855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09600" y="2028321"/>
            <a:ext cx="5207000" cy="41438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Clr>
                <a:schemeClr val="accent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">
            <a:extLst>
              <a:ext uri="{FF2B5EF4-FFF2-40B4-BE49-F238E27FC236}">
                <a16:creationId xmlns:a16="http://schemas.microsoft.com/office/drawing/2014/main" id="{3A13AEC2-8B22-4C61-CBAB-767E5954A6AC}"/>
              </a:ext>
            </a:extLst>
          </p:cNvPr>
          <p:cNvSpPr>
            <a:spLocks noGrp="1"/>
          </p:cNvSpPr>
          <p:nvPr>
            <p:ph idx="12" hasCustomPrompt="1"/>
          </p:nvPr>
        </p:nvSpPr>
        <p:spPr bwMode="gray">
          <a:xfrm>
            <a:off x="7275442" y="1104376"/>
            <a:ext cx="4306957" cy="50678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9525" indent="0">
              <a:buNone/>
              <a:defRPr sz="4800" b="1">
                <a:solidFill>
                  <a:schemeClr val="tx1"/>
                </a:solidFill>
                <a:latin typeface="+mj-lt"/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dirty="0"/>
              <a:t>Click to edit</a:t>
            </a:r>
            <a:r>
              <a:rPr lang="en-US" dirty="0"/>
              <a:t> text.</a:t>
            </a:r>
            <a:endParaRPr dirty="0"/>
          </a:p>
        </p:txBody>
      </p:sp>
      <p:sp>
        <p:nvSpPr>
          <p:cNvPr id="12" name="Presentation Subtitle">
            <a:extLst>
              <a:ext uri="{FF2B5EF4-FFF2-40B4-BE49-F238E27FC236}">
                <a16:creationId xmlns:a16="http://schemas.microsoft.com/office/drawing/2014/main" id="{BF1A2F57-60B2-E8D9-789D-249380894F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600" y="1104375"/>
            <a:ext cx="5207000" cy="52322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000" b="0" cap="none" baseline="0">
                <a:solidFill>
                  <a:schemeClr val="accent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subtitle on two lines for best layout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71E20362-92DE-50D6-7EC6-3E550F6B5E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7487" y="6336793"/>
            <a:ext cx="4279113" cy="422715"/>
          </a:xfrm>
          <a:prstGeom prst="rect">
            <a:avLst/>
          </a:prstGeom>
        </p:spPr>
        <p:txBody>
          <a:bodyPr anchor="ctr"/>
          <a:lstStyle>
            <a:lvl1pPr marL="9525" indent="0">
              <a:lnSpc>
                <a:spcPct val="85000"/>
              </a:lnSpc>
              <a:spcAft>
                <a:spcPts val="0"/>
              </a:spcAft>
              <a:buNone/>
              <a:defRPr sz="1000"/>
            </a:lvl1pPr>
          </a:lstStyle>
          <a:p>
            <a:pPr lvl="0"/>
            <a:r>
              <a:rPr lang="en-US" dirty="0"/>
              <a:t>Click to edit footnote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CAC324A6-9D9D-80AF-188D-5798FB63B7F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99" y="233650"/>
            <a:ext cx="5206999" cy="79017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4077495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_Title_Gray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7E1F2A-0ABE-764C-A5A1-5484B150C51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39B56F-A96C-CBAE-B031-4A63283BA3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100" y="816264"/>
            <a:ext cx="2705100" cy="678324"/>
          </a:xfrm>
          <a:prstGeom prst="rect">
            <a:avLst/>
          </a:prstGeom>
        </p:spPr>
      </p:pic>
      <p:sp>
        <p:nvSpPr>
          <p:cNvPr id="10" name="Content">
            <a:extLst>
              <a:ext uri="{FF2B5EF4-FFF2-40B4-BE49-F238E27FC236}">
                <a16:creationId xmlns:a16="http://schemas.microsoft.com/office/drawing/2014/main" id="{222D2A0E-E47B-D538-1E42-E731ED78C206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609599" y="1428206"/>
            <a:ext cx="3202745" cy="474399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Clr>
                <a:schemeClr val="accent1"/>
              </a:buClr>
              <a:defRPr>
                <a:solidFill>
                  <a:schemeClr val="accent3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3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3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3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dirty="0"/>
              <a:t>Click to edit</a:t>
            </a:r>
            <a:r>
              <a:rPr lang="en-US" dirty="0"/>
              <a:t> text</a:t>
            </a:r>
            <a:endParaRPr dirty="0"/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12" name="Content">
            <a:extLst>
              <a:ext uri="{FF2B5EF4-FFF2-40B4-BE49-F238E27FC236}">
                <a16:creationId xmlns:a16="http://schemas.microsoft.com/office/drawing/2014/main" id="{4BA463F0-7A2A-B66C-A74D-888A138DCA0A}"/>
              </a:ext>
            </a:extLst>
          </p:cNvPr>
          <p:cNvSpPr>
            <a:spLocks noGrp="1"/>
          </p:cNvSpPr>
          <p:nvPr>
            <p:ph idx="12" hasCustomPrompt="1"/>
          </p:nvPr>
        </p:nvSpPr>
        <p:spPr bwMode="gray">
          <a:xfrm>
            <a:off x="5078437" y="1104376"/>
            <a:ext cx="6503964" cy="50678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Clr>
                <a:schemeClr val="accent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dirty="0"/>
              <a:t>Click to edit</a:t>
            </a:r>
            <a:r>
              <a:rPr lang="en-US" dirty="0"/>
              <a:t> text</a:t>
            </a:r>
            <a:endParaRPr dirty="0"/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D5F9FE30-BC95-2F37-BCE6-FDF072E18F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8437" y="6336793"/>
            <a:ext cx="5079115" cy="422715"/>
          </a:xfrm>
          <a:prstGeom prst="rect">
            <a:avLst/>
          </a:prstGeom>
        </p:spPr>
        <p:txBody>
          <a:bodyPr anchor="ctr"/>
          <a:lstStyle>
            <a:lvl1pPr marL="9525" indent="0">
              <a:lnSpc>
                <a:spcPct val="85000"/>
              </a:lnSpc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footnote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30D0579-14E7-AD6D-053E-7DE029FA6D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233650"/>
            <a:ext cx="3455964" cy="79017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2366967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_Title_Subtitle_Gray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57533A-F9D1-D52B-9BF0-9A54CF2DD02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Content">
            <a:extLst>
              <a:ext uri="{FF2B5EF4-FFF2-40B4-BE49-F238E27FC236}">
                <a16:creationId xmlns:a16="http://schemas.microsoft.com/office/drawing/2014/main" id="{11FF7C81-6873-0C05-9D30-D25FF1A54260}"/>
              </a:ext>
            </a:extLst>
          </p:cNvPr>
          <p:cNvSpPr>
            <a:spLocks noGrp="1"/>
          </p:cNvSpPr>
          <p:nvPr>
            <p:ph idx="12" hasCustomPrompt="1"/>
          </p:nvPr>
        </p:nvSpPr>
        <p:spPr bwMode="gray">
          <a:xfrm>
            <a:off x="5078437" y="1104376"/>
            <a:ext cx="6503964" cy="50678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Clr>
                <a:schemeClr val="accent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dirty="0"/>
              <a:t>Click to edit</a:t>
            </a:r>
            <a:r>
              <a:rPr lang="en-US" dirty="0"/>
              <a:t> text</a:t>
            </a:r>
            <a:endParaRPr dirty="0"/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7329B8-3397-13F2-E697-70FECBBAD8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100" y="1416380"/>
            <a:ext cx="2705100" cy="678324"/>
          </a:xfrm>
          <a:prstGeom prst="rect">
            <a:avLst/>
          </a:prstGeom>
        </p:spPr>
      </p:pic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C424908-44B6-BA04-E8FB-10CA0852218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09600" y="2028321"/>
            <a:ext cx="3202745" cy="41438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Clr>
                <a:schemeClr val="accent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resentation Subtitle">
            <a:extLst>
              <a:ext uri="{FF2B5EF4-FFF2-40B4-BE49-F238E27FC236}">
                <a16:creationId xmlns:a16="http://schemas.microsoft.com/office/drawing/2014/main" id="{51DFAEDB-B88E-18BA-D580-64E38ED5A1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600" y="1104375"/>
            <a:ext cx="3455963" cy="52322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000" b="0" cap="none" baseline="0">
                <a:solidFill>
                  <a:schemeClr val="accent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subtitle on two lines for best layout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89A7B55C-A9F2-588F-0BEA-3CB8730E9E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8437" y="6336793"/>
            <a:ext cx="5079115" cy="422715"/>
          </a:xfrm>
          <a:prstGeom prst="rect">
            <a:avLst/>
          </a:prstGeom>
        </p:spPr>
        <p:txBody>
          <a:bodyPr anchor="ctr"/>
          <a:lstStyle>
            <a:lvl1pPr marL="9525" indent="0">
              <a:lnSpc>
                <a:spcPct val="85000"/>
              </a:lnSpc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footnote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28C1EF61-C702-991B-897F-A2392741A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233650"/>
            <a:ext cx="3455964" cy="79017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8948080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4_Title_Gray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280A5-AE37-B5EE-E7CE-AE8B9364A5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Content">
            <a:extLst>
              <a:ext uri="{FF2B5EF4-FFF2-40B4-BE49-F238E27FC236}">
                <a16:creationId xmlns:a16="http://schemas.microsoft.com/office/drawing/2014/main" id="{055436E8-4BBD-A939-D9B3-3D56CFA703FD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gray">
          <a:xfrm>
            <a:off x="9589166" y="685800"/>
            <a:ext cx="2286001" cy="60869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9525" indent="0">
              <a:lnSpc>
                <a:spcPct val="85000"/>
              </a:lnSpc>
              <a:spcAft>
                <a:spcPts val="0"/>
              </a:spcAft>
              <a:buClr>
                <a:schemeClr val="bg2"/>
              </a:buClr>
              <a:buNone/>
              <a:defRPr sz="1600" b="1">
                <a:solidFill>
                  <a:schemeClr val="tx1"/>
                </a:solidFill>
                <a:latin typeface="+mj-lt"/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Key message title</a:t>
            </a:r>
          </a:p>
        </p:txBody>
      </p:sp>
      <p:sp>
        <p:nvSpPr>
          <p:cNvPr id="10" name="Content">
            <a:extLst>
              <a:ext uri="{FF2B5EF4-FFF2-40B4-BE49-F238E27FC236}">
                <a16:creationId xmlns:a16="http://schemas.microsoft.com/office/drawing/2014/main" id="{05D4ABCD-0719-E37D-A0A3-D78A45B15D3F}"/>
              </a:ext>
            </a:extLst>
          </p:cNvPr>
          <p:cNvSpPr>
            <a:spLocks noGrp="1"/>
          </p:cNvSpPr>
          <p:nvPr>
            <p:ph idx="12" hasCustomPrompt="1"/>
          </p:nvPr>
        </p:nvSpPr>
        <p:spPr bwMode="gray">
          <a:xfrm>
            <a:off x="9589167" y="1428207"/>
            <a:ext cx="2286001" cy="474399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lnSpc>
                <a:spcPct val="85000"/>
              </a:lnSpc>
              <a:spcAft>
                <a:spcPts val="1200"/>
              </a:spcAft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Key message</a:t>
            </a:r>
          </a:p>
          <a:p>
            <a:pPr lvl="0"/>
            <a:r>
              <a:rPr lang="en-US" dirty="0"/>
              <a:t>Key message</a:t>
            </a:r>
          </a:p>
          <a:p>
            <a:pPr lvl="0"/>
            <a:r>
              <a:rPr lang="en-US" dirty="0"/>
              <a:t>Key message</a:t>
            </a: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9C5004-7B5B-DC40-993F-8A0A1D2481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100" y="816264"/>
            <a:ext cx="2705100" cy="678324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A792554-ACC8-B990-BCAB-A83C71DA1D6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09600" y="1428206"/>
            <a:ext cx="8257674" cy="473496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F5D2DDFA-88D0-F3A9-ED4D-824CF8BD8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7488" y="6336793"/>
            <a:ext cx="7329786" cy="422715"/>
          </a:xfrm>
          <a:prstGeom prst="rect">
            <a:avLst/>
          </a:prstGeom>
        </p:spPr>
        <p:txBody>
          <a:bodyPr anchor="ctr"/>
          <a:lstStyle>
            <a:lvl1pPr marL="9525" indent="0">
              <a:lnSpc>
                <a:spcPct val="85000"/>
              </a:lnSpc>
              <a:spcAft>
                <a:spcPts val="0"/>
              </a:spcAft>
              <a:buNone/>
              <a:defRPr sz="1000"/>
            </a:lvl1pPr>
          </a:lstStyle>
          <a:p>
            <a:pPr lvl="0"/>
            <a:r>
              <a:rPr lang="en-US" dirty="0"/>
              <a:t>Click to edit footnote</a:t>
            </a: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AA75540F-ABA5-F885-9BD6-BD2D073E482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99" y="233650"/>
            <a:ext cx="8257673" cy="79017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</a:p>
          <a:p>
            <a:pPr lvl="0"/>
            <a:r>
              <a:rPr lang="en-US" dirty="0" err="1"/>
              <a:t>afd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068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4_Title_Subtitle_Gray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B213A1-CBA1-B0C9-46F0-9DC226304C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9EEA9505-C26D-D4CE-0BD9-689D642E22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7488" y="6336793"/>
            <a:ext cx="7329786" cy="422715"/>
          </a:xfrm>
          <a:prstGeom prst="rect">
            <a:avLst/>
          </a:prstGeom>
        </p:spPr>
        <p:txBody>
          <a:bodyPr anchor="ctr"/>
          <a:lstStyle>
            <a:lvl1pPr marL="9525" indent="0">
              <a:lnSpc>
                <a:spcPct val="85000"/>
              </a:lnSpc>
              <a:spcAft>
                <a:spcPts val="0"/>
              </a:spcAft>
              <a:buNone/>
              <a:defRPr sz="1000"/>
            </a:lvl1pPr>
          </a:lstStyle>
          <a:p>
            <a:pPr lvl="0"/>
            <a:r>
              <a:rPr lang="en-US" dirty="0"/>
              <a:t>Click to edit footnote</a:t>
            </a:r>
          </a:p>
        </p:txBody>
      </p:sp>
      <p:sp>
        <p:nvSpPr>
          <p:cNvPr id="12" name="Content">
            <a:extLst>
              <a:ext uri="{FF2B5EF4-FFF2-40B4-BE49-F238E27FC236}">
                <a16:creationId xmlns:a16="http://schemas.microsoft.com/office/drawing/2014/main" id="{45905851-EC65-6A89-9FED-760F7504F170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gray">
          <a:xfrm>
            <a:off x="9589166" y="685800"/>
            <a:ext cx="2286001" cy="60869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9525" indent="0">
              <a:lnSpc>
                <a:spcPct val="85000"/>
              </a:lnSpc>
              <a:spcAft>
                <a:spcPts val="0"/>
              </a:spcAft>
              <a:buClr>
                <a:schemeClr val="bg2"/>
              </a:buClr>
              <a:buNone/>
              <a:defRPr sz="1600" b="1">
                <a:solidFill>
                  <a:schemeClr val="tx1"/>
                </a:solidFill>
                <a:latin typeface="+mj-lt"/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Key message title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F458792-450B-9768-595C-A7F9A1F7C7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100" y="1119663"/>
            <a:ext cx="2705100" cy="678324"/>
          </a:xfrm>
          <a:prstGeom prst="rect">
            <a:avLst/>
          </a:prstGeom>
        </p:spPr>
      </p:pic>
      <p:sp>
        <p:nvSpPr>
          <p:cNvPr id="15" name="Content Placeholder 11">
            <a:extLst>
              <a:ext uri="{FF2B5EF4-FFF2-40B4-BE49-F238E27FC236}">
                <a16:creationId xmlns:a16="http://schemas.microsoft.com/office/drawing/2014/main" id="{A98DDCF4-904E-769C-4856-0ABBB0F1E804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09600" y="1731605"/>
            <a:ext cx="8257674" cy="44315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resentation Subtitle">
            <a:extLst>
              <a:ext uri="{FF2B5EF4-FFF2-40B4-BE49-F238E27FC236}">
                <a16:creationId xmlns:a16="http://schemas.microsoft.com/office/drawing/2014/main" id="{EA06A97D-2827-56FC-8997-C7D94AA165B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599" y="1070988"/>
            <a:ext cx="8257675" cy="26161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000" b="0" cap="none" baseline="0">
                <a:solidFill>
                  <a:schemeClr val="accent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17" name="Content">
            <a:extLst>
              <a:ext uri="{FF2B5EF4-FFF2-40B4-BE49-F238E27FC236}">
                <a16:creationId xmlns:a16="http://schemas.microsoft.com/office/drawing/2014/main" id="{940C9468-DF71-374C-DEEA-D74DEF4F4AAE}"/>
              </a:ext>
            </a:extLst>
          </p:cNvPr>
          <p:cNvSpPr>
            <a:spLocks noGrp="1"/>
          </p:cNvSpPr>
          <p:nvPr>
            <p:ph idx="12" hasCustomPrompt="1"/>
          </p:nvPr>
        </p:nvSpPr>
        <p:spPr bwMode="gray">
          <a:xfrm>
            <a:off x="9589167" y="1428207"/>
            <a:ext cx="2286001" cy="474399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lnSpc>
                <a:spcPct val="85000"/>
              </a:lnSpc>
              <a:spcAft>
                <a:spcPts val="1200"/>
              </a:spcAft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Key message</a:t>
            </a:r>
          </a:p>
          <a:p>
            <a:pPr lvl="0"/>
            <a:r>
              <a:rPr lang="en-US" dirty="0"/>
              <a:t>Key message</a:t>
            </a:r>
          </a:p>
          <a:p>
            <a:pPr lvl="0"/>
            <a:r>
              <a:rPr lang="en-US" dirty="0"/>
              <a:t>Key message</a:t>
            </a:r>
            <a:endParaRPr dirty="0"/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F4ACE3DD-D3FE-DC73-6DA7-951165B1C4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99" y="233650"/>
            <a:ext cx="8257673" cy="79017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40958610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_Gray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F07FE08F-95F7-357E-69C8-FFB216C192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44600" y="1606550"/>
            <a:ext cx="2082800" cy="2082800"/>
          </a:xfrm>
          <a:prstGeom prst="rect">
            <a:avLst/>
          </a:prstGeom>
        </p:spPr>
        <p:txBody>
          <a:bodyPr/>
          <a:lstStyle>
            <a:lvl1pPr marL="9525" indent="0" algn="ctr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ED0FD2F1-5AD4-4969-4BDB-89B49945BA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054600" y="1606550"/>
            <a:ext cx="2082800" cy="2082800"/>
          </a:xfrm>
          <a:prstGeom prst="rect">
            <a:avLst/>
          </a:prstGeom>
        </p:spPr>
        <p:txBody>
          <a:bodyPr/>
          <a:lstStyle>
            <a:lvl1pPr marL="9525" indent="0" algn="ctr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F2092D37-9B9A-337B-D5F2-15BE05C68E6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864600" y="1606550"/>
            <a:ext cx="2082800" cy="2082800"/>
          </a:xfrm>
          <a:prstGeom prst="rect">
            <a:avLst/>
          </a:prstGeom>
        </p:spPr>
        <p:txBody>
          <a:bodyPr/>
          <a:lstStyle>
            <a:lvl1pPr marL="9525" indent="0" algn="ctr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7" name="Content">
            <a:extLst>
              <a:ext uri="{FF2B5EF4-FFF2-40B4-BE49-F238E27FC236}">
                <a16:creationId xmlns:a16="http://schemas.microsoft.com/office/drawing/2014/main" id="{D28D2857-68C3-65AA-9E25-EEA0D2905E40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609600" y="3835400"/>
            <a:ext cx="3352800" cy="2754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9525" indent="0" algn="ctr">
              <a:buClr>
                <a:schemeClr val="bg2"/>
              </a:buClr>
              <a:buNone/>
              <a:defRPr sz="2000" b="1">
                <a:solidFill>
                  <a:schemeClr val="accent3"/>
                </a:solidFill>
              </a:defRPr>
            </a:lvl1pPr>
            <a:lvl2pPr marL="236538" indent="0" algn="ctr">
              <a:buClr>
                <a:schemeClr val="bg2"/>
              </a:buClr>
              <a:buNone/>
              <a:defRPr>
                <a:solidFill>
                  <a:schemeClr val="bg2"/>
                </a:solidFill>
              </a:defRPr>
            </a:lvl2pPr>
            <a:lvl3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headline</a:t>
            </a:r>
          </a:p>
        </p:txBody>
      </p:sp>
      <p:sp>
        <p:nvSpPr>
          <p:cNvPr id="28" name="Content">
            <a:extLst>
              <a:ext uri="{FF2B5EF4-FFF2-40B4-BE49-F238E27FC236}">
                <a16:creationId xmlns:a16="http://schemas.microsoft.com/office/drawing/2014/main" id="{32E586E6-6F2D-AF5F-57A0-03F0B5999371}"/>
              </a:ext>
            </a:extLst>
          </p:cNvPr>
          <p:cNvSpPr>
            <a:spLocks noGrp="1"/>
          </p:cNvSpPr>
          <p:nvPr>
            <p:ph idx="12" hasCustomPrompt="1"/>
          </p:nvPr>
        </p:nvSpPr>
        <p:spPr bwMode="gray">
          <a:xfrm>
            <a:off x="8229600" y="3835400"/>
            <a:ext cx="3352800" cy="2754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9525" indent="0" algn="ctr">
              <a:buClr>
                <a:schemeClr val="bg2"/>
              </a:buClr>
              <a:buNone/>
              <a:defRPr sz="2000" b="1">
                <a:solidFill>
                  <a:schemeClr val="accent3"/>
                </a:solidFill>
              </a:defRPr>
            </a:lvl1pPr>
            <a:lvl2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headline</a:t>
            </a:r>
          </a:p>
        </p:txBody>
      </p:sp>
      <p:sp>
        <p:nvSpPr>
          <p:cNvPr id="30" name="Content">
            <a:extLst>
              <a:ext uri="{FF2B5EF4-FFF2-40B4-BE49-F238E27FC236}">
                <a16:creationId xmlns:a16="http://schemas.microsoft.com/office/drawing/2014/main" id="{AAEFF7F4-3043-E800-B876-76D72DA1314F}"/>
              </a:ext>
            </a:extLst>
          </p:cNvPr>
          <p:cNvSpPr>
            <a:spLocks noGrp="1"/>
          </p:cNvSpPr>
          <p:nvPr>
            <p:ph idx="18" hasCustomPrompt="1"/>
          </p:nvPr>
        </p:nvSpPr>
        <p:spPr bwMode="gray">
          <a:xfrm>
            <a:off x="4419600" y="3835400"/>
            <a:ext cx="3352800" cy="2754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9525" indent="0" algn="ctr">
              <a:buClr>
                <a:schemeClr val="bg2"/>
              </a:buClr>
              <a:buNone/>
              <a:defRPr sz="2000" b="1">
                <a:solidFill>
                  <a:schemeClr val="accent3"/>
                </a:solidFill>
              </a:defRPr>
            </a:lvl1pPr>
            <a:lvl2pPr marL="236538" indent="0" algn="ctr">
              <a:buClr>
                <a:schemeClr val="bg2"/>
              </a:buClr>
              <a:buNone/>
              <a:defRPr>
                <a:solidFill>
                  <a:schemeClr val="bg2"/>
                </a:solidFill>
              </a:defRPr>
            </a:lvl2pPr>
            <a:lvl3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headline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FE26CC4-F122-117E-DF7A-34C0C3ADCD0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DE70AA91-DD5B-F262-9A3E-505B3FB4CF94}"/>
              </a:ext>
            </a:extLst>
          </p:cNvPr>
          <p:cNvSpPr>
            <a:spLocks noGrp="1"/>
          </p:cNvSpPr>
          <p:nvPr>
            <p:ph idx="17" hasCustomPrompt="1"/>
          </p:nvPr>
        </p:nvSpPr>
        <p:spPr bwMode="gray">
          <a:xfrm>
            <a:off x="609600" y="4184181"/>
            <a:ext cx="3352800" cy="160067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9525" indent="0" algn="ctr">
              <a:buClr>
                <a:schemeClr val="bg2"/>
              </a:buClr>
              <a:buNone/>
              <a:defRPr sz="2000" b="0">
                <a:solidFill>
                  <a:schemeClr val="tx1"/>
                </a:solidFill>
              </a:defRPr>
            </a:lvl1pPr>
            <a:lvl2pPr marL="236538" indent="0" algn="ctr">
              <a:buClr>
                <a:schemeClr val="bg2"/>
              </a:buClr>
              <a:buNone/>
              <a:defRPr>
                <a:solidFill>
                  <a:schemeClr val="bg2"/>
                </a:solidFill>
              </a:defRPr>
            </a:lvl2pPr>
            <a:lvl3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dirty="0"/>
              <a:t>Click to edit</a:t>
            </a:r>
            <a:r>
              <a:rPr lang="en-US" dirty="0"/>
              <a:t> </a:t>
            </a:r>
            <a:r>
              <a:rPr dirty="0"/>
              <a:t>text</a:t>
            </a:r>
          </a:p>
        </p:txBody>
      </p:sp>
      <p:sp>
        <p:nvSpPr>
          <p:cNvPr id="4" name="Content">
            <a:extLst>
              <a:ext uri="{FF2B5EF4-FFF2-40B4-BE49-F238E27FC236}">
                <a16:creationId xmlns:a16="http://schemas.microsoft.com/office/drawing/2014/main" id="{DC241EDC-CEC7-06C8-0A58-985241E83D8D}"/>
              </a:ext>
            </a:extLst>
          </p:cNvPr>
          <p:cNvSpPr>
            <a:spLocks noGrp="1"/>
          </p:cNvSpPr>
          <p:nvPr>
            <p:ph idx="19" hasCustomPrompt="1"/>
          </p:nvPr>
        </p:nvSpPr>
        <p:spPr bwMode="gray">
          <a:xfrm>
            <a:off x="4419600" y="4184181"/>
            <a:ext cx="3352800" cy="160067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9525" indent="0" algn="ctr">
              <a:buClr>
                <a:schemeClr val="bg2"/>
              </a:buClr>
              <a:buNone/>
              <a:defRPr sz="2000" b="0">
                <a:solidFill>
                  <a:schemeClr val="tx1"/>
                </a:solidFill>
              </a:defRPr>
            </a:lvl1pPr>
            <a:lvl2pPr marL="236538" indent="0" algn="ctr">
              <a:buClr>
                <a:schemeClr val="bg2"/>
              </a:buClr>
              <a:buNone/>
              <a:defRPr>
                <a:solidFill>
                  <a:schemeClr val="bg2"/>
                </a:solidFill>
              </a:defRPr>
            </a:lvl2pPr>
            <a:lvl3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Content">
            <a:extLst>
              <a:ext uri="{FF2B5EF4-FFF2-40B4-BE49-F238E27FC236}">
                <a16:creationId xmlns:a16="http://schemas.microsoft.com/office/drawing/2014/main" id="{E282DFBF-1248-027E-ABD5-AD2CFD05C736}"/>
              </a:ext>
            </a:extLst>
          </p:cNvPr>
          <p:cNvSpPr>
            <a:spLocks noGrp="1"/>
          </p:cNvSpPr>
          <p:nvPr>
            <p:ph idx="20" hasCustomPrompt="1"/>
          </p:nvPr>
        </p:nvSpPr>
        <p:spPr bwMode="gray">
          <a:xfrm>
            <a:off x="8229599" y="4184181"/>
            <a:ext cx="3352800" cy="160067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9525" indent="0" algn="ctr">
              <a:buClr>
                <a:schemeClr val="bg2"/>
              </a:buClr>
              <a:buNone/>
              <a:defRPr sz="2000" b="0">
                <a:solidFill>
                  <a:schemeClr val="tx1"/>
                </a:solidFill>
              </a:defRPr>
            </a:lvl1pPr>
            <a:lvl2pPr marL="236538" indent="0" algn="ctr">
              <a:buClr>
                <a:schemeClr val="bg2"/>
              </a:buClr>
              <a:buNone/>
              <a:defRPr>
                <a:solidFill>
                  <a:schemeClr val="bg2"/>
                </a:solidFill>
              </a:defRPr>
            </a:lvl2pPr>
            <a:lvl3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 algn="ctr"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FD64B5E0-84CB-88EE-8A61-8B9A60C22A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" y="5899354"/>
            <a:ext cx="10972799" cy="422715"/>
          </a:xfrm>
          <a:prstGeom prst="rect">
            <a:avLst/>
          </a:prstGeom>
        </p:spPr>
        <p:txBody>
          <a:bodyPr anchor="b"/>
          <a:lstStyle>
            <a:lvl1pPr marL="9525" indent="0">
              <a:lnSpc>
                <a:spcPct val="85000"/>
              </a:lnSpc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footnote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1BB7D2-EA54-60DE-DD8D-BFA30E6DDD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43450" y="1119663"/>
            <a:ext cx="2705100" cy="678324"/>
          </a:xfrm>
          <a:prstGeom prst="rect">
            <a:avLst/>
          </a:prstGeom>
        </p:spPr>
      </p:pic>
      <p:sp>
        <p:nvSpPr>
          <p:cNvPr id="9" name="Presentation Subtitle">
            <a:extLst>
              <a:ext uri="{FF2B5EF4-FFF2-40B4-BE49-F238E27FC236}">
                <a16:creationId xmlns:a16="http://schemas.microsoft.com/office/drawing/2014/main" id="{A33420F3-54A4-6958-8061-36F844168E3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599" y="1070988"/>
            <a:ext cx="10972801" cy="26161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000" b="0" cap="none" baseline="0">
                <a:solidFill>
                  <a:schemeClr val="accent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52B2C089-B1DD-E1B5-B8F4-7ED78903E7C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599" y="233650"/>
            <a:ext cx="10972801" cy="790173"/>
          </a:xfr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5701876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BluePurp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08D433-0CCC-0335-EBEA-11E04A30AAC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38401" y="3571875"/>
            <a:ext cx="3200400" cy="850612"/>
          </a:xfrm>
          <a:prstGeom prst="rect">
            <a:avLst/>
          </a:prstGeom>
        </p:spPr>
      </p:pic>
      <p:sp>
        <p:nvSpPr>
          <p:cNvPr id="12" name="Page #">
            <a:extLst>
              <a:ext uri="{FF2B5EF4-FFF2-40B4-BE49-F238E27FC236}">
                <a16:creationId xmlns:a16="http://schemas.microsoft.com/office/drawing/2014/main" id="{AF2558B7-F7AE-C6E1-6B07-AE7B15CF4586}"/>
              </a:ext>
            </a:extLst>
          </p:cNvPr>
          <p:cNvSpPr txBox="1"/>
          <p:nvPr userDrawn="1"/>
        </p:nvSpPr>
        <p:spPr bwMode="gray">
          <a:xfrm>
            <a:off x="11562204" y="6471951"/>
            <a:ext cx="49530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fld id="{A4670CCC-B41B-46C1-B4D3-0343C21FDFC0}" type="slidenum">
              <a:rPr lang="en-US" sz="1100" b="1" smtClean="0">
                <a:solidFill>
                  <a:schemeClr val="bg2"/>
                </a:solidFill>
              </a:rPr>
              <a:pPr algn="l"/>
              <a:t>‹#›</a:t>
            </a:fld>
            <a:endParaRPr sz="1100" b="1" dirty="0">
              <a:solidFill>
                <a:schemeClr val="bg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9EF9D8-7051-6D72-4A4D-CA26DF76147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643" y="6216268"/>
            <a:ext cx="1249885" cy="611953"/>
          </a:xfrm>
          <a:prstGeom prst="rect">
            <a:avLst/>
          </a:prstGeom>
        </p:spPr>
      </p:pic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E843142D-C8F0-DA67-CE34-D2A899133F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2705100" y="3097059"/>
            <a:ext cx="8397173" cy="615553"/>
          </a:xfrm>
        </p:spPr>
        <p:txBody>
          <a:bodyPr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4000" b="1" cap="none" normalizeH="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divider slide title </a:t>
            </a:r>
          </a:p>
        </p:txBody>
      </p:sp>
      <p:sp>
        <p:nvSpPr>
          <p:cNvPr id="4" name="Presentation Subtitle">
            <a:extLst>
              <a:ext uri="{FF2B5EF4-FFF2-40B4-BE49-F238E27FC236}">
                <a16:creationId xmlns:a16="http://schemas.microsoft.com/office/drawing/2014/main" id="{464089D4-A36D-CE91-0CF0-6739FD50B5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2705100" y="4366942"/>
            <a:ext cx="8397241" cy="151702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cap="none" baseline="0">
                <a:solidFill>
                  <a:schemeClr val="bg2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divider slide subtitle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ACD065FD-D689-6FF8-EEA7-63944F2725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86670" y="6471952"/>
            <a:ext cx="1346200" cy="1523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sz="1000" spc="100" dirty="0"/>
              <a:t>CONFIDENTIAL</a:t>
            </a:r>
            <a:r>
              <a:rPr lang="en-US" sz="1000" dirty="0"/>
              <a:t>  </a:t>
            </a:r>
            <a:r>
              <a:rPr lang="en-US" dirty="0"/>
              <a:t>|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863917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ro_BluePurp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CF779AB-0812-52FE-776B-E228F8C91E9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991" y="4141891"/>
            <a:ext cx="3200400" cy="850612"/>
          </a:xfrm>
          <a:prstGeom prst="rect">
            <a:avLst/>
          </a:prstGeom>
        </p:spPr>
      </p:pic>
      <p:sp>
        <p:nvSpPr>
          <p:cNvPr id="10" name="Page #">
            <a:extLst>
              <a:ext uri="{FF2B5EF4-FFF2-40B4-BE49-F238E27FC236}">
                <a16:creationId xmlns:a16="http://schemas.microsoft.com/office/drawing/2014/main" id="{4D637981-8ADC-9734-5A06-EA67019CE7CA}"/>
              </a:ext>
            </a:extLst>
          </p:cNvPr>
          <p:cNvSpPr txBox="1"/>
          <p:nvPr userDrawn="1"/>
        </p:nvSpPr>
        <p:spPr bwMode="gray">
          <a:xfrm>
            <a:off x="11562204" y="6471951"/>
            <a:ext cx="49530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fld id="{A4670CCC-B41B-46C1-B4D3-0343C21FDFC0}" type="slidenum">
              <a:rPr lang="en-US" sz="1100" b="1" smtClean="0">
                <a:solidFill>
                  <a:schemeClr val="bg2"/>
                </a:solidFill>
              </a:rPr>
              <a:pPr algn="l"/>
              <a:t>‹#›</a:t>
            </a:fld>
            <a:endParaRPr sz="1100" b="1" dirty="0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BFEC67-F58B-B90C-55BC-0AED3A72883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643" y="6216268"/>
            <a:ext cx="1249885" cy="611953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46A748D3-575C-EDEC-614C-2D1D3DF898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86670" y="6471952"/>
            <a:ext cx="1346200" cy="1523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sz="1000" spc="100" dirty="0"/>
              <a:t>CONFIDENTIAL</a:t>
            </a:r>
            <a:r>
              <a:rPr lang="en-US" sz="1000" dirty="0"/>
              <a:t>  </a:t>
            </a:r>
            <a:r>
              <a:rPr lang="en-US" dirty="0"/>
              <a:t>|</a:t>
            </a:r>
            <a:endParaRPr lang="en-US" sz="1000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AAA0D689-7B42-630D-CB61-09A24561D5D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10250" y="776747"/>
            <a:ext cx="10151513" cy="3598475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None/>
              <a:defRPr sz="48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Insert call-out hero text here.</a:t>
            </a:r>
          </a:p>
        </p:txBody>
      </p:sp>
    </p:spTree>
    <p:extLst>
      <p:ext uri="{BB962C8B-B14F-4D97-AF65-F5344CB8AC3E}">
        <p14:creationId xmlns:p14="http://schemas.microsoft.com/office/powerpoint/2010/main" val="21282850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Purp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7508018-9430-EA6F-EC0D-935DEC23630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38401" y="3571875"/>
            <a:ext cx="3200400" cy="850612"/>
          </a:xfrm>
          <a:prstGeom prst="rect">
            <a:avLst/>
          </a:prstGeom>
        </p:spPr>
      </p:pic>
      <p:sp>
        <p:nvSpPr>
          <p:cNvPr id="12" name="Page #">
            <a:extLst>
              <a:ext uri="{FF2B5EF4-FFF2-40B4-BE49-F238E27FC236}">
                <a16:creationId xmlns:a16="http://schemas.microsoft.com/office/drawing/2014/main" id="{A5E75EA9-8874-837D-4478-50F33A39D584}"/>
              </a:ext>
            </a:extLst>
          </p:cNvPr>
          <p:cNvSpPr txBox="1"/>
          <p:nvPr userDrawn="1"/>
        </p:nvSpPr>
        <p:spPr bwMode="gray">
          <a:xfrm>
            <a:off x="11562204" y="6471951"/>
            <a:ext cx="49530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fld id="{A4670CCC-B41B-46C1-B4D3-0343C21FDFC0}" type="slidenum">
              <a:rPr lang="en-US" sz="1100" b="1" smtClean="0">
                <a:solidFill>
                  <a:schemeClr val="bg2"/>
                </a:solidFill>
              </a:rPr>
              <a:pPr algn="l"/>
              <a:t>‹#›</a:t>
            </a:fld>
            <a:endParaRPr sz="1100" b="1" dirty="0">
              <a:solidFill>
                <a:schemeClr val="bg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BA9A573-0710-F246-6CCB-0BC31C56EB3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643" y="6216268"/>
            <a:ext cx="1249885" cy="611953"/>
          </a:xfrm>
          <a:prstGeom prst="rect">
            <a:avLst/>
          </a:prstGeom>
        </p:spPr>
      </p:pic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6AB8307A-0D53-C74B-82AC-A82ADFF6A0A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2705100" y="3097059"/>
            <a:ext cx="8397173" cy="615553"/>
          </a:xfrm>
        </p:spPr>
        <p:txBody>
          <a:bodyPr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4000" b="1" cap="none" normalizeH="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divider slide title </a:t>
            </a:r>
          </a:p>
        </p:txBody>
      </p:sp>
      <p:sp>
        <p:nvSpPr>
          <p:cNvPr id="4" name="Presentation Subtitle">
            <a:extLst>
              <a:ext uri="{FF2B5EF4-FFF2-40B4-BE49-F238E27FC236}">
                <a16:creationId xmlns:a16="http://schemas.microsoft.com/office/drawing/2014/main" id="{1AEAB2EC-4841-2EC0-5E0C-58983418CA0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2705100" y="4366942"/>
            <a:ext cx="8397241" cy="151702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cap="none" baseline="0">
                <a:solidFill>
                  <a:schemeClr val="bg2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divider slide subtitle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1DF204A-1D78-C25D-FD62-DE33C4EC6F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86670" y="6471952"/>
            <a:ext cx="1346200" cy="1523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sz="1000" spc="100" dirty="0"/>
              <a:t>CONFIDENTIAL</a:t>
            </a:r>
            <a:r>
              <a:rPr lang="en-US" sz="1000" dirty="0"/>
              <a:t>  </a:t>
            </a:r>
            <a:r>
              <a:rPr lang="en-US" dirty="0"/>
              <a:t>|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730051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ro_Purp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CF779AB-0812-52FE-776B-E228F8C91E9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991" y="4141891"/>
            <a:ext cx="3200400" cy="850612"/>
          </a:xfrm>
          <a:prstGeom prst="rect">
            <a:avLst/>
          </a:prstGeom>
        </p:spPr>
      </p:pic>
      <p:sp>
        <p:nvSpPr>
          <p:cNvPr id="10" name="Page #">
            <a:extLst>
              <a:ext uri="{FF2B5EF4-FFF2-40B4-BE49-F238E27FC236}">
                <a16:creationId xmlns:a16="http://schemas.microsoft.com/office/drawing/2014/main" id="{2847B148-2AC9-CA1F-D381-A76E9678AD31}"/>
              </a:ext>
            </a:extLst>
          </p:cNvPr>
          <p:cNvSpPr txBox="1"/>
          <p:nvPr userDrawn="1"/>
        </p:nvSpPr>
        <p:spPr bwMode="gray">
          <a:xfrm>
            <a:off x="11562204" y="6471951"/>
            <a:ext cx="49530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fld id="{A4670CCC-B41B-46C1-B4D3-0343C21FDFC0}" type="slidenum">
              <a:rPr lang="en-US" sz="1100" b="1" smtClean="0">
                <a:solidFill>
                  <a:schemeClr val="bg2"/>
                </a:solidFill>
              </a:rPr>
              <a:pPr algn="l"/>
              <a:t>‹#›</a:t>
            </a:fld>
            <a:endParaRPr sz="1100" b="1" dirty="0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B324C9-885A-8323-B7AE-0C072997B4B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643" y="6216268"/>
            <a:ext cx="1249885" cy="61195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FF1E95-8F2C-98CC-BC20-4F15CEBFF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86670" y="6471952"/>
            <a:ext cx="1346200" cy="1523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sz="1000" spc="100" dirty="0"/>
              <a:t>CONFIDENTIAL</a:t>
            </a:r>
            <a:r>
              <a:rPr lang="en-US" sz="1000" dirty="0"/>
              <a:t>  </a:t>
            </a:r>
            <a:r>
              <a:rPr lang="en-US" dirty="0"/>
              <a:t>|</a:t>
            </a:r>
            <a:endParaRPr lang="en-US" sz="1000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E0B1E1B7-367F-2974-876F-E0CC740270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10250" y="776747"/>
            <a:ext cx="10151513" cy="3598475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None/>
              <a:defRPr sz="48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Insert call-out hero text here.</a:t>
            </a:r>
          </a:p>
        </p:txBody>
      </p:sp>
    </p:spTree>
    <p:extLst>
      <p:ext uri="{BB962C8B-B14F-4D97-AF65-F5344CB8AC3E}">
        <p14:creationId xmlns:p14="http://schemas.microsoft.com/office/powerpoint/2010/main" val="10425434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Red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FACAB37-C056-D5AE-5FD3-B87ACD1895C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38401" y="3571875"/>
            <a:ext cx="3200400" cy="850612"/>
          </a:xfrm>
          <a:prstGeom prst="rect">
            <a:avLst/>
          </a:prstGeom>
        </p:spPr>
      </p:pic>
      <p:sp>
        <p:nvSpPr>
          <p:cNvPr id="14" name="Page #">
            <a:extLst>
              <a:ext uri="{FF2B5EF4-FFF2-40B4-BE49-F238E27FC236}">
                <a16:creationId xmlns:a16="http://schemas.microsoft.com/office/drawing/2014/main" id="{872B1C00-E5DF-646B-96E1-A9950E9410C6}"/>
              </a:ext>
            </a:extLst>
          </p:cNvPr>
          <p:cNvSpPr txBox="1"/>
          <p:nvPr userDrawn="1"/>
        </p:nvSpPr>
        <p:spPr bwMode="gray">
          <a:xfrm>
            <a:off x="11562204" y="6471951"/>
            <a:ext cx="49530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fld id="{A4670CCC-B41B-46C1-B4D3-0343C21FDFC0}" type="slidenum">
              <a:rPr lang="en-US" sz="1100" b="1" smtClean="0">
                <a:solidFill>
                  <a:schemeClr val="bg2"/>
                </a:solidFill>
              </a:rPr>
              <a:pPr algn="l"/>
              <a:t>‹#›</a:t>
            </a:fld>
            <a:endParaRPr sz="1100" b="1" dirty="0">
              <a:solidFill>
                <a:schemeClr val="bg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1DA7CA1-DDFE-8E42-1E6D-EADB71B618C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643" y="6216268"/>
            <a:ext cx="1249885" cy="611953"/>
          </a:xfrm>
          <a:prstGeom prst="rect">
            <a:avLst/>
          </a:prstGeom>
        </p:spPr>
      </p:pic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67EDB9B7-6647-DC34-4F48-65AF58F755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2705100" y="3097059"/>
            <a:ext cx="8397173" cy="615553"/>
          </a:xfrm>
        </p:spPr>
        <p:txBody>
          <a:bodyPr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4000" b="1" cap="none" normalizeH="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divider slide title </a:t>
            </a:r>
          </a:p>
        </p:txBody>
      </p:sp>
      <p:sp>
        <p:nvSpPr>
          <p:cNvPr id="4" name="Presentation Subtitle">
            <a:extLst>
              <a:ext uri="{FF2B5EF4-FFF2-40B4-BE49-F238E27FC236}">
                <a16:creationId xmlns:a16="http://schemas.microsoft.com/office/drawing/2014/main" id="{D32FCED1-D5DC-9837-8419-84204CFB2DC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2705100" y="4366942"/>
            <a:ext cx="8397241" cy="151702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cap="none" baseline="0">
                <a:solidFill>
                  <a:schemeClr val="bg2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divider slide subtitle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1F6CEAE1-60E5-79FB-D291-9B63A386F2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86670" y="6471952"/>
            <a:ext cx="1346200" cy="1523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sz="1000" spc="100" dirty="0"/>
              <a:t>CONFIDENTIAL</a:t>
            </a:r>
            <a:r>
              <a:rPr lang="en-US" sz="1000" dirty="0"/>
              <a:t>  </a:t>
            </a:r>
            <a:r>
              <a:rPr lang="en-US" dirty="0"/>
              <a:t>|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832393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ro_Red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CF779AB-0812-52FE-776B-E228F8C91E9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991" y="4141891"/>
            <a:ext cx="3200400" cy="850612"/>
          </a:xfrm>
          <a:prstGeom prst="rect">
            <a:avLst/>
          </a:prstGeom>
        </p:spPr>
      </p:pic>
      <p:sp>
        <p:nvSpPr>
          <p:cNvPr id="11" name="Page #">
            <a:extLst>
              <a:ext uri="{FF2B5EF4-FFF2-40B4-BE49-F238E27FC236}">
                <a16:creationId xmlns:a16="http://schemas.microsoft.com/office/drawing/2014/main" id="{4E4B5FE6-CD48-E63B-993C-A064D34D00E3}"/>
              </a:ext>
            </a:extLst>
          </p:cNvPr>
          <p:cNvSpPr txBox="1"/>
          <p:nvPr userDrawn="1"/>
        </p:nvSpPr>
        <p:spPr bwMode="gray">
          <a:xfrm>
            <a:off x="11562204" y="6471951"/>
            <a:ext cx="49530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fld id="{A4670CCC-B41B-46C1-B4D3-0343C21FDFC0}" type="slidenum">
              <a:rPr lang="en-US" sz="1100" b="1" smtClean="0">
                <a:solidFill>
                  <a:schemeClr val="bg2"/>
                </a:solidFill>
              </a:rPr>
              <a:pPr algn="l"/>
              <a:t>‹#›</a:t>
            </a:fld>
            <a:endParaRPr sz="1100" b="1" dirty="0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18E46E-B4AF-6743-BFBE-020C0E2C6CC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643" y="6216268"/>
            <a:ext cx="1249885" cy="611953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18036A4-0659-6BB2-ADCA-690E519D6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86670" y="6471952"/>
            <a:ext cx="1346200" cy="1523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sz="1000" spc="100" dirty="0"/>
              <a:t>CONFIDENTIAL</a:t>
            </a:r>
            <a:r>
              <a:rPr lang="en-US" sz="1000" dirty="0"/>
              <a:t>  </a:t>
            </a:r>
            <a:r>
              <a:rPr lang="en-US" dirty="0"/>
              <a:t>|</a:t>
            </a:r>
            <a:endParaRPr lang="en-US" sz="1000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67DC21D8-FBC1-9836-2EEF-E584DEA3747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10250" y="776747"/>
            <a:ext cx="10151513" cy="3598475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None/>
              <a:defRPr sz="48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Insert call-out hero text here.</a:t>
            </a:r>
          </a:p>
        </p:txBody>
      </p:sp>
    </p:spTree>
    <p:extLst>
      <p:ext uri="{BB962C8B-B14F-4D97-AF65-F5344CB8AC3E}">
        <p14:creationId xmlns:p14="http://schemas.microsoft.com/office/powerpoint/2010/main" val="168583002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CF779AB-0812-52FE-776B-E228F8C91E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991" y="4141891"/>
            <a:ext cx="3200400" cy="850612"/>
          </a:xfrm>
          <a:prstGeom prst="rect">
            <a:avLst/>
          </a:prstGeom>
        </p:spPr>
      </p:pic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B1A0E2D2-3BE0-84E2-B17A-AE796C67DE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186670" y="6471952"/>
            <a:ext cx="1346200" cy="15239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sz="1000" spc="100"/>
              <a:t>CONFIDENTIAL</a:t>
            </a:r>
            <a:r>
              <a:rPr lang="en-US" sz="1000"/>
              <a:t>  </a:t>
            </a:r>
            <a:r>
              <a:rPr lang="en-US"/>
              <a:t>|</a:t>
            </a:r>
            <a:endParaRPr lang="en-US" sz="1000" dirty="0"/>
          </a:p>
        </p:txBody>
      </p:sp>
      <p:sp>
        <p:nvSpPr>
          <p:cNvPr id="12" name="Page #">
            <a:extLst>
              <a:ext uri="{FF2B5EF4-FFF2-40B4-BE49-F238E27FC236}">
                <a16:creationId xmlns:a16="http://schemas.microsoft.com/office/drawing/2014/main" id="{0C6D9800-10F8-181C-7E81-29D6D47285EA}"/>
              </a:ext>
            </a:extLst>
          </p:cNvPr>
          <p:cNvSpPr txBox="1"/>
          <p:nvPr userDrawn="1"/>
        </p:nvSpPr>
        <p:spPr bwMode="gray">
          <a:xfrm>
            <a:off x="11562204" y="6471951"/>
            <a:ext cx="49530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fld id="{A4670CCC-B41B-46C1-B4D3-0343C21FDFC0}" type="slidenum">
              <a:rPr lang="en-US" sz="1100" b="1" smtClean="0">
                <a:solidFill>
                  <a:schemeClr val="bg2"/>
                </a:solidFill>
              </a:rPr>
              <a:pPr algn="l"/>
              <a:t>‹#›</a:t>
            </a:fld>
            <a:endParaRPr sz="1100" b="1" dirty="0">
              <a:solidFill>
                <a:schemeClr val="bg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22ED4A-59CF-F087-F9E2-560A3951800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643" y="6216268"/>
            <a:ext cx="1249885" cy="611953"/>
          </a:xfrm>
          <a:prstGeom prst="rect">
            <a:avLst/>
          </a:prstGeom>
        </p:spPr>
      </p:pic>
      <p:sp>
        <p:nvSpPr>
          <p:cNvPr id="4" name="Presentation Title">
            <a:extLst>
              <a:ext uri="{FF2B5EF4-FFF2-40B4-BE49-F238E27FC236}">
                <a16:creationId xmlns:a16="http://schemas.microsoft.com/office/drawing/2014/main" id="{A323970B-2EFD-2E21-BC71-424C40CE28E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1410690" y="776749"/>
            <a:ext cx="10151514" cy="3598474"/>
          </a:xfrm>
        </p:spPr>
        <p:txBody>
          <a:bodyPr lIns="0" tIns="0" rIns="0" bIns="0" anchor="b" anchorCtr="0">
            <a:normAutofit/>
          </a:bodyPr>
          <a:lstStyle>
            <a:lvl1pPr algn="l">
              <a:defRPr sz="17500" b="1" cap="none" normalizeH="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21881986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">
            <a:extLst>
              <a:ext uri="{FF2B5EF4-FFF2-40B4-BE49-F238E27FC236}">
                <a16:creationId xmlns:a16="http://schemas.microsoft.com/office/drawing/2014/main" id="{262A196E-EC55-B0DE-CE84-13D6D5D79D05}"/>
              </a:ext>
            </a:extLst>
          </p:cNvPr>
          <p:cNvSpPr>
            <a:spLocks noGrp="1"/>
          </p:cNvSpPr>
          <p:nvPr>
            <p:ph idx="15" hasCustomPrompt="1"/>
          </p:nvPr>
        </p:nvSpPr>
        <p:spPr bwMode="gray">
          <a:xfrm>
            <a:off x="4406096" y="2211140"/>
            <a:ext cx="3352800" cy="29794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9525" indent="0" algn="l">
              <a:buClr>
                <a:schemeClr val="bg2"/>
              </a:buClr>
              <a:buNone/>
              <a:defRPr b="1">
                <a:solidFill>
                  <a:schemeClr val="bg2"/>
                </a:solidFill>
              </a:defRPr>
            </a:lvl1pPr>
            <a:lvl2pPr algn="l"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 algn="l"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 algn="l"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 algn="l"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enter name</a:t>
            </a:r>
          </a:p>
        </p:txBody>
      </p:sp>
      <p:sp>
        <p:nvSpPr>
          <p:cNvPr id="5" name="Content">
            <a:extLst>
              <a:ext uri="{FF2B5EF4-FFF2-40B4-BE49-F238E27FC236}">
                <a16:creationId xmlns:a16="http://schemas.microsoft.com/office/drawing/2014/main" id="{4EDA5BDE-0105-70FA-2ECD-DC51C948FE65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4406096" y="2593104"/>
            <a:ext cx="3352800" cy="133098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9525" indent="0" algn="l">
              <a:buClr>
                <a:schemeClr val="bg2"/>
              </a:buClr>
              <a:buNone/>
              <a:defRPr sz="2000">
                <a:solidFill>
                  <a:schemeClr val="bg2"/>
                </a:solidFill>
              </a:defRPr>
            </a:lvl1pPr>
            <a:lvl2pPr marL="236538" indent="0" algn="l">
              <a:buClr>
                <a:schemeClr val="bg2"/>
              </a:buClr>
              <a:buNone/>
              <a:defRPr>
                <a:solidFill>
                  <a:schemeClr val="bg2"/>
                </a:solidFill>
              </a:defRPr>
            </a:lvl2pPr>
            <a:lvl3pPr marL="461963" indent="0" algn="l">
              <a:buClr>
                <a:schemeClr val="bg2"/>
              </a:buClr>
              <a:buNone/>
              <a:defRPr>
                <a:solidFill>
                  <a:schemeClr val="bg2"/>
                </a:solidFill>
              </a:defRPr>
            </a:lvl3pPr>
            <a:lvl4pPr marL="687387" indent="0" algn="l">
              <a:buClr>
                <a:schemeClr val="bg2"/>
              </a:buClr>
              <a:buNone/>
              <a:defRPr>
                <a:solidFill>
                  <a:schemeClr val="bg2"/>
                </a:solidFill>
              </a:defRPr>
            </a:lvl4pPr>
            <a:lvl5pPr marL="914400" indent="0" algn="l">
              <a:buClr>
                <a:schemeClr val="bg2"/>
              </a:buClr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enter email/info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8C71281E-119F-B4A5-1C4B-125CF7C7498C}"/>
              </a:ext>
            </a:extLst>
          </p:cNvPr>
          <p:cNvSpPr>
            <a:spLocks noGrp="1"/>
          </p:cNvSpPr>
          <p:nvPr>
            <p:ph idx="17" hasCustomPrompt="1"/>
          </p:nvPr>
        </p:nvSpPr>
        <p:spPr bwMode="gray">
          <a:xfrm>
            <a:off x="8225742" y="2211140"/>
            <a:ext cx="3352800" cy="29794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9525" indent="0" algn="l">
              <a:buClr>
                <a:schemeClr val="bg2"/>
              </a:buClr>
              <a:buNone/>
              <a:defRPr b="1">
                <a:solidFill>
                  <a:schemeClr val="bg2"/>
                </a:solidFill>
              </a:defRPr>
            </a:lvl1pPr>
            <a:lvl2pPr algn="l"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 algn="l"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 algn="l"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 algn="l"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enter name</a:t>
            </a:r>
          </a:p>
        </p:txBody>
      </p:sp>
      <p:sp>
        <p:nvSpPr>
          <p:cNvPr id="7" name="Content">
            <a:extLst>
              <a:ext uri="{FF2B5EF4-FFF2-40B4-BE49-F238E27FC236}">
                <a16:creationId xmlns:a16="http://schemas.microsoft.com/office/drawing/2014/main" id="{8B15AB6D-BA73-4CCF-9A8E-99275D781732}"/>
              </a:ext>
            </a:extLst>
          </p:cNvPr>
          <p:cNvSpPr>
            <a:spLocks noGrp="1"/>
          </p:cNvSpPr>
          <p:nvPr>
            <p:ph idx="18" hasCustomPrompt="1"/>
          </p:nvPr>
        </p:nvSpPr>
        <p:spPr bwMode="gray">
          <a:xfrm>
            <a:off x="8225742" y="2593104"/>
            <a:ext cx="3352800" cy="133098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9525" indent="0" algn="l">
              <a:buClr>
                <a:schemeClr val="bg2"/>
              </a:buClr>
              <a:buNone/>
              <a:defRPr sz="2000">
                <a:solidFill>
                  <a:schemeClr val="bg2"/>
                </a:solidFill>
              </a:defRPr>
            </a:lvl1pPr>
            <a:lvl2pPr marL="236538" indent="0" algn="l">
              <a:buClr>
                <a:schemeClr val="bg2"/>
              </a:buClr>
              <a:buNone/>
              <a:defRPr>
                <a:solidFill>
                  <a:schemeClr val="bg2"/>
                </a:solidFill>
              </a:defRPr>
            </a:lvl2pPr>
            <a:lvl3pPr marL="461963" indent="0" algn="l">
              <a:buClr>
                <a:schemeClr val="bg2"/>
              </a:buClr>
              <a:buNone/>
              <a:defRPr>
                <a:solidFill>
                  <a:schemeClr val="bg2"/>
                </a:solidFill>
              </a:defRPr>
            </a:lvl3pPr>
            <a:lvl4pPr marL="687387" indent="0" algn="l">
              <a:buClr>
                <a:schemeClr val="bg2"/>
              </a:buClr>
              <a:buNone/>
              <a:defRPr>
                <a:solidFill>
                  <a:schemeClr val="bg2"/>
                </a:solidFill>
              </a:defRPr>
            </a:lvl4pPr>
            <a:lvl5pPr marL="914400" indent="0" algn="l">
              <a:buClr>
                <a:schemeClr val="bg2"/>
              </a:buClr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enter email/info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278CF7B-7838-24EC-FC0A-10AC7E3098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2900" y="1274005"/>
            <a:ext cx="3200400" cy="850612"/>
          </a:xfrm>
          <a:prstGeom prst="rect">
            <a:avLst/>
          </a:prstGeom>
        </p:spPr>
      </p:pic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E2438A6A-6CF3-4B8D-94F7-4175BB9FD4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09599" y="466825"/>
            <a:ext cx="10968943" cy="1078799"/>
          </a:xfrm>
        </p:spPr>
        <p:txBody>
          <a:bodyPr lIns="0" tIns="0" rIns="0" bIns="0" anchor="b" anchorCtr="0">
            <a:noAutofit/>
          </a:bodyPr>
          <a:lstStyle>
            <a:lvl1pPr algn="l">
              <a:defRPr sz="6000" b="1" cap="none" normalizeH="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Thank you!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750D67-EC49-5D5E-C0B5-D376B884FA1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72512" y="5337447"/>
            <a:ext cx="2809888" cy="1375741"/>
          </a:xfrm>
          <a:prstGeom prst="rect">
            <a:avLst/>
          </a:prstGeom>
        </p:spPr>
      </p:pic>
      <p:sp>
        <p:nvSpPr>
          <p:cNvPr id="8" name="Content">
            <a:extLst>
              <a:ext uri="{FF2B5EF4-FFF2-40B4-BE49-F238E27FC236}">
                <a16:creationId xmlns:a16="http://schemas.microsoft.com/office/drawing/2014/main" id="{E1726297-D0CE-F8A0-D75D-962C76970F0A}"/>
              </a:ext>
            </a:extLst>
          </p:cNvPr>
          <p:cNvSpPr>
            <a:spLocks noGrp="1"/>
          </p:cNvSpPr>
          <p:nvPr>
            <p:ph idx="11" hasCustomPrompt="1"/>
          </p:nvPr>
        </p:nvSpPr>
        <p:spPr bwMode="gray">
          <a:xfrm>
            <a:off x="609600" y="2211140"/>
            <a:ext cx="3352800" cy="29794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9525" indent="0" algn="l">
              <a:buClr>
                <a:schemeClr val="bg2"/>
              </a:buClr>
              <a:buNone/>
              <a:defRPr b="1">
                <a:solidFill>
                  <a:schemeClr val="bg2"/>
                </a:solidFill>
              </a:defRPr>
            </a:lvl1pPr>
            <a:lvl2pPr algn="l"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 algn="l"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 algn="l"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 algn="l"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enter name</a:t>
            </a:r>
            <a:endParaRPr dirty="0"/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D918889F-BCDB-F16A-ABDD-224D130884AE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609600" y="2593104"/>
            <a:ext cx="3352800" cy="133098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9525" indent="0" algn="l">
              <a:buClr>
                <a:schemeClr val="bg2"/>
              </a:buClr>
              <a:buNone/>
              <a:defRPr sz="2000">
                <a:solidFill>
                  <a:schemeClr val="bg2"/>
                </a:solidFill>
              </a:defRPr>
            </a:lvl1pPr>
            <a:lvl2pPr marL="236538" indent="0" algn="l">
              <a:buClr>
                <a:schemeClr val="bg2"/>
              </a:buClr>
              <a:buNone/>
              <a:defRPr>
                <a:solidFill>
                  <a:schemeClr val="bg2"/>
                </a:solidFill>
              </a:defRPr>
            </a:lvl2pPr>
            <a:lvl3pPr marL="461963" indent="0" algn="l">
              <a:buClr>
                <a:schemeClr val="bg2"/>
              </a:buClr>
              <a:buNone/>
              <a:defRPr>
                <a:solidFill>
                  <a:schemeClr val="bg2"/>
                </a:solidFill>
              </a:defRPr>
            </a:lvl3pPr>
            <a:lvl4pPr marL="687387" indent="0" algn="l">
              <a:buClr>
                <a:schemeClr val="bg2"/>
              </a:buClr>
              <a:buNone/>
              <a:defRPr>
                <a:solidFill>
                  <a:schemeClr val="bg2"/>
                </a:solidFill>
              </a:defRPr>
            </a:lvl4pPr>
            <a:lvl5pPr marL="914400" indent="0" algn="l">
              <a:buClr>
                <a:schemeClr val="bg2"/>
              </a:buClr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enter email/info</a:t>
            </a:r>
            <a:endParaRPr dirty="0"/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4F043EBF-8923-8336-DB19-1CE11CEB24D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9599" y="6443530"/>
            <a:ext cx="1266016" cy="138939"/>
          </a:xfrm>
        </p:spPr>
        <p:txBody>
          <a:bodyPr lIns="0" tIns="0" rIns="0" bIns="0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sz="1000" spc="100"/>
              <a:t>CONFIDENTIAL</a:t>
            </a:r>
            <a:r>
              <a:rPr lang="en-US" sz="1000"/>
              <a:t>  |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88270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79FE5F-696C-FE88-9CDF-65AA3A618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86670" y="6471952"/>
            <a:ext cx="1346200" cy="1523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0" lang="en-US" sz="1000" b="0" i="0" u="none" strike="noStrike" kern="1200" cap="none" spc="100" normalizeH="0" baseline="0" noProof="0" dirty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Slide Title"/>
          <p:cNvSpPr>
            <a:spLocks noGrp="1"/>
          </p:cNvSpPr>
          <p:nvPr>
            <p:ph type="title"/>
          </p:nvPr>
        </p:nvSpPr>
        <p:spPr bwMode="gray">
          <a:xfrm>
            <a:off x="609599" y="510046"/>
            <a:ext cx="10972801" cy="366254"/>
          </a:xfrm>
          <a:prstGeom prst="rect">
            <a:avLst/>
          </a:prstGeom>
        </p:spPr>
        <p:txBody>
          <a:bodyPr vert="horz" lIns="9144" tIns="0" rIns="0" bIns="0" rtlCol="0" anchor="b">
            <a:normAutofit/>
          </a:bodyPr>
          <a:lstStyle/>
          <a:p>
            <a:r>
              <a:rPr dirty="0"/>
              <a:t>Click to edit</a:t>
            </a:r>
            <a:r>
              <a:rPr lang="en-US" dirty="0"/>
              <a:t> title</a:t>
            </a:r>
            <a:endParaRPr dirty="0"/>
          </a:p>
        </p:txBody>
      </p:sp>
      <p:sp>
        <p:nvSpPr>
          <p:cNvPr id="26" name="Page #">
            <a:extLst>
              <a:ext uri="{FF2B5EF4-FFF2-40B4-BE49-F238E27FC236}">
                <a16:creationId xmlns:a16="http://schemas.microsoft.com/office/drawing/2014/main" id="{54BD5AAE-87BC-2B52-8A66-6ACB6D288095}"/>
              </a:ext>
            </a:extLst>
          </p:cNvPr>
          <p:cNvSpPr txBox="1"/>
          <p:nvPr userDrawn="1"/>
        </p:nvSpPr>
        <p:spPr bwMode="gray">
          <a:xfrm>
            <a:off x="11562204" y="6471951"/>
            <a:ext cx="49530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fld id="{A4670CCC-B41B-46C1-B4D3-0343C21FDFC0}" type="slidenum">
              <a:rPr lang="en-US" sz="1100" b="1" smtClean="0">
                <a:solidFill>
                  <a:schemeClr val="accent1"/>
                </a:solidFill>
              </a:rPr>
              <a:pPr algn="l"/>
              <a:t>‹#›</a:t>
            </a:fld>
            <a:endParaRPr sz="1100" b="1" dirty="0">
              <a:solidFill>
                <a:schemeClr val="accent1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8E408FB-6BFE-E504-4E3C-C77107275BB2}"/>
              </a:ext>
            </a:extLst>
          </p:cNvPr>
          <p:cNvPicPr>
            <a:picLocks noChangeAspect="1"/>
          </p:cNvPicPr>
          <p:nvPr userDrawn="1"/>
        </p:nvPicPr>
        <p:blipFill>
          <a:blip r:embed="rId4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642" y="6216268"/>
            <a:ext cx="1249887" cy="611953"/>
          </a:xfrm>
          <a:prstGeom prst="rect">
            <a:avLst/>
          </a:prstGeom>
        </p:spPr>
      </p:pic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2B6D4B37-350C-1D87-FBC1-BFC2C492E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240971"/>
            <a:ext cx="10972800" cy="493599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0146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  <p:sldLayoutId id="2147484025" r:id="rId2"/>
    <p:sldLayoutId id="2147484029" r:id="rId3"/>
    <p:sldLayoutId id="2147484033" r:id="rId4"/>
    <p:sldLayoutId id="2147484024" r:id="rId5"/>
    <p:sldLayoutId id="2147484028" r:id="rId6"/>
    <p:sldLayoutId id="2147484032" r:id="rId7"/>
    <p:sldLayoutId id="2147484042" r:id="rId8"/>
    <p:sldLayoutId id="2147484108" r:id="rId9"/>
    <p:sldLayoutId id="2147484043" r:id="rId10"/>
    <p:sldLayoutId id="2147484045" r:id="rId11"/>
    <p:sldLayoutId id="2147484044" r:id="rId12"/>
    <p:sldLayoutId id="2147484047" r:id="rId13"/>
    <p:sldLayoutId id="2147484046" r:id="rId14"/>
    <p:sldLayoutId id="2147484049" r:id="rId15"/>
    <p:sldLayoutId id="2147484048" r:id="rId16"/>
    <p:sldLayoutId id="2147484050" r:id="rId17"/>
    <p:sldLayoutId id="2147484051" r:id="rId18"/>
    <p:sldLayoutId id="2147484052" r:id="rId19"/>
    <p:sldLayoutId id="2147484053" r:id="rId20"/>
    <p:sldLayoutId id="2147484054" r:id="rId21"/>
    <p:sldLayoutId id="2147484097" r:id="rId22"/>
    <p:sldLayoutId id="2147484098" r:id="rId23"/>
    <p:sldLayoutId id="2147484099" r:id="rId24"/>
    <p:sldLayoutId id="2147484100" r:id="rId25"/>
    <p:sldLayoutId id="2147484101" r:id="rId26"/>
    <p:sldLayoutId id="2147484102" r:id="rId27"/>
    <p:sldLayoutId id="2147484103" r:id="rId28"/>
    <p:sldLayoutId id="2147484104" r:id="rId29"/>
    <p:sldLayoutId id="2147484105" r:id="rId30"/>
    <p:sldLayoutId id="2147484075" r:id="rId31"/>
    <p:sldLayoutId id="2147484076" r:id="rId32"/>
    <p:sldLayoutId id="2147484086" r:id="rId33"/>
    <p:sldLayoutId id="2147484087" r:id="rId34"/>
    <p:sldLayoutId id="2147484064" r:id="rId35"/>
    <p:sldLayoutId id="2147484065" r:id="rId36"/>
    <p:sldLayoutId id="2147484106" r:id="rId37"/>
    <p:sldLayoutId id="2147484107" r:id="rId38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1" i="0" kern="1200">
          <a:solidFill>
            <a:schemeClr val="accent1"/>
          </a:solidFill>
          <a:latin typeface="Avenir Next LT Pro" panose="020B0504020202020204" pitchFamily="34" charset="77"/>
          <a:ea typeface="+mj-ea"/>
          <a:cs typeface="+mj-cs"/>
        </a:defRPr>
      </a:lvl1pPr>
    </p:titleStyle>
    <p:bodyStyle>
      <a:lvl1pPr marL="274320" indent="-27781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22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574675" indent="-269875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accent1"/>
        </a:buClr>
        <a:buSzPct val="100000"/>
        <a:buFont typeface="System Font Regular"/>
        <a:buChar char="◦"/>
        <a:tabLst/>
        <a:defRPr sz="20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806450" indent="-2794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accent1"/>
        </a:buClr>
        <a:buSzPct val="100000"/>
        <a:buFont typeface="System Font Regular"/>
        <a:buChar char="▸"/>
        <a:tabLst/>
        <a:defRPr sz="18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1042416" indent="-288925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accent1"/>
        </a:buClr>
        <a:buSzPct val="100000"/>
        <a:buFont typeface=".Apple SD Gothic NeoI Regular"/>
        <a:buChar char="▹"/>
        <a:tabLst/>
        <a:defRPr sz="16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1260475" indent="-2159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accent1"/>
        </a:buClr>
        <a:buSzPct val="100000"/>
        <a:buFont typeface="System Font Regular"/>
        <a:buChar char="⁃"/>
        <a:tabLst/>
        <a:defRPr sz="14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960120" indent="0" algn="l" defTabSz="914400" rtl="0" eaLnBrk="1" latinLnBrk="0" hangingPunct="1">
        <a:lnSpc>
          <a:spcPct val="90000"/>
        </a:lnSpc>
        <a:spcBef>
          <a:spcPts val="100"/>
        </a:spcBef>
        <a:buClr>
          <a:schemeClr val="accent3"/>
        </a:buClr>
        <a:buFont typeface="Wingdings" panose="05000000000000000000" pitchFamily="2" charset="2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78992" indent="-118872" algn="l" defTabSz="914400" rtl="0" eaLnBrk="1" latinLnBrk="0" hangingPunct="1">
        <a:lnSpc>
          <a:spcPct val="90000"/>
        </a:lnSpc>
        <a:spcBef>
          <a:spcPts val="100"/>
        </a:spcBef>
        <a:buClr>
          <a:schemeClr val="accent3"/>
        </a:buClr>
        <a:buFont typeface="Wingdings" panose="05000000000000000000" pitchFamily="2" charset="2"/>
        <a:buChar char="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078992" indent="-118872" algn="l" defTabSz="914400" rtl="0" eaLnBrk="1" latinLnBrk="0" hangingPunct="1">
        <a:lnSpc>
          <a:spcPct val="90000"/>
        </a:lnSpc>
        <a:spcBef>
          <a:spcPts val="100"/>
        </a:spcBef>
        <a:buClr>
          <a:schemeClr val="accent3"/>
        </a:buClr>
        <a:buFont typeface="Wingdings" panose="05000000000000000000" pitchFamily="2" charset="2"/>
        <a:buChar char="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078992" indent="-118872" algn="l" defTabSz="914400" rtl="0" eaLnBrk="1" latinLnBrk="0" hangingPunct="1">
        <a:lnSpc>
          <a:spcPct val="90000"/>
        </a:lnSpc>
        <a:spcBef>
          <a:spcPts val="100"/>
        </a:spcBef>
        <a:buClr>
          <a:schemeClr val="accent3"/>
        </a:buClr>
        <a:buFont typeface="Wingdings" panose="05000000000000000000" pitchFamily="2" charset="2"/>
        <a:buChar char="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A4A3A4"/>
          </p15:clr>
        </p15:guide>
        <p15:guide id="2" pos="7296">
          <p15:clr>
            <a:srgbClr val="A4A3A4"/>
          </p15:clr>
        </p15:guide>
        <p15:guide id="3" orient="horz" pos="432">
          <p15:clr>
            <a:srgbClr val="A4A3A4"/>
          </p15:clr>
        </p15:guide>
        <p15:guide id="4" orient="horz" pos="3888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49.sv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image" Target="../media/image33.png"/><Relationship Id="rId16" Type="http://schemas.openxmlformats.org/officeDocument/2006/relationships/image" Target="../media/image4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svg"/><Relationship Id="rId5" Type="http://schemas.openxmlformats.org/officeDocument/2006/relationships/image" Target="../media/image36.sv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svg"/><Relationship Id="rId14" Type="http://schemas.openxmlformats.org/officeDocument/2006/relationships/image" Target="../media/image45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7" Type="http://schemas.openxmlformats.org/officeDocument/2006/relationships/image" Target="../media/image56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svg"/><Relationship Id="rId4" Type="http://schemas.openxmlformats.org/officeDocument/2006/relationships/image" Target="../media/image5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svg"/><Relationship Id="rId7" Type="http://schemas.openxmlformats.org/officeDocument/2006/relationships/image" Target="../media/image62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svg"/><Relationship Id="rId4" Type="http://schemas.openxmlformats.org/officeDocument/2006/relationships/image" Target="../media/image59.png"/><Relationship Id="rId9" Type="http://schemas.openxmlformats.org/officeDocument/2006/relationships/image" Target="../media/image6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svg"/><Relationship Id="rId4" Type="http://schemas.openxmlformats.org/officeDocument/2006/relationships/image" Target="../media/image6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4.xml"/><Relationship Id="rId4" Type="http://schemas.openxmlformats.org/officeDocument/2006/relationships/chart" Target="../charts/char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0.xml"/><Relationship Id="rId5" Type="http://schemas.openxmlformats.org/officeDocument/2006/relationships/chart" Target="../charts/chart19.xml"/><Relationship Id="rId4" Type="http://schemas.openxmlformats.org/officeDocument/2006/relationships/chart" Target="../charts/char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3.xml"/><Relationship Id="rId4" Type="http://schemas.openxmlformats.org/officeDocument/2006/relationships/chart" Target="../charts/chart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1.xml"/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4.xml"/><Relationship Id="rId2" Type="http://schemas.openxmlformats.org/officeDocument/2006/relationships/chart" Target="../charts/chart3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7.xml"/><Relationship Id="rId2" Type="http://schemas.openxmlformats.org/officeDocument/2006/relationships/chart" Target="../charts/chart3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0.xml"/><Relationship Id="rId2" Type="http://schemas.openxmlformats.org/officeDocument/2006/relationships/chart" Target="../charts/chart3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3A5C4B-154B-5065-6C95-A1811A93596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179D37B4-A35A-88C0-264D-0D611B21C2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" y="1889125"/>
            <a:ext cx="8397875" cy="1808163"/>
          </a:xfrm>
        </p:spPr>
        <p:txBody>
          <a:bodyPr>
            <a:normAutofit/>
          </a:bodyPr>
          <a:lstStyle/>
          <a:p>
            <a:r>
              <a:rPr lang="en-IN" dirty="0"/>
              <a:t>Rytelo Predictive Alerts</a:t>
            </a:r>
          </a:p>
        </p:txBody>
      </p:sp>
    </p:spTree>
    <p:extLst>
      <p:ext uri="{BB962C8B-B14F-4D97-AF65-F5344CB8AC3E}">
        <p14:creationId xmlns:p14="http://schemas.microsoft.com/office/powerpoint/2010/main" val="1233801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7DD0C-7D7C-115A-9625-28F3416E3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7175F8-5BEB-15DF-D3CD-68A28904708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FC7DDA-24DA-FF0B-24E6-D009885ECD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31A7C1-9E06-8D58-136C-946121E5A5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 dirty="0"/>
              <a:t>Discussion topics related to Predictive Alerts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F1BF9ED-59BD-404B-3165-6853D605FA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91028"/>
              </p:ext>
            </p:extLst>
          </p:nvPr>
        </p:nvGraphicFramePr>
        <p:xfrm>
          <a:off x="609600" y="1571861"/>
          <a:ext cx="10972800" cy="4322620"/>
        </p:xfrm>
        <a:graphic>
          <a:graphicData uri="http://schemas.openxmlformats.org/drawingml/2006/table">
            <a:tbl>
              <a:tblPr firstRow="1" firstCol="1">
                <a:tableStyleId>{1FECB4D8-DB02-4DC6-A0A2-4F2EBAE1DC90}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82150565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69570359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986867247"/>
                    </a:ext>
                  </a:extLst>
                </a:gridCol>
              </a:tblGrid>
              <a:tr h="411678">
                <a:tc>
                  <a:txBody>
                    <a:bodyPr/>
                    <a:lstStyle/>
                    <a:p>
                      <a:r>
                        <a:rPr lang="en-IN" b="1"/>
                        <a:t>Project Activity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Status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Notes / ETA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086871"/>
                  </a:ext>
                </a:extLst>
              </a:tr>
              <a:tr h="411678">
                <a:tc>
                  <a:txBody>
                    <a:bodyPr/>
                    <a:lstStyle/>
                    <a:p>
                      <a:r>
                        <a:rPr lang="en-IN" sz="1600" dirty="0"/>
                        <a:t>Feature Engineering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✅ Completed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057858"/>
                  </a:ext>
                </a:extLst>
              </a:tr>
              <a:tr h="411678">
                <a:tc>
                  <a:txBody>
                    <a:bodyPr/>
                    <a:lstStyle/>
                    <a:p>
                      <a:r>
                        <a:rPr lang="en-IN" sz="1600" dirty="0"/>
                        <a:t>Exploratory Data Analysis (EDA)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✅ Completed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3541469"/>
                  </a:ext>
                </a:extLst>
              </a:tr>
              <a:tr h="411678">
                <a:tc>
                  <a:txBody>
                    <a:bodyPr/>
                    <a:lstStyle/>
                    <a:p>
                      <a:r>
                        <a:rPr lang="en-IN" sz="1600" dirty="0"/>
                        <a:t>Feature Selection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✅ Completed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4399830"/>
                  </a:ext>
                </a:extLst>
              </a:tr>
              <a:tr h="411678">
                <a:tc>
                  <a:txBody>
                    <a:bodyPr/>
                    <a:lstStyle/>
                    <a:p>
                      <a:r>
                        <a:rPr lang="en-IN" sz="1600" dirty="0"/>
                        <a:t>Modelling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✅ Completed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4475921"/>
                  </a:ext>
                </a:extLst>
              </a:tr>
              <a:tr h="720437">
                <a:tc>
                  <a:txBody>
                    <a:bodyPr/>
                    <a:lstStyle/>
                    <a:p>
                      <a:r>
                        <a:rPr lang="en-IN" sz="1600" dirty="0"/>
                        <a:t>Model Performance Results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✅ Completed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144671"/>
                  </a:ext>
                </a:extLst>
              </a:tr>
              <a:tr h="411678">
                <a:tc>
                  <a:txBody>
                    <a:bodyPr/>
                    <a:lstStyle/>
                    <a:p>
                      <a:r>
                        <a:rPr lang="en-IN" sz="1600"/>
                        <a:t>Patient to HCP Attribution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✅ Completed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To review the rules with Myron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3500745"/>
                  </a:ext>
                </a:extLst>
              </a:tr>
              <a:tr h="411678">
                <a:tc>
                  <a:txBody>
                    <a:bodyPr/>
                    <a:lstStyle/>
                    <a:p>
                      <a:r>
                        <a:rPr lang="en-IN" sz="1600" dirty="0"/>
                        <a:t>Alerts Output Generation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✅ Completed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9616729"/>
                  </a:ext>
                </a:extLst>
              </a:tr>
              <a:tr h="720437">
                <a:tc>
                  <a:txBody>
                    <a:bodyPr/>
                    <a:lstStyle/>
                    <a:p>
                      <a:r>
                        <a:rPr lang="en-IN" sz="1600" dirty="0"/>
                        <a:t>Mechanism of Alerts Communication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2">
                              <a:lumMod val="10000"/>
                            </a:schemeClr>
                          </a:solidFill>
                        </a:rPr>
                        <a:t>📌 Discussion Pending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To be discussed with Myron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926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9807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815770-3123-7123-651A-76144EA82E1E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 lnSpcReduction="10000"/>
          </a:bodyPr>
          <a:lstStyle/>
          <a:p>
            <a:pPr marL="640080" indent="-457200" fontAlgn="base">
              <a:buClr>
                <a:schemeClr val="tx1"/>
              </a:buClr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%Accounts with patient progression from Account with predicted patient's vs Accounts receiving call activity: </a:t>
            </a:r>
            <a:r>
              <a:rPr lang="en-US" dirty="0">
                <a:solidFill>
                  <a:schemeClr val="tx1"/>
                </a:solidFill>
              </a:rPr>
              <a:t>Ran multiple scenarios by varying the proportion of accounts that we are picking across High, Medium, Low and No Tier segment for called on accounts</a:t>
            </a:r>
          </a:p>
          <a:p>
            <a:pPr marL="640080" indent="-457200" fontAlgn="base">
              <a:buClr>
                <a:schemeClr val="tx1"/>
              </a:buClr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Geographic Consistency of Claims Data: </a:t>
            </a:r>
            <a:r>
              <a:rPr lang="en-US" dirty="0">
                <a:solidFill>
                  <a:schemeClr val="tx1"/>
                </a:solidFill>
              </a:rPr>
              <a:t>Assessed monthly alerts volume across geographies</a:t>
            </a:r>
          </a:p>
          <a:p>
            <a:pPr marL="640080" indent="-457200" fontAlgn="base">
              <a:buClr>
                <a:schemeClr val="tx1"/>
              </a:buClr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Considerations Slide – Claims Data Limitations. </a:t>
            </a:r>
            <a:r>
              <a:rPr lang="en-US" dirty="0">
                <a:solidFill>
                  <a:schemeClr val="tx1"/>
                </a:solidFill>
              </a:rPr>
              <a:t>Added a slide to highlight key limitations of using claims data</a:t>
            </a:r>
          </a:p>
          <a:p>
            <a:pPr marL="640080" indent="-457200" fontAlgn="base">
              <a:buClr>
                <a:schemeClr val="tx1"/>
              </a:buClr>
              <a:buFont typeface="+mj-lt"/>
              <a:buAutoNum type="arabicPeriod"/>
            </a:pPr>
            <a:r>
              <a:rPr lang="en-US" b="1" dirty="0" err="1">
                <a:solidFill>
                  <a:schemeClr val="tx1"/>
                </a:solidFill>
              </a:rPr>
              <a:t>XGBoost</a:t>
            </a:r>
            <a:r>
              <a:rPr lang="en-US" b="1" dirty="0">
                <a:solidFill>
                  <a:schemeClr val="tx1"/>
                </a:solidFill>
              </a:rPr>
              <a:t> Algorithm Illustration. </a:t>
            </a:r>
            <a:r>
              <a:rPr lang="en-US" dirty="0">
                <a:solidFill>
                  <a:schemeClr val="tx1"/>
                </a:solidFill>
              </a:rPr>
              <a:t>A visual and conceptual explanation of the </a:t>
            </a:r>
            <a:r>
              <a:rPr lang="en-US" dirty="0" err="1">
                <a:solidFill>
                  <a:schemeClr val="tx1"/>
                </a:solidFill>
              </a:rPr>
              <a:t>XGBoost</a:t>
            </a:r>
            <a:r>
              <a:rPr lang="en-US" dirty="0">
                <a:solidFill>
                  <a:schemeClr val="tx1"/>
                </a:solidFill>
              </a:rPr>
              <a:t> model</a:t>
            </a:r>
          </a:p>
          <a:p>
            <a:pPr marL="640080" indent="-457200" fontAlgn="base">
              <a:buClr>
                <a:schemeClr val="tx1"/>
              </a:buClr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Feature Deep Dive. </a:t>
            </a:r>
            <a:r>
              <a:rPr lang="en-US" dirty="0">
                <a:solidFill>
                  <a:schemeClr val="tx1"/>
                </a:solidFill>
              </a:rPr>
              <a:t>A focused analysis on a few key features used in the model. Describe how they influence the model’s predictions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6C62E6-1F8F-C218-1B6E-EF9E33A3ABC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7899F9-7C2E-E3DB-C551-25119ADF3F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694DC-B548-3602-3158-7773F07B16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anchor="ctr"/>
          <a:lstStyle/>
          <a:p>
            <a:r>
              <a:rPr lang="en-IN" dirty="0"/>
              <a:t>To do items from week of 6/9</a:t>
            </a:r>
          </a:p>
        </p:txBody>
      </p:sp>
    </p:spTree>
    <p:extLst>
      <p:ext uri="{BB962C8B-B14F-4D97-AF65-F5344CB8AC3E}">
        <p14:creationId xmlns:p14="http://schemas.microsoft.com/office/powerpoint/2010/main" val="4146888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BEBEF-BE7F-1BC2-DD00-D5DB3732B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1843CE-144D-7384-DD08-6171F6459F1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43640-4C29-83C8-784B-911ED097A8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B3DEB9-221E-9107-6CC2-A0D24AC4B79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" y="233650"/>
            <a:ext cx="11035775" cy="790173"/>
          </a:xfrm>
        </p:spPr>
        <p:txBody>
          <a:bodyPr anchor="ctr">
            <a:noAutofit/>
          </a:bodyPr>
          <a:lstStyle/>
          <a:p>
            <a:r>
              <a:rPr lang="en-US" sz="2000" dirty="0"/>
              <a:t>Project background- Predict patient progression to Rytelo eligible line based on patient activity in the claims data </a:t>
            </a:r>
            <a:r>
              <a:rPr lang="en-US" sz="2000" dirty="0">
                <a:sym typeface="Trebuchet MS"/>
              </a:rPr>
              <a:t>and alert KAMs to connect with treating HCP in advance</a:t>
            </a:r>
            <a:endParaRPr lang="en-IN" sz="2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6ABABD4-8162-4A56-A98C-E5D28831D0FE}"/>
              </a:ext>
            </a:extLst>
          </p:cNvPr>
          <p:cNvSpPr/>
          <p:nvPr/>
        </p:nvSpPr>
        <p:spPr>
          <a:xfrm>
            <a:off x="6249662" y="2108651"/>
            <a:ext cx="5283208" cy="16474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57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8BA92CD-5EE8-CC9F-7B72-E51B2FE97B05}"/>
              </a:ext>
            </a:extLst>
          </p:cNvPr>
          <p:cNvCxnSpPr>
            <a:cxnSpLocks/>
          </p:cNvCxnSpPr>
          <p:nvPr/>
        </p:nvCxnSpPr>
        <p:spPr>
          <a:xfrm>
            <a:off x="7047510" y="2665324"/>
            <a:ext cx="255600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6801FDA8-3C27-941C-43DD-A90DAF970451}"/>
              </a:ext>
            </a:extLst>
          </p:cNvPr>
          <p:cNvSpPr/>
          <p:nvPr/>
        </p:nvSpPr>
        <p:spPr>
          <a:xfrm>
            <a:off x="7780824" y="2518736"/>
            <a:ext cx="279568" cy="29317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57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B6D87B3-518B-4D38-6068-C6224972F76D}"/>
              </a:ext>
            </a:extLst>
          </p:cNvPr>
          <p:cNvCxnSpPr>
            <a:cxnSpLocks/>
          </p:cNvCxnSpPr>
          <p:nvPr/>
        </p:nvCxnSpPr>
        <p:spPr>
          <a:xfrm>
            <a:off x="9552918" y="2665324"/>
            <a:ext cx="1620227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46A7FC4-A6B1-6620-E8B3-68D943C8F38A}"/>
              </a:ext>
            </a:extLst>
          </p:cNvPr>
          <p:cNvSpPr txBox="1"/>
          <p:nvPr/>
        </p:nvSpPr>
        <p:spPr>
          <a:xfrm>
            <a:off x="7731599" y="2088909"/>
            <a:ext cx="635384" cy="32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7" dirty="0"/>
              <a:t>1L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6D8A32-79C1-0D59-B701-394C900E9E03}"/>
              </a:ext>
            </a:extLst>
          </p:cNvPr>
          <p:cNvSpPr txBox="1"/>
          <p:nvPr/>
        </p:nvSpPr>
        <p:spPr>
          <a:xfrm>
            <a:off x="10892618" y="2113347"/>
            <a:ext cx="635384" cy="32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7" dirty="0"/>
              <a:t>2L?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D8CE9A8-373C-5896-69C1-B03835D0BAC7}"/>
              </a:ext>
            </a:extLst>
          </p:cNvPr>
          <p:cNvCxnSpPr>
            <a:cxnSpLocks/>
          </p:cNvCxnSpPr>
          <p:nvPr/>
        </p:nvCxnSpPr>
        <p:spPr>
          <a:xfrm>
            <a:off x="7043685" y="3456313"/>
            <a:ext cx="27321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AE7E4730-556E-5545-0997-40CA7471CAB9}"/>
              </a:ext>
            </a:extLst>
          </p:cNvPr>
          <p:cNvSpPr/>
          <p:nvPr/>
        </p:nvSpPr>
        <p:spPr>
          <a:xfrm>
            <a:off x="7780824" y="3309726"/>
            <a:ext cx="279568" cy="2931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57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CB8D5D5-F2B3-90B3-2EFE-5A2A25D8FC5E}"/>
              </a:ext>
            </a:extLst>
          </p:cNvPr>
          <p:cNvCxnSpPr>
            <a:cxnSpLocks/>
          </p:cNvCxnSpPr>
          <p:nvPr/>
        </p:nvCxnSpPr>
        <p:spPr>
          <a:xfrm>
            <a:off x="9552918" y="3456313"/>
            <a:ext cx="1620227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F6244E2-748D-F7C5-9B30-CDDD1F29D54E}"/>
              </a:ext>
            </a:extLst>
          </p:cNvPr>
          <p:cNvSpPr txBox="1"/>
          <p:nvPr/>
        </p:nvSpPr>
        <p:spPr>
          <a:xfrm>
            <a:off x="7694595" y="2914366"/>
            <a:ext cx="635382" cy="32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7" dirty="0"/>
              <a:t>2L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54F833E-FCC1-3DAB-6B43-216757D4DD10}"/>
              </a:ext>
            </a:extLst>
          </p:cNvPr>
          <p:cNvSpPr txBox="1"/>
          <p:nvPr/>
        </p:nvSpPr>
        <p:spPr>
          <a:xfrm>
            <a:off x="10892618" y="2980372"/>
            <a:ext cx="635382" cy="32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7" dirty="0"/>
              <a:t>3L?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6499D05-8143-AA4E-AF04-31E609528C4F}"/>
              </a:ext>
            </a:extLst>
          </p:cNvPr>
          <p:cNvSpPr/>
          <p:nvPr/>
        </p:nvSpPr>
        <p:spPr>
          <a:xfrm>
            <a:off x="10988717" y="3289137"/>
            <a:ext cx="279568" cy="2931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57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F75158-94E1-DE89-67B5-1A81892AF5AD}"/>
              </a:ext>
            </a:extLst>
          </p:cNvPr>
          <p:cNvSpPr txBox="1"/>
          <p:nvPr/>
        </p:nvSpPr>
        <p:spPr>
          <a:xfrm>
            <a:off x="7155281" y="1334466"/>
            <a:ext cx="2808750" cy="32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7" dirty="0"/>
              <a:t>Lookback period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52BA67-3E76-BDD5-66A4-AA8F036C5F0C}"/>
              </a:ext>
            </a:extLst>
          </p:cNvPr>
          <p:cNvSpPr txBox="1"/>
          <p:nvPr/>
        </p:nvSpPr>
        <p:spPr>
          <a:xfrm>
            <a:off x="9488243" y="1303234"/>
            <a:ext cx="2808750" cy="32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7" dirty="0"/>
              <a:t>3-month Prediction window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797F0D8-D599-6090-3F3B-21C0943D0C91}"/>
              </a:ext>
            </a:extLst>
          </p:cNvPr>
          <p:cNvSpPr txBox="1"/>
          <p:nvPr/>
        </p:nvSpPr>
        <p:spPr>
          <a:xfrm>
            <a:off x="6291426" y="2084364"/>
            <a:ext cx="1096883" cy="331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7" dirty="0"/>
              <a:t>Patient  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C66BA4D-A680-436D-4881-08B54CB0057A}"/>
              </a:ext>
            </a:extLst>
          </p:cNvPr>
          <p:cNvSpPr txBox="1"/>
          <p:nvPr/>
        </p:nvSpPr>
        <p:spPr>
          <a:xfrm>
            <a:off x="6291426" y="2943573"/>
            <a:ext cx="1010459" cy="331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7" dirty="0"/>
              <a:t>Patient 2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44E2D43-B98B-4211-DE2E-9505E9EA96A6}"/>
              </a:ext>
            </a:extLst>
          </p:cNvPr>
          <p:cNvSpPr/>
          <p:nvPr/>
        </p:nvSpPr>
        <p:spPr>
          <a:xfrm>
            <a:off x="10974210" y="2520334"/>
            <a:ext cx="308586" cy="27273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57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CCB29D7-0101-0348-2877-16772AC91C69}"/>
              </a:ext>
            </a:extLst>
          </p:cNvPr>
          <p:cNvCxnSpPr/>
          <p:nvPr/>
        </p:nvCxnSpPr>
        <p:spPr>
          <a:xfrm flipH="1">
            <a:off x="7032397" y="1867618"/>
            <a:ext cx="252687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F6744FD-993E-EFE2-8253-514F4C7AC081}"/>
              </a:ext>
            </a:extLst>
          </p:cNvPr>
          <p:cNvCxnSpPr/>
          <p:nvPr/>
        </p:nvCxnSpPr>
        <p:spPr>
          <a:xfrm>
            <a:off x="9552918" y="1867618"/>
            <a:ext cx="1620227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3604E48-F220-83A6-68C7-D450048D522C}"/>
              </a:ext>
            </a:extLst>
          </p:cNvPr>
          <p:cNvCxnSpPr/>
          <p:nvPr/>
        </p:nvCxnSpPr>
        <p:spPr>
          <a:xfrm>
            <a:off x="9542037" y="1682862"/>
            <a:ext cx="0" cy="31741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85FC6C8C-C243-FA00-0FC4-AE30C421AB05}"/>
              </a:ext>
            </a:extLst>
          </p:cNvPr>
          <p:cNvSpPr/>
          <p:nvPr/>
        </p:nvSpPr>
        <p:spPr>
          <a:xfrm>
            <a:off x="5543280" y="2108650"/>
            <a:ext cx="581495" cy="164743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IN" sz="1100" b="1" dirty="0">
                <a:solidFill>
                  <a:schemeClr val="tx1"/>
                </a:solidFill>
              </a:rPr>
              <a:t>LR MDS RS-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147AF659-0A2F-EEA7-2700-8A68DDF6EE20}"/>
              </a:ext>
            </a:extLst>
          </p:cNvPr>
          <p:cNvSpPr/>
          <p:nvPr/>
        </p:nvSpPr>
        <p:spPr>
          <a:xfrm>
            <a:off x="5546665" y="3899847"/>
            <a:ext cx="578110" cy="1647430"/>
          </a:xfrm>
          <a:prstGeom prst="roundRect">
            <a:avLst/>
          </a:prstGeom>
          <a:solidFill>
            <a:schemeClr val="accent3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IN" sz="1100" b="1" dirty="0">
                <a:solidFill>
                  <a:schemeClr val="tx1"/>
                </a:solidFill>
              </a:rPr>
              <a:t>LR MDS RS+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D8F3055F-2F94-8C73-AAEB-0E975B645C0D}"/>
              </a:ext>
            </a:extLst>
          </p:cNvPr>
          <p:cNvSpPr/>
          <p:nvPr/>
        </p:nvSpPr>
        <p:spPr>
          <a:xfrm>
            <a:off x="9414141" y="2503906"/>
            <a:ext cx="279568" cy="29317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57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7FBE068F-0B69-C2A4-8ECD-7895C8280CFF}"/>
              </a:ext>
            </a:extLst>
          </p:cNvPr>
          <p:cNvSpPr/>
          <p:nvPr/>
        </p:nvSpPr>
        <p:spPr>
          <a:xfrm>
            <a:off x="9414141" y="3294896"/>
            <a:ext cx="279568" cy="2931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57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0E51692-B25B-FB12-8A0E-257EE8043004}"/>
              </a:ext>
            </a:extLst>
          </p:cNvPr>
          <p:cNvSpPr txBox="1"/>
          <p:nvPr/>
        </p:nvSpPr>
        <p:spPr>
          <a:xfrm>
            <a:off x="8992175" y="2071229"/>
            <a:ext cx="1152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1L </a:t>
            </a:r>
          </a:p>
          <a:p>
            <a:pPr algn="ctr"/>
            <a:r>
              <a:rPr lang="en-US" sz="1200" dirty="0"/>
              <a:t>as of today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A748F13-D980-C2AC-704F-A02C89E2844B}"/>
              </a:ext>
            </a:extLst>
          </p:cNvPr>
          <p:cNvSpPr txBox="1"/>
          <p:nvPr/>
        </p:nvSpPr>
        <p:spPr>
          <a:xfrm>
            <a:off x="8983125" y="2846153"/>
            <a:ext cx="1152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2L </a:t>
            </a:r>
          </a:p>
          <a:p>
            <a:pPr algn="ctr"/>
            <a:r>
              <a:rPr lang="en-US" sz="1200" dirty="0"/>
              <a:t>as of today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3EBA64E4-5326-40E3-758E-4DEB35C084D6}"/>
              </a:ext>
            </a:extLst>
          </p:cNvPr>
          <p:cNvSpPr/>
          <p:nvPr/>
        </p:nvSpPr>
        <p:spPr>
          <a:xfrm>
            <a:off x="6249662" y="3936908"/>
            <a:ext cx="5283208" cy="164743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57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3A3B026-A900-7FFF-4677-754150F42464}"/>
              </a:ext>
            </a:extLst>
          </p:cNvPr>
          <p:cNvCxnSpPr>
            <a:cxnSpLocks/>
          </p:cNvCxnSpPr>
          <p:nvPr/>
        </p:nvCxnSpPr>
        <p:spPr>
          <a:xfrm>
            <a:off x="7047510" y="4493581"/>
            <a:ext cx="255600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65702851-8CB7-BBA7-5AF9-A91ACBC0FDFE}"/>
              </a:ext>
            </a:extLst>
          </p:cNvPr>
          <p:cNvSpPr/>
          <p:nvPr/>
        </p:nvSpPr>
        <p:spPr>
          <a:xfrm>
            <a:off x="7780824" y="4346993"/>
            <a:ext cx="279568" cy="29317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57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8233DF1-0E2A-468F-F8E7-102BF953BA92}"/>
              </a:ext>
            </a:extLst>
          </p:cNvPr>
          <p:cNvCxnSpPr>
            <a:cxnSpLocks/>
          </p:cNvCxnSpPr>
          <p:nvPr/>
        </p:nvCxnSpPr>
        <p:spPr>
          <a:xfrm>
            <a:off x="9552918" y="4493581"/>
            <a:ext cx="1620227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7D8E5719-6846-091A-BCF0-837E25378CC8}"/>
              </a:ext>
            </a:extLst>
          </p:cNvPr>
          <p:cNvSpPr txBox="1"/>
          <p:nvPr/>
        </p:nvSpPr>
        <p:spPr>
          <a:xfrm>
            <a:off x="7731599" y="3917166"/>
            <a:ext cx="635384" cy="32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7" dirty="0"/>
              <a:t>1L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34E63E8-6D0C-2B92-B66B-2FDE59F5DA83}"/>
              </a:ext>
            </a:extLst>
          </p:cNvPr>
          <p:cNvSpPr txBox="1"/>
          <p:nvPr/>
        </p:nvSpPr>
        <p:spPr>
          <a:xfrm>
            <a:off x="10892618" y="3941604"/>
            <a:ext cx="635384" cy="32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7" dirty="0"/>
              <a:t>2L?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BA46DE3-3B39-58E1-A765-ECBC8C7AFA1B}"/>
              </a:ext>
            </a:extLst>
          </p:cNvPr>
          <p:cNvCxnSpPr>
            <a:cxnSpLocks/>
          </p:cNvCxnSpPr>
          <p:nvPr/>
        </p:nvCxnSpPr>
        <p:spPr>
          <a:xfrm>
            <a:off x="7043685" y="5284570"/>
            <a:ext cx="27321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7B5DA014-2EBB-F213-3BF2-38BF429FB9DD}"/>
              </a:ext>
            </a:extLst>
          </p:cNvPr>
          <p:cNvSpPr/>
          <p:nvPr/>
        </p:nvSpPr>
        <p:spPr>
          <a:xfrm>
            <a:off x="7780824" y="5137983"/>
            <a:ext cx="279568" cy="2931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57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6A131D0-84AD-C313-DFA8-9D60836AB85B}"/>
              </a:ext>
            </a:extLst>
          </p:cNvPr>
          <p:cNvCxnSpPr>
            <a:cxnSpLocks/>
          </p:cNvCxnSpPr>
          <p:nvPr/>
        </p:nvCxnSpPr>
        <p:spPr>
          <a:xfrm>
            <a:off x="9552918" y="5284570"/>
            <a:ext cx="1620227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82CDE17C-4C90-58E4-4F43-0340F5A91FE5}"/>
              </a:ext>
            </a:extLst>
          </p:cNvPr>
          <p:cNvSpPr txBox="1"/>
          <p:nvPr/>
        </p:nvSpPr>
        <p:spPr>
          <a:xfrm>
            <a:off x="7694595" y="4742623"/>
            <a:ext cx="635382" cy="32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7" dirty="0"/>
              <a:t>2L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E7E348E-D665-1134-8CF5-5CA866759A58}"/>
              </a:ext>
            </a:extLst>
          </p:cNvPr>
          <p:cNvSpPr txBox="1"/>
          <p:nvPr/>
        </p:nvSpPr>
        <p:spPr>
          <a:xfrm>
            <a:off x="10892618" y="4808629"/>
            <a:ext cx="635382" cy="32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7" dirty="0"/>
              <a:t>3L?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51538C40-0F99-2144-3593-5D26D01F2673}"/>
              </a:ext>
            </a:extLst>
          </p:cNvPr>
          <p:cNvSpPr/>
          <p:nvPr/>
        </p:nvSpPr>
        <p:spPr>
          <a:xfrm>
            <a:off x="10988717" y="5117394"/>
            <a:ext cx="279568" cy="2931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57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15BE09B-173E-B87C-5C44-BF0E28503CC4}"/>
              </a:ext>
            </a:extLst>
          </p:cNvPr>
          <p:cNvSpPr txBox="1"/>
          <p:nvPr/>
        </p:nvSpPr>
        <p:spPr>
          <a:xfrm>
            <a:off x="6328339" y="3912621"/>
            <a:ext cx="973546" cy="331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7" dirty="0"/>
              <a:t>Patient 3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EE8FE82-9AF3-D478-52A4-DA0368EF76C8}"/>
              </a:ext>
            </a:extLst>
          </p:cNvPr>
          <p:cNvSpPr txBox="1"/>
          <p:nvPr/>
        </p:nvSpPr>
        <p:spPr>
          <a:xfrm>
            <a:off x="6328339" y="4771830"/>
            <a:ext cx="973546" cy="32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7" dirty="0"/>
              <a:t>Patient 4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3A4EF7FE-48AA-B0BD-7849-59650D9FD333}"/>
              </a:ext>
            </a:extLst>
          </p:cNvPr>
          <p:cNvSpPr/>
          <p:nvPr/>
        </p:nvSpPr>
        <p:spPr>
          <a:xfrm>
            <a:off x="10974210" y="4348591"/>
            <a:ext cx="308586" cy="27273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57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69D46CF7-EE03-ED41-5FB3-EC3ECC4C9427}"/>
              </a:ext>
            </a:extLst>
          </p:cNvPr>
          <p:cNvSpPr/>
          <p:nvPr/>
        </p:nvSpPr>
        <p:spPr>
          <a:xfrm>
            <a:off x="9414141" y="4332163"/>
            <a:ext cx="279568" cy="29317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57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A34FED94-4D47-00C0-D2A9-7757EFD184E1}"/>
              </a:ext>
            </a:extLst>
          </p:cNvPr>
          <p:cNvSpPr/>
          <p:nvPr/>
        </p:nvSpPr>
        <p:spPr>
          <a:xfrm>
            <a:off x="9414141" y="5123153"/>
            <a:ext cx="279568" cy="2931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57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6C77C57-E9A7-B021-98ED-474623831D42}"/>
              </a:ext>
            </a:extLst>
          </p:cNvPr>
          <p:cNvSpPr txBox="1"/>
          <p:nvPr/>
        </p:nvSpPr>
        <p:spPr>
          <a:xfrm>
            <a:off x="8992175" y="3899486"/>
            <a:ext cx="1152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1L </a:t>
            </a:r>
          </a:p>
          <a:p>
            <a:pPr algn="ctr"/>
            <a:r>
              <a:rPr lang="en-US" sz="1200" dirty="0"/>
              <a:t>as of today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7DDD070-7515-7096-91BE-4177668DC989}"/>
              </a:ext>
            </a:extLst>
          </p:cNvPr>
          <p:cNvSpPr txBox="1"/>
          <p:nvPr/>
        </p:nvSpPr>
        <p:spPr>
          <a:xfrm>
            <a:off x="8983125" y="4674410"/>
            <a:ext cx="1152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2L </a:t>
            </a:r>
          </a:p>
          <a:p>
            <a:pPr algn="ctr"/>
            <a:r>
              <a:rPr lang="en-US" sz="1200" dirty="0"/>
              <a:t>as of today</a:t>
            </a:r>
          </a:p>
        </p:txBody>
      </p:sp>
      <p:pic>
        <p:nvPicPr>
          <p:cNvPr id="7" name="Graphic 6" descr="Inpatient with solid fill">
            <a:extLst>
              <a:ext uri="{FF2B5EF4-FFF2-40B4-BE49-F238E27FC236}">
                <a16:creationId xmlns:a16="http://schemas.microsoft.com/office/drawing/2014/main" id="{37BAD2E8-A1FC-9363-C4C7-1F630B5528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6357" y="2313730"/>
            <a:ext cx="540000" cy="540000"/>
          </a:xfrm>
          <a:prstGeom prst="rect">
            <a:avLst/>
          </a:prstGeom>
        </p:spPr>
      </p:pic>
      <p:pic>
        <p:nvPicPr>
          <p:cNvPr id="8" name="Graphic 7" descr="Inpatient with solid fill">
            <a:extLst>
              <a:ext uri="{FF2B5EF4-FFF2-40B4-BE49-F238E27FC236}">
                <a16:creationId xmlns:a16="http://schemas.microsoft.com/office/drawing/2014/main" id="{20170576-0507-9182-7DDF-E0AC46523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9510" y="3162069"/>
            <a:ext cx="540000" cy="540000"/>
          </a:xfrm>
          <a:prstGeom prst="rect">
            <a:avLst/>
          </a:prstGeom>
        </p:spPr>
      </p:pic>
      <p:pic>
        <p:nvPicPr>
          <p:cNvPr id="9" name="Graphic 8" descr="Inpatient with solid fill">
            <a:extLst>
              <a:ext uri="{FF2B5EF4-FFF2-40B4-BE49-F238E27FC236}">
                <a16:creationId xmlns:a16="http://schemas.microsoft.com/office/drawing/2014/main" id="{E75A20A7-FA00-263A-0C19-5CBA35DE4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93745" y="4142069"/>
            <a:ext cx="540000" cy="540000"/>
          </a:xfrm>
          <a:prstGeom prst="rect">
            <a:avLst/>
          </a:prstGeom>
        </p:spPr>
      </p:pic>
      <p:pic>
        <p:nvPicPr>
          <p:cNvPr id="10" name="Graphic 9" descr="Inpatient with solid fill">
            <a:extLst>
              <a:ext uri="{FF2B5EF4-FFF2-40B4-BE49-F238E27FC236}">
                <a16:creationId xmlns:a16="http://schemas.microsoft.com/office/drawing/2014/main" id="{D9DF1DED-C77F-FF27-82F5-AF98D7972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9602" y="4959272"/>
            <a:ext cx="540000" cy="540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BD390F7-D3D1-375C-0E20-2CAB75AC1BC0}"/>
              </a:ext>
            </a:extLst>
          </p:cNvPr>
          <p:cNvSpPr txBox="1"/>
          <p:nvPr/>
        </p:nvSpPr>
        <p:spPr bwMode="gray">
          <a:xfrm>
            <a:off x="544598" y="1867618"/>
            <a:ext cx="4807226" cy="3845493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>
            <a:no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IN" sz="1400" b="1" i="0" dirty="0">
                <a:effectLst/>
                <a:latin typeface="Segoe Sans"/>
              </a:rPr>
              <a:t>Project Objective:</a:t>
            </a:r>
            <a:br>
              <a:rPr lang="en-IN" sz="1400" b="0" i="0" dirty="0">
                <a:effectLst/>
                <a:latin typeface="Segoe Sans"/>
              </a:rPr>
            </a:br>
            <a:r>
              <a:rPr lang="en-IN" sz="1400" b="0" i="0" dirty="0">
                <a:effectLst/>
                <a:latin typeface="Segoe Sans"/>
              </a:rPr>
              <a:t>Leverage claims data to </a:t>
            </a:r>
            <a:r>
              <a:rPr lang="en-IN" sz="1400" b="1" i="0" dirty="0">
                <a:effectLst/>
                <a:latin typeface="Segoe Sans"/>
              </a:rPr>
              <a:t>predict patient progression</a:t>
            </a:r>
            <a:r>
              <a:rPr lang="en-IN" sz="1400" b="0" i="0" dirty="0">
                <a:effectLst/>
                <a:latin typeface="Segoe Sans"/>
              </a:rPr>
              <a:t> to a Rytelo-eligible treatment line and </a:t>
            </a:r>
            <a:r>
              <a:rPr lang="en-IN" sz="1400" b="1" i="0" dirty="0">
                <a:effectLst/>
                <a:latin typeface="Segoe Sans"/>
              </a:rPr>
              <a:t>proactively alert Key Account Managers (KAMs)</a:t>
            </a:r>
            <a:r>
              <a:rPr lang="en-IN" sz="1400" b="0" i="0" dirty="0">
                <a:effectLst/>
                <a:latin typeface="Segoe Sans"/>
              </a:rPr>
              <a:t> to engage with treating healthcare providers (HCPs).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IN" sz="1400" b="1" i="0" dirty="0">
                <a:effectLst/>
                <a:latin typeface="Segoe Sans"/>
              </a:rPr>
              <a:t>Scope:</a:t>
            </a:r>
            <a:endParaRPr lang="en-IN" sz="1400" b="0" i="0" dirty="0">
              <a:effectLst/>
              <a:latin typeface="Segoe Sans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sz="1400" i="0" dirty="0">
                <a:effectLst/>
                <a:latin typeface="Segoe Sans"/>
              </a:rPr>
              <a:t>Patient Cohorts: </a:t>
            </a:r>
            <a:r>
              <a:rPr lang="en-IN" sz="1400" b="0" i="0" dirty="0">
                <a:effectLst/>
                <a:latin typeface="Segoe Sans"/>
              </a:rPr>
              <a:t>LR MDS RS- and RS+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sz="1400" i="0" dirty="0">
                <a:effectLst/>
                <a:latin typeface="Segoe Sans"/>
              </a:rPr>
              <a:t>Prediction Focus</a:t>
            </a:r>
            <a:r>
              <a:rPr lang="en-IN" sz="1400" b="1" i="0" dirty="0">
                <a:effectLst/>
                <a:latin typeface="Segoe Sans"/>
              </a:rPr>
              <a:t>:</a:t>
            </a:r>
            <a:r>
              <a:rPr lang="en-IN" sz="1400" b="0" i="0" dirty="0">
                <a:effectLst/>
                <a:latin typeface="Segoe Sans"/>
              </a:rPr>
              <a:t> Transition from 1L → 2L, 2L → 3L and later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sz="1400" i="0" dirty="0">
                <a:effectLst/>
                <a:latin typeface="Segoe Sans"/>
              </a:rPr>
              <a:t>Data Window: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400" i="0" dirty="0">
                <a:effectLst/>
                <a:latin typeface="Segoe Sans"/>
              </a:rPr>
              <a:t>Lookback: Total activity in the claims data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400" i="0" dirty="0">
                <a:effectLst/>
                <a:latin typeface="Segoe Sans"/>
              </a:rPr>
              <a:t>Prediction: </a:t>
            </a:r>
            <a:r>
              <a:rPr lang="en-IN" sz="1400" b="0" i="0" dirty="0">
                <a:effectLst/>
                <a:latin typeface="Segoe Sans"/>
              </a:rPr>
              <a:t>Upcoming treatment line progression within next 3 months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IN" sz="1400" b="1" i="0" dirty="0">
                <a:effectLst/>
                <a:latin typeface="Segoe Sans"/>
              </a:rPr>
              <a:t>Outcome:</a:t>
            </a:r>
            <a:br>
              <a:rPr lang="en-IN" sz="1400" b="0" i="0" dirty="0">
                <a:effectLst/>
                <a:latin typeface="Segoe Sans"/>
              </a:rPr>
            </a:br>
            <a:r>
              <a:rPr lang="en-IN" sz="1400" b="0" i="0" dirty="0">
                <a:effectLst/>
                <a:latin typeface="Segoe Sans"/>
              </a:rPr>
              <a:t>Enable timely, data-driven HCP engagement to support optimal patient care and Rytelo adoption.</a:t>
            </a:r>
          </a:p>
        </p:txBody>
      </p:sp>
    </p:spTree>
    <p:extLst>
      <p:ext uri="{BB962C8B-B14F-4D97-AF65-F5344CB8AC3E}">
        <p14:creationId xmlns:p14="http://schemas.microsoft.com/office/powerpoint/2010/main" val="159292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4971D0-AEEC-79AF-2CE6-15F86F11123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830DE-255C-3D31-17D4-CA45C18802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B873D4-FFAA-87E0-7AB5-D771D92A3D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Project followed a 5-step approach</a:t>
            </a:r>
            <a:r>
              <a:rPr lang="en-US" dirty="0">
                <a:latin typeface="Avenir Next LT Pro" panose="020B0504020202020204" pitchFamily="34" charset="0"/>
              </a:rPr>
              <a:t> </a:t>
            </a:r>
            <a:r>
              <a:rPr lang="en-US" dirty="0"/>
              <a:t>to equip field reps with alerts on a regular cadence, allowing them to reach the right target at the right time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521742-B8B3-AAA9-A8BD-04F7863ABCF8}"/>
              </a:ext>
            </a:extLst>
          </p:cNvPr>
          <p:cNvSpPr/>
          <p:nvPr/>
        </p:nvSpPr>
        <p:spPr>
          <a:xfrm>
            <a:off x="2643682" y="2117108"/>
            <a:ext cx="2286000" cy="40541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559FBB-CDE9-60F9-CDBE-D7BFFB2150C9}"/>
              </a:ext>
            </a:extLst>
          </p:cNvPr>
          <p:cNvSpPr/>
          <p:nvPr/>
        </p:nvSpPr>
        <p:spPr>
          <a:xfrm>
            <a:off x="7391400" y="2133599"/>
            <a:ext cx="2286000" cy="40541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960149-1983-DE0C-72F0-077FF8C9FFF3}"/>
              </a:ext>
            </a:extLst>
          </p:cNvPr>
          <p:cNvSpPr/>
          <p:nvPr/>
        </p:nvSpPr>
        <p:spPr>
          <a:xfrm>
            <a:off x="314739" y="2133599"/>
            <a:ext cx="2286000" cy="40541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F94212-42EF-FB5C-F186-10F266E70F2B}"/>
              </a:ext>
            </a:extLst>
          </p:cNvPr>
          <p:cNvSpPr/>
          <p:nvPr/>
        </p:nvSpPr>
        <p:spPr>
          <a:xfrm>
            <a:off x="5029200" y="2118913"/>
            <a:ext cx="2286000" cy="40541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362D4D-DF77-552F-F651-C3E1C2E0968B}"/>
              </a:ext>
            </a:extLst>
          </p:cNvPr>
          <p:cNvSpPr/>
          <p:nvPr/>
        </p:nvSpPr>
        <p:spPr>
          <a:xfrm>
            <a:off x="9753600" y="2133599"/>
            <a:ext cx="2286000" cy="40541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57CCC3-B43F-7AE7-CFC9-20A6F955BD93}"/>
              </a:ext>
            </a:extLst>
          </p:cNvPr>
          <p:cNvSpPr txBox="1"/>
          <p:nvPr/>
        </p:nvSpPr>
        <p:spPr>
          <a:xfrm>
            <a:off x="304801" y="1524000"/>
            <a:ext cx="2286000" cy="468711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1333" b="1" dirty="0">
                <a:solidFill>
                  <a:schemeClr val="bg1"/>
                </a:solidFill>
              </a:rPr>
              <a:t>Data intelligence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58B2D4-431A-8B6A-0B4F-16AAB9D23A8C}"/>
              </a:ext>
            </a:extLst>
          </p:cNvPr>
          <p:cNvSpPr txBox="1"/>
          <p:nvPr/>
        </p:nvSpPr>
        <p:spPr>
          <a:xfrm>
            <a:off x="2667000" y="1529605"/>
            <a:ext cx="2286000" cy="468711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1333" b="1" dirty="0">
                <a:solidFill>
                  <a:schemeClr val="bg1"/>
                </a:solidFill>
              </a:rPr>
              <a:t>Patient journey events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351920-C7DA-6BA8-FE75-24B731EE9DB1}"/>
              </a:ext>
            </a:extLst>
          </p:cNvPr>
          <p:cNvSpPr txBox="1"/>
          <p:nvPr/>
        </p:nvSpPr>
        <p:spPr>
          <a:xfrm>
            <a:off x="5029200" y="1524000"/>
            <a:ext cx="2286000" cy="46871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1333" b="1" dirty="0">
                <a:solidFill>
                  <a:schemeClr val="bg1"/>
                </a:solidFill>
              </a:rPr>
              <a:t>Prediction Algorithm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6B8846-5497-31A8-D6AF-E914F8BF53B3}"/>
              </a:ext>
            </a:extLst>
          </p:cNvPr>
          <p:cNvSpPr txBox="1"/>
          <p:nvPr/>
        </p:nvSpPr>
        <p:spPr>
          <a:xfrm>
            <a:off x="7391400" y="1529605"/>
            <a:ext cx="2286000" cy="468711"/>
          </a:xfrm>
          <a:prstGeom prst="rect">
            <a:avLst/>
          </a:prstGeom>
          <a:solidFill>
            <a:schemeClr val="accent5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1333" b="1" dirty="0">
                <a:solidFill>
                  <a:schemeClr val="bg1"/>
                </a:solidFill>
              </a:rPr>
              <a:t>Patient to HCP Attribution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3E3CB7-97A7-84BC-3834-A60F320EE53D}"/>
              </a:ext>
            </a:extLst>
          </p:cNvPr>
          <p:cNvSpPr txBox="1"/>
          <p:nvPr/>
        </p:nvSpPr>
        <p:spPr>
          <a:xfrm>
            <a:off x="9753600" y="1524000"/>
            <a:ext cx="2286000" cy="468711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1333" b="1" dirty="0">
                <a:solidFill>
                  <a:schemeClr val="bg1"/>
                </a:solidFill>
              </a:rPr>
              <a:t>Field communication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E44C3F-C571-92C6-9E86-82A8EF7CD843}"/>
              </a:ext>
            </a:extLst>
          </p:cNvPr>
          <p:cNvSpPr/>
          <p:nvPr/>
        </p:nvSpPr>
        <p:spPr>
          <a:xfrm>
            <a:off x="2704803" y="2866078"/>
            <a:ext cx="2210842" cy="17821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7F3C52-3B27-EB95-5E8C-8FC2AF81EF82}"/>
              </a:ext>
            </a:extLst>
          </p:cNvPr>
          <p:cNvSpPr txBox="1"/>
          <p:nvPr/>
        </p:nvSpPr>
        <p:spPr>
          <a:xfrm>
            <a:off x="314739" y="2284571"/>
            <a:ext cx="13629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900" b="1" dirty="0"/>
              <a:t>Patient claims data</a:t>
            </a:r>
          </a:p>
        </p:txBody>
      </p:sp>
      <p:pic>
        <p:nvPicPr>
          <p:cNvPr id="18" name="Graphic 17" descr="Database with solid fill">
            <a:extLst>
              <a:ext uri="{FF2B5EF4-FFF2-40B4-BE49-F238E27FC236}">
                <a16:creationId xmlns:a16="http://schemas.microsoft.com/office/drawing/2014/main" id="{51A4270A-C295-0CF0-7B56-04D4D0CD3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595" y="2441888"/>
            <a:ext cx="640080" cy="64008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3089B12-3B7C-CB3D-776C-6755F011A19A}"/>
              </a:ext>
            </a:extLst>
          </p:cNvPr>
          <p:cNvSpPr txBox="1"/>
          <p:nvPr/>
        </p:nvSpPr>
        <p:spPr>
          <a:xfrm>
            <a:off x="390937" y="3150921"/>
            <a:ext cx="9905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900" b="1" dirty="0"/>
              <a:t>Master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4EA562-20D1-2BF2-7207-4F470F27378C}"/>
              </a:ext>
            </a:extLst>
          </p:cNvPr>
          <p:cNvSpPr txBox="1"/>
          <p:nvPr/>
        </p:nvSpPr>
        <p:spPr>
          <a:xfrm>
            <a:off x="1195675" y="3553411"/>
            <a:ext cx="1162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  <a:tabLst/>
            </a:pPr>
            <a:r>
              <a:rPr lang="en-US" sz="900" dirty="0"/>
              <a:t>HCP Profile</a:t>
            </a:r>
          </a:p>
          <a:p>
            <a:pPr marL="171450" indent="-171450">
              <a:buFont typeface="Wingdings" panose="05000000000000000000" pitchFamily="2" charset="2"/>
              <a:buChar char="ü"/>
              <a:tabLst/>
            </a:pPr>
            <a:r>
              <a:rPr lang="en-US" sz="900" dirty="0"/>
              <a:t>Account Profile</a:t>
            </a:r>
          </a:p>
        </p:txBody>
      </p:sp>
      <p:pic>
        <p:nvPicPr>
          <p:cNvPr id="21" name="Graphic 20" descr="Database with solid fill">
            <a:extLst>
              <a:ext uri="{FF2B5EF4-FFF2-40B4-BE49-F238E27FC236}">
                <a16:creationId xmlns:a16="http://schemas.microsoft.com/office/drawing/2014/main" id="{8812C10B-5FE3-F399-ACC1-D56815A08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595" y="3402584"/>
            <a:ext cx="640080" cy="64008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7340D17-41C4-978F-6EC8-387446D3B05C}"/>
              </a:ext>
            </a:extLst>
          </p:cNvPr>
          <p:cNvSpPr txBox="1"/>
          <p:nvPr/>
        </p:nvSpPr>
        <p:spPr>
          <a:xfrm>
            <a:off x="1313114" y="2577262"/>
            <a:ext cx="1391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  <a:tabLst/>
            </a:pPr>
            <a:r>
              <a:rPr lang="en-US" sz="900" dirty="0"/>
              <a:t>Transaction level claims</a:t>
            </a:r>
          </a:p>
          <a:p>
            <a:pPr marL="171450" indent="-171450">
              <a:buFont typeface="Wingdings" panose="05000000000000000000" pitchFamily="2" charset="2"/>
              <a:buChar char="ü"/>
              <a:tabLst/>
            </a:pPr>
            <a:r>
              <a:rPr lang="en-US" sz="900" dirty="0"/>
              <a:t>Informed file having </a:t>
            </a:r>
            <a:r>
              <a:rPr lang="en-US" sz="900" dirty="0" err="1"/>
              <a:t>LoT</a:t>
            </a:r>
            <a:r>
              <a:rPr lang="en-US" sz="900" dirty="0"/>
              <a:t> information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9F0ABA-523F-1BCE-D1FB-7DD205283740}"/>
              </a:ext>
            </a:extLst>
          </p:cNvPr>
          <p:cNvSpPr txBox="1"/>
          <p:nvPr/>
        </p:nvSpPr>
        <p:spPr>
          <a:xfrm>
            <a:off x="390937" y="4135508"/>
            <a:ext cx="9905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900" b="1" dirty="0"/>
              <a:t>Hierarchy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4C6DD9-A3E6-44F2-8323-AFE7D6CA1898}"/>
              </a:ext>
            </a:extLst>
          </p:cNvPr>
          <p:cNvSpPr txBox="1"/>
          <p:nvPr/>
        </p:nvSpPr>
        <p:spPr>
          <a:xfrm>
            <a:off x="1199863" y="4430513"/>
            <a:ext cx="1531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tx1"/>
              </a:buClr>
              <a:buFont typeface="Wingdings" panose="05000000000000000000" pitchFamily="2" charset="2"/>
              <a:buChar char="ü"/>
              <a:tabLst/>
            </a:pPr>
            <a:r>
              <a:rPr lang="en-US" sz="900" dirty="0"/>
              <a:t>HCP to HCO affiliation</a:t>
            </a:r>
          </a:p>
          <a:p>
            <a:pPr marL="171450" indent="-171450">
              <a:buClr>
                <a:schemeClr val="tx1"/>
              </a:buClr>
              <a:buFont typeface="Wingdings" panose="05000000000000000000" pitchFamily="2" charset="2"/>
              <a:buChar char="ü"/>
              <a:tabLst/>
            </a:pPr>
            <a:r>
              <a:rPr lang="en-US" sz="900" dirty="0"/>
              <a:t>HCO-HCO hierarchy</a:t>
            </a:r>
          </a:p>
        </p:txBody>
      </p:sp>
      <p:pic>
        <p:nvPicPr>
          <p:cNvPr id="25" name="Graphic 24" descr="Hierarchy with solid fill">
            <a:extLst>
              <a:ext uri="{FF2B5EF4-FFF2-40B4-BE49-F238E27FC236}">
                <a16:creationId xmlns:a16="http://schemas.microsoft.com/office/drawing/2014/main" id="{20AC242F-952F-A396-3AD4-1211785BEC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6381" y="4296572"/>
            <a:ext cx="640080" cy="64008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07D7528-A76E-79B3-B680-B354919E34F9}"/>
              </a:ext>
            </a:extLst>
          </p:cNvPr>
          <p:cNvSpPr txBox="1"/>
          <p:nvPr/>
        </p:nvSpPr>
        <p:spPr>
          <a:xfrm>
            <a:off x="383077" y="5097716"/>
            <a:ext cx="9905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900" b="1" dirty="0"/>
              <a:t>Alignments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77156D-1517-4472-4F54-524E0A461CF3}"/>
              </a:ext>
            </a:extLst>
          </p:cNvPr>
          <p:cNvSpPr txBox="1"/>
          <p:nvPr/>
        </p:nvSpPr>
        <p:spPr>
          <a:xfrm>
            <a:off x="1399607" y="5559672"/>
            <a:ext cx="11131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tx1"/>
              </a:buClr>
              <a:buFont typeface="Wingdings" panose="05000000000000000000" pitchFamily="2" charset="2"/>
              <a:buChar char="ü"/>
              <a:tabLst/>
            </a:pPr>
            <a:r>
              <a:rPr lang="en-US" sz="900" dirty="0"/>
              <a:t>Zip to Terr</a:t>
            </a:r>
          </a:p>
        </p:txBody>
      </p:sp>
      <p:pic>
        <p:nvPicPr>
          <p:cNvPr id="28" name="Graphic 27" descr="Map with pin with solid fill">
            <a:extLst>
              <a:ext uri="{FF2B5EF4-FFF2-40B4-BE49-F238E27FC236}">
                <a16:creationId xmlns:a16="http://schemas.microsoft.com/office/drawing/2014/main" id="{DBF5905C-C066-DAE2-AF2E-B101E0BC25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6381" y="5306379"/>
            <a:ext cx="640080" cy="64008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96BEB45-1F93-E1D5-F29A-9D8CA4AE59A6}"/>
              </a:ext>
            </a:extLst>
          </p:cNvPr>
          <p:cNvSpPr txBox="1"/>
          <p:nvPr/>
        </p:nvSpPr>
        <p:spPr>
          <a:xfrm>
            <a:off x="2699130" y="2162059"/>
            <a:ext cx="2183868" cy="39740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noAutofit/>
          </a:bodyPr>
          <a:lstStyle/>
          <a:p>
            <a:pPr algn="ctr">
              <a:spcBef>
                <a:spcPts val="600"/>
              </a:spcBef>
              <a:buClr>
                <a:schemeClr val="bg2"/>
              </a:buClr>
              <a:tabLst/>
            </a:pPr>
            <a:r>
              <a:rPr lang="en-US" sz="1000" b="1" dirty="0"/>
              <a:t>A comprehensive set of features across treatment, claims activity, patient attributes, and physician attributes are considered</a:t>
            </a:r>
          </a:p>
          <a:p>
            <a:pPr algn="ctr">
              <a:spcBef>
                <a:spcPts val="600"/>
              </a:spcBef>
              <a:buClr>
                <a:schemeClr val="bg2"/>
              </a:buClr>
              <a:tabLst/>
            </a:pPr>
            <a:endParaRPr lang="en-US" sz="1000" b="1" dirty="0"/>
          </a:p>
          <a:p>
            <a:pPr>
              <a:spcBef>
                <a:spcPts val="600"/>
              </a:spcBef>
              <a:buClr>
                <a:schemeClr val="bg2"/>
              </a:buClr>
              <a:tabLst/>
            </a:pPr>
            <a:r>
              <a:rPr lang="en-US" sz="1000" b="1" dirty="0"/>
              <a:t>Treatment: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  <a:tabLst/>
            </a:pPr>
            <a:r>
              <a:rPr lang="en-US" sz="1000" dirty="0"/>
              <a:t>Current line of therapy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  <a:tabLst/>
            </a:pPr>
            <a:r>
              <a:rPr lang="en-US" sz="1000" dirty="0"/>
              <a:t>Duration-current &amp; previous line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  <a:tabLst/>
            </a:pPr>
            <a:r>
              <a:rPr lang="en-US" sz="1000" dirty="0"/>
              <a:t>Type of drugs &amp; number of drugs received</a:t>
            </a:r>
          </a:p>
          <a:p>
            <a:pPr>
              <a:spcBef>
                <a:spcPts val="600"/>
              </a:spcBef>
              <a:buClr>
                <a:schemeClr val="tx1"/>
              </a:buClr>
              <a:tabLst/>
            </a:pPr>
            <a:r>
              <a:rPr lang="en-US" sz="1000" b="1" dirty="0"/>
              <a:t>Patient attributes: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  <a:tabLst/>
            </a:pPr>
            <a:r>
              <a:rPr lang="en-US" sz="1000" dirty="0"/>
              <a:t>RS Status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  <a:tabLst/>
            </a:pPr>
            <a:r>
              <a:rPr lang="en-US" sz="1000" dirty="0"/>
              <a:t>Age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  <a:tabLst/>
            </a:pPr>
            <a:r>
              <a:rPr lang="en-US" sz="1000" dirty="0"/>
              <a:t>Gender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  <a:tabLst/>
            </a:pPr>
            <a:r>
              <a:rPr lang="en-US" sz="1000" dirty="0"/>
              <a:t>Payer type</a:t>
            </a:r>
          </a:p>
          <a:p>
            <a:pPr>
              <a:spcBef>
                <a:spcPts val="600"/>
              </a:spcBef>
              <a:buClr>
                <a:schemeClr val="tx1"/>
              </a:buClr>
              <a:tabLst/>
            </a:pPr>
            <a:r>
              <a:rPr lang="en-US" sz="1000" b="1" dirty="0"/>
              <a:t>Key Diagnoses, Procedures, Prescriptions in 30,60,90 days: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  <a:tabLst/>
            </a:pPr>
            <a:r>
              <a:rPr lang="en-US" sz="1000" dirty="0"/>
              <a:t>Frequency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  <a:tabLst/>
            </a:pPr>
            <a:r>
              <a:rPr lang="en-US" sz="1000" dirty="0"/>
              <a:t>Recency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  <a:tabLst/>
            </a:pPr>
            <a:r>
              <a:rPr lang="en-US" sz="1000" dirty="0"/>
              <a:t>Change in frequency</a:t>
            </a:r>
          </a:p>
          <a:p>
            <a:pPr>
              <a:spcBef>
                <a:spcPts val="600"/>
              </a:spcBef>
              <a:buClr>
                <a:schemeClr val="tx1"/>
              </a:buClr>
              <a:tabLst/>
            </a:pPr>
            <a:r>
              <a:rPr lang="en-US" sz="1000" b="1" dirty="0"/>
              <a:t>Physician attributes: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  <a:tabLst/>
            </a:pPr>
            <a:r>
              <a:rPr lang="en-US" sz="1000" dirty="0"/>
              <a:t>Specialty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  <a:tabLst/>
            </a:pPr>
            <a:r>
              <a:rPr lang="en-US" sz="1000" dirty="0"/>
              <a:t>Academic vs Community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  <a:tabLst/>
            </a:pPr>
            <a:endParaRPr lang="en-US" sz="1000" dirty="0"/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  <a:tabLst/>
            </a:pPr>
            <a:endParaRPr lang="en-US" sz="1000" b="1" dirty="0"/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  <a:tabLst/>
            </a:pPr>
            <a:endParaRPr lang="en-US" sz="1000" dirty="0"/>
          </a:p>
          <a:p>
            <a:pPr marL="171450" indent="-171450">
              <a:buClr>
                <a:schemeClr val="bg2"/>
              </a:buClr>
              <a:buFont typeface="Arial" panose="020B0604020202020204" pitchFamily="34" charset="0"/>
              <a:buChar char="•"/>
              <a:tabLst/>
            </a:pPr>
            <a:endParaRPr lang="en-US" sz="10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ADCDC8-0B51-D72F-A1EB-8D868DCBF61A}"/>
              </a:ext>
            </a:extLst>
          </p:cNvPr>
          <p:cNvSpPr txBox="1"/>
          <p:nvPr/>
        </p:nvSpPr>
        <p:spPr>
          <a:xfrm>
            <a:off x="7414717" y="2204300"/>
            <a:ext cx="2258942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900" b="1" dirty="0"/>
              <a:t>Patients predicted to have a line progression in the next 3 months will be mapped to the right HCP and Account</a:t>
            </a:r>
          </a:p>
        </p:txBody>
      </p:sp>
      <p:pic>
        <p:nvPicPr>
          <p:cNvPr id="31" name="Graphic 30" descr="Inpatient with solid fill">
            <a:extLst>
              <a:ext uri="{FF2B5EF4-FFF2-40B4-BE49-F238E27FC236}">
                <a16:creationId xmlns:a16="http://schemas.microsoft.com/office/drawing/2014/main" id="{BBEEFE16-A50D-1D87-0E36-95271838D29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49575" y="3065254"/>
            <a:ext cx="548640" cy="54864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225645D-8337-B264-053F-D82D47070F0B}"/>
              </a:ext>
            </a:extLst>
          </p:cNvPr>
          <p:cNvSpPr txBox="1"/>
          <p:nvPr/>
        </p:nvSpPr>
        <p:spPr>
          <a:xfrm>
            <a:off x="8534401" y="3281329"/>
            <a:ext cx="9905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900" b="1" dirty="0"/>
              <a:t>Patient ‘X’</a:t>
            </a:r>
          </a:p>
        </p:txBody>
      </p:sp>
      <p:pic>
        <p:nvPicPr>
          <p:cNvPr id="33" name="Graphic 32" descr="Doctor male with solid fill">
            <a:extLst>
              <a:ext uri="{FF2B5EF4-FFF2-40B4-BE49-F238E27FC236}">
                <a16:creationId xmlns:a16="http://schemas.microsoft.com/office/drawing/2014/main" id="{8FFA16E2-60FA-E229-BC8D-5CE107044B3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97280" y="3650444"/>
            <a:ext cx="365760" cy="365760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E495584-14AB-B26E-8824-EC95F64CB356}"/>
              </a:ext>
            </a:extLst>
          </p:cNvPr>
          <p:cNvCxnSpPr/>
          <p:nvPr/>
        </p:nvCxnSpPr>
        <p:spPr>
          <a:xfrm flipH="1">
            <a:off x="8260080" y="3637712"/>
            <a:ext cx="175481" cy="3200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4B8AAC8-056F-AD0E-11FC-DBE19BBC3A30}"/>
              </a:ext>
            </a:extLst>
          </p:cNvPr>
          <p:cNvSpPr txBox="1"/>
          <p:nvPr/>
        </p:nvSpPr>
        <p:spPr>
          <a:xfrm>
            <a:off x="7265765" y="3974224"/>
            <a:ext cx="1466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800" dirty="0"/>
              <a:t>LR MDS Dx</a:t>
            </a:r>
          </a:p>
          <a:p>
            <a:pPr algn="ctr">
              <a:buClr>
                <a:schemeClr val="bg2"/>
              </a:buClr>
              <a:tabLst/>
            </a:pPr>
            <a:r>
              <a:rPr lang="en-US" sz="800" dirty="0"/>
              <a:t>HCP: Dr. John</a:t>
            </a:r>
          </a:p>
        </p:txBody>
      </p:sp>
      <p:pic>
        <p:nvPicPr>
          <p:cNvPr id="36" name="Graphic 35" descr="Doctor male with solid fill">
            <a:extLst>
              <a:ext uri="{FF2B5EF4-FFF2-40B4-BE49-F238E27FC236}">
                <a16:creationId xmlns:a16="http://schemas.microsoft.com/office/drawing/2014/main" id="{E7F17C19-551B-3AD7-3676-A0B675F4F84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51966" y="3924604"/>
            <a:ext cx="365760" cy="365760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82C18CE-4688-C8C3-305A-7739EC8E4773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09620" y="3909398"/>
            <a:ext cx="175481" cy="3200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B36EE64-10AF-2C06-220D-46BACBA8C328}"/>
              </a:ext>
            </a:extLst>
          </p:cNvPr>
          <p:cNvSpPr txBox="1"/>
          <p:nvPr/>
        </p:nvSpPr>
        <p:spPr>
          <a:xfrm>
            <a:off x="8373852" y="4235454"/>
            <a:ext cx="1466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800" dirty="0"/>
              <a:t>1</a:t>
            </a:r>
            <a:r>
              <a:rPr lang="en-US" sz="800" baseline="30000" dirty="0"/>
              <a:t>st</a:t>
            </a:r>
            <a:r>
              <a:rPr lang="en-US" sz="800" dirty="0"/>
              <a:t> Line treatment</a:t>
            </a:r>
          </a:p>
          <a:p>
            <a:pPr algn="ctr">
              <a:buClr>
                <a:schemeClr val="bg2"/>
              </a:buClr>
              <a:tabLst/>
            </a:pPr>
            <a:r>
              <a:rPr lang="en-US" sz="800" dirty="0"/>
              <a:t>HCP: Dr. John</a:t>
            </a:r>
          </a:p>
        </p:txBody>
      </p:sp>
      <p:pic>
        <p:nvPicPr>
          <p:cNvPr id="39" name="Graphic 38" descr="Doctor male with solid fill">
            <a:extLst>
              <a:ext uri="{FF2B5EF4-FFF2-40B4-BE49-F238E27FC236}">
                <a16:creationId xmlns:a16="http://schemas.microsoft.com/office/drawing/2014/main" id="{C4E0C6B5-BA07-F57C-E094-896F23C74C7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70360" y="4436854"/>
            <a:ext cx="365760" cy="36576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2E77D83-EA60-AACD-F408-2B0184D01086}"/>
              </a:ext>
            </a:extLst>
          </p:cNvPr>
          <p:cNvSpPr txBox="1"/>
          <p:nvPr/>
        </p:nvSpPr>
        <p:spPr>
          <a:xfrm>
            <a:off x="7194112" y="4756537"/>
            <a:ext cx="1466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800" dirty="0"/>
              <a:t>Serum Ferritin Test</a:t>
            </a:r>
          </a:p>
          <a:p>
            <a:pPr algn="ctr">
              <a:buClr>
                <a:schemeClr val="bg2"/>
              </a:buClr>
              <a:tabLst/>
            </a:pPr>
            <a:r>
              <a:rPr lang="en-US" sz="800" dirty="0"/>
              <a:t>HCP: Dr. John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71A1A30-3E2B-A828-2866-CDE5D01AE269}"/>
              </a:ext>
            </a:extLst>
          </p:cNvPr>
          <p:cNvCxnSpPr/>
          <p:nvPr/>
        </p:nvCxnSpPr>
        <p:spPr>
          <a:xfrm flipH="1">
            <a:off x="8286111" y="4326303"/>
            <a:ext cx="175481" cy="3200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Graphic 41" descr="Doctor male with solid fill">
            <a:extLst>
              <a:ext uri="{FF2B5EF4-FFF2-40B4-BE49-F238E27FC236}">
                <a16:creationId xmlns:a16="http://schemas.microsoft.com/office/drawing/2014/main" id="{07DCF03F-66C8-48D8-BA26-7E1E1F09F8F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57297" y="4729487"/>
            <a:ext cx="365760" cy="365760"/>
          </a:xfrm>
          <a:prstGeom prst="rect">
            <a:avLst/>
          </a:prstGeom>
        </p:spPr>
      </p:pic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B447D1A-2885-7A6C-88F5-B062A7FB5EB0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07841" y="4691729"/>
            <a:ext cx="175481" cy="3200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B21DB54-1D7F-9CDE-5D38-93121EAAB656}"/>
              </a:ext>
            </a:extLst>
          </p:cNvPr>
          <p:cNvSpPr txBox="1"/>
          <p:nvPr/>
        </p:nvSpPr>
        <p:spPr>
          <a:xfrm>
            <a:off x="8400356" y="5052257"/>
            <a:ext cx="1466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800" dirty="0"/>
              <a:t>2</a:t>
            </a:r>
            <a:r>
              <a:rPr lang="en-US" sz="800" baseline="30000" dirty="0"/>
              <a:t>nd</a:t>
            </a:r>
            <a:r>
              <a:rPr lang="en-US" sz="800" dirty="0"/>
              <a:t> Line treatment</a:t>
            </a:r>
          </a:p>
          <a:p>
            <a:pPr algn="ctr">
              <a:buClr>
                <a:schemeClr val="bg2"/>
              </a:buClr>
              <a:tabLst/>
            </a:pPr>
            <a:r>
              <a:rPr lang="en-US" sz="800" dirty="0"/>
              <a:t>HCP: Dr. Smith</a:t>
            </a:r>
          </a:p>
        </p:txBody>
      </p:sp>
      <p:pic>
        <p:nvPicPr>
          <p:cNvPr id="45" name="Graphic 44" descr="Doctor male with solid fill">
            <a:extLst>
              <a:ext uri="{FF2B5EF4-FFF2-40B4-BE49-F238E27FC236}">
                <a16:creationId xmlns:a16="http://schemas.microsoft.com/office/drawing/2014/main" id="{1D3297CA-46B6-3AFB-22C6-3C9B6C77F7C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77557" y="5156652"/>
            <a:ext cx="365760" cy="36576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3AACBC0-FDE8-1F23-6F00-0B65DF6DBABB}"/>
              </a:ext>
            </a:extLst>
          </p:cNvPr>
          <p:cNvSpPr txBox="1"/>
          <p:nvPr/>
        </p:nvSpPr>
        <p:spPr>
          <a:xfrm>
            <a:off x="7194112" y="5473856"/>
            <a:ext cx="1466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800" dirty="0"/>
              <a:t>3</a:t>
            </a:r>
            <a:r>
              <a:rPr lang="en-US" sz="800" baseline="30000" dirty="0"/>
              <a:t>rd</a:t>
            </a:r>
            <a:r>
              <a:rPr lang="en-US" sz="800" dirty="0"/>
              <a:t> Line treatment</a:t>
            </a:r>
          </a:p>
          <a:p>
            <a:pPr algn="ctr">
              <a:buClr>
                <a:schemeClr val="bg2"/>
              </a:buClr>
              <a:tabLst/>
            </a:pPr>
            <a:r>
              <a:rPr lang="en-US" sz="800" dirty="0"/>
              <a:t>HCP: ??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5329E4E-1B08-0C1D-54E3-5F9DC57577BA}"/>
              </a:ext>
            </a:extLst>
          </p:cNvPr>
          <p:cNvCxnSpPr/>
          <p:nvPr/>
        </p:nvCxnSpPr>
        <p:spPr>
          <a:xfrm flipH="1">
            <a:off x="8321249" y="5135554"/>
            <a:ext cx="175481" cy="3200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3FB475B-3150-FA78-65C5-20B70E9199E4}"/>
              </a:ext>
            </a:extLst>
          </p:cNvPr>
          <p:cNvSpPr txBox="1"/>
          <p:nvPr/>
        </p:nvSpPr>
        <p:spPr>
          <a:xfrm>
            <a:off x="5575437" y="3039159"/>
            <a:ext cx="12787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900" b="1" dirty="0"/>
              <a:t>XG Boost Algorithm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02779EA6-6550-8A99-AC5B-23149C11F5C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07043" y="3324807"/>
            <a:ext cx="859536" cy="686719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F8C781BB-F740-D1B7-591A-EE4076997422}"/>
              </a:ext>
            </a:extLst>
          </p:cNvPr>
          <p:cNvSpPr txBox="1"/>
          <p:nvPr/>
        </p:nvSpPr>
        <p:spPr>
          <a:xfrm>
            <a:off x="5087788" y="2135052"/>
            <a:ext cx="2151205" cy="7848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900" b="1" dirty="0"/>
              <a:t>Each patient is given a prediction score to progress to Rytelo eligible line based on patient activity across features of importance in the claims data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8196EA7-E9F1-7BA4-E9C3-418F6804EF52}"/>
              </a:ext>
            </a:extLst>
          </p:cNvPr>
          <p:cNvSpPr txBox="1"/>
          <p:nvPr/>
        </p:nvSpPr>
        <p:spPr>
          <a:xfrm>
            <a:off x="9802486" y="2221510"/>
            <a:ext cx="2152800" cy="641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algn="ctr"/>
            <a:r>
              <a:rPr lang="en-US" sz="900" b="1" dirty="0"/>
              <a:t>All the relevant information like HCP name, Tier, affiliated account information, model confidence, alert type is consolidated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1C78891-E9BA-0873-AF31-2FE2A9539938}"/>
              </a:ext>
            </a:extLst>
          </p:cNvPr>
          <p:cNvSpPr txBox="1"/>
          <p:nvPr/>
        </p:nvSpPr>
        <p:spPr>
          <a:xfrm>
            <a:off x="9797927" y="2977496"/>
            <a:ext cx="2152800" cy="641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900" b="1" dirty="0"/>
              <a:t>Based on the zip code of HCP associated with the alert, respective territory information is mapped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DE4D2D-DCD1-26E7-F3B6-0B3BCD4285D6}"/>
              </a:ext>
            </a:extLst>
          </p:cNvPr>
          <p:cNvSpPr txBox="1"/>
          <p:nvPr/>
        </p:nvSpPr>
        <p:spPr>
          <a:xfrm>
            <a:off x="9806072" y="3776601"/>
            <a:ext cx="2151205" cy="6312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900" b="1" dirty="0"/>
              <a:t>Alerts are then communicated to the field team</a:t>
            </a:r>
          </a:p>
        </p:txBody>
      </p:sp>
      <p:pic>
        <p:nvPicPr>
          <p:cNvPr id="54" name="Graphic 53" descr="Email with solid fill">
            <a:extLst>
              <a:ext uri="{FF2B5EF4-FFF2-40B4-BE49-F238E27FC236}">
                <a16:creationId xmlns:a16="http://schemas.microsoft.com/office/drawing/2014/main" id="{14D81824-3E90-633E-6E76-698664772C1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34341" y="4803963"/>
            <a:ext cx="365760" cy="365760"/>
          </a:xfrm>
          <a:prstGeom prst="rect">
            <a:avLst/>
          </a:prstGeom>
        </p:spPr>
      </p:pic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B46352C-9559-C771-3F4A-BE35D0221734}"/>
              </a:ext>
            </a:extLst>
          </p:cNvPr>
          <p:cNvCxnSpPr>
            <a:cxnSpLocks/>
          </p:cNvCxnSpPr>
          <p:nvPr/>
        </p:nvCxnSpPr>
        <p:spPr>
          <a:xfrm>
            <a:off x="10848459" y="4407809"/>
            <a:ext cx="0" cy="180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Graphic 55" descr="Office worker female with solid fill">
            <a:extLst>
              <a:ext uri="{FF2B5EF4-FFF2-40B4-BE49-F238E27FC236}">
                <a16:creationId xmlns:a16="http://schemas.microsoft.com/office/drawing/2014/main" id="{F7D67905-BE44-C9CE-3B2D-01F0ED64FE0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536626" y="4634817"/>
            <a:ext cx="648000" cy="64800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DC69F1A4-79D0-38F6-21C0-869204E0F791}"/>
              </a:ext>
            </a:extLst>
          </p:cNvPr>
          <p:cNvSpPr txBox="1"/>
          <p:nvPr/>
        </p:nvSpPr>
        <p:spPr>
          <a:xfrm>
            <a:off x="10809013" y="4895042"/>
            <a:ext cx="9905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1100" b="1" dirty="0"/>
              <a:t>KAM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E47CFCD-F111-80EE-0B45-42F0693E079B}"/>
              </a:ext>
            </a:extLst>
          </p:cNvPr>
          <p:cNvCxnSpPr>
            <a:cxnSpLocks/>
          </p:cNvCxnSpPr>
          <p:nvPr/>
        </p:nvCxnSpPr>
        <p:spPr>
          <a:xfrm>
            <a:off x="10874327" y="5308096"/>
            <a:ext cx="0" cy="180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ABDC3C5-3247-F0C4-FF17-745492848B0A}"/>
              </a:ext>
            </a:extLst>
          </p:cNvPr>
          <p:cNvCxnSpPr>
            <a:cxnSpLocks/>
          </p:cNvCxnSpPr>
          <p:nvPr/>
        </p:nvCxnSpPr>
        <p:spPr>
          <a:xfrm>
            <a:off x="10833386" y="3594391"/>
            <a:ext cx="0" cy="180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41A57C3-DA30-BA72-AFA9-48384DD02FAE}"/>
              </a:ext>
            </a:extLst>
          </p:cNvPr>
          <p:cNvCxnSpPr>
            <a:cxnSpLocks/>
          </p:cNvCxnSpPr>
          <p:nvPr/>
        </p:nvCxnSpPr>
        <p:spPr>
          <a:xfrm>
            <a:off x="10833386" y="2850631"/>
            <a:ext cx="0" cy="144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20">
            <a:extLst>
              <a:ext uri="{FF2B5EF4-FFF2-40B4-BE49-F238E27FC236}">
                <a16:creationId xmlns:a16="http://schemas.microsoft.com/office/drawing/2014/main" id="{16F1F12F-456A-F7A8-DFEF-4FACB5ED20F1}"/>
              </a:ext>
            </a:extLst>
          </p:cNvPr>
          <p:cNvSpPr/>
          <p:nvPr/>
        </p:nvSpPr>
        <p:spPr>
          <a:xfrm>
            <a:off x="5673965" y="4634817"/>
            <a:ext cx="720000" cy="417440"/>
          </a:xfrm>
          <a:prstGeom prst="roundRect">
            <a:avLst>
              <a:gd name="adj" fmla="val 8726"/>
            </a:avLst>
          </a:pr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45720" tIns="0" rIns="4572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Current Line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 panose="020B05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31116CF-4B03-8DC6-9C78-FCC05ADAA1B7}"/>
              </a:ext>
            </a:extLst>
          </p:cNvPr>
          <p:cNvSpPr txBox="1"/>
          <p:nvPr/>
        </p:nvSpPr>
        <p:spPr>
          <a:xfrm>
            <a:off x="5673499" y="5129644"/>
            <a:ext cx="752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venir Next LT Pro" panose="020B0504020202020204" pitchFamily="34" charset="0"/>
              </a:rPr>
              <a:t>1</a:t>
            </a:r>
            <a:r>
              <a:rPr kumimoji="0" lang="en-US" sz="1000" b="1" i="0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Avenir Next LT Pro" panose="020B0504020202020204" pitchFamily="34" charset="0"/>
              </a:rPr>
              <a:t>st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venir Next LT Pro" panose="020B0504020202020204" pitchFamily="34" charset="0"/>
              </a:rPr>
              <a:t> Line</a:t>
            </a:r>
          </a:p>
        </p:txBody>
      </p:sp>
      <p:sp>
        <p:nvSpPr>
          <p:cNvPr id="63" name="Rounded Rectangle 20">
            <a:extLst>
              <a:ext uri="{FF2B5EF4-FFF2-40B4-BE49-F238E27FC236}">
                <a16:creationId xmlns:a16="http://schemas.microsoft.com/office/drawing/2014/main" id="{AFDAE9AA-4BB3-C976-4A72-FF91EDF5880A}"/>
              </a:ext>
            </a:extLst>
          </p:cNvPr>
          <p:cNvSpPr/>
          <p:nvPr/>
        </p:nvSpPr>
        <p:spPr>
          <a:xfrm>
            <a:off x="6495240" y="4646343"/>
            <a:ext cx="720000" cy="419082"/>
          </a:xfrm>
          <a:prstGeom prst="roundRect">
            <a:avLst>
              <a:gd name="adj" fmla="val 8726"/>
            </a:avLst>
          </a:pr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45720" tIns="0" rIns="4572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Next line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Progression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 likelihood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BB95CE5-E2DC-990D-3B80-B295E4C3761B}"/>
              </a:ext>
            </a:extLst>
          </p:cNvPr>
          <p:cNvSpPr txBox="1"/>
          <p:nvPr/>
        </p:nvSpPr>
        <p:spPr>
          <a:xfrm>
            <a:off x="5689820" y="5717971"/>
            <a:ext cx="752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venir Next LT Pro" panose="020B0504020202020204" pitchFamily="34" charset="0"/>
              </a:rPr>
              <a:t>2</a:t>
            </a:r>
            <a:r>
              <a:rPr kumimoji="0" lang="en-US" sz="1000" b="1" i="0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Avenir Next LT Pro" panose="020B0504020202020204" pitchFamily="34" charset="0"/>
              </a:rPr>
              <a:t>nd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venir Next LT Pro" panose="020B0504020202020204" pitchFamily="34" charset="0"/>
              </a:rPr>
              <a:t> Line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102FD27-D607-A442-41D6-9EAB8DE63760}"/>
              </a:ext>
            </a:extLst>
          </p:cNvPr>
          <p:cNvSpPr txBox="1"/>
          <p:nvPr/>
        </p:nvSpPr>
        <p:spPr>
          <a:xfrm>
            <a:off x="6643541" y="5135553"/>
            <a:ext cx="4970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80%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B3B6BCA-CA6F-7B45-3F28-2F3F95BC4521}"/>
              </a:ext>
            </a:extLst>
          </p:cNvPr>
          <p:cNvSpPr txBox="1"/>
          <p:nvPr/>
        </p:nvSpPr>
        <p:spPr>
          <a:xfrm>
            <a:off x="6663568" y="5723880"/>
            <a:ext cx="4970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kern="0" dirty="0">
                <a:solidFill>
                  <a:srgbClr val="00B050"/>
                </a:solidFill>
                <a:latin typeface="Avenir Next LT Pro" panose="020B0504020202020204" pitchFamily="34" charset="0"/>
              </a:rPr>
              <a:t>85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%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97ABB9D-C542-6560-38D5-A2C13FE72520}"/>
              </a:ext>
            </a:extLst>
          </p:cNvPr>
          <p:cNvCxnSpPr>
            <a:cxnSpLocks/>
          </p:cNvCxnSpPr>
          <p:nvPr/>
        </p:nvCxnSpPr>
        <p:spPr>
          <a:xfrm>
            <a:off x="6244770" y="4120291"/>
            <a:ext cx="0" cy="2914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" name="Graphic 69" descr="Inpatient with solid fill">
            <a:extLst>
              <a:ext uri="{FF2B5EF4-FFF2-40B4-BE49-F238E27FC236}">
                <a16:creationId xmlns:a16="http://schemas.microsoft.com/office/drawing/2014/main" id="{1F7E40A8-0535-5DC9-5373-9783D53F8A2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109231" y="5019070"/>
            <a:ext cx="468000" cy="468000"/>
          </a:xfrm>
          <a:prstGeom prst="rect">
            <a:avLst/>
          </a:prstGeom>
        </p:spPr>
      </p:pic>
      <p:pic>
        <p:nvPicPr>
          <p:cNvPr id="71" name="Graphic 70" descr="Inpatient with solid fill">
            <a:extLst>
              <a:ext uri="{FF2B5EF4-FFF2-40B4-BE49-F238E27FC236}">
                <a16:creationId xmlns:a16="http://schemas.microsoft.com/office/drawing/2014/main" id="{2575C9BD-E664-646C-929C-EC3A28890E5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111483" y="5540538"/>
            <a:ext cx="468000" cy="46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2D98E4-BF22-7F7F-C74B-9356A415845C}"/>
              </a:ext>
            </a:extLst>
          </p:cNvPr>
          <p:cNvSpPr txBox="1"/>
          <p:nvPr/>
        </p:nvSpPr>
        <p:spPr>
          <a:xfrm>
            <a:off x="9806071" y="5504888"/>
            <a:ext cx="2151205" cy="6312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1000" b="1" dirty="0"/>
              <a:t>KAM feedback will be considered for the model refinement on continuous basis</a:t>
            </a:r>
          </a:p>
        </p:txBody>
      </p:sp>
    </p:spTree>
    <p:extLst>
      <p:ext uri="{BB962C8B-B14F-4D97-AF65-F5344CB8AC3E}">
        <p14:creationId xmlns:p14="http://schemas.microsoft.com/office/powerpoint/2010/main" val="3891107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5B797D-69EB-0F12-1CB1-5370B120FD4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B7931A-9AA6-65AC-B980-E93C324CDFC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" y="98492"/>
            <a:ext cx="10972800" cy="925331"/>
          </a:xfrm>
        </p:spPr>
        <p:txBody>
          <a:bodyPr anchor="ctr">
            <a:normAutofit/>
          </a:bodyPr>
          <a:lstStyle/>
          <a:p>
            <a:r>
              <a:rPr lang="en-US" sz="2400" dirty="0"/>
              <a:t>Setting Realistic Expectations: How Claims Data Constraints Influence Model Outputs</a:t>
            </a:r>
            <a:endParaRPr lang="en-IN" sz="24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E91154E-DAD5-A97C-F743-157510EF3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167889"/>
              </p:ext>
            </p:extLst>
          </p:nvPr>
        </p:nvGraphicFramePr>
        <p:xfrm>
          <a:off x="609600" y="1440612"/>
          <a:ext cx="11079192" cy="4719694"/>
        </p:xfrm>
        <a:graphic>
          <a:graphicData uri="http://schemas.openxmlformats.org/drawingml/2006/table">
            <a:tbl>
              <a:tblPr firstRow="1"/>
              <a:tblGrid>
                <a:gridCol w="2970362">
                  <a:extLst>
                    <a:ext uri="{9D8B030D-6E8A-4147-A177-3AD203B41FA5}">
                      <a16:colId xmlns:a16="http://schemas.microsoft.com/office/drawing/2014/main" val="3511003856"/>
                    </a:ext>
                  </a:extLst>
                </a:gridCol>
                <a:gridCol w="8108830">
                  <a:extLst>
                    <a:ext uri="{9D8B030D-6E8A-4147-A177-3AD203B41FA5}">
                      <a16:colId xmlns:a16="http://schemas.microsoft.com/office/drawing/2014/main" val="23276903"/>
                    </a:ext>
                  </a:extLst>
                </a:gridCol>
              </a:tblGrid>
              <a:tr h="330574">
                <a:tc>
                  <a:txBody>
                    <a:bodyPr/>
                    <a:lstStyle/>
                    <a:p>
                      <a:r>
                        <a:rPr lang="en-IN" sz="1500" b="1" dirty="0">
                          <a:solidFill>
                            <a:schemeClr val="bg1"/>
                          </a:solidFill>
                        </a:rPr>
                        <a:t>Limitation Category</a:t>
                      </a:r>
                      <a:endParaRPr lang="en-IN" sz="1500" dirty="0">
                        <a:solidFill>
                          <a:schemeClr val="bg1"/>
                        </a:solidFill>
                      </a:endParaRPr>
                    </a:p>
                  </a:txBody>
                  <a:tcPr marL="77118" marR="77118" marT="38559" marB="385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b="1" dirty="0">
                          <a:solidFill>
                            <a:schemeClr val="bg1"/>
                          </a:solidFill>
                        </a:rPr>
                        <a:t>Details Specific to MDS</a:t>
                      </a:r>
                      <a:endParaRPr lang="en-IN" sz="1500" dirty="0">
                        <a:solidFill>
                          <a:schemeClr val="bg1"/>
                        </a:solidFill>
                      </a:endParaRPr>
                    </a:p>
                  </a:txBody>
                  <a:tcPr marL="77118" marR="77118" marT="38559" marB="385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31201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IN" sz="1500" b="1" dirty="0"/>
                        <a:t>Data Lag and Timeliness</a:t>
                      </a:r>
                      <a:endParaRPr lang="en-IN" sz="1500" dirty="0"/>
                    </a:p>
                  </a:txBody>
                  <a:tcPr marL="77118" marR="77118" marT="38559" marB="38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/>
                        <a:t>Claims submissions and adjudications introduce a lag (often 2–3 months), making real-time predictions challenging</a:t>
                      </a:r>
                    </a:p>
                  </a:txBody>
                  <a:tcPr marL="77118" marR="77118" marT="38559" marB="38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27837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IN" sz="1500" b="1" dirty="0"/>
                        <a:t>Incomplete Clinical Context</a:t>
                      </a:r>
                      <a:endParaRPr lang="en-IN" sz="1500" dirty="0"/>
                    </a:p>
                  </a:txBody>
                  <a:tcPr marL="77118" marR="77118" marT="38559" marB="38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/>
                        <a:t>Claims data does not capture key clinical indicators for MDS such as blast percentage, cytopenia severity, transfusion dependency, or IPSS/IPSS-R risk scores</a:t>
                      </a:r>
                    </a:p>
                  </a:txBody>
                  <a:tcPr marL="77118" marR="77118" marT="38559" marB="38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720736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US" sz="1500" b="1"/>
                        <a:t>Lack of Diagnostic/Test Results</a:t>
                      </a:r>
                      <a:endParaRPr lang="en-US" sz="1500"/>
                    </a:p>
                  </a:txBody>
                  <a:tcPr marL="77118" marR="77118" marT="38559" marB="38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/>
                        <a:t>Cytogenetic data, bone marrow biopsy results, and molecular mutations critical for prognosis and treatment are not available</a:t>
                      </a:r>
                    </a:p>
                  </a:txBody>
                  <a:tcPr marL="77118" marR="77118" marT="38559" marB="38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15626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IN" sz="1500" b="1"/>
                        <a:t>Unstructured Data Exclusion</a:t>
                      </a:r>
                      <a:endParaRPr lang="en-IN" sz="1500"/>
                    </a:p>
                  </a:txBody>
                  <a:tcPr marL="77118" marR="77118" marT="38559" marB="38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/>
                        <a:t>Clinical notes detailing disease progression, response to therapy, or rationale for treatment changes are not included</a:t>
                      </a:r>
                    </a:p>
                  </a:txBody>
                  <a:tcPr marL="77118" marR="77118" marT="38559" marB="38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79143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IN" sz="1500" b="1"/>
                        <a:t>Variable Coding Practices</a:t>
                      </a:r>
                      <a:endParaRPr lang="en-IN" sz="1500"/>
                    </a:p>
                  </a:txBody>
                  <a:tcPr marL="77118" marR="77118" marT="38559" marB="38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/>
                        <a:t>Variability in the use of ICD and procedure codes for MDS subtypes (e.g., RAEB, MDS with ring </a:t>
                      </a:r>
                      <a:r>
                        <a:rPr lang="en-US" sz="1500" dirty="0" err="1"/>
                        <a:t>sideroblasts</a:t>
                      </a:r>
                      <a:r>
                        <a:rPr lang="en-US" sz="1500" dirty="0"/>
                        <a:t>) can introduce inconsistencies in patient identification</a:t>
                      </a:r>
                    </a:p>
                  </a:txBody>
                  <a:tcPr marL="77118" marR="77118" marT="38559" marB="38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499858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IN" sz="1500" b="1"/>
                        <a:t>Patient Journey Gaps</a:t>
                      </a:r>
                      <a:endParaRPr lang="en-IN" sz="1500"/>
                    </a:p>
                  </a:txBody>
                  <a:tcPr marL="77118" marR="77118" marT="38559" marB="38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/>
                        <a:t>Progression to AML or clinical deterioration not tied to billed procedures may go unrecorded</a:t>
                      </a:r>
                    </a:p>
                  </a:txBody>
                  <a:tcPr marL="77118" marR="77118" marT="38559" marB="385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027565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3191887A-1323-FF53-019B-7CC35D4FF502}"/>
              </a:ext>
            </a:extLst>
          </p:cNvPr>
          <p:cNvSpPr/>
          <p:nvPr/>
        </p:nvSpPr>
        <p:spPr>
          <a:xfrm>
            <a:off x="5248656" y="905256"/>
            <a:ext cx="3675888" cy="4389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IN" b="1" dirty="0"/>
              <a:t>Patient sample is partial not complete market. IQVIA capture is ~40-50%</a:t>
            </a:r>
          </a:p>
          <a:p>
            <a:pPr algn="ctr">
              <a:lnSpc>
                <a:spcPct val="90000"/>
              </a:lnSpc>
            </a:pPr>
            <a:r>
              <a:rPr lang="en-IN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1038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6D90C1-4C08-35ED-0C51-BA6595A2727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CEC84A-10B5-63AA-AFF9-ADD92E9FA2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433E1D-958E-D28B-DFD1-D6E89DFB4E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800" b="1" dirty="0"/>
              <a:t>Feature Engineering- A comprehensive set of features across treatment, claims activity, patient attributes, and physician attributes are fed into the model</a:t>
            </a:r>
            <a:endParaRPr lang="en-I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4256B09-CCC8-2CC7-3242-6706C75A8223}"/>
              </a:ext>
            </a:extLst>
          </p:cNvPr>
          <p:cNvGrpSpPr/>
          <p:nvPr/>
        </p:nvGrpSpPr>
        <p:grpSpPr>
          <a:xfrm>
            <a:off x="-1524000" y="1491840"/>
            <a:ext cx="9906000" cy="4800600"/>
            <a:chOff x="839223" y="1275591"/>
            <a:chExt cx="10042239" cy="506077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3D5987D-7910-90A6-CB87-2B56EE68B5CE}"/>
                </a:ext>
              </a:extLst>
            </p:cNvPr>
            <p:cNvGrpSpPr/>
            <p:nvPr/>
          </p:nvGrpSpPr>
          <p:grpSpPr>
            <a:xfrm>
              <a:off x="839223" y="1275591"/>
              <a:ext cx="10042239" cy="4654660"/>
              <a:chOff x="329070" y="792419"/>
              <a:chExt cx="11269255" cy="5179616"/>
            </a:xfrm>
          </p:grpSpPr>
          <p:sp>
            <p:nvSpPr>
              <p:cNvPr id="21" name="Shape0_20210706_143526">
                <a:extLst>
                  <a:ext uri="{FF2B5EF4-FFF2-40B4-BE49-F238E27FC236}">
                    <a16:creationId xmlns:a16="http://schemas.microsoft.com/office/drawing/2014/main" id="{1FBA0524-201D-FBCC-8723-2A60340620A1}"/>
                  </a:ext>
                </a:extLst>
              </p:cNvPr>
              <p:cNvSpPr txBox="1"/>
              <p:nvPr/>
            </p:nvSpPr>
            <p:spPr>
              <a:xfrm>
                <a:off x="4839136" y="999413"/>
                <a:ext cx="3625200" cy="3375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>
                  <a:defRPr/>
                </a:pPr>
                <a:r>
                  <a:rPr lang="en-IN" sz="1400" b="1" dirty="0"/>
                  <a:t>Treatment</a:t>
                </a:r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80425365-2AF4-3D71-E6CA-C31807A0AA8D}"/>
                  </a:ext>
                </a:extLst>
              </p:cNvPr>
              <p:cNvGrpSpPr/>
              <p:nvPr/>
            </p:nvGrpSpPr>
            <p:grpSpPr>
              <a:xfrm>
                <a:off x="329070" y="792419"/>
                <a:ext cx="11269255" cy="5179616"/>
                <a:chOff x="548602" y="1023853"/>
                <a:chExt cx="11094799" cy="4966704"/>
              </a:xfrm>
            </p:grpSpPr>
            <p:sp>
              <p:nvSpPr>
                <p:cNvPr id="23" name="Shape1_20210706_143526">
                  <a:extLst>
                    <a:ext uri="{FF2B5EF4-FFF2-40B4-BE49-F238E27FC236}">
                      <a16:creationId xmlns:a16="http://schemas.microsoft.com/office/drawing/2014/main" id="{7377DF63-54C7-A8F3-DD74-AD0AAEFC8F10}"/>
                    </a:ext>
                  </a:extLst>
                </p:cNvPr>
                <p:cNvSpPr txBox="1"/>
                <p:nvPr/>
              </p:nvSpPr>
              <p:spPr>
                <a:xfrm>
                  <a:off x="7971851" y="2590773"/>
                  <a:ext cx="3625200" cy="32365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b">
                  <a:spAutoFit/>
                </a:bodyPr>
                <a:lstStyle/>
                <a:p>
                  <a:pPr>
                    <a:defRPr/>
                  </a:pPr>
                  <a:r>
                    <a:rPr lang="en-IN" sz="1400" b="1" dirty="0"/>
                    <a:t>Physician Attributes</a:t>
                  </a:r>
                </a:p>
              </p:txBody>
            </p:sp>
            <p:sp>
              <p:nvSpPr>
                <p:cNvPr id="24" name="Shape2_20210706_143526">
                  <a:extLst>
                    <a:ext uri="{FF2B5EF4-FFF2-40B4-BE49-F238E27FC236}">
                      <a16:creationId xmlns:a16="http://schemas.microsoft.com/office/drawing/2014/main" id="{A8150475-CBCD-19EE-D7AE-BD7B70729C2C}"/>
                    </a:ext>
                  </a:extLst>
                </p:cNvPr>
                <p:cNvSpPr txBox="1"/>
                <p:nvPr/>
              </p:nvSpPr>
              <p:spPr>
                <a:xfrm>
                  <a:off x="8018201" y="3940357"/>
                  <a:ext cx="3625200" cy="32365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b">
                  <a:spAutoFit/>
                </a:bodyPr>
                <a:lstStyle/>
                <a:p>
                  <a:pPr>
                    <a:defRPr/>
                  </a:pPr>
                  <a:r>
                    <a:rPr lang="en-IN" sz="1400" b="1" dirty="0"/>
                    <a:t>Patient Attributes</a:t>
                  </a:r>
                </a:p>
              </p:txBody>
            </p:sp>
            <p:sp>
              <p:nvSpPr>
                <p:cNvPr id="25" name="Shape3_20210706_143526">
                  <a:extLst>
                    <a:ext uri="{FF2B5EF4-FFF2-40B4-BE49-F238E27FC236}">
                      <a16:creationId xmlns:a16="http://schemas.microsoft.com/office/drawing/2014/main" id="{0FBED516-6BDC-9CA7-A0C1-441243A90270}"/>
                    </a:ext>
                  </a:extLst>
                </p:cNvPr>
                <p:cNvSpPr txBox="1"/>
                <p:nvPr/>
              </p:nvSpPr>
              <p:spPr>
                <a:xfrm>
                  <a:off x="2457091" y="5666907"/>
                  <a:ext cx="3624039" cy="32365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b">
                  <a:spAutoFit/>
                </a:bodyPr>
                <a:lstStyle/>
                <a:p>
                  <a:pPr algn="r">
                    <a:defRPr/>
                  </a:pPr>
                  <a:r>
                    <a:rPr lang="en-IN" sz="1400" b="1" dirty="0"/>
                    <a:t>Change in frequency</a:t>
                  </a:r>
                </a:p>
              </p:txBody>
            </p:sp>
            <p:sp>
              <p:nvSpPr>
                <p:cNvPr id="26" name="Shape4_20210706_143526">
                  <a:extLst>
                    <a:ext uri="{FF2B5EF4-FFF2-40B4-BE49-F238E27FC236}">
                      <a16:creationId xmlns:a16="http://schemas.microsoft.com/office/drawing/2014/main" id="{1C53895B-157C-A455-BE31-9592164FC647}"/>
                    </a:ext>
                  </a:extLst>
                </p:cNvPr>
                <p:cNvSpPr txBox="1"/>
                <p:nvPr/>
              </p:nvSpPr>
              <p:spPr>
                <a:xfrm>
                  <a:off x="548602" y="3923493"/>
                  <a:ext cx="3624039" cy="32365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b">
                  <a:spAutoFit/>
                </a:bodyPr>
                <a:lstStyle/>
                <a:p>
                  <a:pPr algn="r">
                    <a:defRPr/>
                  </a:pPr>
                  <a:r>
                    <a:rPr lang="en-IN" sz="1400" b="1" dirty="0"/>
                    <a:t>Recency</a:t>
                  </a:r>
                </a:p>
              </p:txBody>
            </p:sp>
            <p:sp>
              <p:nvSpPr>
                <p:cNvPr id="27" name="Shape5_20210706_143526">
                  <a:extLst>
                    <a:ext uri="{FF2B5EF4-FFF2-40B4-BE49-F238E27FC236}">
                      <a16:creationId xmlns:a16="http://schemas.microsoft.com/office/drawing/2014/main" id="{B957F205-383D-CB53-57BC-F2C7D6BA52B1}"/>
                    </a:ext>
                  </a:extLst>
                </p:cNvPr>
                <p:cNvSpPr txBox="1"/>
                <p:nvPr/>
              </p:nvSpPr>
              <p:spPr>
                <a:xfrm>
                  <a:off x="550153" y="2596104"/>
                  <a:ext cx="3624039" cy="32365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b">
                  <a:spAutoFit/>
                </a:bodyPr>
                <a:lstStyle/>
                <a:p>
                  <a:pPr algn="r">
                    <a:defRPr/>
                  </a:pPr>
                  <a:r>
                    <a:rPr lang="en-US" sz="1400" b="1" dirty="0">
                      <a:ea typeface="Arial"/>
                      <a:cs typeface="Arial"/>
                      <a:sym typeface="Arial"/>
                    </a:rPr>
                    <a:t>Frequency</a:t>
                  </a:r>
                  <a:endParaRPr lang="en-IN" sz="1400" b="1" dirty="0"/>
                </a:p>
              </p:txBody>
            </p:sp>
            <p:sp>
              <p:nvSpPr>
                <p:cNvPr id="28" name="Shape1_20210511_114737">
                  <a:extLst>
                    <a:ext uri="{FF2B5EF4-FFF2-40B4-BE49-F238E27FC236}">
                      <a16:creationId xmlns:a16="http://schemas.microsoft.com/office/drawing/2014/main" id="{AEFAE148-464C-745A-82D5-8160F7D35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91881" y="2384038"/>
                  <a:ext cx="1062937" cy="1224028"/>
                </a:xfrm>
                <a:custGeom>
                  <a:avLst/>
                  <a:gdLst>
                    <a:gd name="T0" fmla="*/ 805 w 805"/>
                    <a:gd name="T1" fmla="*/ 695 h 927"/>
                    <a:gd name="T2" fmla="*/ 402 w 805"/>
                    <a:gd name="T3" fmla="*/ 927 h 927"/>
                    <a:gd name="T4" fmla="*/ 0 w 805"/>
                    <a:gd name="T5" fmla="*/ 695 h 927"/>
                    <a:gd name="T6" fmla="*/ 0 w 805"/>
                    <a:gd name="T7" fmla="*/ 232 h 927"/>
                    <a:gd name="T8" fmla="*/ 402 w 805"/>
                    <a:gd name="T9" fmla="*/ 0 h 927"/>
                    <a:gd name="T10" fmla="*/ 805 w 805"/>
                    <a:gd name="T11" fmla="*/ 232 h 927"/>
                    <a:gd name="T12" fmla="*/ 805 w 805"/>
                    <a:gd name="T13" fmla="*/ 695 h 9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5" h="927">
                      <a:moveTo>
                        <a:pt x="805" y="695"/>
                      </a:moveTo>
                      <a:lnTo>
                        <a:pt x="402" y="927"/>
                      </a:lnTo>
                      <a:lnTo>
                        <a:pt x="0" y="695"/>
                      </a:lnTo>
                      <a:lnTo>
                        <a:pt x="0" y="232"/>
                      </a:lnTo>
                      <a:lnTo>
                        <a:pt x="402" y="0"/>
                      </a:lnTo>
                      <a:lnTo>
                        <a:pt x="805" y="232"/>
                      </a:lnTo>
                      <a:lnTo>
                        <a:pt x="805" y="695"/>
                      </a:lnTo>
                      <a:close/>
                    </a:path>
                  </a:pathLst>
                </a:custGeom>
                <a:solidFill>
                  <a:schemeClr val="accent5">
                    <a:lumMod val="100000"/>
                  </a:schemeClr>
                </a:solidFill>
                <a:ln>
                  <a:noFill/>
                </a:ln>
                <a:effectLst/>
              </p:spPr>
              <p:txBody>
                <a:bodyPr vert="horz" wrap="square" lIns="90813" tIns="45407" rIns="90813" bIns="45407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IN" sz="13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9" name="Shape1_20210511_115055">
                  <a:extLst>
                    <a:ext uri="{FF2B5EF4-FFF2-40B4-BE49-F238E27FC236}">
                      <a16:creationId xmlns:a16="http://schemas.microsoft.com/office/drawing/2014/main" id="{F40AC4B4-08D2-4808-B7E0-B050610754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86601" y="3717660"/>
                  <a:ext cx="1064257" cy="1225347"/>
                </a:xfrm>
                <a:custGeom>
                  <a:avLst/>
                  <a:gdLst>
                    <a:gd name="T0" fmla="*/ 806 w 806"/>
                    <a:gd name="T1" fmla="*/ 696 h 928"/>
                    <a:gd name="T2" fmla="*/ 403 w 806"/>
                    <a:gd name="T3" fmla="*/ 928 h 928"/>
                    <a:gd name="T4" fmla="*/ 0 w 806"/>
                    <a:gd name="T5" fmla="*/ 696 h 928"/>
                    <a:gd name="T6" fmla="*/ 0 w 806"/>
                    <a:gd name="T7" fmla="*/ 232 h 928"/>
                    <a:gd name="T8" fmla="*/ 403 w 806"/>
                    <a:gd name="T9" fmla="*/ 0 h 928"/>
                    <a:gd name="T10" fmla="*/ 806 w 806"/>
                    <a:gd name="T11" fmla="*/ 232 h 928"/>
                    <a:gd name="T12" fmla="*/ 806 w 806"/>
                    <a:gd name="T13" fmla="*/ 696 h 9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6" h="928">
                      <a:moveTo>
                        <a:pt x="806" y="696"/>
                      </a:moveTo>
                      <a:lnTo>
                        <a:pt x="403" y="928"/>
                      </a:lnTo>
                      <a:lnTo>
                        <a:pt x="0" y="696"/>
                      </a:lnTo>
                      <a:lnTo>
                        <a:pt x="0" y="232"/>
                      </a:lnTo>
                      <a:lnTo>
                        <a:pt x="403" y="0"/>
                      </a:lnTo>
                      <a:lnTo>
                        <a:pt x="806" y="232"/>
                      </a:lnTo>
                      <a:lnTo>
                        <a:pt x="806" y="696"/>
                      </a:lnTo>
                      <a:close/>
                    </a:path>
                  </a:pathLst>
                </a:cu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  <a:effectLst/>
              </p:spPr>
              <p:txBody>
                <a:bodyPr vert="horz" wrap="square" lIns="90813" tIns="45407" rIns="90813" bIns="45407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IN" sz="13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0" name="Shape2_20210511_114737">
                  <a:extLst>
                    <a:ext uri="{FF2B5EF4-FFF2-40B4-BE49-F238E27FC236}">
                      <a16:creationId xmlns:a16="http://schemas.microsoft.com/office/drawing/2014/main" id="{BE0885F2-3850-0A86-C4EC-A5C33AA28E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1966" y="4384471"/>
                  <a:ext cx="1064257" cy="1224028"/>
                </a:xfrm>
                <a:custGeom>
                  <a:avLst/>
                  <a:gdLst>
                    <a:gd name="T0" fmla="*/ 806 w 806"/>
                    <a:gd name="T1" fmla="*/ 696 h 927"/>
                    <a:gd name="T2" fmla="*/ 403 w 806"/>
                    <a:gd name="T3" fmla="*/ 927 h 927"/>
                    <a:gd name="T4" fmla="*/ 0 w 806"/>
                    <a:gd name="T5" fmla="*/ 696 h 927"/>
                    <a:gd name="T6" fmla="*/ 0 w 806"/>
                    <a:gd name="T7" fmla="*/ 232 h 927"/>
                    <a:gd name="T8" fmla="*/ 403 w 806"/>
                    <a:gd name="T9" fmla="*/ 0 h 927"/>
                    <a:gd name="T10" fmla="*/ 806 w 806"/>
                    <a:gd name="T11" fmla="*/ 232 h 927"/>
                    <a:gd name="T12" fmla="*/ 806 w 806"/>
                    <a:gd name="T13" fmla="*/ 696 h 9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6" h="927">
                      <a:moveTo>
                        <a:pt x="806" y="696"/>
                      </a:moveTo>
                      <a:lnTo>
                        <a:pt x="403" y="927"/>
                      </a:lnTo>
                      <a:lnTo>
                        <a:pt x="0" y="696"/>
                      </a:lnTo>
                      <a:lnTo>
                        <a:pt x="0" y="232"/>
                      </a:lnTo>
                      <a:lnTo>
                        <a:pt x="403" y="0"/>
                      </a:lnTo>
                      <a:lnTo>
                        <a:pt x="806" y="232"/>
                      </a:lnTo>
                      <a:lnTo>
                        <a:pt x="806" y="696"/>
                      </a:lnTo>
                      <a:close/>
                    </a:path>
                  </a:pathLst>
                </a:custGeom>
                <a:solidFill>
                  <a:srgbClr val="8DC1C5"/>
                </a:solidFill>
                <a:ln>
                  <a:noFill/>
                </a:ln>
                <a:effectLst/>
              </p:spPr>
              <p:txBody>
                <a:bodyPr vert="horz" wrap="square" lIns="90813" tIns="45407" rIns="90813" bIns="45407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IN" sz="13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" name="Shape2_20210511_115055">
                  <a:extLst>
                    <a:ext uri="{FF2B5EF4-FFF2-40B4-BE49-F238E27FC236}">
                      <a16:creationId xmlns:a16="http://schemas.microsoft.com/office/drawing/2014/main" id="{B2D5540D-A8DA-FB07-637B-BF79422356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94690" y="3717660"/>
                  <a:ext cx="1064257" cy="1225347"/>
                </a:xfrm>
                <a:custGeom>
                  <a:avLst/>
                  <a:gdLst>
                    <a:gd name="T0" fmla="*/ 806 w 806"/>
                    <a:gd name="T1" fmla="*/ 696 h 928"/>
                    <a:gd name="T2" fmla="*/ 403 w 806"/>
                    <a:gd name="T3" fmla="*/ 928 h 928"/>
                    <a:gd name="T4" fmla="*/ 0 w 806"/>
                    <a:gd name="T5" fmla="*/ 696 h 928"/>
                    <a:gd name="T6" fmla="*/ 0 w 806"/>
                    <a:gd name="T7" fmla="*/ 232 h 928"/>
                    <a:gd name="T8" fmla="*/ 403 w 806"/>
                    <a:gd name="T9" fmla="*/ 0 h 928"/>
                    <a:gd name="T10" fmla="*/ 806 w 806"/>
                    <a:gd name="T11" fmla="*/ 232 h 928"/>
                    <a:gd name="T12" fmla="*/ 806 w 806"/>
                    <a:gd name="T13" fmla="*/ 696 h 9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6" h="928">
                      <a:moveTo>
                        <a:pt x="806" y="696"/>
                      </a:moveTo>
                      <a:lnTo>
                        <a:pt x="403" y="928"/>
                      </a:lnTo>
                      <a:lnTo>
                        <a:pt x="0" y="696"/>
                      </a:lnTo>
                      <a:lnTo>
                        <a:pt x="0" y="232"/>
                      </a:lnTo>
                      <a:lnTo>
                        <a:pt x="403" y="0"/>
                      </a:lnTo>
                      <a:lnTo>
                        <a:pt x="806" y="232"/>
                      </a:lnTo>
                      <a:lnTo>
                        <a:pt x="806" y="696"/>
                      </a:lnTo>
                      <a:close/>
                    </a:path>
                  </a:pathLst>
                </a:custGeom>
                <a:solidFill>
                  <a:schemeClr val="accent2">
                    <a:lumMod val="100000"/>
                  </a:schemeClr>
                </a:solidFill>
                <a:ln>
                  <a:noFill/>
                </a:ln>
                <a:effectLst/>
              </p:spPr>
              <p:txBody>
                <a:bodyPr vert="horz" wrap="square" lIns="90813" tIns="45407" rIns="90813" bIns="45407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IN" sz="13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2" name="Shape0_20210511_114737">
                  <a:extLst>
                    <a:ext uri="{FF2B5EF4-FFF2-40B4-BE49-F238E27FC236}">
                      <a16:creationId xmlns:a16="http://schemas.microsoft.com/office/drawing/2014/main" id="{C9C69AB3-817A-F717-7F99-7B3CC7AB05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94690" y="2384038"/>
                  <a:ext cx="1064257" cy="1224028"/>
                </a:xfrm>
                <a:custGeom>
                  <a:avLst/>
                  <a:gdLst>
                    <a:gd name="T0" fmla="*/ 806 w 806"/>
                    <a:gd name="T1" fmla="*/ 695 h 927"/>
                    <a:gd name="T2" fmla="*/ 403 w 806"/>
                    <a:gd name="T3" fmla="*/ 927 h 927"/>
                    <a:gd name="T4" fmla="*/ 0 w 806"/>
                    <a:gd name="T5" fmla="*/ 695 h 927"/>
                    <a:gd name="T6" fmla="*/ 0 w 806"/>
                    <a:gd name="T7" fmla="*/ 232 h 927"/>
                    <a:gd name="T8" fmla="*/ 403 w 806"/>
                    <a:gd name="T9" fmla="*/ 0 h 927"/>
                    <a:gd name="T10" fmla="*/ 806 w 806"/>
                    <a:gd name="T11" fmla="*/ 232 h 927"/>
                    <a:gd name="T12" fmla="*/ 806 w 806"/>
                    <a:gd name="T13" fmla="*/ 695 h 9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6" h="927">
                      <a:moveTo>
                        <a:pt x="806" y="695"/>
                      </a:moveTo>
                      <a:lnTo>
                        <a:pt x="403" y="927"/>
                      </a:lnTo>
                      <a:lnTo>
                        <a:pt x="0" y="695"/>
                      </a:lnTo>
                      <a:lnTo>
                        <a:pt x="0" y="232"/>
                      </a:lnTo>
                      <a:lnTo>
                        <a:pt x="403" y="0"/>
                      </a:lnTo>
                      <a:lnTo>
                        <a:pt x="806" y="232"/>
                      </a:lnTo>
                      <a:lnTo>
                        <a:pt x="806" y="695"/>
                      </a:lnTo>
                      <a:close/>
                    </a:path>
                  </a:pathLst>
                </a:custGeom>
                <a:solidFill>
                  <a:schemeClr val="accent1">
                    <a:lumMod val="100000"/>
                  </a:schemeClr>
                </a:solidFill>
                <a:ln>
                  <a:noFill/>
                </a:ln>
                <a:effectLst/>
              </p:spPr>
              <p:txBody>
                <a:bodyPr vert="horz" wrap="square" lIns="90813" tIns="45407" rIns="90813" bIns="45407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IN" sz="13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3" name="Shape0_20210625_202449">
                  <a:extLst>
                    <a:ext uri="{FF2B5EF4-FFF2-40B4-BE49-F238E27FC236}">
                      <a16:creationId xmlns:a16="http://schemas.microsoft.com/office/drawing/2014/main" id="{92C5D4B1-A81D-D4FD-EC96-3D9994FF31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0645" y="1718548"/>
                  <a:ext cx="1064257" cy="1225347"/>
                </a:xfrm>
                <a:custGeom>
                  <a:avLst/>
                  <a:gdLst>
                    <a:gd name="T0" fmla="*/ 806 w 806"/>
                    <a:gd name="T1" fmla="*/ 696 h 928"/>
                    <a:gd name="T2" fmla="*/ 403 w 806"/>
                    <a:gd name="T3" fmla="*/ 928 h 928"/>
                    <a:gd name="T4" fmla="*/ 0 w 806"/>
                    <a:gd name="T5" fmla="*/ 696 h 928"/>
                    <a:gd name="T6" fmla="*/ 0 w 806"/>
                    <a:gd name="T7" fmla="*/ 232 h 928"/>
                    <a:gd name="T8" fmla="*/ 403 w 806"/>
                    <a:gd name="T9" fmla="*/ 0 h 928"/>
                    <a:gd name="T10" fmla="*/ 806 w 806"/>
                    <a:gd name="T11" fmla="*/ 232 h 928"/>
                    <a:gd name="T12" fmla="*/ 806 w 806"/>
                    <a:gd name="T13" fmla="*/ 696 h 9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6" h="928">
                      <a:moveTo>
                        <a:pt x="806" y="696"/>
                      </a:moveTo>
                      <a:lnTo>
                        <a:pt x="403" y="928"/>
                      </a:lnTo>
                      <a:lnTo>
                        <a:pt x="0" y="696"/>
                      </a:lnTo>
                      <a:lnTo>
                        <a:pt x="0" y="232"/>
                      </a:lnTo>
                      <a:lnTo>
                        <a:pt x="403" y="0"/>
                      </a:lnTo>
                      <a:lnTo>
                        <a:pt x="806" y="232"/>
                      </a:lnTo>
                      <a:lnTo>
                        <a:pt x="806" y="696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>
                  <a:noFill/>
                </a:ln>
                <a:effectLst/>
              </p:spPr>
              <p:txBody>
                <a:bodyPr vert="horz" wrap="square" lIns="90813" tIns="45407" rIns="90813" bIns="45407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IN" sz="13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4" name="Shape1_20210511_114543">
                  <a:extLst>
                    <a:ext uri="{FF2B5EF4-FFF2-40B4-BE49-F238E27FC236}">
                      <a16:creationId xmlns:a16="http://schemas.microsoft.com/office/drawing/2014/main" id="{600F6C1E-B742-D092-C976-D90C92BE22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14767" y="2330562"/>
                  <a:ext cx="2316013" cy="2665924"/>
                </a:xfrm>
                <a:custGeom>
                  <a:avLst/>
                  <a:gdLst>
                    <a:gd name="T0" fmla="*/ 1754 w 1754"/>
                    <a:gd name="T1" fmla="*/ 1514 h 2019"/>
                    <a:gd name="T2" fmla="*/ 877 w 1754"/>
                    <a:gd name="T3" fmla="*/ 2019 h 2019"/>
                    <a:gd name="T4" fmla="*/ 0 w 1754"/>
                    <a:gd name="T5" fmla="*/ 1514 h 2019"/>
                    <a:gd name="T6" fmla="*/ 0 w 1754"/>
                    <a:gd name="T7" fmla="*/ 504 h 2019"/>
                    <a:gd name="T8" fmla="*/ 877 w 1754"/>
                    <a:gd name="T9" fmla="*/ 0 h 2019"/>
                    <a:gd name="T10" fmla="*/ 1754 w 1754"/>
                    <a:gd name="T11" fmla="*/ 504 h 2019"/>
                    <a:gd name="T12" fmla="*/ 1754 w 1754"/>
                    <a:gd name="T13" fmla="*/ 1514 h 20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754" h="2019">
                      <a:moveTo>
                        <a:pt x="1754" y="1514"/>
                      </a:moveTo>
                      <a:lnTo>
                        <a:pt x="877" y="2019"/>
                      </a:lnTo>
                      <a:lnTo>
                        <a:pt x="0" y="1514"/>
                      </a:lnTo>
                      <a:lnTo>
                        <a:pt x="0" y="504"/>
                      </a:lnTo>
                      <a:lnTo>
                        <a:pt x="877" y="0"/>
                      </a:lnTo>
                      <a:lnTo>
                        <a:pt x="1754" y="504"/>
                      </a:lnTo>
                      <a:lnTo>
                        <a:pt x="1754" y="151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vert="horz" wrap="square" lIns="90813" tIns="45407" rIns="90813" bIns="45407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IN" sz="13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5" name="Freeform 243">
                  <a:extLst>
                    <a:ext uri="{FF2B5EF4-FFF2-40B4-BE49-F238E27FC236}">
                      <a16:creationId xmlns:a16="http://schemas.microsoft.com/office/drawing/2014/main" id="{83BC8FDC-FA00-16EB-225E-8ADC82253F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79949" y="1878319"/>
                  <a:ext cx="785649" cy="905807"/>
                </a:xfrm>
                <a:custGeom>
                  <a:avLst/>
                  <a:gdLst>
                    <a:gd name="T0" fmla="*/ 595 w 595"/>
                    <a:gd name="T1" fmla="*/ 514 h 686"/>
                    <a:gd name="T2" fmla="*/ 298 w 595"/>
                    <a:gd name="T3" fmla="*/ 686 h 686"/>
                    <a:gd name="T4" fmla="*/ 0 w 595"/>
                    <a:gd name="T5" fmla="*/ 514 h 686"/>
                    <a:gd name="T6" fmla="*/ 0 w 595"/>
                    <a:gd name="T7" fmla="*/ 172 h 686"/>
                    <a:gd name="T8" fmla="*/ 298 w 595"/>
                    <a:gd name="T9" fmla="*/ 0 h 686"/>
                    <a:gd name="T10" fmla="*/ 595 w 595"/>
                    <a:gd name="T11" fmla="*/ 172 h 686"/>
                    <a:gd name="T12" fmla="*/ 595 w 595"/>
                    <a:gd name="T13" fmla="*/ 514 h 6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95" h="686">
                      <a:moveTo>
                        <a:pt x="595" y="514"/>
                      </a:moveTo>
                      <a:lnTo>
                        <a:pt x="298" y="686"/>
                      </a:lnTo>
                      <a:lnTo>
                        <a:pt x="0" y="514"/>
                      </a:lnTo>
                      <a:lnTo>
                        <a:pt x="0" y="172"/>
                      </a:lnTo>
                      <a:lnTo>
                        <a:pt x="298" y="0"/>
                      </a:lnTo>
                      <a:lnTo>
                        <a:pt x="595" y="172"/>
                      </a:lnTo>
                      <a:lnTo>
                        <a:pt x="595" y="51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vert="horz" wrap="square" lIns="90813" tIns="45407" rIns="90813" bIns="45407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IN" sz="13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6" name="Freeform 245">
                  <a:extLst>
                    <a:ext uri="{FF2B5EF4-FFF2-40B4-BE49-F238E27FC236}">
                      <a16:creationId xmlns:a16="http://schemas.microsoft.com/office/drawing/2014/main" id="{1F84B261-2B06-ED78-6823-DECF81B1C3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34656" y="3878751"/>
                  <a:ext cx="785649" cy="904487"/>
                </a:xfrm>
                <a:custGeom>
                  <a:avLst/>
                  <a:gdLst>
                    <a:gd name="T0" fmla="*/ 595 w 595"/>
                    <a:gd name="T1" fmla="*/ 513 h 685"/>
                    <a:gd name="T2" fmla="*/ 297 w 595"/>
                    <a:gd name="T3" fmla="*/ 685 h 685"/>
                    <a:gd name="T4" fmla="*/ 0 w 595"/>
                    <a:gd name="T5" fmla="*/ 513 h 685"/>
                    <a:gd name="T6" fmla="*/ 0 w 595"/>
                    <a:gd name="T7" fmla="*/ 171 h 685"/>
                    <a:gd name="T8" fmla="*/ 297 w 595"/>
                    <a:gd name="T9" fmla="*/ 0 h 685"/>
                    <a:gd name="T10" fmla="*/ 595 w 595"/>
                    <a:gd name="T11" fmla="*/ 171 h 685"/>
                    <a:gd name="T12" fmla="*/ 595 w 595"/>
                    <a:gd name="T13" fmla="*/ 513 h 6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95" h="685">
                      <a:moveTo>
                        <a:pt x="595" y="513"/>
                      </a:moveTo>
                      <a:lnTo>
                        <a:pt x="297" y="685"/>
                      </a:lnTo>
                      <a:lnTo>
                        <a:pt x="0" y="513"/>
                      </a:lnTo>
                      <a:lnTo>
                        <a:pt x="0" y="171"/>
                      </a:lnTo>
                      <a:lnTo>
                        <a:pt x="297" y="0"/>
                      </a:lnTo>
                      <a:lnTo>
                        <a:pt x="595" y="171"/>
                      </a:lnTo>
                      <a:lnTo>
                        <a:pt x="595" y="51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vert="horz" wrap="square" lIns="90813" tIns="45407" rIns="90813" bIns="45407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IN" sz="13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7" name="Freeform 246">
                  <a:extLst>
                    <a:ext uri="{FF2B5EF4-FFF2-40B4-BE49-F238E27FC236}">
                      <a16:creationId xmlns:a16="http://schemas.microsoft.com/office/drawing/2014/main" id="{60B5FDC8-87F9-42D6-71CA-0A488A7570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79949" y="4544242"/>
                  <a:ext cx="785649" cy="904487"/>
                </a:xfrm>
                <a:custGeom>
                  <a:avLst/>
                  <a:gdLst>
                    <a:gd name="T0" fmla="*/ 595 w 595"/>
                    <a:gd name="T1" fmla="*/ 514 h 685"/>
                    <a:gd name="T2" fmla="*/ 298 w 595"/>
                    <a:gd name="T3" fmla="*/ 685 h 685"/>
                    <a:gd name="T4" fmla="*/ 0 w 595"/>
                    <a:gd name="T5" fmla="*/ 514 h 685"/>
                    <a:gd name="T6" fmla="*/ 0 w 595"/>
                    <a:gd name="T7" fmla="*/ 171 h 685"/>
                    <a:gd name="T8" fmla="*/ 298 w 595"/>
                    <a:gd name="T9" fmla="*/ 0 h 685"/>
                    <a:gd name="T10" fmla="*/ 595 w 595"/>
                    <a:gd name="T11" fmla="*/ 171 h 685"/>
                    <a:gd name="T12" fmla="*/ 595 w 595"/>
                    <a:gd name="T13" fmla="*/ 514 h 6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95" h="685">
                      <a:moveTo>
                        <a:pt x="595" y="514"/>
                      </a:moveTo>
                      <a:lnTo>
                        <a:pt x="298" y="685"/>
                      </a:lnTo>
                      <a:lnTo>
                        <a:pt x="0" y="514"/>
                      </a:lnTo>
                      <a:lnTo>
                        <a:pt x="0" y="171"/>
                      </a:lnTo>
                      <a:lnTo>
                        <a:pt x="298" y="0"/>
                      </a:lnTo>
                      <a:lnTo>
                        <a:pt x="595" y="171"/>
                      </a:lnTo>
                      <a:lnTo>
                        <a:pt x="595" y="51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vert="horz" wrap="square" lIns="90813" tIns="45407" rIns="90813" bIns="45407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IN" sz="13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8" name="Freeform 247">
                  <a:extLst>
                    <a:ext uri="{FF2B5EF4-FFF2-40B4-BE49-F238E27FC236}">
                      <a16:creationId xmlns:a16="http://schemas.microsoft.com/office/drawing/2014/main" id="{78E31658-A614-6EA3-C0DB-01D8834783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26565" y="3877431"/>
                  <a:ext cx="785649" cy="904487"/>
                </a:xfrm>
                <a:custGeom>
                  <a:avLst/>
                  <a:gdLst>
                    <a:gd name="T0" fmla="*/ 595 w 595"/>
                    <a:gd name="T1" fmla="*/ 514 h 685"/>
                    <a:gd name="T2" fmla="*/ 297 w 595"/>
                    <a:gd name="T3" fmla="*/ 685 h 685"/>
                    <a:gd name="T4" fmla="*/ 0 w 595"/>
                    <a:gd name="T5" fmla="*/ 514 h 685"/>
                    <a:gd name="T6" fmla="*/ 0 w 595"/>
                    <a:gd name="T7" fmla="*/ 171 h 685"/>
                    <a:gd name="T8" fmla="*/ 297 w 595"/>
                    <a:gd name="T9" fmla="*/ 0 h 685"/>
                    <a:gd name="T10" fmla="*/ 595 w 595"/>
                    <a:gd name="T11" fmla="*/ 171 h 685"/>
                    <a:gd name="T12" fmla="*/ 595 w 595"/>
                    <a:gd name="T13" fmla="*/ 514 h 6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95" h="685">
                      <a:moveTo>
                        <a:pt x="595" y="514"/>
                      </a:moveTo>
                      <a:lnTo>
                        <a:pt x="297" y="685"/>
                      </a:lnTo>
                      <a:lnTo>
                        <a:pt x="0" y="514"/>
                      </a:lnTo>
                      <a:lnTo>
                        <a:pt x="0" y="171"/>
                      </a:lnTo>
                      <a:lnTo>
                        <a:pt x="297" y="0"/>
                      </a:lnTo>
                      <a:lnTo>
                        <a:pt x="595" y="171"/>
                      </a:lnTo>
                      <a:lnTo>
                        <a:pt x="595" y="51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vert="horz" wrap="square" lIns="90813" tIns="45407" rIns="90813" bIns="45407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IN" sz="13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9" name="Freeform 248">
                  <a:extLst>
                    <a:ext uri="{FF2B5EF4-FFF2-40B4-BE49-F238E27FC236}">
                      <a16:creationId xmlns:a16="http://schemas.microsoft.com/office/drawing/2014/main" id="{576BD717-2F15-3D16-7CCE-8AE817216A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30525" y="2543810"/>
                  <a:ext cx="785649" cy="904487"/>
                </a:xfrm>
                <a:custGeom>
                  <a:avLst/>
                  <a:gdLst>
                    <a:gd name="T0" fmla="*/ 595 w 595"/>
                    <a:gd name="T1" fmla="*/ 514 h 685"/>
                    <a:gd name="T2" fmla="*/ 297 w 595"/>
                    <a:gd name="T3" fmla="*/ 685 h 685"/>
                    <a:gd name="T4" fmla="*/ 0 w 595"/>
                    <a:gd name="T5" fmla="*/ 514 h 685"/>
                    <a:gd name="T6" fmla="*/ 0 w 595"/>
                    <a:gd name="T7" fmla="*/ 171 h 685"/>
                    <a:gd name="T8" fmla="*/ 297 w 595"/>
                    <a:gd name="T9" fmla="*/ 0 h 685"/>
                    <a:gd name="T10" fmla="*/ 595 w 595"/>
                    <a:gd name="T11" fmla="*/ 171 h 685"/>
                    <a:gd name="T12" fmla="*/ 595 w 595"/>
                    <a:gd name="T13" fmla="*/ 514 h 6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95" h="685">
                      <a:moveTo>
                        <a:pt x="595" y="514"/>
                      </a:moveTo>
                      <a:lnTo>
                        <a:pt x="297" y="685"/>
                      </a:lnTo>
                      <a:lnTo>
                        <a:pt x="0" y="514"/>
                      </a:lnTo>
                      <a:lnTo>
                        <a:pt x="0" y="171"/>
                      </a:lnTo>
                      <a:lnTo>
                        <a:pt x="297" y="0"/>
                      </a:lnTo>
                      <a:lnTo>
                        <a:pt x="595" y="171"/>
                      </a:lnTo>
                      <a:lnTo>
                        <a:pt x="595" y="51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vert="horz" wrap="square" lIns="90813" tIns="45407" rIns="90813" bIns="45407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IN" sz="13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0" name="Shape2_20210511_114543">
                  <a:extLst>
                    <a:ext uri="{FF2B5EF4-FFF2-40B4-BE49-F238E27FC236}">
                      <a16:creationId xmlns:a16="http://schemas.microsoft.com/office/drawing/2014/main" id="{ABA223FD-7598-975D-7FC0-605D037ADE9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987390" y="2580119"/>
                  <a:ext cx="2170767" cy="2166807"/>
                </a:xfrm>
                <a:custGeom>
                  <a:avLst/>
                  <a:gdLst>
                    <a:gd name="T0" fmla="*/ 2160 w 5288"/>
                    <a:gd name="T1" fmla="*/ 4454 h 5289"/>
                    <a:gd name="T2" fmla="*/ 835 w 5288"/>
                    <a:gd name="T3" fmla="*/ 2161 h 5289"/>
                    <a:gd name="T4" fmla="*/ 3128 w 5288"/>
                    <a:gd name="T5" fmla="*/ 835 h 5289"/>
                    <a:gd name="T6" fmla="*/ 4454 w 5288"/>
                    <a:gd name="T7" fmla="*/ 3128 h 5289"/>
                    <a:gd name="T8" fmla="*/ 2160 w 5288"/>
                    <a:gd name="T9" fmla="*/ 4454 h 5289"/>
                    <a:gd name="T10" fmla="*/ 3260 w 5288"/>
                    <a:gd name="T11" fmla="*/ 340 h 5289"/>
                    <a:gd name="T12" fmla="*/ 340 w 5288"/>
                    <a:gd name="T13" fmla="*/ 2029 h 5289"/>
                    <a:gd name="T14" fmla="*/ 2028 w 5288"/>
                    <a:gd name="T15" fmla="*/ 4948 h 5289"/>
                    <a:gd name="T16" fmla="*/ 4948 w 5288"/>
                    <a:gd name="T17" fmla="*/ 3260 h 5289"/>
                    <a:gd name="T18" fmla="*/ 3260 w 5288"/>
                    <a:gd name="T19" fmla="*/ 340 h 5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288" h="5289">
                      <a:moveTo>
                        <a:pt x="2160" y="4454"/>
                      </a:moveTo>
                      <a:cubicBezTo>
                        <a:pt x="1161" y="4187"/>
                        <a:pt x="567" y="3160"/>
                        <a:pt x="835" y="2161"/>
                      </a:cubicBezTo>
                      <a:cubicBezTo>
                        <a:pt x="1102" y="1161"/>
                        <a:pt x="2128" y="568"/>
                        <a:pt x="3128" y="835"/>
                      </a:cubicBezTo>
                      <a:cubicBezTo>
                        <a:pt x="4127" y="1102"/>
                        <a:pt x="4721" y="2129"/>
                        <a:pt x="4454" y="3128"/>
                      </a:cubicBezTo>
                      <a:cubicBezTo>
                        <a:pt x="4187" y="4127"/>
                        <a:pt x="3160" y="4721"/>
                        <a:pt x="2160" y="4454"/>
                      </a:cubicBezTo>
                      <a:moveTo>
                        <a:pt x="3260" y="340"/>
                      </a:moveTo>
                      <a:cubicBezTo>
                        <a:pt x="1988" y="0"/>
                        <a:pt x="680" y="756"/>
                        <a:pt x="340" y="2029"/>
                      </a:cubicBezTo>
                      <a:cubicBezTo>
                        <a:pt x="0" y="3301"/>
                        <a:pt x="756" y="4608"/>
                        <a:pt x="2028" y="4948"/>
                      </a:cubicBezTo>
                      <a:cubicBezTo>
                        <a:pt x="3301" y="5289"/>
                        <a:pt x="4608" y="4533"/>
                        <a:pt x="4948" y="3260"/>
                      </a:cubicBezTo>
                      <a:cubicBezTo>
                        <a:pt x="5288" y="1988"/>
                        <a:pt x="4532" y="680"/>
                        <a:pt x="3260" y="34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0813" tIns="45407" rIns="90813" bIns="45407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IN" sz="13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1" name="Shape3_20210511_114543">
                  <a:extLst>
                    <a:ext uri="{FF2B5EF4-FFF2-40B4-BE49-F238E27FC236}">
                      <a16:creationId xmlns:a16="http://schemas.microsoft.com/office/drawing/2014/main" id="{6A9323DA-99A8-3688-FF18-B5C4A9FF32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85451" y="2776201"/>
                  <a:ext cx="1774643" cy="1768040"/>
                </a:xfrm>
                <a:custGeom>
                  <a:avLst/>
                  <a:gdLst>
                    <a:gd name="T0" fmla="*/ 4042 w 4320"/>
                    <a:gd name="T1" fmla="*/ 2662 h 4319"/>
                    <a:gd name="T2" fmla="*/ 1657 w 4320"/>
                    <a:gd name="T3" fmla="*/ 4041 h 4319"/>
                    <a:gd name="T4" fmla="*/ 278 w 4320"/>
                    <a:gd name="T5" fmla="*/ 1656 h 4319"/>
                    <a:gd name="T6" fmla="*/ 2663 w 4320"/>
                    <a:gd name="T7" fmla="*/ 277 h 4319"/>
                    <a:gd name="T8" fmla="*/ 4042 w 4320"/>
                    <a:gd name="T9" fmla="*/ 2662 h 43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20" h="4319">
                      <a:moveTo>
                        <a:pt x="4042" y="2662"/>
                      </a:moveTo>
                      <a:cubicBezTo>
                        <a:pt x="3764" y="3702"/>
                        <a:pt x="2697" y="4319"/>
                        <a:pt x="1657" y="4041"/>
                      </a:cubicBezTo>
                      <a:cubicBezTo>
                        <a:pt x="618" y="3764"/>
                        <a:pt x="0" y="2696"/>
                        <a:pt x="278" y="1656"/>
                      </a:cubicBezTo>
                      <a:cubicBezTo>
                        <a:pt x="556" y="617"/>
                        <a:pt x="1624" y="0"/>
                        <a:pt x="2663" y="277"/>
                      </a:cubicBezTo>
                      <a:cubicBezTo>
                        <a:pt x="3702" y="555"/>
                        <a:pt x="4320" y="1623"/>
                        <a:pt x="4042" y="2662"/>
                      </a:cubicBezTo>
                    </a:path>
                  </a:pathLst>
                </a:custGeom>
                <a:solidFill>
                  <a:srgbClr val="D9D9D9"/>
                </a:solidFill>
                <a:ln>
                  <a:noFill/>
                </a:ln>
                <a:effectLst/>
              </p:spPr>
              <p:txBody>
                <a:bodyPr vert="horz" wrap="square" lIns="90813" tIns="45407" rIns="90813" bIns="45407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IN" sz="13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2" name="Shape6_20210706_143526">
                  <a:extLst>
                    <a:ext uri="{FF2B5EF4-FFF2-40B4-BE49-F238E27FC236}">
                      <a16:creationId xmlns:a16="http://schemas.microsoft.com/office/drawing/2014/main" id="{FD790CD3-66BD-E7D9-86B6-46F83D9693E3}"/>
                    </a:ext>
                  </a:extLst>
                </p:cNvPr>
                <p:cNvSpPr txBox="1"/>
                <p:nvPr/>
              </p:nvSpPr>
              <p:spPr>
                <a:xfrm>
                  <a:off x="5522534" y="3656834"/>
                  <a:ext cx="1100477" cy="3005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defRPr/>
                  </a:pPr>
                  <a:r>
                    <a:rPr lang="en-IN" sz="1300" b="1" dirty="0"/>
                    <a:t>Features</a:t>
                  </a:r>
                </a:p>
              </p:txBody>
            </p:sp>
            <p:sp>
              <p:nvSpPr>
                <p:cNvPr id="43" name="Shape7_20210706_143526">
                  <a:extLst>
                    <a:ext uri="{FF2B5EF4-FFF2-40B4-BE49-F238E27FC236}">
                      <a16:creationId xmlns:a16="http://schemas.microsoft.com/office/drawing/2014/main" id="{2C794632-61DA-3367-78AA-2E8746A46494}"/>
                    </a:ext>
                  </a:extLst>
                </p:cNvPr>
                <p:cNvSpPr txBox="1"/>
                <p:nvPr/>
              </p:nvSpPr>
              <p:spPr>
                <a:xfrm>
                  <a:off x="6480636" y="1023853"/>
                  <a:ext cx="3625200" cy="161824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333779" indent="-333779">
                    <a:buAutoNum type="arabicParenR"/>
                    <a:defRPr/>
                  </a:pPr>
                  <a:r>
                    <a:rPr lang="en-IN" sz="1000" dirty="0"/>
                    <a:t>Line number</a:t>
                  </a:r>
                </a:p>
                <a:p>
                  <a:pPr marL="333779" indent="-333779">
                    <a:buAutoNum type="arabicParenR"/>
                    <a:defRPr/>
                  </a:pPr>
                  <a:r>
                    <a:rPr lang="en-IN" sz="1000" dirty="0"/>
                    <a:t>Duration current, previous</a:t>
                  </a:r>
                </a:p>
                <a:p>
                  <a:pPr marL="333779" indent="-333779">
                    <a:buAutoNum type="arabicParenR"/>
                    <a:defRPr/>
                  </a:pPr>
                  <a:r>
                    <a:rPr lang="en-IN" sz="1000" dirty="0"/>
                    <a:t>Drugs</a:t>
                  </a:r>
                </a:p>
                <a:p>
                  <a:pPr marL="333779" indent="-333779">
                    <a:buAutoNum type="arabicParenR"/>
                    <a:defRPr/>
                  </a:pPr>
                  <a:r>
                    <a:rPr lang="en-IN" sz="1000" dirty="0"/>
                    <a:t>Count of drugs</a:t>
                  </a:r>
                </a:p>
                <a:p>
                  <a:pPr marL="333779" indent="-333779">
                    <a:buAutoNum type="arabicParenR"/>
                    <a:defRPr/>
                  </a:pPr>
                  <a:endParaRPr lang="en-IN" sz="1000" dirty="0"/>
                </a:p>
                <a:p>
                  <a:pPr marL="333779" indent="-333779">
                    <a:buAutoNum type="arabicParenR"/>
                    <a:defRPr/>
                  </a:pPr>
                  <a:endParaRPr lang="en-IN" sz="1000" dirty="0"/>
                </a:p>
                <a:p>
                  <a:pPr marL="333779" indent="-333779">
                    <a:buAutoNum type="arabicParenR"/>
                    <a:defRPr/>
                  </a:pPr>
                  <a:endParaRPr lang="en-IN" sz="1000" dirty="0"/>
                </a:p>
              </p:txBody>
            </p:sp>
            <p:sp>
              <p:nvSpPr>
                <p:cNvPr id="44" name="Shape8_20210706_143526">
                  <a:extLst>
                    <a:ext uri="{FF2B5EF4-FFF2-40B4-BE49-F238E27FC236}">
                      <a16:creationId xmlns:a16="http://schemas.microsoft.com/office/drawing/2014/main" id="{3B528F54-4A63-39F9-29D8-0E4E878894BA}"/>
                    </a:ext>
                  </a:extLst>
                </p:cNvPr>
                <p:cNvSpPr txBox="1"/>
                <p:nvPr/>
              </p:nvSpPr>
              <p:spPr>
                <a:xfrm>
                  <a:off x="7971851" y="2914423"/>
                  <a:ext cx="3625200" cy="51931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333779" indent="-333779">
                    <a:buAutoNum type="arabicParenR"/>
                    <a:defRPr/>
                  </a:pPr>
                  <a:r>
                    <a:rPr lang="en-IN" sz="1000" dirty="0"/>
                    <a:t>Academic vs Community</a:t>
                  </a:r>
                </a:p>
                <a:p>
                  <a:pPr marL="333779" indent="-333779">
                    <a:buAutoNum type="arabicParenR"/>
                    <a:defRPr/>
                  </a:pPr>
                  <a:r>
                    <a:rPr lang="en-IN" sz="1000" dirty="0"/>
                    <a:t>Specialty</a:t>
                  </a:r>
                </a:p>
                <a:p>
                  <a:pPr>
                    <a:defRPr/>
                  </a:pPr>
                  <a:endParaRPr lang="en-IN" sz="1000" dirty="0"/>
                </a:p>
              </p:txBody>
            </p:sp>
            <p:sp>
              <p:nvSpPr>
                <p:cNvPr id="45" name="Shape9_20210706_143526">
                  <a:extLst>
                    <a:ext uri="{FF2B5EF4-FFF2-40B4-BE49-F238E27FC236}">
                      <a16:creationId xmlns:a16="http://schemas.microsoft.com/office/drawing/2014/main" id="{FDACBB9D-3A93-735F-4B86-1CF384B0C1DF}"/>
                    </a:ext>
                  </a:extLst>
                </p:cNvPr>
                <p:cNvSpPr txBox="1"/>
                <p:nvPr/>
              </p:nvSpPr>
              <p:spPr>
                <a:xfrm>
                  <a:off x="8018201" y="4264007"/>
                  <a:ext cx="2538552" cy="8655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333779" indent="-333779">
                    <a:buAutoNum type="arabicParenR"/>
                    <a:defRPr/>
                  </a:pPr>
                  <a:r>
                    <a:rPr lang="en-IN" sz="1000" dirty="0"/>
                    <a:t>RS Status</a:t>
                  </a:r>
                </a:p>
                <a:p>
                  <a:pPr marL="333779" indent="-333779">
                    <a:buAutoNum type="arabicParenR"/>
                    <a:defRPr/>
                  </a:pPr>
                  <a:r>
                    <a:rPr lang="en-IN" sz="1000" dirty="0"/>
                    <a:t>Age</a:t>
                  </a:r>
                </a:p>
                <a:p>
                  <a:pPr marL="333779" indent="-333779">
                    <a:buAutoNum type="arabicParenR"/>
                    <a:defRPr/>
                  </a:pPr>
                  <a:r>
                    <a:rPr lang="en-IN" sz="1000" dirty="0"/>
                    <a:t>Gender</a:t>
                  </a:r>
                </a:p>
                <a:p>
                  <a:pPr marL="333779" indent="-333779">
                    <a:buAutoNum type="arabicParenR"/>
                    <a:defRPr/>
                  </a:pPr>
                  <a:r>
                    <a:rPr lang="en-IN" sz="1000" dirty="0"/>
                    <a:t>Payer type</a:t>
                  </a:r>
                </a:p>
                <a:p>
                  <a:pPr marL="333779" indent="-333779">
                    <a:buAutoNum type="arabicParenR"/>
                    <a:defRPr/>
                  </a:pPr>
                  <a:r>
                    <a:rPr lang="en-IN" sz="1000" dirty="0"/>
                    <a:t>State, demographics</a:t>
                  </a:r>
                </a:p>
              </p:txBody>
            </p:sp>
            <p:sp>
              <p:nvSpPr>
                <p:cNvPr id="46" name="Shape11_20210706_143526">
                  <a:extLst>
                    <a:ext uri="{FF2B5EF4-FFF2-40B4-BE49-F238E27FC236}">
                      <a16:creationId xmlns:a16="http://schemas.microsoft.com/office/drawing/2014/main" id="{E0100655-7488-9626-1D29-89C98761C108}"/>
                    </a:ext>
                  </a:extLst>
                </p:cNvPr>
                <p:cNvSpPr txBox="1"/>
                <p:nvPr/>
              </p:nvSpPr>
              <p:spPr>
                <a:xfrm>
                  <a:off x="2988501" y="4318318"/>
                  <a:ext cx="1064257" cy="46235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r">
                    <a:defRPr/>
                  </a:pPr>
                  <a:r>
                    <a:rPr lang="en-IN" sz="1000" dirty="0" err="1"/>
                    <a:t>Px</a:t>
                  </a:r>
                  <a:r>
                    <a:rPr lang="en-IN" sz="1000" dirty="0"/>
                    <a:t>, Dx, Rx event classes</a:t>
                  </a:r>
                </a:p>
              </p:txBody>
            </p:sp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958AE59D-6B98-2948-215F-5597981D53A9}"/>
                    </a:ext>
                  </a:extLst>
                </p:cNvPr>
                <p:cNvGrpSpPr/>
                <p:nvPr/>
              </p:nvGrpSpPr>
              <p:grpSpPr>
                <a:xfrm>
                  <a:off x="5902474" y="3172667"/>
                  <a:ext cx="340597" cy="427860"/>
                  <a:chOff x="4424969" y="2379500"/>
                  <a:chExt cx="255448" cy="320895"/>
                </a:xfrm>
              </p:grpSpPr>
              <p:sp>
                <p:nvSpPr>
                  <p:cNvPr id="91" name="Freeform: Shape 90">
                    <a:extLst>
                      <a:ext uri="{FF2B5EF4-FFF2-40B4-BE49-F238E27FC236}">
                        <a16:creationId xmlns:a16="http://schemas.microsoft.com/office/drawing/2014/main" id="{A32C5A22-1203-112B-0BA5-E32A3573B73D}"/>
                      </a:ext>
                    </a:extLst>
                  </p:cNvPr>
                  <p:cNvSpPr/>
                  <p:nvPr/>
                </p:nvSpPr>
                <p:spPr>
                  <a:xfrm>
                    <a:off x="4424969" y="2507387"/>
                    <a:ext cx="252326" cy="115649"/>
                  </a:xfrm>
                  <a:custGeom>
                    <a:avLst/>
                    <a:gdLst>
                      <a:gd name="connsiteX0" fmla="*/ 130947 w 252326"/>
                      <a:gd name="connsiteY0" fmla="*/ 47732 h 115649"/>
                      <a:gd name="connsiteX1" fmla="*/ 11565 w 252326"/>
                      <a:gd name="connsiteY1" fmla="*/ 7885 h 115649"/>
                      <a:gd name="connsiteX2" fmla="*/ 7885 w 252326"/>
                      <a:gd name="connsiteY2" fmla="*/ 20438 h 115649"/>
                      <a:gd name="connsiteX3" fmla="*/ 7885 w 252326"/>
                      <a:gd name="connsiteY3" fmla="*/ 57877 h 115649"/>
                      <a:gd name="connsiteX4" fmla="*/ 130947 w 252326"/>
                      <a:gd name="connsiteY4" fmla="*/ 110267 h 115649"/>
                      <a:gd name="connsiteX5" fmla="*/ 254071 w 252326"/>
                      <a:gd name="connsiteY5" fmla="*/ 57877 h 115649"/>
                      <a:gd name="connsiteX6" fmla="*/ 254071 w 252326"/>
                      <a:gd name="connsiteY6" fmla="*/ 20438 h 115649"/>
                      <a:gd name="connsiteX7" fmla="*/ 250350 w 252326"/>
                      <a:gd name="connsiteY7" fmla="*/ 7885 h 115649"/>
                      <a:gd name="connsiteX8" fmla="*/ 130947 w 252326"/>
                      <a:gd name="connsiteY8" fmla="*/ 47732 h 1156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52326" h="115649">
                        <a:moveTo>
                          <a:pt x="130947" y="47732"/>
                        </a:moveTo>
                        <a:cubicBezTo>
                          <a:pt x="73185" y="47732"/>
                          <a:pt x="24781" y="30763"/>
                          <a:pt x="11565" y="7885"/>
                        </a:cubicBezTo>
                        <a:cubicBezTo>
                          <a:pt x="9241" y="11912"/>
                          <a:pt x="7885" y="16096"/>
                          <a:pt x="7885" y="20438"/>
                        </a:cubicBezTo>
                        <a:lnTo>
                          <a:pt x="7885" y="57877"/>
                        </a:lnTo>
                        <a:cubicBezTo>
                          <a:pt x="7885" y="86800"/>
                          <a:pt x="62997" y="110267"/>
                          <a:pt x="130947" y="110267"/>
                        </a:cubicBezTo>
                        <a:cubicBezTo>
                          <a:pt x="198938" y="110267"/>
                          <a:pt x="254071" y="86800"/>
                          <a:pt x="254071" y="57877"/>
                        </a:cubicBezTo>
                        <a:lnTo>
                          <a:pt x="254071" y="20438"/>
                        </a:lnTo>
                        <a:cubicBezTo>
                          <a:pt x="254071" y="16096"/>
                          <a:pt x="252694" y="11912"/>
                          <a:pt x="250350" y="7885"/>
                        </a:cubicBezTo>
                        <a:cubicBezTo>
                          <a:pt x="237134" y="30752"/>
                          <a:pt x="188771" y="47732"/>
                          <a:pt x="130947" y="47732"/>
                        </a:cubicBezTo>
                        <a:close/>
                      </a:path>
                    </a:pathLst>
                  </a:custGeom>
                  <a:solidFill>
                    <a:srgbClr val="7F7F7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 sz="1300"/>
                  </a:p>
                </p:txBody>
              </p:sp>
              <p:sp>
                <p:nvSpPr>
                  <p:cNvPr id="92" name="Freeform: Shape 91">
                    <a:extLst>
                      <a:ext uri="{FF2B5EF4-FFF2-40B4-BE49-F238E27FC236}">
                        <a16:creationId xmlns:a16="http://schemas.microsoft.com/office/drawing/2014/main" id="{02B52AFE-6D85-2FEA-8FB2-3807E612386D}"/>
                      </a:ext>
                    </a:extLst>
                  </p:cNvPr>
                  <p:cNvSpPr/>
                  <p:nvPr/>
                </p:nvSpPr>
                <p:spPr>
                  <a:xfrm>
                    <a:off x="4424969" y="2584746"/>
                    <a:ext cx="252326" cy="115649"/>
                  </a:xfrm>
                  <a:custGeom>
                    <a:avLst/>
                    <a:gdLst>
                      <a:gd name="connsiteX0" fmla="*/ 130947 w 252326"/>
                      <a:gd name="connsiteY0" fmla="*/ 47711 h 115649"/>
                      <a:gd name="connsiteX1" fmla="*/ 11565 w 252326"/>
                      <a:gd name="connsiteY1" fmla="*/ 7885 h 115649"/>
                      <a:gd name="connsiteX2" fmla="*/ 7885 w 252326"/>
                      <a:gd name="connsiteY2" fmla="*/ 20407 h 115649"/>
                      <a:gd name="connsiteX3" fmla="*/ 7885 w 252326"/>
                      <a:gd name="connsiteY3" fmla="*/ 57877 h 115649"/>
                      <a:gd name="connsiteX4" fmla="*/ 130947 w 252326"/>
                      <a:gd name="connsiteY4" fmla="*/ 110267 h 115649"/>
                      <a:gd name="connsiteX5" fmla="*/ 254071 w 252326"/>
                      <a:gd name="connsiteY5" fmla="*/ 57877 h 115649"/>
                      <a:gd name="connsiteX6" fmla="*/ 254071 w 252326"/>
                      <a:gd name="connsiteY6" fmla="*/ 20407 h 115649"/>
                      <a:gd name="connsiteX7" fmla="*/ 250350 w 252326"/>
                      <a:gd name="connsiteY7" fmla="*/ 7896 h 115649"/>
                      <a:gd name="connsiteX8" fmla="*/ 130947 w 252326"/>
                      <a:gd name="connsiteY8" fmla="*/ 47711 h 1156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52326" h="115649">
                        <a:moveTo>
                          <a:pt x="130947" y="47711"/>
                        </a:moveTo>
                        <a:cubicBezTo>
                          <a:pt x="73185" y="47711"/>
                          <a:pt x="24781" y="30721"/>
                          <a:pt x="11565" y="7885"/>
                        </a:cubicBezTo>
                        <a:cubicBezTo>
                          <a:pt x="9241" y="11891"/>
                          <a:pt x="7885" y="16075"/>
                          <a:pt x="7885" y="20407"/>
                        </a:cubicBezTo>
                        <a:lnTo>
                          <a:pt x="7885" y="57877"/>
                        </a:lnTo>
                        <a:cubicBezTo>
                          <a:pt x="7885" y="86811"/>
                          <a:pt x="62997" y="110267"/>
                          <a:pt x="130947" y="110267"/>
                        </a:cubicBezTo>
                        <a:cubicBezTo>
                          <a:pt x="198938" y="110267"/>
                          <a:pt x="254071" y="86821"/>
                          <a:pt x="254071" y="57877"/>
                        </a:cubicBezTo>
                        <a:lnTo>
                          <a:pt x="254071" y="20407"/>
                        </a:lnTo>
                        <a:cubicBezTo>
                          <a:pt x="254071" y="16075"/>
                          <a:pt x="252694" y="11891"/>
                          <a:pt x="250350" y="7896"/>
                        </a:cubicBezTo>
                        <a:cubicBezTo>
                          <a:pt x="237134" y="30721"/>
                          <a:pt x="188771" y="47711"/>
                          <a:pt x="130947" y="47711"/>
                        </a:cubicBezTo>
                        <a:close/>
                      </a:path>
                    </a:pathLst>
                  </a:custGeom>
                  <a:solidFill>
                    <a:srgbClr val="7F7F7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 sz="1300"/>
                  </a:p>
                </p:txBody>
              </p:sp>
              <p:sp>
                <p:nvSpPr>
                  <p:cNvPr id="93" name="Freeform: Shape 92">
                    <a:extLst>
                      <a:ext uri="{FF2B5EF4-FFF2-40B4-BE49-F238E27FC236}">
                        <a16:creationId xmlns:a16="http://schemas.microsoft.com/office/drawing/2014/main" id="{CC4E2437-634B-DD0D-E984-06701DA6E5A2}"/>
                      </a:ext>
                    </a:extLst>
                  </p:cNvPr>
                  <p:cNvSpPr/>
                  <p:nvPr/>
                </p:nvSpPr>
                <p:spPr>
                  <a:xfrm>
                    <a:off x="4424969" y="2432509"/>
                    <a:ext cx="252326" cy="115649"/>
                  </a:xfrm>
                  <a:custGeom>
                    <a:avLst/>
                    <a:gdLst>
                      <a:gd name="connsiteX0" fmla="*/ 250707 w 252326"/>
                      <a:gd name="connsiteY0" fmla="*/ 7885 h 115649"/>
                      <a:gd name="connsiteX1" fmla="*/ 130947 w 252326"/>
                      <a:gd name="connsiteY1" fmla="*/ 46039 h 115649"/>
                      <a:gd name="connsiteX2" fmla="*/ 11229 w 252326"/>
                      <a:gd name="connsiteY2" fmla="*/ 7896 h 115649"/>
                      <a:gd name="connsiteX3" fmla="*/ 7885 w 252326"/>
                      <a:gd name="connsiteY3" fmla="*/ 19892 h 115649"/>
                      <a:gd name="connsiteX4" fmla="*/ 7885 w 252326"/>
                      <a:gd name="connsiteY4" fmla="*/ 57331 h 115649"/>
                      <a:gd name="connsiteX5" fmla="*/ 130947 w 252326"/>
                      <a:gd name="connsiteY5" fmla="*/ 109720 h 115649"/>
                      <a:gd name="connsiteX6" fmla="*/ 254071 w 252326"/>
                      <a:gd name="connsiteY6" fmla="*/ 57331 h 115649"/>
                      <a:gd name="connsiteX7" fmla="*/ 254071 w 252326"/>
                      <a:gd name="connsiteY7" fmla="*/ 19892 h 115649"/>
                      <a:gd name="connsiteX8" fmla="*/ 250707 w 252326"/>
                      <a:gd name="connsiteY8" fmla="*/ 7885 h 1156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52326" h="115649">
                        <a:moveTo>
                          <a:pt x="250707" y="7885"/>
                        </a:moveTo>
                        <a:cubicBezTo>
                          <a:pt x="248289" y="29081"/>
                          <a:pt x="195700" y="46039"/>
                          <a:pt x="130947" y="46039"/>
                        </a:cubicBezTo>
                        <a:cubicBezTo>
                          <a:pt x="66225" y="46039"/>
                          <a:pt x="13636" y="29081"/>
                          <a:pt x="11229" y="7896"/>
                        </a:cubicBezTo>
                        <a:cubicBezTo>
                          <a:pt x="9115" y="11744"/>
                          <a:pt x="7885" y="15760"/>
                          <a:pt x="7885" y="19892"/>
                        </a:cubicBezTo>
                        <a:lnTo>
                          <a:pt x="7885" y="57331"/>
                        </a:lnTo>
                        <a:cubicBezTo>
                          <a:pt x="7885" y="86264"/>
                          <a:pt x="62997" y="109720"/>
                          <a:pt x="130947" y="109720"/>
                        </a:cubicBezTo>
                        <a:cubicBezTo>
                          <a:pt x="198938" y="109720"/>
                          <a:pt x="254071" y="86274"/>
                          <a:pt x="254071" y="57331"/>
                        </a:cubicBezTo>
                        <a:lnTo>
                          <a:pt x="254071" y="19892"/>
                        </a:lnTo>
                        <a:cubicBezTo>
                          <a:pt x="254071" y="15760"/>
                          <a:pt x="252820" y="11744"/>
                          <a:pt x="250707" y="7885"/>
                        </a:cubicBezTo>
                        <a:close/>
                      </a:path>
                    </a:pathLst>
                  </a:custGeom>
                  <a:solidFill>
                    <a:srgbClr val="7F7F7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 sz="1300"/>
                  </a:p>
                </p:txBody>
              </p:sp>
              <p:sp>
                <p:nvSpPr>
                  <p:cNvPr id="94" name="Freeform: Shape 93">
                    <a:extLst>
                      <a:ext uri="{FF2B5EF4-FFF2-40B4-BE49-F238E27FC236}">
                        <a16:creationId xmlns:a16="http://schemas.microsoft.com/office/drawing/2014/main" id="{7AB36577-C6BA-7714-D6C1-B0A5F040C5F3}"/>
                      </a:ext>
                    </a:extLst>
                  </p:cNvPr>
                  <p:cNvSpPr/>
                  <p:nvPr/>
                </p:nvSpPr>
                <p:spPr>
                  <a:xfrm>
                    <a:off x="4428091" y="2379500"/>
                    <a:ext cx="252326" cy="94622"/>
                  </a:xfrm>
                  <a:custGeom>
                    <a:avLst/>
                    <a:gdLst>
                      <a:gd name="connsiteX0" fmla="*/ 127824 w 252326"/>
                      <a:gd name="connsiteY0" fmla="*/ 87168 h 94622"/>
                      <a:gd name="connsiteX1" fmla="*/ 247784 w 252326"/>
                      <a:gd name="connsiteY1" fmla="*/ 47521 h 94622"/>
                      <a:gd name="connsiteX2" fmla="*/ 127824 w 252326"/>
                      <a:gd name="connsiteY2" fmla="*/ 7885 h 94622"/>
                      <a:gd name="connsiteX3" fmla="*/ 7885 w 252326"/>
                      <a:gd name="connsiteY3" fmla="*/ 47532 h 94622"/>
                      <a:gd name="connsiteX4" fmla="*/ 127824 w 252326"/>
                      <a:gd name="connsiteY4" fmla="*/ 87168 h 94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52326" h="94622">
                        <a:moveTo>
                          <a:pt x="127824" y="87168"/>
                        </a:moveTo>
                        <a:cubicBezTo>
                          <a:pt x="194091" y="87168"/>
                          <a:pt x="247784" y="69432"/>
                          <a:pt x="247784" y="47521"/>
                        </a:cubicBezTo>
                        <a:cubicBezTo>
                          <a:pt x="247784" y="25632"/>
                          <a:pt x="194091" y="7885"/>
                          <a:pt x="127824" y="7885"/>
                        </a:cubicBezTo>
                        <a:cubicBezTo>
                          <a:pt x="61599" y="7896"/>
                          <a:pt x="7885" y="25643"/>
                          <a:pt x="7885" y="47532"/>
                        </a:cubicBezTo>
                        <a:cubicBezTo>
                          <a:pt x="7885" y="69432"/>
                          <a:pt x="61599" y="87168"/>
                          <a:pt x="127824" y="87168"/>
                        </a:cubicBezTo>
                        <a:close/>
                      </a:path>
                    </a:pathLst>
                  </a:custGeom>
                  <a:solidFill>
                    <a:srgbClr val="7F7F7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 sz="1300"/>
                  </a:p>
                </p:txBody>
              </p:sp>
            </p:grpSp>
            <p:grpSp>
              <p:nvGrpSpPr>
                <p:cNvPr id="48" name="Shape2_20210625_150723">
                  <a:extLst>
                    <a:ext uri="{FF2B5EF4-FFF2-40B4-BE49-F238E27FC236}">
                      <a16:creationId xmlns:a16="http://schemas.microsoft.com/office/drawing/2014/main" id="{3A0230CF-2A41-2EF7-FF4C-46628642DF4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106882" y="2806340"/>
                  <a:ext cx="343239" cy="346672"/>
                  <a:chOff x="641351" y="2794001"/>
                  <a:chExt cx="158750" cy="160338"/>
                </a:xfrm>
                <a:solidFill>
                  <a:schemeClr val="accent1"/>
                </a:solidFill>
              </p:grpSpPr>
              <p:sp>
                <p:nvSpPr>
                  <p:cNvPr id="88" name="Freeform 380">
                    <a:extLst>
                      <a:ext uri="{FF2B5EF4-FFF2-40B4-BE49-F238E27FC236}">
                        <a16:creationId xmlns:a16="http://schemas.microsoft.com/office/drawing/2014/main" id="{B44A7698-3210-15E1-E551-F88031C1A4AD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41351" y="2794001"/>
                    <a:ext cx="123825" cy="125413"/>
                  </a:xfrm>
                  <a:custGeom>
                    <a:avLst/>
                    <a:gdLst>
                      <a:gd name="T0" fmla="*/ 142 w 285"/>
                      <a:gd name="T1" fmla="*/ 285 h 285"/>
                      <a:gd name="T2" fmla="*/ 0 w 285"/>
                      <a:gd name="T3" fmla="*/ 143 h 285"/>
                      <a:gd name="T4" fmla="*/ 142 w 285"/>
                      <a:gd name="T5" fmla="*/ 0 h 285"/>
                      <a:gd name="T6" fmla="*/ 285 w 285"/>
                      <a:gd name="T7" fmla="*/ 143 h 285"/>
                      <a:gd name="T8" fmla="*/ 142 w 285"/>
                      <a:gd name="T9" fmla="*/ 285 h 285"/>
                      <a:gd name="T10" fmla="*/ 142 w 285"/>
                      <a:gd name="T11" fmla="*/ 12 h 285"/>
                      <a:gd name="T12" fmla="*/ 12 w 285"/>
                      <a:gd name="T13" fmla="*/ 143 h 285"/>
                      <a:gd name="T14" fmla="*/ 142 w 285"/>
                      <a:gd name="T15" fmla="*/ 273 h 285"/>
                      <a:gd name="T16" fmla="*/ 273 w 285"/>
                      <a:gd name="T17" fmla="*/ 143 h 285"/>
                      <a:gd name="T18" fmla="*/ 142 w 285"/>
                      <a:gd name="T19" fmla="*/ 12 h 28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85" h="285">
                        <a:moveTo>
                          <a:pt x="142" y="285"/>
                        </a:moveTo>
                        <a:cubicBezTo>
                          <a:pt x="64" y="285"/>
                          <a:pt x="0" y="221"/>
                          <a:pt x="0" y="143"/>
                        </a:cubicBezTo>
                        <a:cubicBezTo>
                          <a:pt x="0" y="64"/>
                          <a:pt x="64" y="0"/>
                          <a:pt x="142" y="0"/>
                        </a:cubicBezTo>
                        <a:cubicBezTo>
                          <a:pt x="221" y="0"/>
                          <a:pt x="285" y="64"/>
                          <a:pt x="285" y="143"/>
                        </a:cubicBezTo>
                        <a:cubicBezTo>
                          <a:pt x="285" y="221"/>
                          <a:pt x="221" y="285"/>
                          <a:pt x="142" y="285"/>
                        </a:cubicBezTo>
                        <a:close/>
                        <a:moveTo>
                          <a:pt x="142" y="12"/>
                        </a:moveTo>
                        <a:cubicBezTo>
                          <a:pt x="70" y="12"/>
                          <a:pt x="12" y="71"/>
                          <a:pt x="12" y="143"/>
                        </a:cubicBezTo>
                        <a:cubicBezTo>
                          <a:pt x="12" y="214"/>
                          <a:pt x="70" y="273"/>
                          <a:pt x="142" y="273"/>
                        </a:cubicBezTo>
                        <a:cubicBezTo>
                          <a:pt x="214" y="273"/>
                          <a:pt x="273" y="214"/>
                          <a:pt x="273" y="143"/>
                        </a:cubicBezTo>
                        <a:cubicBezTo>
                          <a:pt x="273" y="71"/>
                          <a:pt x="214" y="12"/>
                          <a:pt x="142" y="1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  <p:sp>
                <p:nvSpPr>
                  <p:cNvPr id="89" name="Freeform 381">
                    <a:extLst>
                      <a:ext uri="{FF2B5EF4-FFF2-40B4-BE49-F238E27FC236}">
                        <a16:creationId xmlns:a16="http://schemas.microsoft.com/office/drawing/2014/main" id="{0ED26713-9175-4DD6-4F7E-BCE52BA12E74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736601" y="2889251"/>
                    <a:ext cx="63500" cy="65088"/>
                  </a:xfrm>
                  <a:custGeom>
                    <a:avLst/>
                    <a:gdLst>
                      <a:gd name="T0" fmla="*/ 119 w 145"/>
                      <a:gd name="T1" fmla="*/ 146 h 146"/>
                      <a:gd name="T2" fmla="*/ 100 w 145"/>
                      <a:gd name="T3" fmla="*/ 138 h 146"/>
                      <a:gd name="T4" fmla="*/ 2 w 145"/>
                      <a:gd name="T5" fmla="*/ 40 h 146"/>
                      <a:gd name="T6" fmla="*/ 2 w 145"/>
                      <a:gd name="T7" fmla="*/ 32 h 146"/>
                      <a:gd name="T8" fmla="*/ 31 w 145"/>
                      <a:gd name="T9" fmla="*/ 3 h 146"/>
                      <a:gd name="T10" fmla="*/ 40 w 145"/>
                      <a:gd name="T11" fmla="*/ 3 h 146"/>
                      <a:gd name="T12" fmla="*/ 138 w 145"/>
                      <a:gd name="T13" fmla="*/ 100 h 146"/>
                      <a:gd name="T14" fmla="*/ 145 w 145"/>
                      <a:gd name="T15" fmla="*/ 119 h 146"/>
                      <a:gd name="T16" fmla="*/ 138 w 145"/>
                      <a:gd name="T17" fmla="*/ 138 h 146"/>
                      <a:gd name="T18" fmla="*/ 119 w 145"/>
                      <a:gd name="T19" fmla="*/ 146 h 146"/>
                      <a:gd name="T20" fmla="*/ 15 w 145"/>
                      <a:gd name="T21" fmla="*/ 36 h 146"/>
                      <a:gd name="T22" fmla="*/ 109 w 145"/>
                      <a:gd name="T23" fmla="*/ 129 h 146"/>
                      <a:gd name="T24" fmla="*/ 109 w 145"/>
                      <a:gd name="T25" fmla="*/ 129 h 146"/>
                      <a:gd name="T26" fmla="*/ 129 w 145"/>
                      <a:gd name="T27" fmla="*/ 129 h 146"/>
                      <a:gd name="T28" fmla="*/ 133 w 145"/>
                      <a:gd name="T29" fmla="*/ 119 h 146"/>
                      <a:gd name="T30" fmla="*/ 129 w 145"/>
                      <a:gd name="T31" fmla="*/ 109 h 146"/>
                      <a:gd name="T32" fmla="*/ 36 w 145"/>
                      <a:gd name="T33" fmla="*/ 16 h 146"/>
                      <a:gd name="T34" fmla="*/ 15 w 145"/>
                      <a:gd name="T35" fmla="*/ 36 h 14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145" h="146">
                        <a:moveTo>
                          <a:pt x="119" y="146"/>
                        </a:moveTo>
                        <a:cubicBezTo>
                          <a:pt x="112" y="146"/>
                          <a:pt x="105" y="143"/>
                          <a:pt x="100" y="138"/>
                        </a:cubicBezTo>
                        <a:cubicBezTo>
                          <a:pt x="2" y="40"/>
                          <a:pt x="2" y="40"/>
                          <a:pt x="2" y="40"/>
                        </a:cubicBezTo>
                        <a:cubicBezTo>
                          <a:pt x="0" y="38"/>
                          <a:pt x="0" y="34"/>
                          <a:pt x="2" y="32"/>
                        </a:cubicBezTo>
                        <a:cubicBezTo>
                          <a:pt x="31" y="3"/>
                          <a:pt x="31" y="3"/>
                          <a:pt x="31" y="3"/>
                        </a:cubicBezTo>
                        <a:cubicBezTo>
                          <a:pt x="34" y="0"/>
                          <a:pt x="38" y="0"/>
                          <a:pt x="40" y="3"/>
                        </a:cubicBezTo>
                        <a:cubicBezTo>
                          <a:pt x="138" y="100"/>
                          <a:pt x="138" y="100"/>
                          <a:pt x="138" y="100"/>
                        </a:cubicBezTo>
                        <a:cubicBezTo>
                          <a:pt x="143" y="105"/>
                          <a:pt x="145" y="112"/>
                          <a:pt x="145" y="119"/>
                        </a:cubicBezTo>
                        <a:cubicBezTo>
                          <a:pt x="145" y="126"/>
                          <a:pt x="143" y="133"/>
                          <a:pt x="138" y="138"/>
                        </a:cubicBezTo>
                        <a:cubicBezTo>
                          <a:pt x="132" y="143"/>
                          <a:pt x="126" y="146"/>
                          <a:pt x="119" y="146"/>
                        </a:cubicBezTo>
                        <a:close/>
                        <a:moveTo>
                          <a:pt x="15" y="36"/>
                        </a:moveTo>
                        <a:cubicBezTo>
                          <a:pt x="109" y="129"/>
                          <a:pt x="109" y="129"/>
                          <a:pt x="109" y="129"/>
                        </a:cubicBezTo>
                        <a:cubicBezTo>
                          <a:pt x="109" y="129"/>
                          <a:pt x="109" y="129"/>
                          <a:pt x="109" y="129"/>
                        </a:cubicBezTo>
                        <a:cubicBezTo>
                          <a:pt x="114" y="135"/>
                          <a:pt x="123" y="135"/>
                          <a:pt x="129" y="129"/>
                        </a:cubicBezTo>
                        <a:cubicBezTo>
                          <a:pt x="132" y="126"/>
                          <a:pt x="133" y="123"/>
                          <a:pt x="133" y="119"/>
                        </a:cubicBezTo>
                        <a:cubicBezTo>
                          <a:pt x="133" y="115"/>
                          <a:pt x="132" y="112"/>
                          <a:pt x="129" y="109"/>
                        </a:cubicBezTo>
                        <a:cubicBezTo>
                          <a:pt x="36" y="16"/>
                          <a:pt x="36" y="16"/>
                          <a:pt x="36" y="16"/>
                        </a:cubicBezTo>
                        <a:lnTo>
                          <a:pt x="15" y="36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  <p:sp>
                <p:nvSpPr>
                  <p:cNvPr id="90" name="Freeform 382">
                    <a:extLst>
                      <a:ext uri="{FF2B5EF4-FFF2-40B4-BE49-F238E27FC236}">
                        <a16:creationId xmlns:a16="http://schemas.microsoft.com/office/drawing/2014/main" id="{EB94013C-4795-4E5C-71A4-BF284F00A83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61988" y="2814638"/>
                    <a:ext cx="44450" cy="44450"/>
                  </a:xfrm>
                  <a:custGeom>
                    <a:avLst/>
                    <a:gdLst>
                      <a:gd name="T0" fmla="*/ 6 w 99"/>
                      <a:gd name="T1" fmla="*/ 100 h 100"/>
                      <a:gd name="T2" fmla="*/ 0 w 99"/>
                      <a:gd name="T3" fmla="*/ 94 h 100"/>
                      <a:gd name="T4" fmla="*/ 93 w 99"/>
                      <a:gd name="T5" fmla="*/ 0 h 100"/>
                      <a:gd name="T6" fmla="*/ 99 w 99"/>
                      <a:gd name="T7" fmla="*/ 6 h 100"/>
                      <a:gd name="T8" fmla="*/ 93 w 99"/>
                      <a:gd name="T9" fmla="*/ 12 h 100"/>
                      <a:gd name="T10" fmla="*/ 12 w 99"/>
                      <a:gd name="T11" fmla="*/ 94 h 100"/>
                      <a:gd name="T12" fmla="*/ 6 w 99"/>
                      <a:gd name="T13" fmla="*/ 10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99" h="100">
                        <a:moveTo>
                          <a:pt x="6" y="100"/>
                        </a:moveTo>
                        <a:cubicBezTo>
                          <a:pt x="3" y="100"/>
                          <a:pt x="0" y="97"/>
                          <a:pt x="0" y="94"/>
                        </a:cubicBezTo>
                        <a:cubicBezTo>
                          <a:pt x="0" y="42"/>
                          <a:pt x="42" y="0"/>
                          <a:pt x="93" y="0"/>
                        </a:cubicBezTo>
                        <a:cubicBezTo>
                          <a:pt x="97" y="0"/>
                          <a:pt x="99" y="3"/>
                          <a:pt x="99" y="6"/>
                        </a:cubicBezTo>
                        <a:cubicBezTo>
                          <a:pt x="99" y="10"/>
                          <a:pt x="97" y="12"/>
                          <a:pt x="93" y="12"/>
                        </a:cubicBezTo>
                        <a:cubicBezTo>
                          <a:pt x="48" y="12"/>
                          <a:pt x="12" y="49"/>
                          <a:pt x="12" y="94"/>
                        </a:cubicBezTo>
                        <a:cubicBezTo>
                          <a:pt x="12" y="97"/>
                          <a:pt x="9" y="100"/>
                          <a:pt x="6" y="1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</p:grpSp>
            <p:grpSp>
              <p:nvGrpSpPr>
                <p:cNvPr id="49" name="Shape3_20210625_150723">
                  <a:extLst>
                    <a:ext uri="{FF2B5EF4-FFF2-40B4-BE49-F238E27FC236}">
                      <a16:creationId xmlns:a16="http://schemas.microsoft.com/office/drawing/2014/main" id="{F8B6F19E-653F-276A-9F3A-F8E24D414B5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5878771" y="2080064"/>
                  <a:ext cx="388003" cy="294765"/>
                  <a:chOff x="220663" y="4840289"/>
                  <a:chExt cx="204788" cy="155575"/>
                </a:xfrm>
                <a:solidFill>
                  <a:schemeClr val="tx2"/>
                </a:solidFill>
              </p:grpSpPr>
              <p:sp>
                <p:nvSpPr>
                  <p:cNvPr id="80" name="Freeform 1656">
                    <a:extLst>
                      <a:ext uri="{FF2B5EF4-FFF2-40B4-BE49-F238E27FC236}">
                        <a16:creationId xmlns:a16="http://schemas.microsoft.com/office/drawing/2014/main" id="{234CEA0D-6DD5-F7DC-9D32-C33A46B02BE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87338" y="4840289"/>
                    <a:ext cx="69850" cy="23813"/>
                  </a:xfrm>
                  <a:custGeom>
                    <a:avLst/>
                    <a:gdLst>
                      <a:gd name="T0" fmla="*/ 151 w 158"/>
                      <a:gd name="T1" fmla="*/ 54 h 54"/>
                      <a:gd name="T2" fmla="*/ 8 w 158"/>
                      <a:gd name="T3" fmla="*/ 54 h 54"/>
                      <a:gd name="T4" fmla="*/ 0 w 158"/>
                      <a:gd name="T5" fmla="*/ 47 h 54"/>
                      <a:gd name="T6" fmla="*/ 0 w 158"/>
                      <a:gd name="T7" fmla="*/ 28 h 54"/>
                      <a:gd name="T8" fmla="*/ 29 w 158"/>
                      <a:gd name="T9" fmla="*/ 0 h 54"/>
                      <a:gd name="T10" fmla="*/ 129 w 158"/>
                      <a:gd name="T11" fmla="*/ 0 h 54"/>
                      <a:gd name="T12" fmla="*/ 158 w 158"/>
                      <a:gd name="T13" fmla="*/ 28 h 54"/>
                      <a:gd name="T14" fmla="*/ 158 w 158"/>
                      <a:gd name="T15" fmla="*/ 47 h 54"/>
                      <a:gd name="T16" fmla="*/ 151 w 158"/>
                      <a:gd name="T17" fmla="*/ 54 h 54"/>
                      <a:gd name="T18" fmla="*/ 15 w 158"/>
                      <a:gd name="T19" fmla="*/ 40 h 54"/>
                      <a:gd name="T20" fmla="*/ 143 w 158"/>
                      <a:gd name="T21" fmla="*/ 40 h 54"/>
                      <a:gd name="T22" fmla="*/ 143 w 158"/>
                      <a:gd name="T23" fmla="*/ 28 h 54"/>
                      <a:gd name="T24" fmla="*/ 129 w 158"/>
                      <a:gd name="T25" fmla="*/ 14 h 54"/>
                      <a:gd name="T26" fmla="*/ 29 w 158"/>
                      <a:gd name="T27" fmla="*/ 14 h 54"/>
                      <a:gd name="T28" fmla="*/ 15 w 158"/>
                      <a:gd name="T29" fmla="*/ 28 h 54"/>
                      <a:gd name="T30" fmla="*/ 15 w 158"/>
                      <a:gd name="T31" fmla="*/ 4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158" h="54">
                        <a:moveTo>
                          <a:pt x="151" y="54"/>
                        </a:moveTo>
                        <a:cubicBezTo>
                          <a:pt x="8" y="54"/>
                          <a:pt x="8" y="54"/>
                          <a:pt x="8" y="54"/>
                        </a:cubicBezTo>
                        <a:cubicBezTo>
                          <a:pt x="4" y="54"/>
                          <a:pt x="0" y="51"/>
                          <a:pt x="0" y="47"/>
                        </a:cubicBezTo>
                        <a:cubicBezTo>
                          <a:pt x="0" y="28"/>
                          <a:pt x="0" y="28"/>
                          <a:pt x="0" y="28"/>
                        </a:cubicBezTo>
                        <a:cubicBezTo>
                          <a:pt x="0" y="12"/>
                          <a:pt x="13" y="0"/>
                          <a:pt x="29" y="0"/>
                        </a:cubicBezTo>
                        <a:cubicBezTo>
                          <a:pt x="129" y="0"/>
                          <a:pt x="129" y="0"/>
                          <a:pt x="129" y="0"/>
                        </a:cubicBezTo>
                        <a:cubicBezTo>
                          <a:pt x="145" y="0"/>
                          <a:pt x="158" y="12"/>
                          <a:pt x="158" y="28"/>
                        </a:cubicBezTo>
                        <a:cubicBezTo>
                          <a:pt x="158" y="47"/>
                          <a:pt x="158" y="47"/>
                          <a:pt x="158" y="47"/>
                        </a:cubicBezTo>
                        <a:cubicBezTo>
                          <a:pt x="158" y="51"/>
                          <a:pt x="155" y="54"/>
                          <a:pt x="151" y="54"/>
                        </a:cubicBezTo>
                        <a:close/>
                        <a:moveTo>
                          <a:pt x="15" y="40"/>
                        </a:moveTo>
                        <a:cubicBezTo>
                          <a:pt x="143" y="40"/>
                          <a:pt x="143" y="40"/>
                          <a:pt x="143" y="40"/>
                        </a:cubicBezTo>
                        <a:cubicBezTo>
                          <a:pt x="143" y="28"/>
                          <a:pt x="143" y="28"/>
                          <a:pt x="143" y="28"/>
                        </a:cubicBezTo>
                        <a:cubicBezTo>
                          <a:pt x="143" y="20"/>
                          <a:pt x="137" y="14"/>
                          <a:pt x="129" y="14"/>
                        </a:cubicBezTo>
                        <a:cubicBezTo>
                          <a:pt x="29" y="14"/>
                          <a:pt x="29" y="14"/>
                          <a:pt x="29" y="14"/>
                        </a:cubicBezTo>
                        <a:cubicBezTo>
                          <a:pt x="21" y="14"/>
                          <a:pt x="15" y="20"/>
                          <a:pt x="15" y="28"/>
                        </a:cubicBezTo>
                        <a:lnTo>
                          <a:pt x="15" y="4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  <p:sp>
                <p:nvSpPr>
                  <p:cNvPr id="81" name="Freeform 1657">
                    <a:extLst>
                      <a:ext uri="{FF2B5EF4-FFF2-40B4-BE49-F238E27FC236}">
                        <a16:creationId xmlns:a16="http://schemas.microsoft.com/office/drawing/2014/main" id="{8EF79CEB-ABA7-4899-7BB9-C71EB4998FCB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28601" y="4919664"/>
                    <a:ext cx="187325" cy="76200"/>
                  </a:xfrm>
                  <a:custGeom>
                    <a:avLst/>
                    <a:gdLst>
                      <a:gd name="T0" fmla="*/ 399 w 428"/>
                      <a:gd name="T1" fmla="*/ 174 h 174"/>
                      <a:gd name="T2" fmla="*/ 30 w 428"/>
                      <a:gd name="T3" fmla="*/ 174 h 174"/>
                      <a:gd name="T4" fmla="*/ 0 w 428"/>
                      <a:gd name="T5" fmla="*/ 144 h 174"/>
                      <a:gd name="T6" fmla="*/ 0 w 428"/>
                      <a:gd name="T7" fmla="*/ 8 h 174"/>
                      <a:gd name="T8" fmla="*/ 2 w 428"/>
                      <a:gd name="T9" fmla="*/ 2 h 174"/>
                      <a:gd name="T10" fmla="*/ 8 w 428"/>
                      <a:gd name="T11" fmla="*/ 1 h 174"/>
                      <a:gd name="T12" fmla="*/ 92 w 428"/>
                      <a:gd name="T13" fmla="*/ 17 h 174"/>
                      <a:gd name="T14" fmla="*/ 98 w 428"/>
                      <a:gd name="T15" fmla="*/ 24 h 174"/>
                      <a:gd name="T16" fmla="*/ 98 w 428"/>
                      <a:gd name="T17" fmla="*/ 63 h 174"/>
                      <a:gd name="T18" fmla="*/ 124 w 428"/>
                      <a:gd name="T19" fmla="*/ 63 h 174"/>
                      <a:gd name="T20" fmla="*/ 124 w 428"/>
                      <a:gd name="T21" fmla="*/ 31 h 174"/>
                      <a:gd name="T22" fmla="*/ 127 w 428"/>
                      <a:gd name="T23" fmla="*/ 26 h 174"/>
                      <a:gd name="T24" fmla="*/ 133 w 428"/>
                      <a:gd name="T25" fmla="*/ 24 h 174"/>
                      <a:gd name="T26" fmla="*/ 214 w 428"/>
                      <a:gd name="T27" fmla="*/ 39 h 174"/>
                      <a:gd name="T28" fmla="*/ 295 w 428"/>
                      <a:gd name="T29" fmla="*/ 24 h 174"/>
                      <a:gd name="T30" fmla="*/ 301 w 428"/>
                      <a:gd name="T31" fmla="*/ 26 h 174"/>
                      <a:gd name="T32" fmla="*/ 304 w 428"/>
                      <a:gd name="T33" fmla="*/ 31 h 174"/>
                      <a:gd name="T34" fmla="*/ 304 w 428"/>
                      <a:gd name="T35" fmla="*/ 63 h 174"/>
                      <a:gd name="T36" fmla="*/ 330 w 428"/>
                      <a:gd name="T37" fmla="*/ 63 h 174"/>
                      <a:gd name="T38" fmla="*/ 330 w 428"/>
                      <a:gd name="T39" fmla="*/ 24 h 174"/>
                      <a:gd name="T40" fmla="*/ 336 w 428"/>
                      <a:gd name="T41" fmla="*/ 17 h 174"/>
                      <a:gd name="T42" fmla="*/ 420 w 428"/>
                      <a:gd name="T43" fmla="*/ 1 h 174"/>
                      <a:gd name="T44" fmla="*/ 426 w 428"/>
                      <a:gd name="T45" fmla="*/ 2 h 174"/>
                      <a:gd name="T46" fmla="*/ 428 w 428"/>
                      <a:gd name="T47" fmla="*/ 8 h 174"/>
                      <a:gd name="T48" fmla="*/ 428 w 428"/>
                      <a:gd name="T49" fmla="*/ 144 h 174"/>
                      <a:gd name="T50" fmla="*/ 399 w 428"/>
                      <a:gd name="T51" fmla="*/ 174 h 174"/>
                      <a:gd name="T52" fmla="*/ 14 w 428"/>
                      <a:gd name="T53" fmla="*/ 17 h 174"/>
                      <a:gd name="T54" fmla="*/ 14 w 428"/>
                      <a:gd name="T55" fmla="*/ 144 h 174"/>
                      <a:gd name="T56" fmla="*/ 30 w 428"/>
                      <a:gd name="T57" fmla="*/ 159 h 174"/>
                      <a:gd name="T58" fmla="*/ 399 w 428"/>
                      <a:gd name="T59" fmla="*/ 159 h 174"/>
                      <a:gd name="T60" fmla="*/ 414 w 428"/>
                      <a:gd name="T61" fmla="*/ 144 h 174"/>
                      <a:gd name="T62" fmla="*/ 414 w 428"/>
                      <a:gd name="T63" fmla="*/ 17 h 174"/>
                      <a:gd name="T64" fmla="*/ 344 w 428"/>
                      <a:gd name="T65" fmla="*/ 30 h 174"/>
                      <a:gd name="T66" fmla="*/ 344 w 428"/>
                      <a:gd name="T67" fmla="*/ 70 h 174"/>
                      <a:gd name="T68" fmla="*/ 337 w 428"/>
                      <a:gd name="T69" fmla="*/ 77 h 174"/>
                      <a:gd name="T70" fmla="*/ 297 w 428"/>
                      <a:gd name="T71" fmla="*/ 77 h 174"/>
                      <a:gd name="T72" fmla="*/ 289 w 428"/>
                      <a:gd name="T73" fmla="*/ 70 h 174"/>
                      <a:gd name="T74" fmla="*/ 289 w 428"/>
                      <a:gd name="T75" fmla="*/ 40 h 174"/>
                      <a:gd name="T76" fmla="*/ 215 w 428"/>
                      <a:gd name="T77" fmla="*/ 54 h 174"/>
                      <a:gd name="T78" fmla="*/ 213 w 428"/>
                      <a:gd name="T79" fmla="*/ 54 h 174"/>
                      <a:gd name="T80" fmla="*/ 139 w 428"/>
                      <a:gd name="T81" fmla="*/ 40 h 174"/>
                      <a:gd name="T82" fmla="*/ 139 w 428"/>
                      <a:gd name="T83" fmla="*/ 70 h 174"/>
                      <a:gd name="T84" fmla="*/ 131 w 428"/>
                      <a:gd name="T85" fmla="*/ 77 h 174"/>
                      <a:gd name="T86" fmla="*/ 91 w 428"/>
                      <a:gd name="T87" fmla="*/ 77 h 174"/>
                      <a:gd name="T88" fmla="*/ 84 w 428"/>
                      <a:gd name="T89" fmla="*/ 70 h 174"/>
                      <a:gd name="T90" fmla="*/ 84 w 428"/>
                      <a:gd name="T91" fmla="*/ 30 h 174"/>
                      <a:gd name="T92" fmla="*/ 14 w 428"/>
                      <a:gd name="T93" fmla="*/ 17 h 17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</a:cxnLst>
                    <a:rect l="0" t="0" r="r" b="b"/>
                    <a:pathLst>
                      <a:path w="428" h="174">
                        <a:moveTo>
                          <a:pt x="399" y="174"/>
                        </a:moveTo>
                        <a:cubicBezTo>
                          <a:pt x="30" y="174"/>
                          <a:pt x="30" y="174"/>
                          <a:pt x="30" y="174"/>
                        </a:cubicBezTo>
                        <a:cubicBezTo>
                          <a:pt x="13" y="174"/>
                          <a:pt x="0" y="160"/>
                          <a:pt x="0" y="144"/>
                        </a:cubicBez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0" y="6"/>
                          <a:pt x="1" y="4"/>
                          <a:pt x="2" y="2"/>
                        </a:cubicBezTo>
                        <a:cubicBezTo>
                          <a:pt x="4" y="1"/>
                          <a:pt x="6" y="0"/>
                          <a:pt x="8" y="1"/>
                        </a:cubicBezTo>
                        <a:cubicBezTo>
                          <a:pt x="92" y="17"/>
                          <a:pt x="92" y="17"/>
                          <a:pt x="92" y="17"/>
                        </a:cubicBezTo>
                        <a:cubicBezTo>
                          <a:pt x="96" y="17"/>
                          <a:pt x="98" y="20"/>
                          <a:pt x="98" y="24"/>
                        </a:cubicBezTo>
                        <a:cubicBezTo>
                          <a:pt x="98" y="63"/>
                          <a:pt x="98" y="63"/>
                          <a:pt x="98" y="63"/>
                        </a:cubicBezTo>
                        <a:cubicBezTo>
                          <a:pt x="124" y="63"/>
                          <a:pt x="124" y="63"/>
                          <a:pt x="124" y="63"/>
                        </a:cubicBezTo>
                        <a:cubicBezTo>
                          <a:pt x="124" y="31"/>
                          <a:pt x="124" y="31"/>
                          <a:pt x="124" y="31"/>
                        </a:cubicBezTo>
                        <a:cubicBezTo>
                          <a:pt x="124" y="29"/>
                          <a:pt x="125" y="27"/>
                          <a:pt x="127" y="26"/>
                        </a:cubicBezTo>
                        <a:cubicBezTo>
                          <a:pt x="128" y="24"/>
                          <a:pt x="131" y="24"/>
                          <a:pt x="133" y="24"/>
                        </a:cubicBezTo>
                        <a:cubicBezTo>
                          <a:pt x="214" y="39"/>
                          <a:pt x="214" y="39"/>
                          <a:pt x="214" y="39"/>
                        </a:cubicBezTo>
                        <a:cubicBezTo>
                          <a:pt x="295" y="24"/>
                          <a:pt x="295" y="24"/>
                          <a:pt x="295" y="24"/>
                        </a:cubicBezTo>
                        <a:cubicBezTo>
                          <a:pt x="297" y="24"/>
                          <a:pt x="300" y="24"/>
                          <a:pt x="301" y="26"/>
                        </a:cubicBezTo>
                        <a:cubicBezTo>
                          <a:pt x="303" y="27"/>
                          <a:pt x="304" y="29"/>
                          <a:pt x="304" y="31"/>
                        </a:cubicBezTo>
                        <a:cubicBezTo>
                          <a:pt x="304" y="63"/>
                          <a:pt x="304" y="63"/>
                          <a:pt x="304" y="63"/>
                        </a:cubicBezTo>
                        <a:cubicBezTo>
                          <a:pt x="330" y="63"/>
                          <a:pt x="330" y="63"/>
                          <a:pt x="330" y="63"/>
                        </a:cubicBezTo>
                        <a:cubicBezTo>
                          <a:pt x="330" y="24"/>
                          <a:pt x="330" y="24"/>
                          <a:pt x="330" y="24"/>
                        </a:cubicBezTo>
                        <a:cubicBezTo>
                          <a:pt x="330" y="20"/>
                          <a:pt x="332" y="17"/>
                          <a:pt x="336" y="17"/>
                        </a:cubicBezTo>
                        <a:cubicBezTo>
                          <a:pt x="420" y="1"/>
                          <a:pt x="420" y="1"/>
                          <a:pt x="420" y="1"/>
                        </a:cubicBezTo>
                        <a:cubicBezTo>
                          <a:pt x="422" y="0"/>
                          <a:pt x="424" y="1"/>
                          <a:pt x="426" y="2"/>
                        </a:cubicBezTo>
                        <a:cubicBezTo>
                          <a:pt x="428" y="4"/>
                          <a:pt x="428" y="6"/>
                          <a:pt x="428" y="8"/>
                        </a:cubicBezTo>
                        <a:cubicBezTo>
                          <a:pt x="428" y="144"/>
                          <a:pt x="428" y="144"/>
                          <a:pt x="428" y="144"/>
                        </a:cubicBezTo>
                        <a:cubicBezTo>
                          <a:pt x="428" y="160"/>
                          <a:pt x="415" y="174"/>
                          <a:pt x="399" y="174"/>
                        </a:cubicBezTo>
                        <a:close/>
                        <a:moveTo>
                          <a:pt x="14" y="17"/>
                        </a:moveTo>
                        <a:cubicBezTo>
                          <a:pt x="14" y="144"/>
                          <a:pt x="14" y="144"/>
                          <a:pt x="14" y="144"/>
                        </a:cubicBezTo>
                        <a:cubicBezTo>
                          <a:pt x="14" y="152"/>
                          <a:pt x="21" y="159"/>
                          <a:pt x="30" y="159"/>
                        </a:cubicBezTo>
                        <a:cubicBezTo>
                          <a:pt x="399" y="159"/>
                          <a:pt x="399" y="159"/>
                          <a:pt x="399" y="159"/>
                        </a:cubicBezTo>
                        <a:cubicBezTo>
                          <a:pt x="407" y="159"/>
                          <a:pt x="414" y="152"/>
                          <a:pt x="414" y="144"/>
                        </a:cubicBezTo>
                        <a:cubicBezTo>
                          <a:pt x="414" y="17"/>
                          <a:pt x="414" y="17"/>
                          <a:pt x="414" y="17"/>
                        </a:cubicBezTo>
                        <a:cubicBezTo>
                          <a:pt x="344" y="30"/>
                          <a:pt x="344" y="30"/>
                          <a:pt x="344" y="30"/>
                        </a:cubicBezTo>
                        <a:cubicBezTo>
                          <a:pt x="344" y="70"/>
                          <a:pt x="344" y="70"/>
                          <a:pt x="344" y="70"/>
                        </a:cubicBezTo>
                        <a:cubicBezTo>
                          <a:pt x="344" y="74"/>
                          <a:pt x="341" y="77"/>
                          <a:pt x="337" y="77"/>
                        </a:cubicBezTo>
                        <a:cubicBezTo>
                          <a:pt x="297" y="77"/>
                          <a:pt x="297" y="77"/>
                          <a:pt x="297" y="77"/>
                        </a:cubicBezTo>
                        <a:cubicBezTo>
                          <a:pt x="293" y="77"/>
                          <a:pt x="289" y="74"/>
                          <a:pt x="289" y="70"/>
                        </a:cubicBezTo>
                        <a:cubicBezTo>
                          <a:pt x="289" y="40"/>
                          <a:pt x="289" y="40"/>
                          <a:pt x="289" y="40"/>
                        </a:cubicBezTo>
                        <a:cubicBezTo>
                          <a:pt x="215" y="54"/>
                          <a:pt x="215" y="54"/>
                          <a:pt x="215" y="54"/>
                        </a:cubicBezTo>
                        <a:cubicBezTo>
                          <a:pt x="214" y="54"/>
                          <a:pt x="214" y="54"/>
                          <a:pt x="213" y="54"/>
                        </a:cubicBezTo>
                        <a:cubicBezTo>
                          <a:pt x="139" y="40"/>
                          <a:pt x="139" y="40"/>
                          <a:pt x="139" y="40"/>
                        </a:cubicBezTo>
                        <a:cubicBezTo>
                          <a:pt x="139" y="70"/>
                          <a:pt x="139" y="70"/>
                          <a:pt x="139" y="70"/>
                        </a:cubicBezTo>
                        <a:cubicBezTo>
                          <a:pt x="139" y="74"/>
                          <a:pt x="135" y="77"/>
                          <a:pt x="131" y="77"/>
                        </a:cubicBezTo>
                        <a:cubicBezTo>
                          <a:pt x="91" y="77"/>
                          <a:pt x="91" y="77"/>
                          <a:pt x="91" y="77"/>
                        </a:cubicBezTo>
                        <a:cubicBezTo>
                          <a:pt x="87" y="77"/>
                          <a:pt x="84" y="74"/>
                          <a:pt x="84" y="70"/>
                        </a:cubicBezTo>
                        <a:cubicBezTo>
                          <a:pt x="84" y="30"/>
                          <a:pt x="84" y="30"/>
                          <a:pt x="84" y="30"/>
                        </a:cubicBezTo>
                        <a:lnTo>
                          <a:pt x="14" y="17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  <p:sp>
                <p:nvSpPr>
                  <p:cNvPr id="82" name="Freeform 1658">
                    <a:extLst>
                      <a:ext uri="{FF2B5EF4-FFF2-40B4-BE49-F238E27FC236}">
                        <a16:creationId xmlns:a16="http://schemas.microsoft.com/office/drawing/2014/main" id="{6130D50B-432D-502A-FC0B-454F71707650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20663" y="4857751"/>
                    <a:ext cx="204788" cy="85725"/>
                  </a:xfrm>
                  <a:custGeom>
                    <a:avLst/>
                    <a:gdLst>
                      <a:gd name="T0" fmla="*/ 233 w 466"/>
                      <a:gd name="T1" fmla="*/ 196 h 196"/>
                      <a:gd name="T2" fmla="*/ 232 w 466"/>
                      <a:gd name="T3" fmla="*/ 196 h 196"/>
                      <a:gd name="T4" fmla="*/ 149 w 466"/>
                      <a:gd name="T5" fmla="*/ 180 h 196"/>
                      <a:gd name="T6" fmla="*/ 143 w 466"/>
                      <a:gd name="T7" fmla="*/ 173 h 196"/>
                      <a:gd name="T8" fmla="*/ 143 w 466"/>
                      <a:gd name="T9" fmla="*/ 142 h 196"/>
                      <a:gd name="T10" fmla="*/ 117 w 466"/>
                      <a:gd name="T11" fmla="*/ 142 h 196"/>
                      <a:gd name="T12" fmla="*/ 117 w 466"/>
                      <a:gd name="T13" fmla="*/ 166 h 196"/>
                      <a:gd name="T14" fmla="*/ 115 w 466"/>
                      <a:gd name="T15" fmla="*/ 171 h 196"/>
                      <a:gd name="T16" fmla="*/ 109 w 466"/>
                      <a:gd name="T17" fmla="*/ 173 h 196"/>
                      <a:gd name="T18" fmla="*/ 25 w 466"/>
                      <a:gd name="T19" fmla="*/ 157 h 196"/>
                      <a:gd name="T20" fmla="*/ 0 w 466"/>
                      <a:gd name="T21" fmla="*/ 128 h 196"/>
                      <a:gd name="T22" fmla="*/ 0 w 466"/>
                      <a:gd name="T23" fmla="*/ 30 h 196"/>
                      <a:gd name="T24" fmla="*/ 30 w 466"/>
                      <a:gd name="T25" fmla="*/ 0 h 196"/>
                      <a:gd name="T26" fmla="*/ 436 w 466"/>
                      <a:gd name="T27" fmla="*/ 0 h 196"/>
                      <a:gd name="T28" fmla="*/ 466 w 466"/>
                      <a:gd name="T29" fmla="*/ 30 h 196"/>
                      <a:gd name="T30" fmla="*/ 466 w 466"/>
                      <a:gd name="T31" fmla="*/ 128 h 196"/>
                      <a:gd name="T32" fmla="*/ 442 w 466"/>
                      <a:gd name="T33" fmla="*/ 157 h 196"/>
                      <a:gd name="T34" fmla="*/ 357 w 466"/>
                      <a:gd name="T35" fmla="*/ 173 h 196"/>
                      <a:gd name="T36" fmla="*/ 351 w 466"/>
                      <a:gd name="T37" fmla="*/ 171 h 196"/>
                      <a:gd name="T38" fmla="*/ 349 w 466"/>
                      <a:gd name="T39" fmla="*/ 166 h 196"/>
                      <a:gd name="T40" fmla="*/ 349 w 466"/>
                      <a:gd name="T41" fmla="*/ 142 h 196"/>
                      <a:gd name="T42" fmla="*/ 323 w 466"/>
                      <a:gd name="T43" fmla="*/ 142 h 196"/>
                      <a:gd name="T44" fmla="*/ 323 w 466"/>
                      <a:gd name="T45" fmla="*/ 173 h 196"/>
                      <a:gd name="T46" fmla="*/ 317 w 466"/>
                      <a:gd name="T47" fmla="*/ 180 h 196"/>
                      <a:gd name="T48" fmla="*/ 234 w 466"/>
                      <a:gd name="T49" fmla="*/ 196 h 196"/>
                      <a:gd name="T50" fmla="*/ 233 w 466"/>
                      <a:gd name="T51" fmla="*/ 196 h 196"/>
                      <a:gd name="T52" fmla="*/ 158 w 466"/>
                      <a:gd name="T53" fmla="*/ 167 h 196"/>
                      <a:gd name="T54" fmla="*/ 233 w 466"/>
                      <a:gd name="T55" fmla="*/ 181 h 196"/>
                      <a:gd name="T56" fmla="*/ 308 w 466"/>
                      <a:gd name="T57" fmla="*/ 167 h 196"/>
                      <a:gd name="T58" fmla="*/ 308 w 466"/>
                      <a:gd name="T59" fmla="*/ 135 h 196"/>
                      <a:gd name="T60" fmla="*/ 316 w 466"/>
                      <a:gd name="T61" fmla="*/ 127 h 196"/>
                      <a:gd name="T62" fmla="*/ 356 w 466"/>
                      <a:gd name="T63" fmla="*/ 127 h 196"/>
                      <a:gd name="T64" fmla="*/ 363 w 466"/>
                      <a:gd name="T65" fmla="*/ 135 h 196"/>
                      <a:gd name="T66" fmla="*/ 363 w 466"/>
                      <a:gd name="T67" fmla="*/ 157 h 196"/>
                      <a:gd name="T68" fmla="*/ 439 w 466"/>
                      <a:gd name="T69" fmla="*/ 143 h 196"/>
                      <a:gd name="T70" fmla="*/ 451 w 466"/>
                      <a:gd name="T71" fmla="*/ 128 h 196"/>
                      <a:gd name="T72" fmla="*/ 451 w 466"/>
                      <a:gd name="T73" fmla="*/ 30 h 196"/>
                      <a:gd name="T74" fmla="*/ 436 w 466"/>
                      <a:gd name="T75" fmla="*/ 14 h 196"/>
                      <a:gd name="T76" fmla="*/ 30 w 466"/>
                      <a:gd name="T77" fmla="*/ 14 h 196"/>
                      <a:gd name="T78" fmla="*/ 15 w 466"/>
                      <a:gd name="T79" fmla="*/ 30 h 196"/>
                      <a:gd name="T80" fmla="*/ 15 w 466"/>
                      <a:gd name="T81" fmla="*/ 128 h 196"/>
                      <a:gd name="T82" fmla="*/ 27 w 466"/>
                      <a:gd name="T83" fmla="*/ 143 h 196"/>
                      <a:gd name="T84" fmla="*/ 103 w 466"/>
                      <a:gd name="T85" fmla="*/ 157 h 196"/>
                      <a:gd name="T86" fmla="*/ 103 w 466"/>
                      <a:gd name="T87" fmla="*/ 135 h 196"/>
                      <a:gd name="T88" fmla="*/ 110 w 466"/>
                      <a:gd name="T89" fmla="*/ 127 h 196"/>
                      <a:gd name="T90" fmla="*/ 150 w 466"/>
                      <a:gd name="T91" fmla="*/ 127 h 196"/>
                      <a:gd name="T92" fmla="*/ 158 w 466"/>
                      <a:gd name="T93" fmla="*/ 135 h 196"/>
                      <a:gd name="T94" fmla="*/ 158 w 466"/>
                      <a:gd name="T95" fmla="*/ 167 h 1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</a:cxnLst>
                    <a:rect l="0" t="0" r="r" b="b"/>
                    <a:pathLst>
                      <a:path w="466" h="196">
                        <a:moveTo>
                          <a:pt x="233" y="196"/>
                        </a:moveTo>
                        <a:cubicBezTo>
                          <a:pt x="233" y="196"/>
                          <a:pt x="232" y="196"/>
                          <a:pt x="232" y="196"/>
                        </a:cubicBezTo>
                        <a:cubicBezTo>
                          <a:pt x="149" y="180"/>
                          <a:pt x="149" y="180"/>
                          <a:pt x="149" y="180"/>
                        </a:cubicBezTo>
                        <a:cubicBezTo>
                          <a:pt x="146" y="180"/>
                          <a:pt x="143" y="177"/>
                          <a:pt x="143" y="173"/>
                        </a:cubicBezTo>
                        <a:cubicBezTo>
                          <a:pt x="143" y="142"/>
                          <a:pt x="143" y="142"/>
                          <a:pt x="143" y="142"/>
                        </a:cubicBezTo>
                        <a:cubicBezTo>
                          <a:pt x="117" y="142"/>
                          <a:pt x="117" y="142"/>
                          <a:pt x="117" y="142"/>
                        </a:cubicBezTo>
                        <a:cubicBezTo>
                          <a:pt x="117" y="166"/>
                          <a:pt x="117" y="166"/>
                          <a:pt x="117" y="166"/>
                        </a:cubicBezTo>
                        <a:cubicBezTo>
                          <a:pt x="117" y="168"/>
                          <a:pt x="116" y="170"/>
                          <a:pt x="115" y="171"/>
                        </a:cubicBezTo>
                        <a:cubicBezTo>
                          <a:pt x="113" y="173"/>
                          <a:pt x="111" y="173"/>
                          <a:pt x="109" y="173"/>
                        </a:cubicBezTo>
                        <a:cubicBezTo>
                          <a:pt x="25" y="157"/>
                          <a:pt x="25" y="157"/>
                          <a:pt x="25" y="157"/>
                        </a:cubicBezTo>
                        <a:cubicBezTo>
                          <a:pt x="10" y="154"/>
                          <a:pt x="0" y="142"/>
                          <a:pt x="0" y="128"/>
                        </a:cubicBezTo>
                        <a:cubicBezTo>
                          <a:pt x="0" y="30"/>
                          <a:pt x="0" y="30"/>
                          <a:pt x="0" y="30"/>
                        </a:cubicBezTo>
                        <a:cubicBezTo>
                          <a:pt x="0" y="13"/>
                          <a:pt x="14" y="0"/>
                          <a:pt x="30" y="0"/>
                        </a:cubicBezTo>
                        <a:cubicBezTo>
                          <a:pt x="436" y="0"/>
                          <a:pt x="436" y="0"/>
                          <a:pt x="436" y="0"/>
                        </a:cubicBezTo>
                        <a:cubicBezTo>
                          <a:pt x="453" y="0"/>
                          <a:pt x="466" y="13"/>
                          <a:pt x="466" y="30"/>
                        </a:cubicBezTo>
                        <a:cubicBezTo>
                          <a:pt x="466" y="128"/>
                          <a:pt x="466" y="128"/>
                          <a:pt x="466" y="128"/>
                        </a:cubicBezTo>
                        <a:cubicBezTo>
                          <a:pt x="466" y="142"/>
                          <a:pt x="456" y="154"/>
                          <a:pt x="442" y="157"/>
                        </a:cubicBezTo>
                        <a:cubicBezTo>
                          <a:pt x="357" y="173"/>
                          <a:pt x="357" y="173"/>
                          <a:pt x="357" y="173"/>
                        </a:cubicBezTo>
                        <a:cubicBezTo>
                          <a:pt x="355" y="173"/>
                          <a:pt x="353" y="173"/>
                          <a:pt x="351" y="171"/>
                        </a:cubicBezTo>
                        <a:cubicBezTo>
                          <a:pt x="350" y="170"/>
                          <a:pt x="349" y="168"/>
                          <a:pt x="349" y="166"/>
                        </a:cubicBezTo>
                        <a:cubicBezTo>
                          <a:pt x="349" y="142"/>
                          <a:pt x="349" y="142"/>
                          <a:pt x="349" y="142"/>
                        </a:cubicBezTo>
                        <a:cubicBezTo>
                          <a:pt x="323" y="142"/>
                          <a:pt x="323" y="142"/>
                          <a:pt x="323" y="142"/>
                        </a:cubicBezTo>
                        <a:cubicBezTo>
                          <a:pt x="323" y="173"/>
                          <a:pt x="323" y="173"/>
                          <a:pt x="323" y="173"/>
                        </a:cubicBezTo>
                        <a:cubicBezTo>
                          <a:pt x="323" y="177"/>
                          <a:pt x="320" y="180"/>
                          <a:pt x="317" y="180"/>
                        </a:cubicBezTo>
                        <a:cubicBezTo>
                          <a:pt x="234" y="196"/>
                          <a:pt x="234" y="196"/>
                          <a:pt x="234" y="196"/>
                        </a:cubicBezTo>
                        <a:cubicBezTo>
                          <a:pt x="234" y="196"/>
                          <a:pt x="233" y="196"/>
                          <a:pt x="233" y="196"/>
                        </a:cubicBezTo>
                        <a:close/>
                        <a:moveTo>
                          <a:pt x="158" y="167"/>
                        </a:moveTo>
                        <a:cubicBezTo>
                          <a:pt x="233" y="181"/>
                          <a:pt x="233" y="181"/>
                          <a:pt x="233" y="181"/>
                        </a:cubicBezTo>
                        <a:cubicBezTo>
                          <a:pt x="308" y="167"/>
                          <a:pt x="308" y="167"/>
                          <a:pt x="308" y="167"/>
                        </a:cubicBezTo>
                        <a:cubicBezTo>
                          <a:pt x="308" y="135"/>
                          <a:pt x="308" y="135"/>
                          <a:pt x="308" y="135"/>
                        </a:cubicBezTo>
                        <a:cubicBezTo>
                          <a:pt x="308" y="131"/>
                          <a:pt x="312" y="127"/>
                          <a:pt x="316" y="127"/>
                        </a:cubicBezTo>
                        <a:cubicBezTo>
                          <a:pt x="356" y="127"/>
                          <a:pt x="356" y="127"/>
                          <a:pt x="356" y="127"/>
                        </a:cubicBezTo>
                        <a:cubicBezTo>
                          <a:pt x="360" y="127"/>
                          <a:pt x="363" y="131"/>
                          <a:pt x="363" y="135"/>
                        </a:cubicBezTo>
                        <a:cubicBezTo>
                          <a:pt x="363" y="157"/>
                          <a:pt x="363" y="157"/>
                          <a:pt x="363" y="157"/>
                        </a:cubicBezTo>
                        <a:cubicBezTo>
                          <a:pt x="439" y="143"/>
                          <a:pt x="439" y="143"/>
                          <a:pt x="439" y="143"/>
                        </a:cubicBezTo>
                        <a:cubicBezTo>
                          <a:pt x="446" y="142"/>
                          <a:pt x="451" y="135"/>
                          <a:pt x="451" y="128"/>
                        </a:cubicBezTo>
                        <a:cubicBezTo>
                          <a:pt x="451" y="30"/>
                          <a:pt x="451" y="30"/>
                          <a:pt x="451" y="30"/>
                        </a:cubicBezTo>
                        <a:cubicBezTo>
                          <a:pt x="451" y="21"/>
                          <a:pt x="445" y="14"/>
                          <a:pt x="436" y="14"/>
                        </a:cubicBezTo>
                        <a:cubicBezTo>
                          <a:pt x="30" y="14"/>
                          <a:pt x="30" y="14"/>
                          <a:pt x="30" y="14"/>
                        </a:cubicBezTo>
                        <a:cubicBezTo>
                          <a:pt x="22" y="14"/>
                          <a:pt x="15" y="21"/>
                          <a:pt x="15" y="30"/>
                        </a:cubicBezTo>
                        <a:cubicBezTo>
                          <a:pt x="15" y="128"/>
                          <a:pt x="15" y="128"/>
                          <a:pt x="15" y="128"/>
                        </a:cubicBezTo>
                        <a:cubicBezTo>
                          <a:pt x="15" y="135"/>
                          <a:pt x="20" y="142"/>
                          <a:pt x="27" y="143"/>
                        </a:cubicBezTo>
                        <a:cubicBezTo>
                          <a:pt x="103" y="157"/>
                          <a:pt x="103" y="157"/>
                          <a:pt x="103" y="157"/>
                        </a:cubicBezTo>
                        <a:cubicBezTo>
                          <a:pt x="103" y="135"/>
                          <a:pt x="103" y="135"/>
                          <a:pt x="103" y="135"/>
                        </a:cubicBezTo>
                        <a:cubicBezTo>
                          <a:pt x="103" y="131"/>
                          <a:pt x="106" y="127"/>
                          <a:pt x="110" y="127"/>
                        </a:cubicBezTo>
                        <a:cubicBezTo>
                          <a:pt x="150" y="127"/>
                          <a:pt x="150" y="127"/>
                          <a:pt x="150" y="127"/>
                        </a:cubicBezTo>
                        <a:cubicBezTo>
                          <a:pt x="154" y="127"/>
                          <a:pt x="158" y="131"/>
                          <a:pt x="158" y="135"/>
                        </a:cubicBezTo>
                        <a:lnTo>
                          <a:pt x="158" y="167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  <p:sp>
                <p:nvSpPr>
                  <p:cNvPr id="83" name="Freeform 1659">
                    <a:extLst>
                      <a:ext uri="{FF2B5EF4-FFF2-40B4-BE49-F238E27FC236}">
                        <a16:creationId xmlns:a16="http://schemas.microsoft.com/office/drawing/2014/main" id="{CB3E98A8-4999-6946-04C6-3FD13973A83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9088" y="4929189"/>
                    <a:ext cx="42863" cy="14288"/>
                  </a:xfrm>
                  <a:custGeom>
                    <a:avLst/>
                    <a:gdLst>
                      <a:gd name="T0" fmla="*/ 8 w 98"/>
                      <a:gd name="T1" fmla="*/ 31 h 31"/>
                      <a:gd name="T2" fmla="*/ 1 w 98"/>
                      <a:gd name="T3" fmla="*/ 25 h 31"/>
                      <a:gd name="T4" fmla="*/ 7 w 98"/>
                      <a:gd name="T5" fmla="*/ 17 h 31"/>
                      <a:gd name="T6" fmla="*/ 89 w 98"/>
                      <a:gd name="T7" fmla="*/ 1 h 31"/>
                      <a:gd name="T8" fmla="*/ 98 w 98"/>
                      <a:gd name="T9" fmla="*/ 7 h 31"/>
                      <a:gd name="T10" fmla="*/ 98 w 98"/>
                      <a:gd name="T11" fmla="*/ 8 h 31"/>
                      <a:gd name="T12" fmla="*/ 93 w 98"/>
                      <a:gd name="T13" fmla="*/ 15 h 31"/>
                      <a:gd name="T14" fmla="*/ 93 w 98"/>
                      <a:gd name="T15" fmla="*/ 15 h 31"/>
                      <a:gd name="T16" fmla="*/ 92 w 98"/>
                      <a:gd name="T17" fmla="*/ 15 h 31"/>
                      <a:gd name="T18" fmla="*/ 9 w 98"/>
                      <a:gd name="T19" fmla="*/ 31 h 31"/>
                      <a:gd name="T20" fmla="*/ 8 w 98"/>
                      <a:gd name="T21" fmla="*/ 31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98" h="31">
                        <a:moveTo>
                          <a:pt x="8" y="31"/>
                        </a:moveTo>
                        <a:cubicBezTo>
                          <a:pt x="5" y="31"/>
                          <a:pt x="2" y="29"/>
                          <a:pt x="1" y="25"/>
                        </a:cubicBezTo>
                        <a:cubicBezTo>
                          <a:pt x="0" y="21"/>
                          <a:pt x="3" y="17"/>
                          <a:pt x="7" y="17"/>
                        </a:cubicBezTo>
                        <a:cubicBezTo>
                          <a:pt x="89" y="1"/>
                          <a:pt x="89" y="1"/>
                          <a:pt x="89" y="1"/>
                        </a:cubicBezTo>
                        <a:cubicBezTo>
                          <a:pt x="93" y="0"/>
                          <a:pt x="97" y="3"/>
                          <a:pt x="98" y="7"/>
                        </a:cubicBezTo>
                        <a:cubicBezTo>
                          <a:pt x="98" y="7"/>
                          <a:pt x="98" y="8"/>
                          <a:pt x="98" y="8"/>
                        </a:cubicBezTo>
                        <a:cubicBezTo>
                          <a:pt x="98" y="11"/>
                          <a:pt x="96" y="14"/>
                          <a:pt x="93" y="15"/>
                        </a:cubicBezTo>
                        <a:cubicBezTo>
                          <a:pt x="93" y="15"/>
                          <a:pt x="93" y="15"/>
                          <a:pt x="93" y="15"/>
                        </a:cubicBezTo>
                        <a:cubicBezTo>
                          <a:pt x="93" y="15"/>
                          <a:pt x="92" y="15"/>
                          <a:pt x="92" y="15"/>
                        </a:cubicBezTo>
                        <a:cubicBezTo>
                          <a:pt x="9" y="31"/>
                          <a:pt x="9" y="31"/>
                          <a:pt x="9" y="31"/>
                        </a:cubicBezTo>
                        <a:cubicBezTo>
                          <a:pt x="9" y="31"/>
                          <a:pt x="8" y="31"/>
                          <a:pt x="8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  <p:sp>
                <p:nvSpPr>
                  <p:cNvPr id="84" name="Freeform 1660">
                    <a:extLst>
                      <a:ext uri="{FF2B5EF4-FFF2-40B4-BE49-F238E27FC236}">
                        <a16:creationId xmlns:a16="http://schemas.microsoft.com/office/drawing/2014/main" id="{03A70AF5-329B-C66E-86F7-175FD5656E8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8601" y="4919664"/>
                    <a:ext cx="42863" cy="14288"/>
                  </a:xfrm>
                  <a:custGeom>
                    <a:avLst/>
                    <a:gdLst>
                      <a:gd name="T0" fmla="*/ 91 w 98"/>
                      <a:gd name="T1" fmla="*/ 31 h 31"/>
                      <a:gd name="T2" fmla="*/ 90 w 98"/>
                      <a:gd name="T3" fmla="*/ 31 h 31"/>
                      <a:gd name="T4" fmla="*/ 90 w 98"/>
                      <a:gd name="T5" fmla="*/ 31 h 31"/>
                      <a:gd name="T6" fmla="*/ 6 w 98"/>
                      <a:gd name="T7" fmla="*/ 15 h 31"/>
                      <a:gd name="T8" fmla="*/ 0 w 98"/>
                      <a:gd name="T9" fmla="*/ 8 h 31"/>
                      <a:gd name="T10" fmla="*/ 0 w 98"/>
                      <a:gd name="T11" fmla="*/ 7 h 31"/>
                      <a:gd name="T12" fmla="*/ 8 w 98"/>
                      <a:gd name="T13" fmla="*/ 1 h 31"/>
                      <a:gd name="T14" fmla="*/ 92 w 98"/>
                      <a:gd name="T15" fmla="*/ 17 h 31"/>
                      <a:gd name="T16" fmla="*/ 94 w 98"/>
                      <a:gd name="T17" fmla="*/ 17 h 31"/>
                      <a:gd name="T18" fmla="*/ 98 w 98"/>
                      <a:gd name="T19" fmla="*/ 24 h 31"/>
                      <a:gd name="T20" fmla="*/ 98 w 98"/>
                      <a:gd name="T21" fmla="*/ 25 h 31"/>
                      <a:gd name="T22" fmla="*/ 98 w 98"/>
                      <a:gd name="T23" fmla="*/ 25 h 31"/>
                      <a:gd name="T24" fmla="*/ 94 w 98"/>
                      <a:gd name="T25" fmla="*/ 30 h 31"/>
                      <a:gd name="T26" fmla="*/ 94 w 98"/>
                      <a:gd name="T27" fmla="*/ 30 h 31"/>
                      <a:gd name="T28" fmla="*/ 94 w 98"/>
                      <a:gd name="T29" fmla="*/ 30 h 31"/>
                      <a:gd name="T30" fmla="*/ 91 w 98"/>
                      <a:gd name="T31" fmla="*/ 31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98" h="31">
                        <a:moveTo>
                          <a:pt x="91" y="31"/>
                        </a:moveTo>
                        <a:cubicBezTo>
                          <a:pt x="91" y="31"/>
                          <a:pt x="90" y="31"/>
                          <a:pt x="90" y="31"/>
                        </a:cubicBezTo>
                        <a:cubicBezTo>
                          <a:pt x="90" y="31"/>
                          <a:pt x="90" y="31"/>
                          <a:pt x="90" y="31"/>
                        </a:cubicBezTo>
                        <a:cubicBezTo>
                          <a:pt x="6" y="15"/>
                          <a:pt x="6" y="15"/>
                          <a:pt x="6" y="15"/>
                        </a:cubicBezTo>
                        <a:cubicBezTo>
                          <a:pt x="2" y="14"/>
                          <a:pt x="0" y="11"/>
                          <a:pt x="0" y="8"/>
                        </a:cubicBezTo>
                        <a:cubicBezTo>
                          <a:pt x="0" y="8"/>
                          <a:pt x="0" y="7"/>
                          <a:pt x="0" y="7"/>
                        </a:cubicBezTo>
                        <a:cubicBezTo>
                          <a:pt x="0" y="3"/>
                          <a:pt x="4" y="0"/>
                          <a:pt x="8" y="1"/>
                        </a:cubicBezTo>
                        <a:cubicBezTo>
                          <a:pt x="92" y="17"/>
                          <a:pt x="92" y="17"/>
                          <a:pt x="92" y="17"/>
                        </a:cubicBezTo>
                        <a:cubicBezTo>
                          <a:pt x="93" y="17"/>
                          <a:pt x="93" y="17"/>
                          <a:pt x="94" y="17"/>
                        </a:cubicBezTo>
                        <a:cubicBezTo>
                          <a:pt x="96" y="18"/>
                          <a:pt x="98" y="21"/>
                          <a:pt x="98" y="24"/>
                        </a:cubicBezTo>
                        <a:cubicBezTo>
                          <a:pt x="98" y="24"/>
                          <a:pt x="98" y="25"/>
                          <a:pt x="98" y="25"/>
                        </a:cubicBezTo>
                        <a:cubicBezTo>
                          <a:pt x="98" y="25"/>
                          <a:pt x="98" y="25"/>
                          <a:pt x="98" y="25"/>
                        </a:cubicBezTo>
                        <a:cubicBezTo>
                          <a:pt x="98" y="28"/>
                          <a:pt x="96" y="29"/>
                          <a:pt x="94" y="30"/>
                        </a:cubicBezTo>
                        <a:cubicBezTo>
                          <a:pt x="94" y="30"/>
                          <a:pt x="94" y="30"/>
                          <a:pt x="94" y="30"/>
                        </a:cubicBezTo>
                        <a:cubicBezTo>
                          <a:pt x="94" y="30"/>
                          <a:pt x="94" y="30"/>
                          <a:pt x="94" y="30"/>
                        </a:cubicBezTo>
                        <a:cubicBezTo>
                          <a:pt x="93" y="31"/>
                          <a:pt x="92" y="31"/>
                          <a:pt x="91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  <p:sp>
                <p:nvSpPr>
                  <p:cNvPr id="85" name="Freeform 1661">
                    <a:extLst>
                      <a:ext uri="{FF2B5EF4-FFF2-40B4-BE49-F238E27FC236}">
                        <a16:creationId xmlns:a16="http://schemas.microsoft.com/office/drawing/2014/main" id="{100775F3-9D6F-351C-15A1-B9D47F88273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2576" y="4929189"/>
                    <a:ext cx="42863" cy="14288"/>
                  </a:xfrm>
                  <a:custGeom>
                    <a:avLst/>
                    <a:gdLst>
                      <a:gd name="T0" fmla="*/ 90 w 97"/>
                      <a:gd name="T1" fmla="*/ 31 h 31"/>
                      <a:gd name="T2" fmla="*/ 89 w 97"/>
                      <a:gd name="T3" fmla="*/ 31 h 31"/>
                      <a:gd name="T4" fmla="*/ 6 w 97"/>
                      <a:gd name="T5" fmla="*/ 15 h 31"/>
                      <a:gd name="T6" fmla="*/ 0 w 97"/>
                      <a:gd name="T7" fmla="*/ 8 h 31"/>
                      <a:gd name="T8" fmla="*/ 0 w 97"/>
                      <a:gd name="T9" fmla="*/ 7 h 31"/>
                      <a:gd name="T10" fmla="*/ 9 w 97"/>
                      <a:gd name="T11" fmla="*/ 1 h 31"/>
                      <a:gd name="T12" fmla="*/ 91 w 97"/>
                      <a:gd name="T13" fmla="*/ 17 h 31"/>
                      <a:gd name="T14" fmla="*/ 97 w 97"/>
                      <a:gd name="T15" fmla="*/ 24 h 31"/>
                      <a:gd name="T16" fmla="*/ 97 w 97"/>
                      <a:gd name="T17" fmla="*/ 25 h 31"/>
                      <a:gd name="T18" fmla="*/ 90 w 97"/>
                      <a:gd name="T19" fmla="*/ 31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97" h="31">
                        <a:moveTo>
                          <a:pt x="90" y="31"/>
                        </a:moveTo>
                        <a:cubicBezTo>
                          <a:pt x="90" y="31"/>
                          <a:pt x="89" y="31"/>
                          <a:pt x="89" y="31"/>
                        </a:cubicBezTo>
                        <a:cubicBezTo>
                          <a:pt x="6" y="15"/>
                          <a:pt x="6" y="15"/>
                          <a:pt x="6" y="15"/>
                        </a:cubicBezTo>
                        <a:cubicBezTo>
                          <a:pt x="3" y="15"/>
                          <a:pt x="0" y="12"/>
                          <a:pt x="0" y="8"/>
                        </a:cubicBezTo>
                        <a:cubicBezTo>
                          <a:pt x="0" y="8"/>
                          <a:pt x="0" y="7"/>
                          <a:pt x="0" y="7"/>
                        </a:cubicBezTo>
                        <a:cubicBezTo>
                          <a:pt x="1" y="3"/>
                          <a:pt x="5" y="0"/>
                          <a:pt x="9" y="1"/>
                        </a:cubicBezTo>
                        <a:cubicBezTo>
                          <a:pt x="91" y="17"/>
                          <a:pt x="91" y="17"/>
                          <a:pt x="91" y="17"/>
                        </a:cubicBezTo>
                        <a:cubicBezTo>
                          <a:pt x="95" y="17"/>
                          <a:pt x="97" y="20"/>
                          <a:pt x="97" y="24"/>
                        </a:cubicBezTo>
                        <a:cubicBezTo>
                          <a:pt x="97" y="24"/>
                          <a:pt x="97" y="25"/>
                          <a:pt x="97" y="25"/>
                        </a:cubicBezTo>
                        <a:cubicBezTo>
                          <a:pt x="97" y="29"/>
                          <a:pt x="93" y="31"/>
                          <a:pt x="90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  <p:sp>
                <p:nvSpPr>
                  <p:cNvPr id="86" name="Freeform 1662">
                    <a:extLst>
                      <a:ext uri="{FF2B5EF4-FFF2-40B4-BE49-F238E27FC236}">
                        <a16:creationId xmlns:a16="http://schemas.microsoft.com/office/drawing/2014/main" id="{8699ACD2-72E1-0306-FFFB-8E97BC74A94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73063" y="4919664"/>
                    <a:ext cx="44450" cy="14288"/>
                  </a:xfrm>
                  <a:custGeom>
                    <a:avLst/>
                    <a:gdLst>
                      <a:gd name="T0" fmla="*/ 8 w 100"/>
                      <a:gd name="T1" fmla="*/ 31 h 31"/>
                      <a:gd name="T2" fmla="*/ 1 w 100"/>
                      <a:gd name="T3" fmla="*/ 25 h 31"/>
                      <a:gd name="T4" fmla="*/ 7 w 100"/>
                      <a:gd name="T5" fmla="*/ 17 h 31"/>
                      <a:gd name="T6" fmla="*/ 91 w 100"/>
                      <a:gd name="T7" fmla="*/ 1 h 31"/>
                      <a:gd name="T8" fmla="*/ 99 w 100"/>
                      <a:gd name="T9" fmla="*/ 7 h 31"/>
                      <a:gd name="T10" fmla="*/ 99 w 100"/>
                      <a:gd name="T11" fmla="*/ 8 h 31"/>
                      <a:gd name="T12" fmla="*/ 94 w 100"/>
                      <a:gd name="T13" fmla="*/ 15 h 31"/>
                      <a:gd name="T14" fmla="*/ 9 w 100"/>
                      <a:gd name="T15" fmla="*/ 31 h 31"/>
                      <a:gd name="T16" fmla="*/ 8 w 100"/>
                      <a:gd name="T17" fmla="*/ 31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00" h="31">
                        <a:moveTo>
                          <a:pt x="8" y="31"/>
                        </a:moveTo>
                        <a:cubicBezTo>
                          <a:pt x="5" y="31"/>
                          <a:pt x="1" y="29"/>
                          <a:pt x="1" y="25"/>
                        </a:cubicBezTo>
                        <a:cubicBezTo>
                          <a:pt x="0" y="21"/>
                          <a:pt x="3" y="17"/>
                          <a:pt x="7" y="17"/>
                        </a:cubicBezTo>
                        <a:cubicBezTo>
                          <a:pt x="91" y="1"/>
                          <a:pt x="91" y="1"/>
                          <a:pt x="91" y="1"/>
                        </a:cubicBezTo>
                        <a:cubicBezTo>
                          <a:pt x="95" y="0"/>
                          <a:pt x="99" y="3"/>
                          <a:pt x="99" y="7"/>
                        </a:cubicBezTo>
                        <a:cubicBezTo>
                          <a:pt x="99" y="7"/>
                          <a:pt x="100" y="8"/>
                          <a:pt x="99" y="8"/>
                        </a:cubicBezTo>
                        <a:cubicBezTo>
                          <a:pt x="99" y="12"/>
                          <a:pt x="97" y="15"/>
                          <a:pt x="94" y="15"/>
                        </a:cubicBezTo>
                        <a:cubicBezTo>
                          <a:pt x="9" y="31"/>
                          <a:pt x="9" y="31"/>
                          <a:pt x="9" y="31"/>
                        </a:cubicBezTo>
                        <a:cubicBezTo>
                          <a:pt x="9" y="31"/>
                          <a:pt x="8" y="31"/>
                          <a:pt x="8" y="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  <p:sp>
                <p:nvSpPr>
                  <p:cNvPr id="87" name="Freeform 1663">
                    <a:extLst>
                      <a:ext uri="{FF2B5EF4-FFF2-40B4-BE49-F238E27FC236}">
                        <a16:creationId xmlns:a16="http://schemas.microsoft.com/office/drawing/2014/main" id="{D9BA8644-7311-A038-7865-7EA5C3BF4091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65113" y="4913314"/>
                    <a:ext cx="25400" cy="39688"/>
                  </a:xfrm>
                  <a:custGeom>
                    <a:avLst/>
                    <a:gdLst>
                      <a:gd name="T0" fmla="*/ 47 w 55"/>
                      <a:gd name="T1" fmla="*/ 92 h 92"/>
                      <a:gd name="T2" fmla="*/ 7 w 55"/>
                      <a:gd name="T3" fmla="*/ 92 h 92"/>
                      <a:gd name="T4" fmla="*/ 0 w 55"/>
                      <a:gd name="T5" fmla="*/ 85 h 92"/>
                      <a:gd name="T6" fmla="*/ 0 w 55"/>
                      <a:gd name="T7" fmla="*/ 8 h 92"/>
                      <a:gd name="T8" fmla="*/ 7 w 55"/>
                      <a:gd name="T9" fmla="*/ 0 h 92"/>
                      <a:gd name="T10" fmla="*/ 47 w 55"/>
                      <a:gd name="T11" fmla="*/ 0 h 92"/>
                      <a:gd name="T12" fmla="*/ 55 w 55"/>
                      <a:gd name="T13" fmla="*/ 8 h 92"/>
                      <a:gd name="T14" fmla="*/ 55 w 55"/>
                      <a:gd name="T15" fmla="*/ 85 h 92"/>
                      <a:gd name="T16" fmla="*/ 47 w 55"/>
                      <a:gd name="T17" fmla="*/ 92 h 92"/>
                      <a:gd name="T18" fmla="*/ 14 w 55"/>
                      <a:gd name="T19" fmla="*/ 78 h 92"/>
                      <a:gd name="T20" fmla="*/ 40 w 55"/>
                      <a:gd name="T21" fmla="*/ 78 h 92"/>
                      <a:gd name="T22" fmla="*/ 40 w 55"/>
                      <a:gd name="T23" fmla="*/ 15 h 92"/>
                      <a:gd name="T24" fmla="*/ 14 w 55"/>
                      <a:gd name="T25" fmla="*/ 15 h 92"/>
                      <a:gd name="T26" fmla="*/ 14 w 55"/>
                      <a:gd name="T27" fmla="*/ 78 h 9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55" h="92">
                        <a:moveTo>
                          <a:pt x="47" y="92"/>
                        </a:moveTo>
                        <a:cubicBezTo>
                          <a:pt x="7" y="92"/>
                          <a:pt x="7" y="92"/>
                          <a:pt x="7" y="92"/>
                        </a:cubicBezTo>
                        <a:cubicBezTo>
                          <a:pt x="3" y="92"/>
                          <a:pt x="0" y="89"/>
                          <a:pt x="0" y="85"/>
                        </a:cubicBez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0" y="4"/>
                          <a:pt x="3" y="0"/>
                          <a:pt x="7" y="0"/>
                        </a:cubicBezTo>
                        <a:cubicBezTo>
                          <a:pt x="47" y="0"/>
                          <a:pt x="47" y="0"/>
                          <a:pt x="47" y="0"/>
                        </a:cubicBezTo>
                        <a:cubicBezTo>
                          <a:pt x="51" y="0"/>
                          <a:pt x="55" y="4"/>
                          <a:pt x="55" y="8"/>
                        </a:cubicBezTo>
                        <a:cubicBezTo>
                          <a:pt x="55" y="85"/>
                          <a:pt x="55" y="85"/>
                          <a:pt x="55" y="85"/>
                        </a:cubicBezTo>
                        <a:cubicBezTo>
                          <a:pt x="55" y="89"/>
                          <a:pt x="51" y="92"/>
                          <a:pt x="47" y="92"/>
                        </a:cubicBezTo>
                        <a:close/>
                        <a:moveTo>
                          <a:pt x="14" y="78"/>
                        </a:moveTo>
                        <a:cubicBezTo>
                          <a:pt x="40" y="78"/>
                          <a:pt x="40" y="78"/>
                          <a:pt x="40" y="78"/>
                        </a:cubicBezTo>
                        <a:cubicBezTo>
                          <a:pt x="40" y="15"/>
                          <a:pt x="40" y="15"/>
                          <a:pt x="40" y="15"/>
                        </a:cubicBezTo>
                        <a:cubicBezTo>
                          <a:pt x="14" y="15"/>
                          <a:pt x="14" y="15"/>
                          <a:pt x="14" y="15"/>
                        </a:cubicBezTo>
                        <a:lnTo>
                          <a:pt x="14" y="78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</p:grpSp>
            <p:grpSp>
              <p:nvGrpSpPr>
                <p:cNvPr id="50" name="Shape0_20210625_150723">
                  <a:extLst>
                    <a:ext uri="{FF2B5EF4-FFF2-40B4-BE49-F238E27FC236}">
                      <a16:creationId xmlns:a16="http://schemas.microsoft.com/office/drawing/2014/main" id="{2C183C99-B26E-0A9D-B62B-8C03057E6B2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074617" y="4150897"/>
                  <a:ext cx="367129" cy="364073"/>
                  <a:chOff x="625475" y="4483101"/>
                  <a:chExt cx="190500" cy="188913"/>
                </a:xfrm>
                <a:solidFill>
                  <a:schemeClr val="accent2"/>
                </a:solidFill>
              </p:grpSpPr>
              <p:sp>
                <p:nvSpPr>
                  <p:cNvPr id="78" name="Freeform 44">
                    <a:extLst>
                      <a:ext uri="{FF2B5EF4-FFF2-40B4-BE49-F238E27FC236}">
                        <a16:creationId xmlns:a16="http://schemas.microsoft.com/office/drawing/2014/main" id="{6A21E874-5E2F-E8E9-2CC1-AB97D7FF1221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69925" y="4527551"/>
                    <a:ext cx="100013" cy="100013"/>
                  </a:xfrm>
                  <a:custGeom>
                    <a:avLst/>
                    <a:gdLst>
                      <a:gd name="T0" fmla="*/ 114 w 228"/>
                      <a:gd name="T1" fmla="*/ 228 h 228"/>
                      <a:gd name="T2" fmla="*/ 0 w 228"/>
                      <a:gd name="T3" fmla="*/ 114 h 228"/>
                      <a:gd name="T4" fmla="*/ 114 w 228"/>
                      <a:gd name="T5" fmla="*/ 0 h 228"/>
                      <a:gd name="T6" fmla="*/ 228 w 228"/>
                      <a:gd name="T7" fmla="*/ 114 h 228"/>
                      <a:gd name="T8" fmla="*/ 114 w 228"/>
                      <a:gd name="T9" fmla="*/ 228 h 228"/>
                      <a:gd name="T10" fmla="*/ 114 w 228"/>
                      <a:gd name="T11" fmla="*/ 12 h 228"/>
                      <a:gd name="T12" fmla="*/ 12 w 228"/>
                      <a:gd name="T13" fmla="*/ 114 h 228"/>
                      <a:gd name="T14" fmla="*/ 114 w 228"/>
                      <a:gd name="T15" fmla="*/ 216 h 228"/>
                      <a:gd name="T16" fmla="*/ 216 w 228"/>
                      <a:gd name="T17" fmla="*/ 114 h 228"/>
                      <a:gd name="T18" fmla="*/ 114 w 228"/>
                      <a:gd name="T19" fmla="*/ 12 h 2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28" h="228">
                        <a:moveTo>
                          <a:pt x="114" y="228"/>
                        </a:moveTo>
                        <a:cubicBezTo>
                          <a:pt x="51" y="228"/>
                          <a:pt x="0" y="177"/>
                          <a:pt x="0" y="114"/>
                        </a:cubicBezTo>
                        <a:cubicBezTo>
                          <a:pt x="0" y="51"/>
                          <a:pt x="51" y="0"/>
                          <a:pt x="114" y="0"/>
                        </a:cubicBezTo>
                        <a:cubicBezTo>
                          <a:pt x="177" y="0"/>
                          <a:pt x="228" y="51"/>
                          <a:pt x="228" y="114"/>
                        </a:cubicBezTo>
                        <a:cubicBezTo>
                          <a:pt x="228" y="177"/>
                          <a:pt x="177" y="228"/>
                          <a:pt x="114" y="228"/>
                        </a:cubicBezTo>
                        <a:close/>
                        <a:moveTo>
                          <a:pt x="114" y="12"/>
                        </a:moveTo>
                        <a:cubicBezTo>
                          <a:pt x="58" y="12"/>
                          <a:pt x="12" y="58"/>
                          <a:pt x="12" y="114"/>
                        </a:cubicBezTo>
                        <a:cubicBezTo>
                          <a:pt x="12" y="170"/>
                          <a:pt x="58" y="216"/>
                          <a:pt x="114" y="216"/>
                        </a:cubicBezTo>
                        <a:cubicBezTo>
                          <a:pt x="170" y="216"/>
                          <a:pt x="216" y="170"/>
                          <a:pt x="216" y="114"/>
                        </a:cubicBezTo>
                        <a:cubicBezTo>
                          <a:pt x="216" y="58"/>
                          <a:pt x="170" y="12"/>
                          <a:pt x="114" y="1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  <p:sp>
                <p:nvSpPr>
                  <p:cNvPr id="79" name="Freeform 45">
                    <a:extLst>
                      <a:ext uri="{FF2B5EF4-FFF2-40B4-BE49-F238E27FC236}">
                        <a16:creationId xmlns:a16="http://schemas.microsoft.com/office/drawing/2014/main" id="{EEE24F4A-3273-160C-71AF-766A4AE4501B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25475" y="4483101"/>
                    <a:ext cx="190500" cy="188913"/>
                  </a:xfrm>
                  <a:custGeom>
                    <a:avLst/>
                    <a:gdLst>
                      <a:gd name="T0" fmla="*/ 204 w 432"/>
                      <a:gd name="T1" fmla="*/ 432 h 432"/>
                      <a:gd name="T2" fmla="*/ 172 w 432"/>
                      <a:gd name="T3" fmla="*/ 379 h 432"/>
                      <a:gd name="T4" fmla="*/ 116 w 432"/>
                      <a:gd name="T5" fmla="*/ 378 h 432"/>
                      <a:gd name="T6" fmla="*/ 54 w 432"/>
                      <a:gd name="T7" fmla="*/ 360 h 432"/>
                      <a:gd name="T8" fmla="*/ 54 w 432"/>
                      <a:gd name="T9" fmla="*/ 316 h 432"/>
                      <a:gd name="T10" fmla="*/ 53 w 432"/>
                      <a:gd name="T11" fmla="*/ 260 h 432"/>
                      <a:gd name="T12" fmla="*/ 0 w 432"/>
                      <a:gd name="T13" fmla="*/ 228 h 432"/>
                      <a:gd name="T14" fmla="*/ 31 w 432"/>
                      <a:gd name="T15" fmla="*/ 172 h 432"/>
                      <a:gd name="T16" fmla="*/ 70 w 432"/>
                      <a:gd name="T17" fmla="*/ 132 h 432"/>
                      <a:gd name="T18" fmla="*/ 45 w 432"/>
                      <a:gd name="T19" fmla="*/ 94 h 432"/>
                      <a:gd name="T20" fmla="*/ 72 w 432"/>
                      <a:gd name="T21" fmla="*/ 54 h 432"/>
                      <a:gd name="T22" fmla="*/ 132 w 432"/>
                      <a:gd name="T23" fmla="*/ 70 h 432"/>
                      <a:gd name="T24" fmla="*/ 172 w 432"/>
                      <a:gd name="T25" fmla="*/ 31 h 432"/>
                      <a:gd name="T26" fmla="*/ 229 w 432"/>
                      <a:gd name="T27" fmla="*/ 0 h 432"/>
                      <a:gd name="T28" fmla="*/ 260 w 432"/>
                      <a:gd name="T29" fmla="*/ 53 h 432"/>
                      <a:gd name="T30" fmla="*/ 316 w 432"/>
                      <a:gd name="T31" fmla="*/ 54 h 432"/>
                      <a:gd name="T32" fmla="*/ 378 w 432"/>
                      <a:gd name="T33" fmla="*/ 72 h 432"/>
                      <a:gd name="T34" fmla="*/ 378 w 432"/>
                      <a:gd name="T35" fmla="*/ 116 h 432"/>
                      <a:gd name="T36" fmla="*/ 379 w 432"/>
                      <a:gd name="T37" fmla="*/ 172 h 432"/>
                      <a:gd name="T38" fmla="*/ 432 w 432"/>
                      <a:gd name="T39" fmla="*/ 203 h 432"/>
                      <a:gd name="T40" fmla="*/ 401 w 432"/>
                      <a:gd name="T41" fmla="*/ 260 h 432"/>
                      <a:gd name="T42" fmla="*/ 362 w 432"/>
                      <a:gd name="T43" fmla="*/ 300 h 432"/>
                      <a:gd name="T44" fmla="*/ 387 w 432"/>
                      <a:gd name="T45" fmla="*/ 338 h 432"/>
                      <a:gd name="T46" fmla="*/ 360 w 432"/>
                      <a:gd name="T47" fmla="*/ 378 h 432"/>
                      <a:gd name="T48" fmla="*/ 300 w 432"/>
                      <a:gd name="T49" fmla="*/ 362 h 432"/>
                      <a:gd name="T50" fmla="*/ 260 w 432"/>
                      <a:gd name="T51" fmla="*/ 401 h 432"/>
                      <a:gd name="T52" fmla="*/ 131 w 432"/>
                      <a:gd name="T53" fmla="*/ 348 h 432"/>
                      <a:gd name="T54" fmla="*/ 180 w 432"/>
                      <a:gd name="T55" fmla="*/ 368 h 432"/>
                      <a:gd name="T56" fmla="*/ 185 w 432"/>
                      <a:gd name="T57" fmla="*/ 401 h 432"/>
                      <a:gd name="T58" fmla="*/ 229 w 432"/>
                      <a:gd name="T59" fmla="*/ 420 h 432"/>
                      <a:gd name="T60" fmla="*/ 248 w 432"/>
                      <a:gd name="T61" fmla="*/ 374 h 432"/>
                      <a:gd name="T62" fmla="*/ 298 w 432"/>
                      <a:gd name="T63" fmla="*/ 349 h 432"/>
                      <a:gd name="T64" fmla="*/ 325 w 432"/>
                      <a:gd name="T65" fmla="*/ 369 h 432"/>
                      <a:gd name="T66" fmla="*/ 369 w 432"/>
                      <a:gd name="T67" fmla="*/ 351 h 432"/>
                      <a:gd name="T68" fmla="*/ 351 w 432"/>
                      <a:gd name="T69" fmla="*/ 306 h 432"/>
                      <a:gd name="T70" fmla="*/ 349 w 432"/>
                      <a:gd name="T71" fmla="*/ 298 h 432"/>
                      <a:gd name="T72" fmla="*/ 374 w 432"/>
                      <a:gd name="T73" fmla="*/ 247 h 432"/>
                      <a:gd name="T74" fmla="*/ 420 w 432"/>
                      <a:gd name="T75" fmla="*/ 228 h 432"/>
                      <a:gd name="T76" fmla="*/ 401 w 432"/>
                      <a:gd name="T77" fmla="*/ 184 h 432"/>
                      <a:gd name="T78" fmla="*/ 368 w 432"/>
                      <a:gd name="T79" fmla="*/ 180 h 432"/>
                      <a:gd name="T80" fmla="*/ 350 w 432"/>
                      <a:gd name="T81" fmla="*/ 126 h 432"/>
                      <a:gd name="T82" fmla="*/ 369 w 432"/>
                      <a:gd name="T83" fmla="*/ 80 h 432"/>
                      <a:gd name="T84" fmla="*/ 325 w 432"/>
                      <a:gd name="T85" fmla="*/ 63 h 432"/>
                      <a:gd name="T86" fmla="*/ 298 w 432"/>
                      <a:gd name="T87" fmla="*/ 83 h 432"/>
                      <a:gd name="T88" fmla="*/ 248 w 432"/>
                      <a:gd name="T89" fmla="*/ 58 h 432"/>
                      <a:gd name="T90" fmla="*/ 229 w 432"/>
                      <a:gd name="T91" fmla="*/ 12 h 432"/>
                      <a:gd name="T92" fmla="*/ 185 w 432"/>
                      <a:gd name="T93" fmla="*/ 31 h 432"/>
                      <a:gd name="T94" fmla="*/ 180 w 432"/>
                      <a:gd name="T95" fmla="*/ 64 h 432"/>
                      <a:gd name="T96" fmla="*/ 127 w 432"/>
                      <a:gd name="T97" fmla="*/ 82 h 432"/>
                      <a:gd name="T98" fmla="*/ 81 w 432"/>
                      <a:gd name="T99" fmla="*/ 63 h 432"/>
                      <a:gd name="T100" fmla="*/ 57 w 432"/>
                      <a:gd name="T101" fmla="*/ 94 h 432"/>
                      <a:gd name="T102" fmla="*/ 82 w 432"/>
                      <a:gd name="T103" fmla="*/ 126 h 432"/>
                      <a:gd name="T104" fmla="*/ 64 w 432"/>
                      <a:gd name="T105" fmla="*/ 180 h 432"/>
                      <a:gd name="T106" fmla="*/ 31 w 432"/>
                      <a:gd name="T107" fmla="*/ 184 h 432"/>
                      <a:gd name="T108" fmla="*/ 12 w 432"/>
                      <a:gd name="T109" fmla="*/ 228 h 432"/>
                      <a:gd name="T110" fmla="*/ 58 w 432"/>
                      <a:gd name="T111" fmla="*/ 247 h 432"/>
                      <a:gd name="T112" fmla="*/ 83 w 432"/>
                      <a:gd name="T113" fmla="*/ 298 h 432"/>
                      <a:gd name="T114" fmla="*/ 82 w 432"/>
                      <a:gd name="T115" fmla="*/ 306 h 432"/>
                      <a:gd name="T116" fmla="*/ 57 w 432"/>
                      <a:gd name="T117" fmla="*/ 338 h 432"/>
                      <a:gd name="T118" fmla="*/ 81 w 432"/>
                      <a:gd name="T119" fmla="*/ 369 h 432"/>
                      <a:gd name="T120" fmla="*/ 126 w 432"/>
                      <a:gd name="T121" fmla="*/ 350 h 4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</a:cxnLst>
                    <a:rect l="0" t="0" r="r" b="b"/>
                    <a:pathLst>
                      <a:path w="432" h="432">
                        <a:moveTo>
                          <a:pt x="229" y="432"/>
                        </a:moveTo>
                        <a:cubicBezTo>
                          <a:pt x="204" y="432"/>
                          <a:pt x="204" y="432"/>
                          <a:pt x="204" y="432"/>
                        </a:cubicBezTo>
                        <a:cubicBezTo>
                          <a:pt x="186" y="432"/>
                          <a:pt x="172" y="418"/>
                          <a:pt x="172" y="401"/>
                        </a:cubicBezTo>
                        <a:cubicBezTo>
                          <a:pt x="172" y="379"/>
                          <a:pt x="172" y="379"/>
                          <a:pt x="172" y="379"/>
                        </a:cubicBezTo>
                        <a:cubicBezTo>
                          <a:pt x="158" y="375"/>
                          <a:pt x="145" y="369"/>
                          <a:pt x="132" y="362"/>
                        </a:cubicBezTo>
                        <a:cubicBezTo>
                          <a:pt x="116" y="378"/>
                          <a:pt x="116" y="378"/>
                          <a:pt x="116" y="378"/>
                        </a:cubicBezTo>
                        <a:cubicBezTo>
                          <a:pt x="104" y="390"/>
                          <a:pt x="84" y="390"/>
                          <a:pt x="72" y="378"/>
                        </a:cubicBezTo>
                        <a:cubicBezTo>
                          <a:pt x="54" y="360"/>
                          <a:pt x="54" y="360"/>
                          <a:pt x="54" y="360"/>
                        </a:cubicBezTo>
                        <a:cubicBezTo>
                          <a:pt x="48" y="354"/>
                          <a:pt x="45" y="346"/>
                          <a:pt x="45" y="338"/>
                        </a:cubicBezTo>
                        <a:cubicBezTo>
                          <a:pt x="45" y="329"/>
                          <a:pt x="48" y="322"/>
                          <a:pt x="54" y="316"/>
                        </a:cubicBezTo>
                        <a:cubicBezTo>
                          <a:pt x="70" y="300"/>
                          <a:pt x="70" y="300"/>
                          <a:pt x="70" y="300"/>
                        </a:cubicBezTo>
                        <a:cubicBezTo>
                          <a:pt x="63" y="287"/>
                          <a:pt x="57" y="274"/>
                          <a:pt x="53" y="260"/>
                        </a:cubicBezTo>
                        <a:cubicBezTo>
                          <a:pt x="31" y="260"/>
                          <a:pt x="31" y="260"/>
                          <a:pt x="31" y="260"/>
                        </a:cubicBezTo>
                        <a:cubicBezTo>
                          <a:pt x="14" y="260"/>
                          <a:pt x="0" y="246"/>
                          <a:pt x="0" y="228"/>
                        </a:cubicBezTo>
                        <a:cubicBezTo>
                          <a:pt x="0" y="203"/>
                          <a:pt x="0" y="203"/>
                          <a:pt x="0" y="203"/>
                        </a:cubicBezTo>
                        <a:cubicBezTo>
                          <a:pt x="0" y="186"/>
                          <a:pt x="14" y="172"/>
                          <a:pt x="31" y="172"/>
                        </a:cubicBezTo>
                        <a:cubicBezTo>
                          <a:pt x="53" y="172"/>
                          <a:pt x="53" y="172"/>
                          <a:pt x="53" y="172"/>
                        </a:cubicBezTo>
                        <a:cubicBezTo>
                          <a:pt x="57" y="158"/>
                          <a:pt x="63" y="144"/>
                          <a:pt x="70" y="132"/>
                        </a:cubicBezTo>
                        <a:cubicBezTo>
                          <a:pt x="54" y="116"/>
                          <a:pt x="54" y="116"/>
                          <a:pt x="54" y="116"/>
                        </a:cubicBezTo>
                        <a:cubicBezTo>
                          <a:pt x="48" y="110"/>
                          <a:pt x="45" y="102"/>
                          <a:pt x="45" y="94"/>
                        </a:cubicBezTo>
                        <a:cubicBezTo>
                          <a:pt x="45" y="85"/>
                          <a:pt x="48" y="78"/>
                          <a:pt x="54" y="72"/>
                        </a:cubicBezTo>
                        <a:cubicBezTo>
                          <a:pt x="72" y="54"/>
                          <a:pt x="72" y="54"/>
                          <a:pt x="72" y="54"/>
                        </a:cubicBezTo>
                        <a:cubicBezTo>
                          <a:pt x="84" y="42"/>
                          <a:pt x="104" y="42"/>
                          <a:pt x="116" y="54"/>
                        </a:cubicBezTo>
                        <a:cubicBezTo>
                          <a:pt x="132" y="70"/>
                          <a:pt x="132" y="70"/>
                          <a:pt x="132" y="70"/>
                        </a:cubicBezTo>
                        <a:cubicBezTo>
                          <a:pt x="145" y="62"/>
                          <a:pt x="158" y="57"/>
                          <a:pt x="172" y="53"/>
                        </a:cubicBezTo>
                        <a:cubicBezTo>
                          <a:pt x="172" y="31"/>
                          <a:pt x="172" y="31"/>
                          <a:pt x="172" y="31"/>
                        </a:cubicBezTo>
                        <a:cubicBezTo>
                          <a:pt x="172" y="14"/>
                          <a:pt x="186" y="0"/>
                          <a:pt x="204" y="0"/>
                        </a:cubicBezTo>
                        <a:cubicBezTo>
                          <a:pt x="229" y="0"/>
                          <a:pt x="229" y="0"/>
                          <a:pt x="229" y="0"/>
                        </a:cubicBezTo>
                        <a:cubicBezTo>
                          <a:pt x="246" y="0"/>
                          <a:pt x="260" y="14"/>
                          <a:pt x="260" y="31"/>
                        </a:cubicBezTo>
                        <a:cubicBezTo>
                          <a:pt x="260" y="53"/>
                          <a:pt x="260" y="53"/>
                          <a:pt x="260" y="53"/>
                        </a:cubicBezTo>
                        <a:cubicBezTo>
                          <a:pt x="274" y="57"/>
                          <a:pt x="288" y="62"/>
                          <a:pt x="300" y="70"/>
                        </a:cubicBezTo>
                        <a:cubicBezTo>
                          <a:pt x="316" y="54"/>
                          <a:pt x="316" y="54"/>
                          <a:pt x="316" y="54"/>
                        </a:cubicBezTo>
                        <a:cubicBezTo>
                          <a:pt x="328" y="42"/>
                          <a:pt x="348" y="42"/>
                          <a:pt x="360" y="54"/>
                        </a:cubicBezTo>
                        <a:cubicBezTo>
                          <a:pt x="378" y="72"/>
                          <a:pt x="378" y="72"/>
                          <a:pt x="378" y="72"/>
                        </a:cubicBezTo>
                        <a:cubicBezTo>
                          <a:pt x="384" y="78"/>
                          <a:pt x="387" y="85"/>
                          <a:pt x="387" y="94"/>
                        </a:cubicBezTo>
                        <a:cubicBezTo>
                          <a:pt x="387" y="102"/>
                          <a:pt x="384" y="110"/>
                          <a:pt x="378" y="116"/>
                        </a:cubicBezTo>
                        <a:cubicBezTo>
                          <a:pt x="362" y="132"/>
                          <a:pt x="362" y="132"/>
                          <a:pt x="362" y="132"/>
                        </a:cubicBezTo>
                        <a:cubicBezTo>
                          <a:pt x="370" y="144"/>
                          <a:pt x="375" y="158"/>
                          <a:pt x="379" y="172"/>
                        </a:cubicBezTo>
                        <a:cubicBezTo>
                          <a:pt x="401" y="172"/>
                          <a:pt x="401" y="172"/>
                          <a:pt x="401" y="172"/>
                        </a:cubicBezTo>
                        <a:cubicBezTo>
                          <a:pt x="418" y="172"/>
                          <a:pt x="432" y="186"/>
                          <a:pt x="432" y="203"/>
                        </a:cubicBezTo>
                        <a:cubicBezTo>
                          <a:pt x="432" y="228"/>
                          <a:pt x="432" y="228"/>
                          <a:pt x="432" y="228"/>
                        </a:cubicBezTo>
                        <a:cubicBezTo>
                          <a:pt x="432" y="246"/>
                          <a:pt x="418" y="260"/>
                          <a:pt x="401" y="260"/>
                        </a:cubicBezTo>
                        <a:cubicBezTo>
                          <a:pt x="379" y="260"/>
                          <a:pt x="379" y="260"/>
                          <a:pt x="379" y="260"/>
                        </a:cubicBezTo>
                        <a:cubicBezTo>
                          <a:pt x="375" y="274"/>
                          <a:pt x="370" y="287"/>
                          <a:pt x="362" y="300"/>
                        </a:cubicBezTo>
                        <a:cubicBezTo>
                          <a:pt x="378" y="316"/>
                          <a:pt x="378" y="316"/>
                          <a:pt x="378" y="316"/>
                        </a:cubicBezTo>
                        <a:cubicBezTo>
                          <a:pt x="384" y="322"/>
                          <a:pt x="387" y="329"/>
                          <a:pt x="387" y="338"/>
                        </a:cubicBezTo>
                        <a:cubicBezTo>
                          <a:pt x="387" y="346"/>
                          <a:pt x="384" y="354"/>
                          <a:pt x="378" y="360"/>
                        </a:cubicBezTo>
                        <a:cubicBezTo>
                          <a:pt x="360" y="378"/>
                          <a:pt x="360" y="378"/>
                          <a:pt x="360" y="378"/>
                        </a:cubicBezTo>
                        <a:cubicBezTo>
                          <a:pt x="348" y="390"/>
                          <a:pt x="328" y="390"/>
                          <a:pt x="316" y="378"/>
                        </a:cubicBezTo>
                        <a:cubicBezTo>
                          <a:pt x="300" y="362"/>
                          <a:pt x="300" y="362"/>
                          <a:pt x="300" y="362"/>
                        </a:cubicBezTo>
                        <a:cubicBezTo>
                          <a:pt x="288" y="369"/>
                          <a:pt x="274" y="375"/>
                          <a:pt x="260" y="379"/>
                        </a:cubicBezTo>
                        <a:cubicBezTo>
                          <a:pt x="260" y="401"/>
                          <a:pt x="260" y="401"/>
                          <a:pt x="260" y="401"/>
                        </a:cubicBezTo>
                        <a:cubicBezTo>
                          <a:pt x="260" y="418"/>
                          <a:pt x="246" y="432"/>
                          <a:pt x="229" y="432"/>
                        </a:cubicBezTo>
                        <a:close/>
                        <a:moveTo>
                          <a:pt x="131" y="348"/>
                        </a:moveTo>
                        <a:cubicBezTo>
                          <a:pt x="132" y="348"/>
                          <a:pt x="133" y="349"/>
                          <a:pt x="134" y="349"/>
                        </a:cubicBezTo>
                        <a:cubicBezTo>
                          <a:pt x="148" y="358"/>
                          <a:pt x="164" y="364"/>
                          <a:pt x="180" y="368"/>
                        </a:cubicBezTo>
                        <a:cubicBezTo>
                          <a:pt x="183" y="369"/>
                          <a:pt x="185" y="371"/>
                          <a:pt x="185" y="374"/>
                        </a:cubicBezTo>
                        <a:cubicBezTo>
                          <a:pt x="185" y="401"/>
                          <a:pt x="185" y="401"/>
                          <a:pt x="185" y="401"/>
                        </a:cubicBezTo>
                        <a:cubicBezTo>
                          <a:pt x="185" y="411"/>
                          <a:pt x="193" y="420"/>
                          <a:pt x="204" y="420"/>
                        </a:cubicBezTo>
                        <a:cubicBezTo>
                          <a:pt x="229" y="420"/>
                          <a:pt x="229" y="420"/>
                          <a:pt x="229" y="420"/>
                        </a:cubicBezTo>
                        <a:cubicBezTo>
                          <a:pt x="239" y="420"/>
                          <a:pt x="248" y="411"/>
                          <a:pt x="248" y="401"/>
                        </a:cubicBezTo>
                        <a:cubicBezTo>
                          <a:pt x="248" y="374"/>
                          <a:pt x="248" y="374"/>
                          <a:pt x="248" y="374"/>
                        </a:cubicBezTo>
                        <a:cubicBezTo>
                          <a:pt x="248" y="371"/>
                          <a:pt x="250" y="369"/>
                          <a:pt x="252" y="368"/>
                        </a:cubicBezTo>
                        <a:cubicBezTo>
                          <a:pt x="269" y="364"/>
                          <a:pt x="284" y="358"/>
                          <a:pt x="298" y="349"/>
                        </a:cubicBezTo>
                        <a:cubicBezTo>
                          <a:pt x="301" y="348"/>
                          <a:pt x="304" y="348"/>
                          <a:pt x="306" y="350"/>
                        </a:cubicBezTo>
                        <a:cubicBezTo>
                          <a:pt x="325" y="369"/>
                          <a:pt x="325" y="369"/>
                          <a:pt x="325" y="369"/>
                        </a:cubicBezTo>
                        <a:cubicBezTo>
                          <a:pt x="332" y="376"/>
                          <a:pt x="344" y="376"/>
                          <a:pt x="352" y="369"/>
                        </a:cubicBezTo>
                        <a:cubicBezTo>
                          <a:pt x="369" y="351"/>
                          <a:pt x="369" y="351"/>
                          <a:pt x="369" y="351"/>
                        </a:cubicBezTo>
                        <a:cubicBezTo>
                          <a:pt x="377" y="344"/>
                          <a:pt x="377" y="332"/>
                          <a:pt x="369" y="324"/>
                        </a:cubicBezTo>
                        <a:cubicBezTo>
                          <a:pt x="351" y="306"/>
                          <a:pt x="351" y="306"/>
                          <a:pt x="351" y="306"/>
                        </a:cubicBezTo>
                        <a:cubicBezTo>
                          <a:pt x="349" y="304"/>
                          <a:pt x="348" y="302"/>
                          <a:pt x="349" y="299"/>
                        </a:cubicBezTo>
                        <a:cubicBezTo>
                          <a:pt x="349" y="299"/>
                          <a:pt x="349" y="298"/>
                          <a:pt x="349" y="298"/>
                        </a:cubicBezTo>
                        <a:cubicBezTo>
                          <a:pt x="358" y="284"/>
                          <a:pt x="364" y="268"/>
                          <a:pt x="368" y="252"/>
                        </a:cubicBezTo>
                        <a:cubicBezTo>
                          <a:pt x="369" y="249"/>
                          <a:pt x="371" y="247"/>
                          <a:pt x="374" y="247"/>
                        </a:cubicBezTo>
                        <a:cubicBezTo>
                          <a:pt x="401" y="247"/>
                          <a:pt x="401" y="247"/>
                          <a:pt x="401" y="247"/>
                        </a:cubicBezTo>
                        <a:cubicBezTo>
                          <a:pt x="412" y="247"/>
                          <a:pt x="420" y="239"/>
                          <a:pt x="420" y="228"/>
                        </a:cubicBezTo>
                        <a:cubicBezTo>
                          <a:pt x="420" y="203"/>
                          <a:pt x="420" y="203"/>
                          <a:pt x="420" y="203"/>
                        </a:cubicBezTo>
                        <a:cubicBezTo>
                          <a:pt x="420" y="193"/>
                          <a:pt x="412" y="184"/>
                          <a:pt x="401" y="184"/>
                        </a:cubicBezTo>
                        <a:cubicBezTo>
                          <a:pt x="374" y="184"/>
                          <a:pt x="374" y="184"/>
                          <a:pt x="374" y="184"/>
                        </a:cubicBezTo>
                        <a:cubicBezTo>
                          <a:pt x="371" y="184"/>
                          <a:pt x="369" y="182"/>
                          <a:pt x="368" y="180"/>
                        </a:cubicBezTo>
                        <a:cubicBezTo>
                          <a:pt x="364" y="163"/>
                          <a:pt x="358" y="148"/>
                          <a:pt x="349" y="134"/>
                        </a:cubicBezTo>
                        <a:cubicBezTo>
                          <a:pt x="348" y="131"/>
                          <a:pt x="348" y="128"/>
                          <a:pt x="350" y="126"/>
                        </a:cubicBezTo>
                        <a:cubicBezTo>
                          <a:pt x="369" y="107"/>
                          <a:pt x="369" y="107"/>
                          <a:pt x="369" y="107"/>
                        </a:cubicBezTo>
                        <a:cubicBezTo>
                          <a:pt x="377" y="100"/>
                          <a:pt x="377" y="88"/>
                          <a:pt x="369" y="80"/>
                        </a:cubicBezTo>
                        <a:cubicBezTo>
                          <a:pt x="352" y="63"/>
                          <a:pt x="352" y="63"/>
                          <a:pt x="352" y="63"/>
                        </a:cubicBezTo>
                        <a:cubicBezTo>
                          <a:pt x="344" y="55"/>
                          <a:pt x="332" y="55"/>
                          <a:pt x="325" y="63"/>
                        </a:cubicBezTo>
                        <a:cubicBezTo>
                          <a:pt x="306" y="82"/>
                          <a:pt x="306" y="82"/>
                          <a:pt x="306" y="82"/>
                        </a:cubicBezTo>
                        <a:cubicBezTo>
                          <a:pt x="304" y="84"/>
                          <a:pt x="300" y="84"/>
                          <a:pt x="298" y="83"/>
                        </a:cubicBezTo>
                        <a:cubicBezTo>
                          <a:pt x="284" y="74"/>
                          <a:pt x="269" y="68"/>
                          <a:pt x="252" y="64"/>
                        </a:cubicBezTo>
                        <a:cubicBezTo>
                          <a:pt x="250" y="63"/>
                          <a:pt x="248" y="61"/>
                          <a:pt x="248" y="58"/>
                        </a:cubicBezTo>
                        <a:cubicBezTo>
                          <a:pt x="248" y="31"/>
                          <a:pt x="248" y="31"/>
                          <a:pt x="248" y="31"/>
                        </a:cubicBezTo>
                        <a:cubicBezTo>
                          <a:pt x="248" y="20"/>
                          <a:pt x="239" y="12"/>
                          <a:pt x="229" y="12"/>
                        </a:cubicBezTo>
                        <a:cubicBezTo>
                          <a:pt x="204" y="12"/>
                          <a:pt x="204" y="12"/>
                          <a:pt x="204" y="12"/>
                        </a:cubicBezTo>
                        <a:cubicBezTo>
                          <a:pt x="193" y="12"/>
                          <a:pt x="185" y="20"/>
                          <a:pt x="185" y="31"/>
                        </a:cubicBezTo>
                        <a:cubicBezTo>
                          <a:pt x="185" y="58"/>
                          <a:pt x="185" y="58"/>
                          <a:pt x="185" y="58"/>
                        </a:cubicBezTo>
                        <a:cubicBezTo>
                          <a:pt x="185" y="61"/>
                          <a:pt x="183" y="63"/>
                          <a:pt x="180" y="64"/>
                        </a:cubicBezTo>
                        <a:cubicBezTo>
                          <a:pt x="164" y="68"/>
                          <a:pt x="148" y="74"/>
                          <a:pt x="134" y="83"/>
                        </a:cubicBezTo>
                        <a:cubicBezTo>
                          <a:pt x="132" y="84"/>
                          <a:pt x="129" y="84"/>
                          <a:pt x="127" y="82"/>
                        </a:cubicBezTo>
                        <a:cubicBezTo>
                          <a:pt x="108" y="63"/>
                          <a:pt x="108" y="63"/>
                          <a:pt x="108" y="63"/>
                        </a:cubicBezTo>
                        <a:cubicBezTo>
                          <a:pt x="100" y="55"/>
                          <a:pt x="88" y="55"/>
                          <a:pt x="81" y="63"/>
                        </a:cubicBezTo>
                        <a:cubicBezTo>
                          <a:pt x="63" y="80"/>
                          <a:pt x="63" y="80"/>
                          <a:pt x="63" y="80"/>
                        </a:cubicBezTo>
                        <a:cubicBezTo>
                          <a:pt x="59" y="84"/>
                          <a:pt x="57" y="89"/>
                          <a:pt x="57" y="94"/>
                        </a:cubicBezTo>
                        <a:cubicBezTo>
                          <a:pt x="57" y="99"/>
                          <a:pt x="59" y="104"/>
                          <a:pt x="63" y="107"/>
                        </a:cubicBezTo>
                        <a:cubicBezTo>
                          <a:pt x="82" y="126"/>
                          <a:pt x="82" y="126"/>
                          <a:pt x="82" y="126"/>
                        </a:cubicBezTo>
                        <a:cubicBezTo>
                          <a:pt x="84" y="128"/>
                          <a:pt x="84" y="131"/>
                          <a:pt x="83" y="134"/>
                        </a:cubicBezTo>
                        <a:cubicBezTo>
                          <a:pt x="74" y="148"/>
                          <a:pt x="68" y="163"/>
                          <a:pt x="64" y="180"/>
                        </a:cubicBezTo>
                        <a:cubicBezTo>
                          <a:pt x="63" y="182"/>
                          <a:pt x="61" y="184"/>
                          <a:pt x="58" y="184"/>
                        </a:cubicBezTo>
                        <a:cubicBezTo>
                          <a:pt x="31" y="184"/>
                          <a:pt x="31" y="184"/>
                          <a:pt x="31" y="184"/>
                        </a:cubicBezTo>
                        <a:cubicBezTo>
                          <a:pt x="21" y="184"/>
                          <a:pt x="12" y="193"/>
                          <a:pt x="12" y="203"/>
                        </a:cubicBezTo>
                        <a:cubicBezTo>
                          <a:pt x="12" y="228"/>
                          <a:pt x="12" y="228"/>
                          <a:pt x="12" y="228"/>
                        </a:cubicBezTo>
                        <a:cubicBezTo>
                          <a:pt x="12" y="239"/>
                          <a:pt x="21" y="247"/>
                          <a:pt x="31" y="247"/>
                        </a:cubicBezTo>
                        <a:cubicBezTo>
                          <a:pt x="58" y="247"/>
                          <a:pt x="58" y="247"/>
                          <a:pt x="58" y="247"/>
                        </a:cubicBezTo>
                        <a:cubicBezTo>
                          <a:pt x="61" y="247"/>
                          <a:pt x="63" y="249"/>
                          <a:pt x="64" y="252"/>
                        </a:cubicBezTo>
                        <a:cubicBezTo>
                          <a:pt x="68" y="268"/>
                          <a:pt x="74" y="284"/>
                          <a:pt x="83" y="298"/>
                        </a:cubicBezTo>
                        <a:cubicBezTo>
                          <a:pt x="83" y="298"/>
                          <a:pt x="83" y="299"/>
                          <a:pt x="83" y="299"/>
                        </a:cubicBezTo>
                        <a:cubicBezTo>
                          <a:pt x="84" y="302"/>
                          <a:pt x="83" y="304"/>
                          <a:pt x="82" y="306"/>
                        </a:cubicBezTo>
                        <a:cubicBezTo>
                          <a:pt x="63" y="324"/>
                          <a:pt x="63" y="324"/>
                          <a:pt x="63" y="324"/>
                        </a:cubicBezTo>
                        <a:cubicBezTo>
                          <a:pt x="59" y="328"/>
                          <a:pt x="57" y="333"/>
                          <a:pt x="57" y="338"/>
                        </a:cubicBezTo>
                        <a:cubicBezTo>
                          <a:pt x="57" y="343"/>
                          <a:pt x="59" y="348"/>
                          <a:pt x="63" y="351"/>
                        </a:cubicBezTo>
                        <a:cubicBezTo>
                          <a:pt x="81" y="369"/>
                          <a:pt x="81" y="369"/>
                          <a:pt x="81" y="369"/>
                        </a:cubicBezTo>
                        <a:cubicBezTo>
                          <a:pt x="88" y="376"/>
                          <a:pt x="100" y="376"/>
                          <a:pt x="108" y="369"/>
                        </a:cubicBezTo>
                        <a:cubicBezTo>
                          <a:pt x="126" y="350"/>
                          <a:pt x="126" y="350"/>
                          <a:pt x="126" y="350"/>
                        </a:cubicBezTo>
                        <a:cubicBezTo>
                          <a:pt x="127" y="349"/>
                          <a:pt x="129" y="348"/>
                          <a:pt x="131" y="3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</p:grpSp>
            <p:grpSp>
              <p:nvGrpSpPr>
                <p:cNvPr id="51" name="Shape27_20200720_105846">
                  <a:extLst>
                    <a:ext uri="{FF2B5EF4-FFF2-40B4-BE49-F238E27FC236}">
                      <a16:creationId xmlns:a16="http://schemas.microsoft.com/office/drawing/2014/main" id="{D151ACB3-53E2-1623-18B5-EC3EDE3EC10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5944274" y="4811813"/>
                  <a:ext cx="205569" cy="470443"/>
                  <a:chOff x="1066800" y="3460751"/>
                  <a:chExt cx="82550" cy="188913"/>
                </a:xfrm>
                <a:solidFill>
                  <a:schemeClr val="accent3"/>
                </a:solidFill>
              </p:grpSpPr>
              <p:sp>
                <p:nvSpPr>
                  <p:cNvPr id="72" name="Freeform 930">
                    <a:extLst>
                      <a:ext uri="{FF2B5EF4-FFF2-40B4-BE49-F238E27FC236}">
                        <a16:creationId xmlns:a16="http://schemas.microsoft.com/office/drawing/2014/main" id="{267EEC17-827B-491A-A7C6-353786945E3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04900" y="3581401"/>
                    <a:ext cx="6350" cy="57150"/>
                  </a:xfrm>
                  <a:custGeom>
                    <a:avLst/>
                    <a:gdLst>
                      <a:gd name="T0" fmla="*/ 6 w 12"/>
                      <a:gd name="T1" fmla="*/ 131 h 131"/>
                      <a:gd name="T2" fmla="*/ 0 w 12"/>
                      <a:gd name="T3" fmla="*/ 125 h 131"/>
                      <a:gd name="T4" fmla="*/ 0 w 12"/>
                      <a:gd name="T5" fmla="*/ 6 h 131"/>
                      <a:gd name="T6" fmla="*/ 6 w 12"/>
                      <a:gd name="T7" fmla="*/ 0 h 131"/>
                      <a:gd name="T8" fmla="*/ 12 w 12"/>
                      <a:gd name="T9" fmla="*/ 6 h 131"/>
                      <a:gd name="T10" fmla="*/ 12 w 12"/>
                      <a:gd name="T11" fmla="*/ 125 h 131"/>
                      <a:gd name="T12" fmla="*/ 6 w 12"/>
                      <a:gd name="T13" fmla="*/ 131 h 1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2" h="131">
                        <a:moveTo>
                          <a:pt x="6" y="131"/>
                        </a:moveTo>
                        <a:cubicBezTo>
                          <a:pt x="3" y="131"/>
                          <a:pt x="0" y="128"/>
                          <a:pt x="0" y="125"/>
                        </a:cubicBezTo>
                        <a:cubicBezTo>
                          <a:pt x="0" y="6"/>
                          <a:pt x="0" y="6"/>
                          <a:pt x="0" y="6"/>
                        </a:cubicBezTo>
                        <a:cubicBezTo>
                          <a:pt x="0" y="3"/>
                          <a:pt x="3" y="0"/>
                          <a:pt x="6" y="0"/>
                        </a:cubicBezTo>
                        <a:cubicBezTo>
                          <a:pt x="9" y="0"/>
                          <a:pt x="12" y="3"/>
                          <a:pt x="12" y="6"/>
                        </a:cubicBezTo>
                        <a:cubicBezTo>
                          <a:pt x="12" y="125"/>
                          <a:pt x="12" y="125"/>
                          <a:pt x="12" y="125"/>
                        </a:cubicBezTo>
                        <a:cubicBezTo>
                          <a:pt x="12" y="128"/>
                          <a:pt x="9" y="131"/>
                          <a:pt x="6" y="1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  <p:sp>
                <p:nvSpPr>
                  <p:cNvPr id="73" name="Freeform 931">
                    <a:extLst>
                      <a:ext uri="{FF2B5EF4-FFF2-40B4-BE49-F238E27FC236}">
                        <a16:creationId xmlns:a16="http://schemas.microsoft.com/office/drawing/2014/main" id="{CBB3F17C-9093-CEE0-C73A-4974797A152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66800" y="3502026"/>
                    <a:ext cx="82550" cy="147638"/>
                  </a:xfrm>
                  <a:custGeom>
                    <a:avLst/>
                    <a:gdLst>
                      <a:gd name="T0" fmla="*/ 120 w 189"/>
                      <a:gd name="T1" fmla="*/ 336 h 336"/>
                      <a:gd name="T2" fmla="*/ 95 w 189"/>
                      <a:gd name="T3" fmla="*/ 323 h 336"/>
                      <a:gd name="T4" fmla="*/ 70 w 189"/>
                      <a:gd name="T5" fmla="*/ 336 h 336"/>
                      <a:gd name="T6" fmla="*/ 40 w 189"/>
                      <a:gd name="T7" fmla="*/ 305 h 336"/>
                      <a:gd name="T8" fmla="*/ 40 w 189"/>
                      <a:gd name="T9" fmla="*/ 170 h 336"/>
                      <a:gd name="T10" fmla="*/ 29 w 189"/>
                      <a:gd name="T11" fmla="*/ 174 h 336"/>
                      <a:gd name="T12" fmla="*/ 9 w 189"/>
                      <a:gd name="T13" fmla="*/ 167 h 336"/>
                      <a:gd name="T14" fmla="*/ 0 w 189"/>
                      <a:gd name="T15" fmla="*/ 148 h 336"/>
                      <a:gd name="T16" fmla="*/ 0 w 189"/>
                      <a:gd name="T17" fmla="*/ 45 h 336"/>
                      <a:gd name="T18" fmla="*/ 46 w 189"/>
                      <a:gd name="T19" fmla="*/ 0 h 336"/>
                      <a:gd name="T20" fmla="*/ 144 w 189"/>
                      <a:gd name="T21" fmla="*/ 0 h 336"/>
                      <a:gd name="T22" fmla="*/ 189 w 189"/>
                      <a:gd name="T23" fmla="*/ 45 h 336"/>
                      <a:gd name="T24" fmla="*/ 189 w 189"/>
                      <a:gd name="T25" fmla="*/ 148 h 336"/>
                      <a:gd name="T26" fmla="*/ 189 w 189"/>
                      <a:gd name="T27" fmla="*/ 154 h 336"/>
                      <a:gd name="T28" fmla="*/ 181 w 189"/>
                      <a:gd name="T29" fmla="*/ 159 h 336"/>
                      <a:gd name="T30" fmla="*/ 177 w 189"/>
                      <a:gd name="T31" fmla="*/ 151 h 336"/>
                      <a:gd name="T32" fmla="*/ 177 w 189"/>
                      <a:gd name="T33" fmla="*/ 148 h 336"/>
                      <a:gd name="T34" fmla="*/ 177 w 189"/>
                      <a:gd name="T35" fmla="*/ 45 h 336"/>
                      <a:gd name="T36" fmla="*/ 144 w 189"/>
                      <a:gd name="T37" fmla="*/ 12 h 336"/>
                      <a:gd name="T38" fmla="*/ 46 w 189"/>
                      <a:gd name="T39" fmla="*/ 12 h 336"/>
                      <a:gd name="T40" fmla="*/ 13 w 189"/>
                      <a:gd name="T41" fmla="*/ 45 h 336"/>
                      <a:gd name="T42" fmla="*/ 13 w 189"/>
                      <a:gd name="T43" fmla="*/ 148 h 336"/>
                      <a:gd name="T44" fmla="*/ 17 w 189"/>
                      <a:gd name="T45" fmla="*/ 158 h 336"/>
                      <a:gd name="T46" fmla="*/ 27 w 189"/>
                      <a:gd name="T47" fmla="*/ 161 h 336"/>
                      <a:gd name="T48" fmla="*/ 40 w 189"/>
                      <a:gd name="T49" fmla="*/ 147 h 336"/>
                      <a:gd name="T50" fmla="*/ 46 w 189"/>
                      <a:gd name="T51" fmla="*/ 141 h 336"/>
                      <a:gd name="T52" fmla="*/ 52 w 189"/>
                      <a:gd name="T53" fmla="*/ 147 h 336"/>
                      <a:gd name="T54" fmla="*/ 52 w 189"/>
                      <a:gd name="T55" fmla="*/ 305 h 336"/>
                      <a:gd name="T56" fmla="*/ 70 w 189"/>
                      <a:gd name="T57" fmla="*/ 323 h 336"/>
                      <a:gd name="T58" fmla="*/ 89 w 189"/>
                      <a:gd name="T59" fmla="*/ 305 h 336"/>
                      <a:gd name="T60" fmla="*/ 95 w 189"/>
                      <a:gd name="T61" fmla="*/ 299 h 336"/>
                      <a:gd name="T62" fmla="*/ 101 w 189"/>
                      <a:gd name="T63" fmla="*/ 305 h 336"/>
                      <a:gd name="T64" fmla="*/ 120 w 189"/>
                      <a:gd name="T65" fmla="*/ 323 h 336"/>
                      <a:gd name="T66" fmla="*/ 138 w 189"/>
                      <a:gd name="T67" fmla="*/ 305 h 336"/>
                      <a:gd name="T68" fmla="*/ 138 w 189"/>
                      <a:gd name="T69" fmla="*/ 238 h 336"/>
                      <a:gd name="T70" fmla="*/ 144 w 189"/>
                      <a:gd name="T71" fmla="*/ 232 h 336"/>
                      <a:gd name="T72" fmla="*/ 150 w 189"/>
                      <a:gd name="T73" fmla="*/ 238 h 336"/>
                      <a:gd name="T74" fmla="*/ 150 w 189"/>
                      <a:gd name="T75" fmla="*/ 305 h 336"/>
                      <a:gd name="T76" fmla="*/ 120 w 189"/>
                      <a:gd name="T77" fmla="*/ 336 h 3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</a:cxnLst>
                    <a:rect l="0" t="0" r="r" b="b"/>
                    <a:pathLst>
                      <a:path w="189" h="336">
                        <a:moveTo>
                          <a:pt x="120" y="336"/>
                        </a:moveTo>
                        <a:cubicBezTo>
                          <a:pt x="109" y="336"/>
                          <a:pt x="101" y="331"/>
                          <a:pt x="95" y="323"/>
                        </a:cubicBezTo>
                        <a:cubicBezTo>
                          <a:pt x="89" y="331"/>
                          <a:pt x="80" y="336"/>
                          <a:pt x="70" y="336"/>
                        </a:cubicBezTo>
                        <a:cubicBezTo>
                          <a:pt x="53" y="336"/>
                          <a:pt x="40" y="322"/>
                          <a:pt x="40" y="305"/>
                        </a:cubicBezTo>
                        <a:cubicBezTo>
                          <a:pt x="40" y="170"/>
                          <a:pt x="40" y="170"/>
                          <a:pt x="40" y="170"/>
                        </a:cubicBezTo>
                        <a:cubicBezTo>
                          <a:pt x="36" y="172"/>
                          <a:pt x="33" y="173"/>
                          <a:pt x="29" y="174"/>
                        </a:cubicBezTo>
                        <a:cubicBezTo>
                          <a:pt x="21" y="174"/>
                          <a:pt x="14" y="172"/>
                          <a:pt x="9" y="167"/>
                        </a:cubicBezTo>
                        <a:cubicBezTo>
                          <a:pt x="4" y="162"/>
                          <a:pt x="0" y="155"/>
                          <a:pt x="0" y="148"/>
                        </a:cubicBezTo>
                        <a:cubicBezTo>
                          <a:pt x="0" y="45"/>
                          <a:pt x="0" y="45"/>
                          <a:pt x="0" y="45"/>
                        </a:cubicBezTo>
                        <a:cubicBezTo>
                          <a:pt x="0" y="20"/>
                          <a:pt x="21" y="0"/>
                          <a:pt x="46" y="0"/>
                        </a:cubicBezTo>
                        <a:cubicBezTo>
                          <a:pt x="144" y="0"/>
                          <a:pt x="144" y="0"/>
                          <a:pt x="144" y="0"/>
                        </a:cubicBezTo>
                        <a:cubicBezTo>
                          <a:pt x="169" y="0"/>
                          <a:pt x="189" y="20"/>
                          <a:pt x="189" y="45"/>
                        </a:cubicBezTo>
                        <a:cubicBezTo>
                          <a:pt x="189" y="148"/>
                          <a:pt x="189" y="148"/>
                          <a:pt x="189" y="148"/>
                        </a:cubicBezTo>
                        <a:cubicBezTo>
                          <a:pt x="189" y="150"/>
                          <a:pt x="189" y="152"/>
                          <a:pt x="189" y="154"/>
                        </a:cubicBezTo>
                        <a:cubicBezTo>
                          <a:pt x="188" y="157"/>
                          <a:pt x="185" y="159"/>
                          <a:pt x="181" y="159"/>
                        </a:cubicBezTo>
                        <a:cubicBezTo>
                          <a:pt x="178" y="158"/>
                          <a:pt x="176" y="154"/>
                          <a:pt x="177" y="151"/>
                        </a:cubicBezTo>
                        <a:cubicBezTo>
                          <a:pt x="177" y="150"/>
                          <a:pt x="177" y="149"/>
                          <a:pt x="177" y="148"/>
                        </a:cubicBezTo>
                        <a:cubicBezTo>
                          <a:pt x="177" y="45"/>
                          <a:pt x="177" y="45"/>
                          <a:pt x="177" y="45"/>
                        </a:cubicBezTo>
                        <a:cubicBezTo>
                          <a:pt x="177" y="27"/>
                          <a:pt x="162" y="12"/>
                          <a:pt x="144" y="12"/>
                        </a:cubicBezTo>
                        <a:cubicBezTo>
                          <a:pt x="46" y="12"/>
                          <a:pt x="46" y="12"/>
                          <a:pt x="46" y="12"/>
                        </a:cubicBezTo>
                        <a:cubicBezTo>
                          <a:pt x="27" y="12"/>
                          <a:pt x="13" y="27"/>
                          <a:pt x="13" y="45"/>
                        </a:cubicBezTo>
                        <a:cubicBezTo>
                          <a:pt x="13" y="148"/>
                          <a:pt x="13" y="148"/>
                          <a:pt x="13" y="148"/>
                        </a:cubicBezTo>
                        <a:cubicBezTo>
                          <a:pt x="13" y="152"/>
                          <a:pt x="14" y="155"/>
                          <a:pt x="17" y="158"/>
                        </a:cubicBezTo>
                        <a:cubicBezTo>
                          <a:pt x="20" y="161"/>
                          <a:pt x="24" y="162"/>
                          <a:pt x="27" y="161"/>
                        </a:cubicBezTo>
                        <a:cubicBezTo>
                          <a:pt x="34" y="161"/>
                          <a:pt x="40" y="155"/>
                          <a:pt x="40" y="147"/>
                        </a:cubicBezTo>
                        <a:cubicBezTo>
                          <a:pt x="40" y="144"/>
                          <a:pt x="42" y="141"/>
                          <a:pt x="46" y="141"/>
                        </a:cubicBezTo>
                        <a:cubicBezTo>
                          <a:pt x="49" y="141"/>
                          <a:pt x="52" y="144"/>
                          <a:pt x="52" y="147"/>
                        </a:cubicBezTo>
                        <a:cubicBezTo>
                          <a:pt x="52" y="305"/>
                          <a:pt x="52" y="305"/>
                          <a:pt x="52" y="305"/>
                        </a:cubicBezTo>
                        <a:cubicBezTo>
                          <a:pt x="52" y="315"/>
                          <a:pt x="60" y="323"/>
                          <a:pt x="70" y="323"/>
                        </a:cubicBezTo>
                        <a:cubicBezTo>
                          <a:pt x="81" y="323"/>
                          <a:pt x="89" y="315"/>
                          <a:pt x="89" y="305"/>
                        </a:cubicBezTo>
                        <a:cubicBezTo>
                          <a:pt x="89" y="302"/>
                          <a:pt x="92" y="299"/>
                          <a:pt x="95" y="299"/>
                        </a:cubicBezTo>
                        <a:cubicBezTo>
                          <a:pt x="98" y="299"/>
                          <a:pt x="101" y="302"/>
                          <a:pt x="101" y="305"/>
                        </a:cubicBezTo>
                        <a:cubicBezTo>
                          <a:pt x="101" y="315"/>
                          <a:pt x="109" y="323"/>
                          <a:pt x="120" y="323"/>
                        </a:cubicBezTo>
                        <a:cubicBezTo>
                          <a:pt x="130" y="323"/>
                          <a:pt x="138" y="315"/>
                          <a:pt x="138" y="305"/>
                        </a:cubicBezTo>
                        <a:cubicBezTo>
                          <a:pt x="138" y="238"/>
                          <a:pt x="138" y="238"/>
                          <a:pt x="138" y="238"/>
                        </a:cubicBezTo>
                        <a:cubicBezTo>
                          <a:pt x="138" y="235"/>
                          <a:pt x="141" y="232"/>
                          <a:pt x="144" y="232"/>
                        </a:cubicBezTo>
                        <a:cubicBezTo>
                          <a:pt x="148" y="232"/>
                          <a:pt x="150" y="235"/>
                          <a:pt x="150" y="238"/>
                        </a:cubicBezTo>
                        <a:cubicBezTo>
                          <a:pt x="150" y="305"/>
                          <a:pt x="150" y="305"/>
                          <a:pt x="150" y="305"/>
                        </a:cubicBezTo>
                        <a:cubicBezTo>
                          <a:pt x="150" y="322"/>
                          <a:pt x="136" y="336"/>
                          <a:pt x="120" y="33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 dirty="0"/>
                  </a:p>
                </p:txBody>
              </p:sp>
              <p:sp>
                <p:nvSpPr>
                  <p:cNvPr id="74" name="Freeform 932">
                    <a:extLst>
                      <a:ext uri="{FF2B5EF4-FFF2-40B4-BE49-F238E27FC236}">
                        <a16:creationId xmlns:a16="http://schemas.microsoft.com/office/drawing/2014/main" id="{63D2B027-6B51-43C4-9283-C7614509451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84263" y="3502026"/>
                    <a:ext cx="47625" cy="4763"/>
                  </a:xfrm>
                  <a:custGeom>
                    <a:avLst/>
                    <a:gdLst>
                      <a:gd name="T0" fmla="*/ 104 w 110"/>
                      <a:gd name="T1" fmla="*/ 12 h 12"/>
                      <a:gd name="T2" fmla="*/ 6 w 110"/>
                      <a:gd name="T3" fmla="*/ 12 h 12"/>
                      <a:gd name="T4" fmla="*/ 0 w 110"/>
                      <a:gd name="T5" fmla="*/ 6 h 12"/>
                      <a:gd name="T6" fmla="*/ 6 w 110"/>
                      <a:gd name="T7" fmla="*/ 0 h 12"/>
                      <a:gd name="T8" fmla="*/ 104 w 110"/>
                      <a:gd name="T9" fmla="*/ 0 h 12"/>
                      <a:gd name="T10" fmla="*/ 110 w 110"/>
                      <a:gd name="T11" fmla="*/ 6 h 12"/>
                      <a:gd name="T12" fmla="*/ 104 w 110"/>
                      <a:gd name="T13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10" h="12">
                        <a:moveTo>
                          <a:pt x="104" y="12"/>
                        </a:moveTo>
                        <a:cubicBezTo>
                          <a:pt x="6" y="12"/>
                          <a:pt x="6" y="12"/>
                          <a:pt x="6" y="12"/>
                        </a:cubicBezTo>
                        <a:cubicBezTo>
                          <a:pt x="2" y="12"/>
                          <a:pt x="0" y="9"/>
                          <a:pt x="0" y="6"/>
                        </a:cubicBezTo>
                        <a:cubicBezTo>
                          <a:pt x="0" y="2"/>
                          <a:pt x="2" y="0"/>
                          <a:pt x="6" y="0"/>
                        </a:cubicBezTo>
                        <a:cubicBezTo>
                          <a:pt x="104" y="0"/>
                          <a:pt x="104" y="0"/>
                          <a:pt x="104" y="0"/>
                        </a:cubicBezTo>
                        <a:cubicBezTo>
                          <a:pt x="108" y="0"/>
                          <a:pt x="110" y="2"/>
                          <a:pt x="110" y="6"/>
                        </a:cubicBezTo>
                        <a:cubicBezTo>
                          <a:pt x="110" y="9"/>
                          <a:pt x="108" y="12"/>
                          <a:pt x="104" y="1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  <p:sp>
                <p:nvSpPr>
                  <p:cNvPr id="75" name="Freeform 933">
                    <a:extLst>
                      <a:ext uri="{FF2B5EF4-FFF2-40B4-BE49-F238E27FC236}">
                        <a16:creationId xmlns:a16="http://schemas.microsoft.com/office/drawing/2014/main" id="{C4E54EE3-B91A-71B3-B506-8D712AD4031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84263" y="3532188"/>
                    <a:ext cx="4763" cy="36513"/>
                  </a:xfrm>
                  <a:custGeom>
                    <a:avLst/>
                    <a:gdLst>
                      <a:gd name="T0" fmla="*/ 6 w 12"/>
                      <a:gd name="T1" fmla="*/ 83 h 83"/>
                      <a:gd name="T2" fmla="*/ 0 w 12"/>
                      <a:gd name="T3" fmla="*/ 77 h 83"/>
                      <a:gd name="T4" fmla="*/ 0 w 12"/>
                      <a:gd name="T5" fmla="*/ 6 h 83"/>
                      <a:gd name="T6" fmla="*/ 6 w 12"/>
                      <a:gd name="T7" fmla="*/ 0 h 83"/>
                      <a:gd name="T8" fmla="*/ 12 w 12"/>
                      <a:gd name="T9" fmla="*/ 6 h 83"/>
                      <a:gd name="T10" fmla="*/ 12 w 12"/>
                      <a:gd name="T11" fmla="*/ 77 h 83"/>
                      <a:gd name="T12" fmla="*/ 6 w 12"/>
                      <a:gd name="T13" fmla="*/ 83 h 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2" h="83">
                        <a:moveTo>
                          <a:pt x="6" y="83"/>
                        </a:moveTo>
                        <a:cubicBezTo>
                          <a:pt x="2" y="83"/>
                          <a:pt x="0" y="81"/>
                          <a:pt x="0" y="77"/>
                        </a:cubicBezTo>
                        <a:cubicBezTo>
                          <a:pt x="0" y="6"/>
                          <a:pt x="0" y="6"/>
                          <a:pt x="0" y="6"/>
                        </a:cubicBezTo>
                        <a:cubicBezTo>
                          <a:pt x="0" y="3"/>
                          <a:pt x="2" y="0"/>
                          <a:pt x="6" y="0"/>
                        </a:cubicBezTo>
                        <a:cubicBezTo>
                          <a:pt x="9" y="0"/>
                          <a:pt x="12" y="3"/>
                          <a:pt x="12" y="6"/>
                        </a:cubicBezTo>
                        <a:cubicBezTo>
                          <a:pt x="12" y="77"/>
                          <a:pt x="12" y="77"/>
                          <a:pt x="12" y="77"/>
                        </a:cubicBezTo>
                        <a:cubicBezTo>
                          <a:pt x="12" y="81"/>
                          <a:pt x="9" y="83"/>
                          <a:pt x="6" y="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  <p:sp>
                <p:nvSpPr>
                  <p:cNvPr id="76" name="Freeform 934">
                    <a:extLst>
                      <a:ext uri="{FF2B5EF4-FFF2-40B4-BE49-F238E27FC236}">
                        <a16:creationId xmlns:a16="http://schemas.microsoft.com/office/drawing/2014/main" id="{C7468F70-102D-24EB-0302-1CA60BD4F53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27125" y="3532188"/>
                    <a:ext cx="4763" cy="36513"/>
                  </a:xfrm>
                  <a:custGeom>
                    <a:avLst/>
                    <a:gdLst>
                      <a:gd name="T0" fmla="*/ 6 w 12"/>
                      <a:gd name="T1" fmla="*/ 83 h 83"/>
                      <a:gd name="T2" fmla="*/ 0 w 12"/>
                      <a:gd name="T3" fmla="*/ 77 h 83"/>
                      <a:gd name="T4" fmla="*/ 0 w 12"/>
                      <a:gd name="T5" fmla="*/ 6 h 83"/>
                      <a:gd name="T6" fmla="*/ 6 w 12"/>
                      <a:gd name="T7" fmla="*/ 0 h 83"/>
                      <a:gd name="T8" fmla="*/ 12 w 12"/>
                      <a:gd name="T9" fmla="*/ 6 h 83"/>
                      <a:gd name="T10" fmla="*/ 12 w 12"/>
                      <a:gd name="T11" fmla="*/ 77 h 83"/>
                      <a:gd name="T12" fmla="*/ 6 w 12"/>
                      <a:gd name="T13" fmla="*/ 83 h 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2" h="83">
                        <a:moveTo>
                          <a:pt x="6" y="83"/>
                        </a:moveTo>
                        <a:cubicBezTo>
                          <a:pt x="3" y="83"/>
                          <a:pt x="0" y="81"/>
                          <a:pt x="0" y="77"/>
                        </a:cubicBezTo>
                        <a:cubicBezTo>
                          <a:pt x="0" y="6"/>
                          <a:pt x="0" y="6"/>
                          <a:pt x="0" y="6"/>
                        </a:cubicBezTo>
                        <a:cubicBezTo>
                          <a:pt x="0" y="3"/>
                          <a:pt x="3" y="0"/>
                          <a:pt x="6" y="0"/>
                        </a:cubicBezTo>
                        <a:cubicBezTo>
                          <a:pt x="10" y="0"/>
                          <a:pt x="12" y="3"/>
                          <a:pt x="12" y="6"/>
                        </a:cubicBezTo>
                        <a:cubicBezTo>
                          <a:pt x="12" y="77"/>
                          <a:pt x="12" y="77"/>
                          <a:pt x="12" y="77"/>
                        </a:cubicBezTo>
                        <a:cubicBezTo>
                          <a:pt x="12" y="81"/>
                          <a:pt x="10" y="83"/>
                          <a:pt x="6" y="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  <p:sp>
                <p:nvSpPr>
                  <p:cNvPr id="77" name="Freeform 935">
                    <a:extLst>
                      <a:ext uri="{FF2B5EF4-FFF2-40B4-BE49-F238E27FC236}">
                        <a16:creationId xmlns:a16="http://schemas.microsoft.com/office/drawing/2014/main" id="{BBB79ED1-8D32-8B74-9069-431A0F0D760C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090613" y="3460751"/>
                    <a:ext cx="34925" cy="34925"/>
                  </a:xfrm>
                  <a:custGeom>
                    <a:avLst/>
                    <a:gdLst>
                      <a:gd name="T0" fmla="*/ 39 w 78"/>
                      <a:gd name="T1" fmla="*/ 78 h 78"/>
                      <a:gd name="T2" fmla="*/ 0 w 78"/>
                      <a:gd name="T3" fmla="*/ 39 h 78"/>
                      <a:gd name="T4" fmla="*/ 39 w 78"/>
                      <a:gd name="T5" fmla="*/ 0 h 78"/>
                      <a:gd name="T6" fmla="*/ 78 w 78"/>
                      <a:gd name="T7" fmla="*/ 39 h 78"/>
                      <a:gd name="T8" fmla="*/ 39 w 78"/>
                      <a:gd name="T9" fmla="*/ 78 h 78"/>
                      <a:gd name="T10" fmla="*/ 39 w 78"/>
                      <a:gd name="T11" fmla="*/ 12 h 78"/>
                      <a:gd name="T12" fmla="*/ 12 w 78"/>
                      <a:gd name="T13" fmla="*/ 39 h 78"/>
                      <a:gd name="T14" fmla="*/ 39 w 78"/>
                      <a:gd name="T15" fmla="*/ 66 h 78"/>
                      <a:gd name="T16" fmla="*/ 66 w 78"/>
                      <a:gd name="T17" fmla="*/ 39 h 78"/>
                      <a:gd name="T18" fmla="*/ 39 w 78"/>
                      <a:gd name="T19" fmla="*/ 12 h 7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78" h="78">
                        <a:moveTo>
                          <a:pt x="39" y="78"/>
                        </a:moveTo>
                        <a:cubicBezTo>
                          <a:pt x="17" y="78"/>
                          <a:pt x="0" y="61"/>
                          <a:pt x="0" y="39"/>
                        </a:cubicBezTo>
                        <a:cubicBezTo>
                          <a:pt x="0" y="17"/>
                          <a:pt x="17" y="0"/>
                          <a:pt x="39" y="0"/>
                        </a:cubicBezTo>
                        <a:cubicBezTo>
                          <a:pt x="61" y="0"/>
                          <a:pt x="78" y="17"/>
                          <a:pt x="78" y="39"/>
                        </a:cubicBezTo>
                        <a:cubicBezTo>
                          <a:pt x="78" y="61"/>
                          <a:pt x="61" y="78"/>
                          <a:pt x="39" y="78"/>
                        </a:cubicBezTo>
                        <a:close/>
                        <a:moveTo>
                          <a:pt x="39" y="12"/>
                        </a:moveTo>
                        <a:cubicBezTo>
                          <a:pt x="24" y="12"/>
                          <a:pt x="12" y="24"/>
                          <a:pt x="12" y="39"/>
                        </a:cubicBezTo>
                        <a:cubicBezTo>
                          <a:pt x="12" y="54"/>
                          <a:pt x="24" y="66"/>
                          <a:pt x="39" y="66"/>
                        </a:cubicBezTo>
                        <a:cubicBezTo>
                          <a:pt x="54" y="66"/>
                          <a:pt x="66" y="54"/>
                          <a:pt x="66" y="39"/>
                        </a:cubicBezTo>
                        <a:cubicBezTo>
                          <a:pt x="66" y="24"/>
                          <a:pt x="54" y="12"/>
                          <a:pt x="39" y="1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</p:grpSp>
            <p:grpSp>
              <p:nvGrpSpPr>
                <p:cNvPr id="52" name="Shape20_20200720_105846">
                  <a:extLst>
                    <a:ext uri="{FF2B5EF4-FFF2-40B4-BE49-F238E27FC236}">
                      <a16:creationId xmlns:a16="http://schemas.microsoft.com/office/drawing/2014/main" id="{13DCF69C-CA84-37A0-7904-2E76BF05045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4700294" y="4127119"/>
                  <a:ext cx="348540" cy="382051"/>
                  <a:chOff x="2628900" y="3805238"/>
                  <a:chExt cx="165101" cy="180976"/>
                </a:xfrm>
                <a:solidFill>
                  <a:schemeClr val="accent4"/>
                </a:solidFill>
              </p:grpSpPr>
              <p:sp>
                <p:nvSpPr>
                  <p:cNvPr id="63" name="Freeform 718">
                    <a:extLst>
                      <a:ext uri="{FF2B5EF4-FFF2-40B4-BE49-F238E27FC236}">
                        <a16:creationId xmlns:a16="http://schemas.microsoft.com/office/drawing/2014/main" id="{642F5095-893F-49DE-EBF7-56FC57C53907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667000" y="3844926"/>
                    <a:ext cx="87313" cy="141288"/>
                  </a:xfrm>
                  <a:custGeom>
                    <a:avLst/>
                    <a:gdLst>
                      <a:gd name="T0" fmla="*/ 100 w 201"/>
                      <a:gd name="T1" fmla="*/ 320 h 320"/>
                      <a:gd name="T2" fmla="*/ 57 w 201"/>
                      <a:gd name="T3" fmla="*/ 279 h 320"/>
                      <a:gd name="T4" fmla="*/ 57 w 201"/>
                      <a:gd name="T5" fmla="*/ 274 h 320"/>
                      <a:gd name="T6" fmla="*/ 19 w 201"/>
                      <a:gd name="T7" fmla="*/ 156 h 320"/>
                      <a:gd name="T8" fmla="*/ 3 w 201"/>
                      <a:gd name="T9" fmla="*/ 90 h 320"/>
                      <a:gd name="T10" fmla="*/ 90 w 201"/>
                      <a:gd name="T11" fmla="*/ 3 h 320"/>
                      <a:gd name="T12" fmla="*/ 168 w 201"/>
                      <a:gd name="T13" fmla="*/ 27 h 320"/>
                      <a:gd name="T14" fmla="*/ 201 w 201"/>
                      <a:gd name="T15" fmla="*/ 101 h 320"/>
                      <a:gd name="T16" fmla="*/ 183 w 201"/>
                      <a:gd name="T17" fmla="*/ 158 h 320"/>
                      <a:gd name="T18" fmla="*/ 142 w 201"/>
                      <a:gd name="T19" fmla="*/ 279 h 320"/>
                      <a:gd name="T20" fmla="*/ 100 w 201"/>
                      <a:gd name="T21" fmla="*/ 320 h 320"/>
                      <a:gd name="T22" fmla="*/ 101 w 201"/>
                      <a:gd name="T23" fmla="*/ 14 h 320"/>
                      <a:gd name="T24" fmla="*/ 91 w 201"/>
                      <a:gd name="T25" fmla="*/ 15 h 320"/>
                      <a:gd name="T26" fmla="*/ 15 w 201"/>
                      <a:gd name="T27" fmla="*/ 91 h 320"/>
                      <a:gd name="T28" fmla="*/ 29 w 201"/>
                      <a:gd name="T29" fmla="*/ 150 h 320"/>
                      <a:gd name="T30" fmla="*/ 69 w 201"/>
                      <a:gd name="T31" fmla="*/ 274 h 320"/>
                      <a:gd name="T32" fmla="*/ 70 w 201"/>
                      <a:gd name="T33" fmla="*/ 279 h 320"/>
                      <a:gd name="T34" fmla="*/ 100 w 201"/>
                      <a:gd name="T35" fmla="*/ 308 h 320"/>
                      <a:gd name="T36" fmla="*/ 130 w 201"/>
                      <a:gd name="T37" fmla="*/ 279 h 320"/>
                      <a:gd name="T38" fmla="*/ 173 w 201"/>
                      <a:gd name="T39" fmla="*/ 151 h 320"/>
                      <a:gd name="T40" fmla="*/ 188 w 201"/>
                      <a:gd name="T41" fmla="*/ 101 h 320"/>
                      <a:gd name="T42" fmla="*/ 159 w 201"/>
                      <a:gd name="T43" fmla="*/ 37 h 320"/>
                      <a:gd name="T44" fmla="*/ 101 w 201"/>
                      <a:gd name="T45" fmla="*/ 14 h 3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</a:cxnLst>
                    <a:rect l="0" t="0" r="r" b="b"/>
                    <a:pathLst>
                      <a:path w="201" h="320">
                        <a:moveTo>
                          <a:pt x="100" y="320"/>
                        </a:moveTo>
                        <a:cubicBezTo>
                          <a:pt x="77" y="320"/>
                          <a:pt x="58" y="302"/>
                          <a:pt x="57" y="279"/>
                        </a:cubicBezTo>
                        <a:cubicBezTo>
                          <a:pt x="57" y="274"/>
                          <a:pt x="57" y="274"/>
                          <a:pt x="57" y="274"/>
                        </a:cubicBezTo>
                        <a:cubicBezTo>
                          <a:pt x="56" y="233"/>
                          <a:pt x="42" y="192"/>
                          <a:pt x="19" y="156"/>
                        </a:cubicBezTo>
                        <a:cubicBezTo>
                          <a:pt x="6" y="137"/>
                          <a:pt x="0" y="114"/>
                          <a:pt x="3" y="90"/>
                        </a:cubicBezTo>
                        <a:cubicBezTo>
                          <a:pt x="8" y="45"/>
                          <a:pt x="44" y="8"/>
                          <a:pt x="90" y="3"/>
                        </a:cubicBezTo>
                        <a:cubicBezTo>
                          <a:pt x="119" y="0"/>
                          <a:pt x="146" y="8"/>
                          <a:pt x="168" y="27"/>
                        </a:cubicBezTo>
                        <a:cubicBezTo>
                          <a:pt x="189" y="46"/>
                          <a:pt x="201" y="73"/>
                          <a:pt x="201" y="101"/>
                        </a:cubicBezTo>
                        <a:cubicBezTo>
                          <a:pt x="201" y="122"/>
                          <a:pt x="194" y="141"/>
                          <a:pt x="183" y="158"/>
                        </a:cubicBezTo>
                        <a:cubicBezTo>
                          <a:pt x="158" y="194"/>
                          <a:pt x="144" y="236"/>
                          <a:pt x="142" y="279"/>
                        </a:cubicBezTo>
                        <a:cubicBezTo>
                          <a:pt x="141" y="302"/>
                          <a:pt x="123" y="320"/>
                          <a:pt x="100" y="320"/>
                        </a:cubicBezTo>
                        <a:close/>
                        <a:moveTo>
                          <a:pt x="101" y="14"/>
                        </a:moveTo>
                        <a:cubicBezTo>
                          <a:pt x="98" y="14"/>
                          <a:pt x="95" y="15"/>
                          <a:pt x="91" y="15"/>
                        </a:cubicBezTo>
                        <a:cubicBezTo>
                          <a:pt x="51" y="19"/>
                          <a:pt x="19" y="52"/>
                          <a:pt x="15" y="91"/>
                        </a:cubicBezTo>
                        <a:cubicBezTo>
                          <a:pt x="12" y="112"/>
                          <a:pt x="17" y="132"/>
                          <a:pt x="29" y="150"/>
                        </a:cubicBezTo>
                        <a:cubicBezTo>
                          <a:pt x="54" y="187"/>
                          <a:pt x="68" y="230"/>
                          <a:pt x="69" y="274"/>
                        </a:cubicBezTo>
                        <a:cubicBezTo>
                          <a:pt x="70" y="279"/>
                          <a:pt x="70" y="279"/>
                          <a:pt x="70" y="279"/>
                        </a:cubicBezTo>
                        <a:cubicBezTo>
                          <a:pt x="70" y="295"/>
                          <a:pt x="83" y="308"/>
                          <a:pt x="100" y="308"/>
                        </a:cubicBezTo>
                        <a:cubicBezTo>
                          <a:pt x="116" y="308"/>
                          <a:pt x="129" y="295"/>
                          <a:pt x="130" y="279"/>
                        </a:cubicBezTo>
                        <a:cubicBezTo>
                          <a:pt x="131" y="233"/>
                          <a:pt x="146" y="189"/>
                          <a:pt x="173" y="151"/>
                        </a:cubicBezTo>
                        <a:cubicBezTo>
                          <a:pt x="183" y="136"/>
                          <a:pt x="188" y="119"/>
                          <a:pt x="188" y="101"/>
                        </a:cubicBezTo>
                        <a:cubicBezTo>
                          <a:pt x="188" y="77"/>
                          <a:pt x="178" y="53"/>
                          <a:pt x="159" y="37"/>
                        </a:cubicBezTo>
                        <a:cubicBezTo>
                          <a:pt x="143" y="22"/>
                          <a:pt x="123" y="14"/>
                          <a:pt x="101" y="1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  <p:sp>
                <p:nvSpPr>
                  <p:cNvPr id="64" name="Freeform 719">
                    <a:extLst>
                      <a:ext uri="{FF2B5EF4-FFF2-40B4-BE49-F238E27FC236}">
                        <a16:creationId xmlns:a16="http://schemas.microsoft.com/office/drawing/2014/main" id="{37600F27-476E-1B23-5974-BAA9B1BD02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90813" y="3943351"/>
                    <a:ext cx="39688" cy="11113"/>
                  </a:xfrm>
                  <a:custGeom>
                    <a:avLst/>
                    <a:gdLst>
                      <a:gd name="T0" fmla="*/ 45 w 91"/>
                      <a:gd name="T1" fmla="*/ 22 h 22"/>
                      <a:gd name="T2" fmla="*/ 4 w 91"/>
                      <a:gd name="T3" fmla="*/ 13 h 22"/>
                      <a:gd name="T4" fmla="*/ 1 w 91"/>
                      <a:gd name="T5" fmla="*/ 4 h 22"/>
                      <a:gd name="T6" fmla="*/ 10 w 91"/>
                      <a:gd name="T7" fmla="*/ 2 h 22"/>
                      <a:gd name="T8" fmla="*/ 82 w 91"/>
                      <a:gd name="T9" fmla="*/ 2 h 22"/>
                      <a:gd name="T10" fmla="*/ 90 w 91"/>
                      <a:gd name="T11" fmla="*/ 5 h 22"/>
                      <a:gd name="T12" fmla="*/ 87 w 91"/>
                      <a:gd name="T13" fmla="*/ 13 h 22"/>
                      <a:gd name="T14" fmla="*/ 45 w 91"/>
                      <a:gd name="T15" fmla="*/ 22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91" h="22">
                        <a:moveTo>
                          <a:pt x="45" y="22"/>
                        </a:moveTo>
                        <a:cubicBezTo>
                          <a:pt x="21" y="22"/>
                          <a:pt x="5" y="13"/>
                          <a:pt x="4" y="13"/>
                        </a:cubicBezTo>
                        <a:cubicBezTo>
                          <a:pt x="1" y="11"/>
                          <a:pt x="0" y="7"/>
                          <a:pt x="1" y="4"/>
                        </a:cubicBezTo>
                        <a:cubicBezTo>
                          <a:pt x="3" y="2"/>
                          <a:pt x="7" y="0"/>
                          <a:pt x="10" y="2"/>
                        </a:cubicBezTo>
                        <a:cubicBezTo>
                          <a:pt x="11" y="3"/>
                          <a:pt x="42" y="20"/>
                          <a:pt x="82" y="2"/>
                        </a:cubicBezTo>
                        <a:cubicBezTo>
                          <a:pt x="85" y="1"/>
                          <a:pt x="88" y="2"/>
                          <a:pt x="90" y="5"/>
                        </a:cubicBezTo>
                        <a:cubicBezTo>
                          <a:pt x="91" y="8"/>
                          <a:pt x="90" y="12"/>
                          <a:pt x="87" y="13"/>
                        </a:cubicBezTo>
                        <a:cubicBezTo>
                          <a:pt x="71" y="20"/>
                          <a:pt x="57" y="22"/>
                          <a:pt x="45" y="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  <p:sp>
                <p:nvSpPr>
                  <p:cNvPr id="65" name="Freeform 720">
                    <a:extLst>
                      <a:ext uri="{FF2B5EF4-FFF2-40B4-BE49-F238E27FC236}">
                        <a16:creationId xmlns:a16="http://schemas.microsoft.com/office/drawing/2014/main" id="{3853CBDB-37EB-94F0-FBE0-0885D38D876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08275" y="3805238"/>
                    <a:ext cx="4763" cy="20638"/>
                  </a:xfrm>
                  <a:custGeom>
                    <a:avLst/>
                    <a:gdLst>
                      <a:gd name="T0" fmla="*/ 6 w 12"/>
                      <a:gd name="T1" fmla="*/ 45 h 45"/>
                      <a:gd name="T2" fmla="*/ 0 w 12"/>
                      <a:gd name="T3" fmla="*/ 39 h 45"/>
                      <a:gd name="T4" fmla="*/ 0 w 12"/>
                      <a:gd name="T5" fmla="*/ 6 h 45"/>
                      <a:gd name="T6" fmla="*/ 6 w 12"/>
                      <a:gd name="T7" fmla="*/ 0 h 45"/>
                      <a:gd name="T8" fmla="*/ 12 w 12"/>
                      <a:gd name="T9" fmla="*/ 6 h 45"/>
                      <a:gd name="T10" fmla="*/ 12 w 12"/>
                      <a:gd name="T11" fmla="*/ 39 h 45"/>
                      <a:gd name="T12" fmla="*/ 6 w 12"/>
                      <a:gd name="T13" fmla="*/ 45 h 4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2" h="45">
                        <a:moveTo>
                          <a:pt x="6" y="45"/>
                        </a:moveTo>
                        <a:cubicBezTo>
                          <a:pt x="3" y="45"/>
                          <a:pt x="0" y="42"/>
                          <a:pt x="0" y="39"/>
                        </a:cubicBezTo>
                        <a:cubicBezTo>
                          <a:pt x="0" y="6"/>
                          <a:pt x="0" y="6"/>
                          <a:pt x="0" y="6"/>
                        </a:cubicBezTo>
                        <a:cubicBezTo>
                          <a:pt x="0" y="3"/>
                          <a:pt x="3" y="0"/>
                          <a:pt x="6" y="0"/>
                        </a:cubicBezTo>
                        <a:cubicBezTo>
                          <a:pt x="10" y="0"/>
                          <a:pt x="12" y="3"/>
                          <a:pt x="12" y="6"/>
                        </a:cubicBezTo>
                        <a:cubicBezTo>
                          <a:pt x="12" y="39"/>
                          <a:pt x="12" y="39"/>
                          <a:pt x="12" y="39"/>
                        </a:cubicBezTo>
                        <a:cubicBezTo>
                          <a:pt x="12" y="42"/>
                          <a:pt x="10" y="45"/>
                          <a:pt x="6" y="4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  <p:sp>
                <p:nvSpPr>
                  <p:cNvPr id="66" name="Freeform 721">
                    <a:extLst>
                      <a:ext uri="{FF2B5EF4-FFF2-40B4-BE49-F238E27FC236}">
                        <a16:creationId xmlns:a16="http://schemas.microsoft.com/office/drawing/2014/main" id="{2EAB1873-AECB-5EDD-2C8A-902E9B89902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55888" y="3824288"/>
                    <a:ext cx="14288" cy="17463"/>
                  </a:xfrm>
                  <a:custGeom>
                    <a:avLst/>
                    <a:gdLst>
                      <a:gd name="T0" fmla="*/ 27 w 34"/>
                      <a:gd name="T1" fmla="*/ 37 h 37"/>
                      <a:gd name="T2" fmla="*/ 23 w 34"/>
                      <a:gd name="T3" fmla="*/ 35 h 37"/>
                      <a:gd name="T4" fmla="*/ 2 w 34"/>
                      <a:gd name="T5" fmla="*/ 10 h 37"/>
                      <a:gd name="T6" fmla="*/ 3 w 34"/>
                      <a:gd name="T7" fmla="*/ 2 h 37"/>
                      <a:gd name="T8" fmla="*/ 11 w 34"/>
                      <a:gd name="T9" fmla="*/ 3 h 37"/>
                      <a:gd name="T10" fmla="*/ 32 w 34"/>
                      <a:gd name="T11" fmla="*/ 27 h 37"/>
                      <a:gd name="T12" fmla="*/ 31 w 34"/>
                      <a:gd name="T13" fmla="*/ 36 h 37"/>
                      <a:gd name="T14" fmla="*/ 27 w 34"/>
                      <a:gd name="T15" fmla="*/ 37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34" h="37">
                        <a:moveTo>
                          <a:pt x="27" y="37"/>
                        </a:moveTo>
                        <a:cubicBezTo>
                          <a:pt x="26" y="37"/>
                          <a:pt x="24" y="37"/>
                          <a:pt x="23" y="35"/>
                        </a:cubicBezTo>
                        <a:cubicBezTo>
                          <a:pt x="2" y="10"/>
                          <a:pt x="2" y="10"/>
                          <a:pt x="2" y="10"/>
                        </a:cubicBezTo>
                        <a:cubicBezTo>
                          <a:pt x="0" y="8"/>
                          <a:pt x="0" y="4"/>
                          <a:pt x="3" y="2"/>
                        </a:cubicBezTo>
                        <a:cubicBezTo>
                          <a:pt x="5" y="0"/>
                          <a:pt x="9" y="0"/>
                          <a:pt x="11" y="3"/>
                        </a:cubicBezTo>
                        <a:cubicBezTo>
                          <a:pt x="32" y="27"/>
                          <a:pt x="32" y="27"/>
                          <a:pt x="32" y="27"/>
                        </a:cubicBezTo>
                        <a:cubicBezTo>
                          <a:pt x="34" y="30"/>
                          <a:pt x="34" y="34"/>
                          <a:pt x="31" y="36"/>
                        </a:cubicBezTo>
                        <a:cubicBezTo>
                          <a:pt x="30" y="37"/>
                          <a:pt x="29" y="37"/>
                          <a:pt x="27" y="3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  <p:sp>
                <p:nvSpPr>
                  <p:cNvPr id="67" name="Freeform 722">
                    <a:extLst>
                      <a:ext uri="{FF2B5EF4-FFF2-40B4-BE49-F238E27FC236}">
                        <a16:creationId xmlns:a16="http://schemas.microsoft.com/office/drawing/2014/main" id="{689C2F28-12AC-0141-6E87-4BB8F5BB5DA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28900" y="3871913"/>
                    <a:ext cx="19050" cy="9525"/>
                  </a:xfrm>
                  <a:custGeom>
                    <a:avLst/>
                    <a:gdLst>
                      <a:gd name="T0" fmla="*/ 38 w 45"/>
                      <a:gd name="T1" fmla="*/ 19 h 19"/>
                      <a:gd name="T2" fmla="*/ 37 w 45"/>
                      <a:gd name="T3" fmla="*/ 19 h 19"/>
                      <a:gd name="T4" fmla="*/ 5 w 45"/>
                      <a:gd name="T5" fmla="*/ 13 h 19"/>
                      <a:gd name="T6" fmla="*/ 0 w 45"/>
                      <a:gd name="T7" fmla="*/ 6 h 19"/>
                      <a:gd name="T8" fmla="*/ 7 w 45"/>
                      <a:gd name="T9" fmla="*/ 1 h 19"/>
                      <a:gd name="T10" fmla="*/ 39 w 45"/>
                      <a:gd name="T11" fmla="*/ 6 h 19"/>
                      <a:gd name="T12" fmla="*/ 44 w 45"/>
                      <a:gd name="T13" fmla="*/ 14 h 19"/>
                      <a:gd name="T14" fmla="*/ 38 w 45"/>
                      <a:gd name="T15" fmla="*/ 19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45" h="19">
                        <a:moveTo>
                          <a:pt x="38" y="19"/>
                        </a:moveTo>
                        <a:cubicBezTo>
                          <a:pt x="38" y="19"/>
                          <a:pt x="37" y="19"/>
                          <a:pt x="37" y="19"/>
                        </a:cubicBezTo>
                        <a:cubicBezTo>
                          <a:pt x="5" y="13"/>
                          <a:pt x="5" y="13"/>
                          <a:pt x="5" y="13"/>
                        </a:cubicBezTo>
                        <a:cubicBezTo>
                          <a:pt x="2" y="12"/>
                          <a:pt x="0" y="9"/>
                          <a:pt x="0" y="6"/>
                        </a:cubicBezTo>
                        <a:cubicBezTo>
                          <a:pt x="1" y="3"/>
                          <a:pt x="4" y="0"/>
                          <a:pt x="7" y="1"/>
                        </a:cubicBezTo>
                        <a:cubicBezTo>
                          <a:pt x="39" y="6"/>
                          <a:pt x="39" y="6"/>
                          <a:pt x="39" y="6"/>
                        </a:cubicBezTo>
                        <a:cubicBezTo>
                          <a:pt x="43" y="7"/>
                          <a:pt x="45" y="10"/>
                          <a:pt x="44" y="14"/>
                        </a:cubicBezTo>
                        <a:cubicBezTo>
                          <a:pt x="44" y="17"/>
                          <a:pt x="41" y="19"/>
                          <a:pt x="38" y="1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  <p:sp>
                <p:nvSpPr>
                  <p:cNvPr id="68" name="Freeform 723">
                    <a:extLst>
                      <a:ext uri="{FF2B5EF4-FFF2-40B4-BE49-F238E27FC236}">
                        <a16:creationId xmlns:a16="http://schemas.microsoft.com/office/drawing/2014/main" id="{B40A5881-26B8-E628-AA2D-A70989897FA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36838" y="3919538"/>
                    <a:ext cx="19050" cy="12700"/>
                  </a:xfrm>
                  <a:custGeom>
                    <a:avLst/>
                    <a:gdLst>
                      <a:gd name="T0" fmla="*/ 7 w 42"/>
                      <a:gd name="T1" fmla="*/ 29 h 29"/>
                      <a:gd name="T2" fmla="*/ 2 w 42"/>
                      <a:gd name="T3" fmla="*/ 26 h 29"/>
                      <a:gd name="T4" fmla="*/ 4 w 42"/>
                      <a:gd name="T5" fmla="*/ 18 h 29"/>
                      <a:gd name="T6" fmla="*/ 32 w 42"/>
                      <a:gd name="T7" fmla="*/ 2 h 29"/>
                      <a:gd name="T8" fmla="*/ 41 w 42"/>
                      <a:gd name="T9" fmla="*/ 4 h 29"/>
                      <a:gd name="T10" fmla="*/ 38 w 42"/>
                      <a:gd name="T11" fmla="*/ 13 h 29"/>
                      <a:gd name="T12" fmla="*/ 10 w 42"/>
                      <a:gd name="T13" fmla="*/ 29 h 29"/>
                      <a:gd name="T14" fmla="*/ 7 w 42"/>
                      <a:gd name="T15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42" h="29">
                        <a:moveTo>
                          <a:pt x="7" y="29"/>
                        </a:moveTo>
                        <a:cubicBezTo>
                          <a:pt x="5" y="29"/>
                          <a:pt x="3" y="28"/>
                          <a:pt x="2" y="26"/>
                        </a:cubicBezTo>
                        <a:cubicBezTo>
                          <a:pt x="0" y="23"/>
                          <a:pt x="1" y="20"/>
                          <a:pt x="4" y="18"/>
                        </a:cubicBezTo>
                        <a:cubicBezTo>
                          <a:pt x="32" y="2"/>
                          <a:pt x="32" y="2"/>
                          <a:pt x="32" y="2"/>
                        </a:cubicBezTo>
                        <a:cubicBezTo>
                          <a:pt x="35" y="0"/>
                          <a:pt x="39" y="1"/>
                          <a:pt x="41" y="4"/>
                        </a:cubicBezTo>
                        <a:cubicBezTo>
                          <a:pt x="42" y="7"/>
                          <a:pt x="41" y="11"/>
                          <a:pt x="38" y="13"/>
                        </a:cubicBezTo>
                        <a:cubicBezTo>
                          <a:pt x="10" y="29"/>
                          <a:pt x="10" y="29"/>
                          <a:pt x="10" y="29"/>
                        </a:cubicBezTo>
                        <a:cubicBezTo>
                          <a:pt x="9" y="29"/>
                          <a:pt x="8" y="29"/>
                          <a:pt x="7" y="2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  <p:sp>
                <p:nvSpPr>
                  <p:cNvPr id="69" name="Freeform 724">
                    <a:extLst>
                      <a:ext uri="{FF2B5EF4-FFF2-40B4-BE49-F238E27FC236}">
                        <a16:creationId xmlns:a16="http://schemas.microsoft.com/office/drawing/2014/main" id="{23D7B37C-971B-76E3-523B-FC8810E835A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65425" y="3919538"/>
                    <a:ext cx="19050" cy="12700"/>
                  </a:xfrm>
                  <a:custGeom>
                    <a:avLst/>
                    <a:gdLst>
                      <a:gd name="T0" fmla="*/ 35 w 42"/>
                      <a:gd name="T1" fmla="*/ 29 h 29"/>
                      <a:gd name="T2" fmla="*/ 32 w 42"/>
                      <a:gd name="T3" fmla="*/ 29 h 29"/>
                      <a:gd name="T4" fmla="*/ 4 w 42"/>
                      <a:gd name="T5" fmla="*/ 13 h 29"/>
                      <a:gd name="T6" fmla="*/ 2 w 42"/>
                      <a:gd name="T7" fmla="*/ 4 h 29"/>
                      <a:gd name="T8" fmla="*/ 10 w 42"/>
                      <a:gd name="T9" fmla="*/ 2 h 29"/>
                      <a:gd name="T10" fmla="*/ 38 w 42"/>
                      <a:gd name="T11" fmla="*/ 18 h 29"/>
                      <a:gd name="T12" fmla="*/ 41 w 42"/>
                      <a:gd name="T13" fmla="*/ 26 h 29"/>
                      <a:gd name="T14" fmla="*/ 35 w 42"/>
                      <a:gd name="T15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42" h="29">
                        <a:moveTo>
                          <a:pt x="35" y="29"/>
                        </a:moveTo>
                        <a:cubicBezTo>
                          <a:pt x="34" y="29"/>
                          <a:pt x="33" y="29"/>
                          <a:pt x="32" y="29"/>
                        </a:cubicBezTo>
                        <a:cubicBezTo>
                          <a:pt x="4" y="13"/>
                          <a:pt x="4" y="13"/>
                          <a:pt x="4" y="13"/>
                        </a:cubicBezTo>
                        <a:cubicBezTo>
                          <a:pt x="1" y="11"/>
                          <a:pt x="0" y="7"/>
                          <a:pt x="2" y="4"/>
                        </a:cubicBezTo>
                        <a:cubicBezTo>
                          <a:pt x="4" y="1"/>
                          <a:pt x="7" y="0"/>
                          <a:pt x="10" y="2"/>
                        </a:cubicBezTo>
                        <a:cubicBezTo>
                          <a:pt x="38" y="18"/>
                          <a:pt x="38" y="18"/>
                          <a:pt x="38" y="18"/>
                        </a:cubicBezTo>
                        <a:cubicBezTo>
                          <a:pt x="41" y="20"/>
                          <a:pt x="42" y="23"/>
                          <a:pt x="41" y="26"/>
                        </a:cubicBezTo>
                        <a:cubicBezTo>
                          <a:pt x="39" y="28"/>
                          <a:pt x="37" y="29"/>
                          <a:pt x="35" y="2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  <p:sp>
                <p:nvSpPr>
                  <p:cNvPr id="70" name="Freeform 725">
                    <a:extLst>
                      <a:ext uri="{FF2B5EF4-FFF2-40B4-BE49-F238E27FC236}">
                        <a16:creationId xmlns:a16="http://schemas.microsoft.com/office/drawing/2014/main" id="{F02C26E0-5162-D569-6F64-FF8F75B2261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73363" y="3871913"/>
                    <a:ext cx="20638" cy="9525"/>
                  </a:xfrm>
                  <a:custGeom>
                    <a:avLst/>
                    <a:gdLst>
                      <a:gd name="T0" fmla="*/ 6 w 45"/>
                      <a:gd name="T1" fmla="*/ 19 h 19"/>
                      <a:gd name="T2" fmla="*/ 0 w 45"/>
                      <a:gd name="T3" fmla="*/ 14 h 19"/>
                      <a:gd name="T4" fmla="*/ 5 w 45"/>
                      <a:gd name="T5" fmla="*/ 6 h 19"/>
                      <a:gd name="T6" fmla="*/ 37 w 45"/>
                      <a:gd name="T7" fmla="*/ 1 h 19"/>
                      <a:gd name="T8" fmla="*/ 44 w 45"/>
                      <a:gd name="T9" fmla="*/ 6 h 19"/>
                      <a:gd name="T10" fmla="*/ 39 w 45"/>
                      <a:gd name="T11" fmla="*/ 13 h 19"/>
                      <a:gd name="T12" fmla="*/ 8 w 45"/>
                      <a:gd name="T13" fmla="*/ 19 h 19"/>
                      <a:gd name="T14" fmla="*/ 6 w 45"/>
                      <a:gd name="T15" fmla="*/ 19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45" h="19">
                        <a:moveTo>
                          <a:pt x="6" y="19"/>
                        </a:moveTo>
                        <a:cubicBezTo>
                          <a:pt x="4" y="19"/>
                          <a:pt x="1" y="17"/>
                          <a:pt x="0" y="14"/>
                        </a:cubicBezTo>
                        <a:cubicBezTo>
                          <a:pt x="0" y="10"/>
                          <a:pt x="2" y="7"/>
                          <a:pt x="5" y="6"/>
                        </a:cubicBezTo>
                        <a:cubicBezTo>
                          <a:pt x="37" y="1"/>
                          <a:pt x="37" y="1"/>
                          <a:pt x="37" y="1"/>
                        </a:cubicBezTo>
                        <a:cubicBezTo>
                          <a:pt x="41" y="0"/>
                          <a:pt x="44" y="3"/>
                          <a:pt x="44" y="6"/>
                        </a:cubicBezTo>
                        <a:cubicBezTo>
                          <a:pt x="45" y="9"/>
                          <a:pt x="43" y="12"/>
                          <a:pt x="39" y="13"/>
                        </a:cubicBezTo>
                        <a:cubicBezTo>
                          <a:pt x="8" y="19"/>
                          <a:pt x="8" y="19"/>
                          <a:pt x="8" y="19"/>
                        </a:cubicBezTo>
                        <a:cubicBezTo>
                          <a:pt x="7" y="19"/>
                          <a:pt x="7" y="19"/>
                          <a:pt x="6" y="1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  <p:sp>
                <p:nvSpPr>
                  <p:cNvPr id="71" name="Freeform 726">
                    <a:extLst>
                      <a:ext uri="{FF2B5EF4-FFF2-40B4-BE49-F238E27FC236}">
                        <a16:creationId xmlns:a16="http://schemas.microsoft.com/office/drawing/2014/main" id="{31A6E402-A9CD-CA10-834D-CCDE986448A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51138" y="3824288"/>
                    <a:ext cx="14288" cy="17463"/>
                  </a:xfrm>
                  <a:custGeom>
                    <a:avLst/>
                    <a:gdLst>
                      <a:gd name="T0" fmla="*/ 7 w 35"/>
                      <a:gd name="T1" fmla="*/ 37 h 37"/>
                      <a:gd name="T2" fmla="*/ 3 w 35"/>
                      <a:gd name="T3" fmla="*/ 36 h 37"/>
                      <a:gd name="T4" fmla="*/ 3 w 35"/>
                      <a:gd name="T5" fmla="*/ 27 h 37"/>
                      <a:gd name="T6" fmla="*/ 23 w 35"/>
                      <a:gd name="T7" fmla="*/ 3 h 37"/>
                      <a:gd name="T8" fmla="*/ 32 w 35"/>
                      <a:gd name="T9" fmla="*/ 2 h 37"/>
                      <a:gd name="T10" fmla="*/ 33 w 35"/>
                      <a:gd name="T11" fmla="*/ 10 h 37"/>
                      <a:gd name="T12" fmla="*/ 12 w 35"/>
                      <a:gd name="T13" fmla="*/ 35 h 37"/>
                      <a:gd name="T14" fmla="*/ 7 w 35"/>
                      <a:gd name="T15" fmla="*/ 37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35" h="37">
                        <a:moveTo>
                          <a:pt x="7" y="37"/>
                        </a:moveTo>
                        <a:cubicBezTo>
                          <a:pt x="6" y="37"/>
                          <a:pt x="5" y="37"/>
                          <a:pt x="3" y="36"/>
                        </a:cubicBezTo>
                        <a:cubicBezTo>
                          <a:pt x="1" y="34"/>
                          <a:pt x="0" y="30"/>
                          <a:pt x="3" y="27"/>
                        </a:cubicBezTo>
                        <a:cubicBezTo>
                          <a:pt x="23" y="3"/>
                          <a:pt x="23" y="3"/>
                          <a:pt x="23" y="3"/>
                        </a:cubicBezTo>
                        <a:cubicBezTo>
                          <a:pt x="26" y="0"/>
                          <a:pt x="29" y="0"/>
                          <a:pt x="32" y="2"/>
                        </a:cubicBezTo>
                        <a:cubicBezTo>
                          <a:pt x="35" y="4"/>
                          <a:pt x="35" y="8"/>
                          <a:pt x="33" y="10"/>
                        </a:cubicBezTo>
                        <a:cubicBezTo>
                          <a:pt x="12" y="35"/>
                          <a:pt x="12" y="35"/>
                          <a:pt x="12" y="35"/>
                        </a:cubicBezTo>
                        <a:cubicBezTo>
                          <a:pt x="11" y="37"/>
                          <a:pt x="9" y="37"/>
                          <a:pt x="7" y="3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</p:grpSp>
            <p:grpSp>
              <p:nvGrpSpPr>
                <p:cNvPr id="53" name="Shape5_20200720_105846">
                  <a:extLst>
                    <a:ext uri="{FF2B5EF4-FFF2-40B4-BE49-F238E27FC236}">
                      <a16:creationId xmlns:a16="http://schemas.microsoft.com/office/drawing/2014/main" id="{10EE7687-EC1B-AB82-7A4B-E7FFDAC5E4D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4753133" y="2772599"/>
                  <a:ext cx="282168" cy="364980"/>
                  <a:chOff x="1841501" y="2779713"/>
                  <a:chExt cx="146050" cy="188913"/>
                </a:xfrm>
                <a:solidFill>
                  <a:schemeClr val="accent5"/>
                </a:solidFill>
              </p:grpSpPr>
              <p:sp>
                <p:nvSpPr>
                  <p:cNvPr id="55" name="Freeform 323">
                    <a:extLst>
                      <a:ext uri="{FF2B5EF4-FFF2-40B4-BE49-F238E27FC236}">
                        <a16:creationId xmlns:a16="http://schemas.microsoft.com/office/drawing/2014/main" id="{E05985EB-1B53-01FE-8510-4384E263DB71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841501" y="2779713"/>
                    <a:ext cx="146050" cy="188913"/>
                  </a:xfrm>
                  <a:custGeom>
                    <a:avLst/>
                    <a:gdLst>
                      <a:gd name="T0" fmla="*/ 295 w 332"/>
                      <a:gd name="T1" fmla="*/ 431 h 431"/>
                      <a:gd name="T2" fmla="*/ 37 w 332"/>
                      <a:gd name="T3" fmla="*/ 431 h 431"/>
                      <a:gd name="T4" fmla="*/ 0 w 332"/>
                      <a:gd name="T5" fmla="*/ 394 h 431"/>
                      <a:gd name="T6" fmla="*/ 0 w 332"/>
                      <a:gd name="T7" fmla="*/ 37 h 431"/>
                      <a:gd name="T8" fmla="*/ 37 w 332"/>
                      <a:gd name="T9" fmla="*/ 0 h 431"/>
                      <a:gd name="T10" fmla="*/ 295 w 332"/>
                      <a:gd name="T11" fmla="*/ 0 h 431"/>
                      <a:gd name="T12" fmla="*/ 332 w 332"/>
                      <a:gd name="T13" fmla="*/ 37 h 431"/>
                      <a:gd name="T14" fmla="*/ 332 w 332"/>
                      <a:gd name="T15" fmla="*/ 394 h 431"/>
                      <a:gd name="T16" fmla="*/ 295 w 332"/>
                      <a:gd name="T17" fmla="*/ 431 h 431"/>
                      <a:gd name="T18" fmla="*/ 37 w 332"/>
                      <a:gd name="T19" fmla="*/ 13 h 431"/>
                      <a:gd name="T20" fmla="*/ 12 w 332"/>
                      <a:gd name="T21" fmla="*/ 37 h 431"/>
                      <a:gd name="T22" fmla="*/ 12 w 332"/>
                      <a:gd name="T23" fmla="*/ 394 h 431"/>
                      <a:gd name="T24" fmla="*/ 37 w 332"/>
                      <a:gd name="T25" fmla="*/ 418 h 431"/>
                      <a:gd name="T26" fmla="*/ 295 w 332"/>
                      <a:gd name="T27" fmla="*/ 418 h 431"/>
                      <a:gd name="T28" fmla="*/ 320 w 332"/>
                      <a:gd name="T29" fmla="*/ 394 h 431"/>
                      <a:gd name="T30" fmla="*/ 320 w 332"/>
                      <a:gd name="T31" fmla="*/ 37 h 431"/>
                      <a:gd name="T32" fmla="*/ 295 w 332"/>
                      <a:gd name="T33" fmla="*/ 13 h 431"/>
                      <a:gd name="T34" fmla="*/ 37 w 332"/>
                      <a:gd name="T35" fmla="*/ 13 h 4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332" h="431">
                        <a:moveTo>
                          <a:pt x="295" y="431"/>
                        </a:moveTo>
                        <a:cubicBezTo>
                          <a:pt x="37" y="431"/>
                          <a:pt x="37" y="431"/>
                          <a:pt x="37" y="431"/>
                        </a:cubicBezTo>
                        <a:cubicBezTo>
                          <a:pt x="17" y="431"/>
                          <a:pt x="0" y="414"/>
                          <a:pt x="0" y="394"/>
                        </a:cubicBezTo>
                        <a:cubicBezTo>
                          <a:pt x="0" y="37"/>
                          <a:pt x="0" y="37"/>
                          <a:pt x="0" y="37"/>
                        </a:cubicBezTo>
                        <a:cubicBezTo>
                          <a:pt x="0" y="17"/>
                          <a:pt x="17" y="0"/>
                          <a:pt x="37" y="0"/>
                        </a:cubicBezTo>
                        <a:cubicBezTo>
                          <a:pt x="295" y="0"/>
                          <a:pt x="295" y="0"/>
                          <a:pt x="295" y="0"/>
                        </a:cubicBezTo>
                        <a:cubicBezTo>
                          <a:pt x="316" y="0"/>
                          <a:pt x="332" y="17"/>
                          <a:pt x="332" y="37"/>
                        </a:cubicBezTo>
                        <a:cubicBezTo>
                          <a:pt x="332" y="394"/>
                          <a:pt x="332" y="394"/>
                          <a:pt x="332" y="394"/>
                        </a:cubicBezTo>
                        <a:cubicBezTo>
                          <a:pt x="332" y="414"/>
                          <a:pt x="316" y="431"/>
                          <a:pt x="295" y="431"/>
                        </a:cubicBezTo>
                        <a:close/>
                        <a:moveTo>
                          <a:pt x="37" y="13"/>
                        </a:moveTo>
                        <a:cubicBezTo>
                          <a:pt x="23" y="13"/>
                          <a:pt x="12" y="24"/>
                          <a:pt x="12" y="37"/>
                        </a:cubicBezTo>
                        <a:cubicBezTo>
                          <a:pt x="12" y="394"/>
                          <a:pt x="12" y="394"/>
                          <a:pt x="12" y="394"/>
                        </a:cubicBezTo>
                        <a:cubicBezTo>
                          <a:pt x="12" y="407"/>
                          <a:pt x="23" y="418"/>
                          <a:pt x="37" y="418"/>
                        </a:cubicBezTo>
                        <a:cubicBezTo>
                          <a:pt x="295" y="418"/>
                          <a:pt x="295" y="418"/>
                          <a:pt x="295" y="418"/>
                        </a:cubicBezTo>
                        <a:cubicBezTo>
                          <a:pt x="309" y="418"/>
                          <a:pt x="320" y="407"/>
                          <a:pt x="320" y="394"/>
                        </a:cubicBezTo>
                        <a:cubicBezTo>
                          <a:pt x="320" y="37"/>
                          <a:pt x="320" y="37"/>
                          <a:pt x="320" y="37"/>
                        </a:cubicBezTo>
                        <a:cubicBezTo>
                          <a:pt x="320" y="24"/>
                          <a:pt x="309" y="13"/>
                          <a:pt x="295" y="13"/>
                        </a:cubicBezTo>
                        <a:lnTo>
                          <a:pt x="37" y="13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  <p:sp>
                <p:nvSpPr>
                  <p:cNvPr id="56" name="Freeform 324">
                    <a:extLst>
                      <a:ext uri="{FF2B5EF4-FFF2-40B4-BE49-F238E27FC236}">
                        <a16:creationId xmlns:a16="http://schemas.microsoft.com/office/drawing/2014/main" id="{5BBEBF60-0DF1-86AA-2BF0-27E02FB66080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862138" y="2779713"/>
                    <a:ext cx="104775" cy="23813"/>
                  </a:xfrm>
                  <a:custGeom>
                    <a:avLst/>
                    <a:gdLst>
                      <a:gd name="T0" fmla="*/ 236 w 242"/>
                      <a:gd name="T1" fmla="*/ 54 h 54"/>
                      <a:gd name="T2" fmla="*/ 7 w 242"/>
                      <a:gd name="T3" fmla="*/ 54 h 54"/>
                      <a:gd name="T4" fmla="*/ 0 w 242"/>
                      <a:gd name="T5" fmla="*/ 48 h 54"/>
                      <a:gd name="T6" fmla="*/ 0 w 242"/>
                      <a:gd name="T7" fmla="*/ 7 h 54"/>
                      <a:gd name="T8" fmla="*/ 7 w 242"/>
                      <a:gd name="T9" fmla="*/ 0 h 54"/>
                      <a:gd name="T10" fmla="*/ 236 w 242"/>
                      <a:gd name="T11" fmla="*/ 0 h 54"/>
                      <a:gd name="T12" fmla="*/ 242 w 242"/>
                      <a:gd name="T13" fmla="*/ 7 h 54"/>
                      <a:gd name="T14" fmla="*/ 242 w 242"/>
                      <a:gd name="T15" fmla="*/ 48 h 54"/>
                      <a:gd name="T16" fmla="*/ 236 w 242"/>
                      <a:gd name="T17" fmla="*/ 54 h 54"/>
                      <a:gd name="T18" fmla="*/ 13 w 242"/>
                      <a:gd name="T19" fmla="*/ 42 h 54"/>
                      <a:gd name="T20" fmla="*/ 230 w 242"/>
                      <a:gd name="T21" fmla="*/ 42 h 54"/>
                      <a:gd name="T22" fmla="*/ 230 w 242"/>
                      <a:gd name="T23" fmla="*/ 13 h 54"/>
                      <a:gd name="T24" fmla="*/ 13 w 242"/>
                      <a:gd name="T25" fmla="*/ 13 h 54"/>
                      <a:gd name="T26" fmla="*/ 13 w 242"/>
                      <a:gd name="T27" fmla="*/ 42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242" h="54">
                        <a:moveTo>
                          <a:pt x="236" y="54"/>
                        </a:moveTo>
                        <a:cubicBezTo>
                          <a:pt x="7" y="54"/>
                          <a:pt x="7" y="54"/>
                          <a:pt x="7" y="54"/>
                        </a:cubicBezTo>
                        <a:cubicBezTo>
                          <a:pt x="3" y="54"/>
                          <a:pt x="0" y="52"/>
                          <a:pt x="0" y="48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3"/>
                          <a:pt x="3" y="0"/>
                          <a:pt x="7" y="0"/>
                        </a:cubicBezTo>
                        <a:cubicBezTo>
                          <a:pt x="236" y="0"/>
                          <a:pt x="236" y="0"/>
                          <a:pt x="236" y="0"/>
                        </a:cubicBezTo>
                        <a:cubicBezTo>
                          <a:pt x="239" y="0"/>
                          <a:pt x="242" y="3"/>
                          <a:pt x="242" y="7"/>
                        </a:cubicBezTo>
                        <a:cubicBezTo>
                          <a:pt x="242" y="48"/>
                          <a:pt x="242" y="48"/>
                          <a:pt x="242" y="48"/>
                        </a:cubicBezTo>
                        <a:cubicBezTo>
                          <a:pt x="242" y="52"/>
                          <a:pt x="239" y="54"/>
                          <a:pt x="236" y="54"/>
                        </a:cubicBezTo>
                        <a:close/>
                        <a:moveTo>
                          <a:pt x="13" y="42"/>
                        </a:moveTo>
                        <a:cubicBezTo>
                          <a:pt x="230" y="42"/>
                          <a:pt x="230" y="42"/>
                          <a:pt x="230" y="42"/>
                        </a:cubicBezTo>
                        <a:cubicBezTo>
                          <a:pt x="230" y="13"/>
                          <a:pt x="230" y="13"/>
                          <a:pt x="230" y="13"/>
                        </a:cubicBezTo>
                        <a:cubicBezTo>
                          <a:pt x="13" y="13"/>
                          <a:pt x="13" y="13"/>
                          <a:pt x="13" y="13"/>
                        </a:cubicBezTo>
                        <a:lnTo>
                          <a:pt x="13" y="42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  <p:sp>
                <p:nvSpPr>
                  <p:cNvPr id="57" name="Freeform 325">
                    <a:extLst>
                      <a:ext uri="{FF2B5EF4-FFF2-40B4-BE49-F238E27FC236}">
                        <a16:creationId xmlns:a16="http://schemas.microsoft.com/office/drawing/2014/main" id="{DEB8BFD1-FE8D-0726-5D79-D3EC74AAB7B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70076" y="2832101"/>
                    <a:ext cx="28575" cy="20638"/>
                  </a:xfrm>
                  <a:custGeom>
                    <a:avLst/>
                    <a:gdLst>
                      <a:gd name="T0" fmla="*/ 25 w 66"/>
                      <a:gd name="T1" fmla="*/ 49 h 49"/>
                      <a:gd name="T2" fmla="*/ 20 w 66"/>
                      <a:gd name="T3" fmla="*/ 47 h 49"/>
                      <a:gd name="T4" fmla="*/ 3 w 66"/>
                      <a:gd name="T5" fmla="*/ 29 h 49"/>
                      <a:gd name="T6" fmla="*/ 3 w 66"/>
                      <a:gd name="T7" fmla="*/ 20 h 49"/>
                      <a:gd name="T8" fmla="*/ 11 w 66"/>
                      <a:gd name="T9" fmla="*/ 20 h 49"/>
                      <a:gd name="T10" fmla="*/ 25 w 66"/>
                      <a:gd name="T11" fmla="*/ 34 h 49"/>
                      <a:gd name="T12" fmla="*/ 55 w 66"/>
                      <a:gd name="T13" fmla="*/ 3 h 49"/>
                      <a:gd name="T14" fmla="*/ 64 w 66"/>
                      <a:gd name="T15" fmla="*/ 3 h 49"/>
                      <a:gd name="T16" fmla="*/ 64 w 66"/>
                      <a:gd name="T17" fmla="*/ 12 h 49"/>
                      <a:gd name="T18" fmla="*/ 29 w 66"/>
                      <a:gd name="T19" fmla="*/ 47 h 49"/>
                      <a:gd name="T20" fmla="*/ 25 w 66"/>
                      <a:gd name="T21" fmla="*/ 49 h 4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66" h="49">
                        <a:moveTo>
                          <a:pt x="25" y="49"/>
                        </a:moveTo>
                        <a:cubicBezTo>
                          <a:pt x="23" y="49"/>
                          <a:pt x="21" y="48"/>
                          <a:pt x="20" y="47"/>
                        </a:cubicBezTo>
                        <a:cubicBezTo>
                          <a:pt x="3" y="29"/>
                          <a:pt x="3" y="29"/>
                          <a:pt x="3" y="29"/>
                        </a:cubicBezTo>
                        <a:cubicBezTo>
                          <a:pt x="0" y="27"/>
                          <a:pt x="0" y="23"/>
                          <a:pt x="3" y="20"/>
                        </a:cubicBezTo>
                        <a:cubicBezTo>
                          <a:pt x="5" y="18"/>
                          <a:pt x="9" y="18"/>
                          <a:pt x="11" y="20"/>
                        </a:cubicBezTo>
                        <a:cubicBezTo>
                          <a:pt x="25" y="34"/>
                          <a:pt x="25" y="34"/>
                          <a:pt x="25" y="34"/>
                        </a:cubicBezTo>
                        <a:cubicBezTo>
                          <a:pt x="55" y="3"/>
                          <a:pt x="55" y="3"/>
                          <a:pt x="55" y="3"/>
                        </a:cubicBezTo>
                        <a:cubicBezTo>
                          <a:pt x="58" y="0"/>
                          <a:pt x="62" y="0"/>
                          <a:pt x="64" y="3"/>
                        </a:cubicBezTo>
                        <a:cubicBezTo>
                          <a:pt x="66" y="5"/>
                          <a:pt x="66" y="9"/>
                          <a:pt x="64" y="12"/>
                        </a:cubicBezTo>
                        <a:cubicBezTo>
                          <a:pt x="29" y="47"/>
                          <a:pt x="29" y="47"/>
                          <a:pt x="29" y="47"/>
                        </a:cubicBezTo>
                        <a:cubicBezTo>
                          <a:pt x="28" y="48"/>
                          <a:pt x="26" y="49"/>
                          <a:pt x="25" y="4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  <p:sp>
                <p:nvSpPr>
                  <p:cNvPr id="58" name="Freeform 326">
                    <a:extLst>
                      <a:ext uri="{FF2B5EF4-FFF2-40B4-BE49-F238E27FC236}">
                        <a16:creationId xmlns:a16="http://schemas.microsoft.com/office/drawing/2014/main" id="{F017D3D5-398D-26CB-7F38-F65B71DE005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70076" y="2870201"/>
                    <a:ext cx="28575" cy="22225"/>
                  </a:xfrm>
                  <a:custGeom>
                    <a:avLst/>
                    <a:gdLst>
                      <a:gd name="T0" fmla="*/ 25 w 66"/>
                      <a:gd name="T1" fmla="*/ 49 h 49"/>
                      <a:gd name="T2" fmla="*/ 20 w 66"/>
                      <a:gd name="T3" fmla="*/ 47 h 49"/>
                      <a:gd name="T4" fmla="*/ 3 w 66"/>
                      <a:gd name="T5" fmla="*/ 29 h 49"/>
                      <a:gd name="T6" fmla="*/ 3 w 66"/>
                      <a:gd name="T7" fmla="*/ 20 h 49"/>
                      <a:gd name="T8" fmla="*/ 11 w 66"/>
                      <a:gd name="T9" fmla="*/ 20 h 49"/>
                      <a:gd name="T10" fmla="*/ 25 w 66"/>
                      <a:gd name="T11" fmla="*/ 34 h 49"/>
                      <a:gd name="T12" fmla="*/ 55 w 66"/>
                      <a:gd name="T13" fmla="*/ 3 h 49"/>
                      <a:gd name="T14" fmla="*/ 64 w 66"/>
                      <a:gd name="T15" fmla="*/ 3 h 49"/>
                      <a:gd name="T16" fmla="*/ 64 w 66"/>
                      <a:gd name="T17" fmla="*/ 12 h 49"/>
                      <a:gd name="T18" fmla="*/ 29 w 66"/>
                      <a:gd name="T19" fmla="*/ 47 h 49"/>
                      <a:gd name="T20" fmla="*/ 25 w 66"/>
                      <a:gd name="T21" fmla="*/ 49 h 4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66" h="49">
                        <a:moveTo>
                          <a:pt x="25" y="49"/>
                        </a:moveTo>
                        <a:cubicBezTo>
                          <a:pt x="23" y="49"/>
                          <a:pt x="21" y="48"/>
                          <a:pt x="20" y="47"/>
                        </a:cubicBezTo>
                        <a:cubicBezTo>
                          <a:pt x="3" y="29"/>
                          <a:pt x="3" y="29"/>
                          <a:pt x="3" y="29"/>
                        </a:cubicBezTo>
                        <a:cubicBezTo>
                          <a:pt x="0" y="27"/>
                          <a:pt x="0" y="23"/>
                          <a:pt x="3" y="20"/>
                        </a:cubicBezTo>
                        <a:cubicBezTo>
                          <a:pt x="5" y="18"/>
                          <a:pt x="9" y="18"/>
                          <a:pt x="11" y="20"/>
                        </a:cubicBezTo>
                        <a:cubicBezTo>
                          <a:pt x="25" y="34"/>
                          <a:pt x="25" y="34"/>
                          <a:pt x="25" y="34"/>
                        </a:cubicBezTo>
                        <a:cubicBezTo>
                          <a:pt x="55" y="3"/>
                          <a:pt x="55" y="3"/>
                          <a:pt x="55" y="3"/>
                        </a:cubicBezTo>
                        <a:cubicBezTo>
                          <a:pt x="58" y="0"/>
                          <a:pt x="62" y="0"/>
                          <a:pt x="64" y="3"/>
                        </a:cubicBezTo>
                        <a:cubicBezTo>
                          <a:pt x="66" y="5"/>
                          <a:pt x="66" y="9"/>
                          <a:pt x="64" y="12"/>
                        </a:cubicBezTo>
                        <a:cubicBezTo>
                          <a:pt x="29" y="47"/>
                          <a:pt x="29" y="47"/>
                          <a:pt x="29" y="47"/>
                        </a:cubicBezTo>
                        <a:cubicBezTo>
                          <a:pt x="28" y="48"/>
                          <a:pt x="26" y="49"/>
                          <a:pt x="25" y="4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  <p:sp>
                <p:nvSpPr>
                  <p:cNvPr id="59" name="Freeform 327">
                    <a:extLst>
                      <a:ext uri="{FF2B5EF4-FFF2-40B4-BE49-F238E27FC236}">
                        <a16:creationId xmlns:a16="http://schemas.microsoft.com/office/drawing/2014/main" id="{071689BC-6054-5DF5-9A56-470547FCDF9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70076" y="2909888"/>
                    <a:ext cx="28575" cy="20638"/>
                  </a:xfrm>
                  <a:custGeom>
                    <a:avLst/>
                    <a:gdLst>
                      <a:gd name="T0" fmla="*/ 25 w 66"/>
                      <a:gd name="T1" fmla="*/ 49 h 49"/>
                      <a:gd name="T2" fmla="*/ 20 w 66"/>
                      <a:gd name="T3" fmla="*/ 47 h 49"/>
                      <a:gd name="T4" fmla="*/ 3 w 66"/>
                      <a:gd name="T5" fmla="*/ 29 h 49"/>
                      <a:gd name="T6" fmla="*/ 3 w 66"/>
                      <a:gd name="T7" fmla="*/ 20 h 49"/>
                      <a:gd name="T8" fmla="*/ 11 w 66"/>
                      <a:gd name="T9" fmla="*/ 20 h 49"/>
                      <a:gd name="T10" fmla="*/ 25 w 66"/>
                      <a:gd name="T11" fmla="*/ 34 h 49"/>
                      <a:gd name="T12" fmla="*/ 55 w 66"/>
                      <a:gd name="T13" fmla="*/ 3 h 49"/>
                      <a:gd name="T14" fmla="*/ 64 w 66"/>
                      <a:gd name="T15" fmla="*/ 3 h 49"/>
                      <a:gd name="T16" fmla="*/ 64 w 66"/>
                      <a:gd name="T17" fmla="*/ 12 h 49"/>
                      <a:gd name="T18" fmla="*/ 29 w 66"/>
                      <a:gd name="T19" fmla="*/ 47 h 49"/>
                      <a:gd name="T20" fmla="*/ 25 w 66"/>
                      <a:gd name="T21" fmla="*/ 49 h 4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66" h="49">
                        <a:moveTo>
                          <a:pt x="25" y="49"/>
                        </a:moveTo>
                        <a:cubicBezTo>
                          <a:pt x="23" y="49"/>
                          <a:pt x="21" y="48"/>
                          <a:pt x="20" y="47"/>
                        </a:cubicBezTo>
                        <a:cubicBezTo>
                          <a:pt x="3" y="29"/>
                          <a:pt x="3" y="29"/>
                          <a:pt x="3" y="29"/>
                        </a:cubicBezTo>
                        <a:cubicBezTo>
                          <a:pt x="0" y="27"/>
                          <a:pt x="0" y="23"/>
                          <a:pt x="3" y="20"/>
                        </a:cubicBezTo>
                        <a:cubicBezTo>
                          <a:pt x="5" y="18"/>
                          <a:pt x="9" y="18"/>
                          <a:pt x="11" y="20"/>
                        </a:cubicBezTo>
                        <a:cubicBezTo>
                          <a:pt x="25" y="34"/>
                          <a:pt x="25" y="34"/>
                          <a:pt x="25" y="34"/>
                        </a:cubicBezTo>
                        <a:cubicBezTo>
                          <a:pt x="55" y="3"/>
                          <a:pt x="55" y="3"/>
                          <a:pt x="55" y="3"/>
                        </a:cubicBezTo>
                        <a:cubicBezTo>
                          <a:pt x="58" y="0"/>
                          <a:pt x="62" y="0"/>
                          <a:pt x="64" y="3"/>
                        </a:cubicBezTo>
                        <a:cubicBezTo>
                          <a:pt x="66" y="5"/>
                          <a:pt x="66" y="9"/>
                          <a:pt x="64" y="12"/>
                        </a:cubicBezTo>
                        <a:cubicBezTo>
                          <a:pt x="29" y="47"/>
                          <a:pt x="29" y="47"/>
                          <a:pt x="29" y="47"/>
                        </a:cubicBezTo>
                        <a:cubicBezTo>
                          <a:pt x="28" y="48"/>
                          <a:pt x="26" y="49"/>
                          <a:pt x="25" y="4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  <p:sp>
                <p:nvSpPr>
                  <p:cNvPr id="60" name="Freeform 328">
                    <a:extLst>
                      <a:ext uri="{FF2B5EF4-FFF2-40B4-BE49-F238E27FC236}">
                        <a16:creationId xmlns:a16="http://schemas.microsoft.com/office/drawing/2014/main" id="{276730A9-0DFD-3680-D422-1DAD4E18CC3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09763" y="2847976"/>
                    <a:ext cx="49213" cy="4763"/>
                  </a:xfrm>
                  <a:custGeom>
                    <a:avLst/>
                    <a:gdLst>
                      <a:gd name="T0" fmla="*/ 106 w 113"/>
                      <a:gd name="T1" fmla="*/ 13 h 13"/>
                      <a:gd name="T2" fmla="*/ 6 w 113"/>
                      <a:gd name="T3" fmla="*/ 13 h 13"/>
                      <a:gd name="T4" fmla="*/ 0 w 113"/>
                      <a:gd name="T5" fmla="*/ 6 h 13"/>
                      <a:gd name="T6" fmla="*/ 6 w 113"/>
                      <a:gd name="T7" fmla="*/ 0 h 13"/>
                      <a:gd name="T8" fmla="*/ 106 w 113"/>
                      <a:gd name="T9" fmla="*/ 0 h 13"/>
                      <a:gd name="T10" fmla="*/ 113 w 113"/>
                      <a:gd name="T11" fmla="*/ 6 h 13"/>
                      <a:gd name="T12" fmla="*/ 106 w 113"/>
                      <a:gd name="T13" fmla="*/ 1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13" h="13">
                        <a:moveTo>
                          <a:pt x="106" y="13"/>
                        </a:moveTo>
                        <a:cubicBezTo>
                          <a:pt x="6" y="13"/>
                          <a:pt x="6" y="13"/>
                          <a:pt x="6" y="13"/>
                        </a:cubicBezTo>
                        <a:cubicBezTo>
                          <a:pt x="3" y="13"/>
                          <a:pt x="0" y="10"/>
                          <a:pt x="0" y="6"/>
                        </a:cubicBezTo>
                        <a:cubicBezTo>
                          <a:pt x="0" y="3"/>
                          <a:pt x="3" y="0"/>
                          <a:pt x="6" y="0"/>
                        </a:cubicBezTo>
                        <a:cubicBezTo>
                          <a:pt x="106" y="0"/>
                          <a:pt x="106" y="0"/>
                          <a:pt x="106" y="0"/>
                        </a:cubicBezTo>
                        <a:cubicBezTo>
                          <a:pt x="110" y="0"/>
                          <a:pt x="113" y="3"/>
                          <a:pt x="113" y="6"/>
                        </a:cubicBezTo>
                        <a:cubicBezTo>
                          <a:pt x="113" y="10"/>
                          <a:pt x="110" y="13"/>
                          <a:pt x="106" y="1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  <p:sp>
                <p:nvSpPr>
                  <p:cNvPr id="61" name="Freeform 329">
                    <a:extLst>
                      <a:ext uri="{FF2B5EF4-FFF2-40B4-BE49-F238E27FC236}">
                        <a16:creationId xmlns:a16="http://schemas.microsoft.com/office/drawing/2014/main" id="{DE685312-8FD2-766B-8F42-54A4105D066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09763" y="2886076"/>
                    <a:ext cx="49213" cy="6350"/>
                  </a:xfrm>
                  <a:custGeom>
                    <a:avLst/>
                    <a:gdLst>
                      <a:gd name="T0" fmla="*/ 106 w 113"/>
                      <a:gd name="T1" fmla="*/ 13 h 13"/>
                      <a:gd name="T2" fmla="*/ 6 w 113"/>
                      <a:gd name="T3" fmla="*/ 13 h 13"/>
                      <a:gd name="T4" fmla="*/ 0 w 113"/>
                      <a:gd name="T5" fmla="*/ 6 h 13"/>
                      <a:gd name="T6" fmla="*/ 6 w 113"/>
                      <a:gd name="T7" fmla="*/ 0 h 13"/>
                      <a:gd name="T8" fmla="*/ 106 w 113"/>
                      <a:gd name="T9" fmla="*/ 0 h 13"/>
                      <a:gd name="T10" fmla="*/ 113 w 113"/>
                      <a:gd name="T11" fmla="*/ 6 h 13"/>
                      <a:gd name="T12" fmla="*/ 106 w 113"/>
                      <a:gd name="T13" fmla="*/ 1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13" h="13">
                        <a:moveTo>
                          <a:pt x="106" y="13"/>
                        </a:moveTo>
                        <a:cubicBezTo>
                          <a:pt x="6" y="13"/>
                          <a:pt x="6" y="13"/>
                          <a:pt x="6" y="13"/>
                        </a:cubicBezTo>
                        <a:cubicBezTo>
                          <a:pt x="3" y="13"/>
                          <a:pt x="0" y="10"/>
                          <a:pt x="0" y="6"/>
                        </a:cubicBezTo>
                        <a:cubicBezTo>
                          <a:pt x="0" y="3"/>
                          <a:pt x="3" y="0"/>
                          <a:pt x="6" y="0"/>
                        </a:cubicBezTo>
                        <a:cubicBezTo>
                          <a:pt x="106" y="0"/>
                          <a:pt x="106" y="0"/>
                          <a:pt x="106" y="0"/>
                        </a:cubicBezTo>
                        <a:cubicBezTo>
                          <a:pt x="110" y="0"/>
                          <a:pt x="113" y="3"/>
                          <a:pt x="113" y="6"/>
                        </a:cubicBezTo>
                        <a:cubicBezTo>
                          <a:pt x="113" y="10"/>
                          <a:pt x="110" y="13"/>
                          <a:pt x="106" y="1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  <p:sp>
                <p:nvSpPr>
                  <p:cNvPr id="62" name="Freeform 330">
                    <a:extLst>
                      <a:ext uri="{FF2B5EF4-FFF2-40B4-BE49-F238E27FC236}">
                        <a16:creationId xmlns:a16="http://schemas.microsoft.com/office/drawing/2014/main" id="{BF560C32-8031-8C94-2E5A-A25063EF6A8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09763" y="2925763"/>
                    <a:ext cx="49213" cy="4763"/>
                  </a:xfrm>
                  <a:custGeom>
                    <a:avLst/>
                    <a:gdLst>
                      <a:gd name="T0" fmla="*/ 106 w 113"/>
                      <a:gd name="T1" fmla="*/ 13 h 13"/>
                      <a:gd name="T2" fmla="*/ 6 w 113"/>
                      <a:gd name="T3" fmla="*/ 13 h 13"/>
                      <a:gd name="T4" fmla="*/ 0 w 113"/>
                      <a:gd name="T5" fmla="*/ 6 h 13"/>
                      <a:gd name="T6" fmla="*/ 6 w 113"/>
                      <a:gd name="T7" fmla="*/ 0 h 13"/>
                      <a:gd name="T8" fmla="*/ 106 w 113"/>
                      <a:gd name="T9" fmla="*/ 0 h 13"/>
                      <a:gd name="T10" fmla="*/ 113 w 113"/>
                      <a:gd name="T11" fmla="*/ 6 h 13"/>
                      <a:gd name="T12" fmla="*/ 106 w 113"/>
                      <a:gd name="T13" fmla="*/ 1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13" h="13">
                        <a:moveTo>
                          <a:pt x="106" y="13"/>
                        </a:moveTo>
                        <a:cubicBezTo>
                          <a:pt x="6" y="13"/>
                          <a:pt x="6" y="13"/>
                          <a:pt x="6" y="13"/>
                        </a:cubicBezTo>
                        <a:cubicBezTo>
                          <a:pt x="3" y="13"/>
                          <a:pt x="0" y="10"/>
                          <a:pt x="0" y="6"/>
                        </a:cubicBezTo>
                        <a:cubicBezTo>
                          <a:pt x="0" y="3"/>
                          <a:pt x="3" y="0"/>
                          <a:pt x="6" y="0"/>
                        </a:cubicBezTo>
                        <a:cubicBezTo>
                          <a:pt x="106" y="0"/>
                          <a:pt x="106" y="0"/>
                          <a:pt x="106" y="0"/>
                        </a:cubicBezTo>
                        <a:cubicBezTo>
                          <a:pt x="110" y="0"/>
                          <a:pt x="113" y="3"/>
                          <a:pt x="113" y="6"/>
                        </a:cubicBezTo>
                        <a:cubicBezTo>
                          <a:pt x="113" y="10"/>
                          <a:pt x="110" y="13"/>
                          <a:pt x="106" y="1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118674" tIns="59337" rIns="118674" bIns="5933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IN" sz="1300"/>
                  </a:p>
                </p:txBody>
              </p:sp>
            </p:grpSp>
            <p:sp>
              <p:nvSpPr>
                <p:cNvPr id="54" name="Freeform 244">
                  <a:extLst>
                    <a:ext uri="{FF2B5EF4-FFF2-40B4-BE49-F238E27FC236}">
                      <a16:creationId xmlns:a16="http://schemas.microsoft.com/office/drawing/2014/main" id="{D1338C8C-3D8A-72CD-CF71-F5331C7779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34656" y="2543810"/>
                  <a:ext cx="785649" cy="904487"/>
                </a:xfrm>
                <a:custGeom>
                  <a:avLst/>
                  <a:gdLst>
                    <a:gd name="T0" fmla="*/ 595 w 595"/>
                    <a:gd name="T1" fmla="*/ 514 h 685"/>
                    <a:gd name="T2" fmla="*/ 297 w 595"/>
                    <a:gd name="T3" fmla="*/ 685 h 685"/>
                    <a:gd name="T4" fmla="*/ 0 w 595"/>
                    <a:gd name="T5" fmla="*/ 514 h 685"/>
                    <a:gd name="T6" fmla="*/ 0 w 595"/>
                    <a:gd name="T7" fmla="*/ 171 h 685"/>
                    <a:gd name="T8" fmla="*/ 297 w 595"/>
                    <a:gd name="T9" fmla="*/ 0 h 685"/>
                    <a:gd name="T10" fmla="*/ 595 w 595"/>
                    <a:gd name="T11" fmla="*/ 171 h 685"/>
                    <a:gd name="T12" fmla="*/ 595 w 595"/>
                    <a:gd name="T13" fmla="*/ 514 h 6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95" h="685">
                      <a:moveTo>
                        <a:pt x="595" y="514"/>
                      </a:moveTo>
                      <a:lnTo>
                        <a:pt x="297" y="685"/>
                      </a:lnTo>
                      <a:lnTo>
                        <a:pt x="0" y="514"/>
                      </a:lnTo>
                      <a:lnTo>
                        <a:pt x="0" y="171"/>
                      </a:lnTo>
                      <a:lnTo>
                        <a:pt x="297" y="0"/>
                      </a:lnTo>
                      <a:lnTo>
                        <a:pt x="595" y="171"/>
                      </a:lnTo>
                      <a:lnTo>
                        <a:pt x="595" y="51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vert="horz" wrap="square" lIns="90813" tIns="45407" rIns="90813" bIns="45407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IN" sz="130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sp>
          <p:nvSpPr>
            <p:cNvPr id="8" name="Shape11_20210706_143526">
              <a:extLst>
                <a:ext uri="{FF2B5EF4-FFF2-40B4-BE49-F238E27FC236}">
                  <a16:creationId xmlns:a16="http://schemas.microsoft.com/office/drawing/2014/main" id="{6946E2E7-458D-495D-07EB-45C61FEE0E0F}"/>
                </a:ext>
              </a:extLst>
            </p:cNvPr>
            <p:cNvSpPr txBox="1"/>
            <p:nvPr/>
          </p:nvSpPr>
          <p:spPr>
            <a:xfrm>
              <a:off x="3936493" y="5903061"/>
              <a:ext cx="963291" cy="4333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defRPr/>
              </a:pPr>
              <a:r>
                <a:rPr lang="en-IN" sz="1000" dirty="0" err="1"/>
                <a:t>Px</a:t>
              </a:r>
              <a:r>
                <a:rPr lang="en-IN" sz="1000" dirty="0"/>
                <a:t>, Dx, Rx event classes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F6397B7-E235-49D5-AD1E-2915F3ED48F1}"/>
                </a:ext>
              </a:extLst>
            </p:cNvPr>
            <p:cNvGrpSpPr/>
            <p:nvPr/>
          </p:nvGrpSpPr>
          <p:grpSpPr>
            <a:xfrm>
              <a:off x="2981768" y="2893014"/>
              <a:ext cx="4047048" cy="2403230"/>
              <a:chOff x="2981768" y="2893014"/>
              <a:chExt cx="4047048" cy="2403230"/>
            </a:xfrm>
          </p:grpSpPr>
          <p:sp>
            <p:nvSpPr>
              <p:cNvPr id="10" name="Shape11_20210706_143526">
                <a:extLst>
                  <a:ext uri="{FF2B5EF4-FFF2-40B4-BE49-F238E27FC236}">
                    <a16:creationId xmlns:a16="http://schemas.microsoft.com/office/drawing/2014/main" id="{10E86116-A893-9B7F-B674-3BDB6D0879D2}"/>
                  </a:ext>
                </a:extLst>
              </p:cNvPr>
              <p:cNvSpPr txBox="1"/>
              <p:nvPr/>
            </p:nvSpPr>
            <p:spPr>
              <a:xfrm>
                <a:off x="2981768" y="3033913"/>
                <a:ext cx="963291" cy="43330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algn="r">
                  <a:defRPr/>
                </a:pPr>
                <a:r>
                  <a:rPr lang="en-IN" sz="1000" dirty="0" err="1"/>
                  <a:t>Px</a:t>
                </a:r>
                <a:r>
                  <a:rPr lang="en-IN" sz="1000" dirty="0"/>
                  <a:t>, Dx, Rx event classes</a:t>
                </a:r>
              </a:p>
            </p:txBody>
          </p:sp>
          <p:grpSp>
            <p:nvGrpSpPr>
              <p:cNvPr id="11" name="Shape27_20200720_105846">
                <a:extLst>
                  <a:ext uri="{FF2B5EF4-FFF2-40B4-BE49-F238E27FC236}">
                    <a16:creationId xmlns:a16="http://schemas.microsoft.com/office/drawing/2014/main" id="{2A1FA568-DCDF-B729-6A6D-F36D2AD1194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796222" y="2893014"/>
                <a:ext cx="232594" cy="440886"/>
                <a:chOff x="1066800" y="3460751"/>
                <a:chExt cx="103192" cy="188913"/>
              </a:xfrm>
              <a:solidFill>
                <a:schemeClr val="accent3"/>
              </a:solidFill>
            </p:grpSpPr>
            <p:sp>
              <p:nvSpPr>
                <p:cNvPr id="14" name="Freeform 930">
                  <a:extLst>
                    <a:ext uri="{FF2B5EF4-FFF2-40B4-BE49-F238E27FC236}">
                      <a16:creationId xmlns:a16="http://schemas.microsoft.com/office/drawing/2014/main" id="{0398F54B-FEBB-781C-9579-5796900186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04900" y="3581401"/>
                  <a:ext cx="6350" cy="57150"/>
                </a:xfrm>
                <a:custGeom>
                  <a:avLst/>
                  <a:gdLst>
                    <a:gd name="T0" fmla="*/ 6 w 12"/>
                    <a:gd name="T1" fmla="*/ 131 h 131"/>
                    <a:gd name="T2" fmla="*/ 0 w 12"/>
                    <a:gd name="T3" fmla="*/ 125 h 131"/>
                    <a:gd name="T4" fmla="*/ 0 w 12"/>
                    <a:gd name="T5" fmla="*/ 6 h 131"/>
                    <a:gd name="T6" fmla="*/ 6 w 12"/>
                    <a:gd name="T7" fmla="*/ 0 h 131"/>
                    <a:gd name="T8" fmla="*/ 12 w 12"/>
                    <a:gd name="T9" fmla="*/ 6 h 131"/>
                    <a:gd name="T10" fmla="*/ 12 w 12"/>
                    <a:gd name="T11" fmla="*/ 125 h 131"/>
                    <a:gd name="T12" fmla="*/ 6 w 12"/>
                    <a:gd name="T13" fmla="*/ 131 h 1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2" h="131">
                      <a:moveTo>
                        <a:pt x="6" y="131"/>
                      </a:moveTo>
                      <a:cubicBezTo>
                        <a:pt x="3" y="131"/>
                        <a:pt x="0" y="128"/>
                        <a:pt x="0" y="125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9" y="0"/>
                        <a:pt x="12" y="3"/>
                        <a:pt x="12" y="6"/>
                      </a:cubicBezTo>
                      <a:cubicBezTo>
                        <a:pt x="12" y="125"/>
                        <a:pt x="12" y="125"/>
                        <a:pt x="12" y="125"/>
                      </a:cubicBezTo>
                      <a:cubicBezTo>
                        <a:pt x="12" y="128"/>
                        <a:pt x="9" y="131"/>
                        <a:pt x="6" y="131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accent1"/>
                  </a:solidFill>
                </a:ln>
              </p:spPr>
              <p:txBody>
                <a:bodyPr vert="horz" wrap="square" lIns="118674" tIns="59337" rIns="118674" bIns="59337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1300"/>
                </a:p>
              </p:txBody>
            </p:sp>
            <p:sp>
              <p:nvSpPr>
                <p:cNvPr id="15" name="Freeform 931">
                  <a:extLst>
                    <a:ext uri="{FF2B5EF4-FFF2-40B4-BE49-F238E27FC236}">
                      <a16:creationId xmlns:a16="http://schemas.microsoft.com/office/drawing/2014/main" id="{C1A44455-F7FE-A7A3-5A79-A8FBC89FA4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66800" y="3502026"/>
                  <a:ext cx="82550" cy="147638"/>
                </a:xfrm>
                <a:custGeom>
                  <a:avLst/>
                  <a:gdLst>
                    <a:gd name="T0" fmla="*/ 120 w 189"/>
                    <a:gd name="T1" fmla="*/ 336 h 336"/>
                    <a:gd name="T2" fmla="*/ 95 w 189"/>
                    <a:gd name="T3" fmla="*/ 323 h 336"/>
                    <a:gd name="T4" fmla="*/ 70 w 189"/>
                    <a:gd name="T5" fmla="*/ 336 h 336"/>
                    <a:gd name="T6" fmla="*/ 40 w 189"/>
                    <a:gd name="T7" fmla="*/ 305 h 336"/>
                    <a:gd name="T8" fmla="*/ 40 w 189"/>
                    <a:gd name="T9" fmla="*/ 170 h 336"/>
                    <a:gd name="T10" fmla="*/ 29 w 189"/>
                    <a:gd name="T11" fmla="*/ 174 h 336"/>
                    <a:gd name="T12" fmla="*/ 9 w 189"/>
                    <a:gd name="T13" fmla="*/ 167 h 336"/>
                    <a:gd name="T14" fmla="*/ 0 w 189"/>
                    <a:gd name="T15" fmla="*/ 148 h 336"/>
                    <a:gd name="T16" fmla="*/ 0 w 189"/>
                    <a:gd name="T17" fmla="*/ 45 h 336"/>
                    <a:gd name="T18" fmla="*/ 46 w 189"/>
                    <a:gd name="T19" fmla="*/ 0 h 336"/>
                    <a:gd name="T20" fmla="*/ 144 w 189"/>
                    <a:gd name="T21" fmla="*/ 0 h 336"/>
                    <a:gd name="T22" fmla="*/ 189 w 189"/>
                    <a:gd name="T23" fmla="*/ 45 h 336"/>
                    <a:gd name="T24" fmla="*/ 189 w 189"/>
                    <a:gd name="T25" fmla="*/ 148 h 336"/>
                    <a:gd name="T26" fmla="*/ 189 w 189"/>
                    <a:gd name="T27" fmla="*/ 154 h 336"/>
                    <a:gd name="T28" fmla="*/ 181 w 189"/>
                    <a:gd name="T29" fmla="*/ 159 h 336"/>
                    <a:gd name="T30" fmla="*/ 177 w 189"/>
                    <a:gd name="T31" fmla="*/ 151 h 336"/>
                    <a:gd name="T32" fmla="*/ 177 w 189"/>
                    <a:gd name="T33" fmla="*/ 148 h 336"/>
                    <a:gd name="T34" fmla="*/ 177 w 189"/>
                    <a:gd name="T35" fmla="*/ 45 h 336"/>
                    <a:gd name="T36" fmla="*/ 144 w 189"/>
                    <a:gd name="T37" fmla="*/ 12 h 336"/>
                    <a:gd name="T38" fmla="*/ 46 w 189"/>
                    <a:gd name="T39" fmla="*/ 12 h 336"/>
                    <a:gd name="T40" fmla="*/ 13 w 189"/>
                    <a:gd name="T41" fmla="*/ 45 h 336"/>
                    <a:gd name="T42" fmla="*/ 13 w 189"/>
                    <a:gd name="T43" fmla="*/ 148 h 336"/>
                    <a:gd name="T44" fmla="*/ 17 w 189"/>
                    <a:gd name="T45" fmla="*/ 158 h 336"/>
                    <a:gd name="T46" fmla="*/ 27 w 189"/>
                    <a:gd name="T47" fmla="*/ 161 h 336"/>
                    <a:gd name="T48" fmla="*/ 40 w 189"/>
                    <a:gd name="T49" fmla="*/ 147 h 336"/>
                    <a:gd name="T50" fmla="*/ 46 w 189"/>
                    <a:gd name="T51" fmla="*/ 141 h 336"/>
                    <a:gd name="T52" fmla="*/ 52 w 189"/>
                    <a:gd name="T53" fmla="*/ 147 h 336"/>
                    <a:gd name="T54" fmla="*/ 52 w 189"/>
                    <a:gd name="T55" fmla="*/ 305 h 336"/>
                    <a:gd name="T56" fmla="*/ 70 w 189"/>
                    <a:gd name="T57" fmla="*/ 323 h 336"/>
                    <a:gd name="T58" fmla="*/ 89 w 189"/>
                    <a:gd name="T59" fmla="*/ 305 h 336"/>
                    <a:gd name="T60" fmla="*/ 95 w 189"/>
                    <a:gd name="T61" fmla="*/ 299 h 336"/>
                    <a:gd name="T62" fmla="*/ 101 w 189"/>
                    <a:gd name="T63" fmla="*/ 305 h 336"/>
                    <a:gd name="T64" fmla="*/ 120 w 189"/>
                    <a:gd name="T65" fmla="*/ 323 h 336"/>
                    <a:gd name="T66" fmla="*/ 138 w 189"/>
                    <a:gd name="T67" fmla="*/ 305 h 336"/>
                    <a:gd name="T68" fmla="*/ 138 w 189"/>
                    <a:gd name="T69" fmla="*/ 238 h 336"/>
                    <a:gd name="T70" fmla="*/ 144 w 189"/>
                    <a:gd name="T71" fmla="*/ 232 h 336"/>
                    <a:gd name="T72" fmla="*/ 150 w 189"/>
                    <a:gd name="T73" fmla="*/ 238 h 336"/>
                    <a:gd name="T74" fmla="*/ 150 w 189"/>
                    <a:gd name="T75" fmla="*/ 305 h 336"/>
                    <a:gd name="T76" fmla="*/ 120 w 189"/>
                    <a:gd name="T77" fmla="*/ 336 h 3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189" h="336">
                      <a:moveTo>
                        <a:pt x="120" y="336"/>
                      </a:moveTo>
                      <a:cubicBezTo>
                        <a:pt x="109" y="336"/>
                        <a:pt x="101" y="331"/>
                        <a:pt x="95" y="323"/>
                      </a:cubicBezTo>
                      <a:cubicBezTo>
                        <a:pt x="89" y="331"/>
                        <a:pt x="80" y="336"/>
                        <a:pt x="70" y="336"/>
                      </a:cubicBezTo>
                      <a:cubicBezTo>
                        <a:pt x="53" y="336"/>
                        <a:pt x="40" y="322"/>
                        <a:pt x="40" y="305"/>
                      </a:cubicBezTo>
                      <a:cubicBezTo>
                        <a:pt x="40" y="170"/>
                        <a:pt x="40" y="170"/>
                        <a:pt x="40" y="170"/>
                      </a:cubicBezTo>
                      <a:cubicBezTo>
                        <a:pt x="36" y="172"/>
                        <a:pt x="33" y="173"/>
                        <a:pt x="29" y="174"/>
                      </a:cubicBezTo>
                      <a:cubicBezTo>
                        <a:pt x="21" y="174"/>
                        <a:pt x="14" y="172"/>
                        <a:pt x="9" y="167"/>
                      </a:cubicBezTo>
                      <a:cubicBezTo>
                        <a:pt x="4" y="162"/>
                        <a:pt x="0" y="155"/>
                        <a:pt x="0" y="148"/>
                      </a:cubicBezTo>
                      <a:cubicBezTo>
                        <a:pt x="0" y="45"/>
                        <a:pt x="0" y="45"/>
                        <a:pt x="0" y="45"/>
                      </a:cubicBezTo>
                      <a:cubicBezTo>
                        <a:pt x="0" y="20"/>
                        <a:pt x="21" y="0"/>
                        <a:pt x="46" y="0"/>
                      </a:cubicBezTo>
                      <a:cubicBezTo>
                        <a:pt x="144" y="0"/>
                        <a:pt x="144" y="0"/>
                        <a:pt x="144" y="0"/>
                      </a:cubicBezTo>
                      <a:cubicBezTo>
                        <a:pt x="169" y="0"/>
                        <a:pt x="189" y="20"/>
                        <a:pt x="189" y="45"/>
                      </a:cubicBezTo>
                      <a:cubicBezTo>
                        <a:pt x="189" y="148"/>
                        <a:pt x="189" y="148"/>
                        <a:pt x="189" y="148"/>
                      </a:cubicBezTo>
                      <a:cubicBezTo>
                        <a:pt x="189" y="150"/>
                        <a:pt x="189" y="152"/>
                        <a:pt x="189" y="154"/>
                      </a:cubicBezTo>
                      <a:cubicBezTo>
                        <a:pt x="188" y="157"/>
                        <a:pt x="185" y="159"/>
                        <a:pt x="181" y="159"/>
                      </a:cubicBezTo>
                      <a:cubicBezTo>
                        <a:pt x="178" y="158"/>
                        <a:pt x="176" y="154"/>
                        <a:pt x="177" y="151"/>
                      </a:cubicBezTo>
                      <a:cubicBezTo>
                        <a:pt x="177" y="150"/>
                        <a:pt x="177" y="149"/>
                        <a:pt x="177" y="148"/>
                      </a:cubicBezTo>
                      <a:cubicBezTo>
                        <a:pt x="177" y="45"/>
                        <a:pt x="177" y="45"/>
                        <a:pt x="177" y="45"/>
                      </a:cubicBezTo>
                      <a:cubicBezTo>
                        <a:pt x="177" y="27"/>
                        <a:pt x="162" y="12"/>
                        <a:pt x="144" y="12"/>
                      </a:cubicBezTo>
                      <a:cubicBezTo>
                        <a:pt x="46" y="12"/>
                        <a:pt x="46" y="12"/>
                        <a:pt x="46" y="12"/>
                      </a:cubicBezTo>
                      <a:cubicBezTo>
                        <a:pt x="27" y="12"/>
                        <a:pt x="13" y="27"/>
                        <a:pt x="13" y="45"/>
                      </a:cubicBezTo>
                      <a:cubicBezTo>
                        <a:pt x="13" y="148"/>
                        <a:pt x="13" y="148"/>
                        <a:pt x="13" y="148"/>
                      </a:cubicBezTo>
                      <a:cubicBezTo>
                        <a:pt x="13" y="152"/>
                        <a:pt x="14" y="155"/>
                        <a:pt x="17" y="158"/>
                      </a:cubicBezTo>
                      <a:cubicBezTo>
                        <a:pt x="20" y="161"/>
                        <a:pt x="24" y="162"/>
                        <a:pt x="27" y="161"/>
                      </a:cubicBezTo>
                      <a:cubicBezTo>
                        <a:pt x="34" y="161"/>
                        <a:pt x="40" y="155"/>
                        <a:pt x="40" y="147"/>
                      </a:cubicBezTo>
                      <a:cubicBezTo>
                        <a:pt x="40" y="144"/>
                        <a:pt x="42" y="141"/>
                        <a:pt x="46" y="141"/>
                      </a:cubicBezTo>
                      <a:cubicBezTo>
                        <a:pt x="49" y="141"/>
                        <a:pt x="52" y="144"/>
                        <a:pt x="52" y="147"/>
                      </a:cubicBezTo>
                      <a:cubicBezTo>
                        <a:pt x="52" y="305"/>
                        <a:pt x="52" y="305"/>
                        <a:pt x="52" y="305"/>
                      </a:cubicBezTo>
                      <a:cubicBezTo>
                        <a:pt x="52" y="315"/>
                        <a:pt x="60" y="323"/>
                        <a:pt x="70" y="323"/>
                      </a:cubicBezTo>
                      <a:cubicBezTo>
                        <a:pt x="81" y="323"/>
                        <a:pt x="89" y="315"/>
                        <a:pt x="89" y="305"/>
                      </a:cubicBezTo>
                      <a:cubicBezTo>
                        <a:pt x="89" y="302"/>
                        <a:pt x="92" y="299"/>
                        <a:pt x="95" y="299"/>
                      </a:cubicBezTo>
                      <a:cubicBezTo>
                        <a:pt x="98" y="299"/>
                        <a:pt x="101" y="302"/>
                        <a:pt x="101" y="305"/>
                      </a:cubicBezTo>
                      <a:cubicBezTo>
                        <a:pt x="101" y="315"/>
                        <a:pt x="109" y="323"/>
                        <a:pt x="120" y="323"/>
                      </a:cubicBezTo>
                      <a:cubicBezTo>
                        <a:pt x="130" y="323"/>
                        <a:pt x="138" y="315"/>
                        <a:pt x="138" y="305"/>
                      </a:cubicBezTo>
                      <a:cubicBezTo>
                        <a:pt x="138" y="238"/>
                        <a:pt x="138" y="238"/>
                        <a:pt x="138" y="238"/>
                      </a:cubicBezTo>
                      <a:cubicBezTo>
                        <a:pt x="138" y="235"/>
                        <a:pt x="141" y="232"/>
                        <a:pt x="144" y="232"/>
                      </a:cubicBezTo>
                      <a:cubicBezTo>
                        <a:pt x="148" y="232"/>
                        <a:pt x="150" y="235"/>
                        <a:pt x="150" y="238"/>
                      </a:cubicBezTo>
                      <a:cubicBezTo>
                        <a:pt x="150" y="305"/>
                        <a:pt x="150" y="305"/>
                        <a:pt x="150" y="305"/>
                      </a:cubicBezTo>
                      <a:cubicBezTo>
                        <a:pt x="150" y="322"/>
                        <a:pt x="136" y="336"/>
                        <a:pt x="120" y="336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accent1"/>
                  </a:solidFill>
                </a:ln>
              </p:spPr>
              <p:txBody>
                <a:bodyPr vert="horz" wrap="square" lIns="118674" tIns="59337" rIns="118674" bIns="59337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1300" dirty="0"/>
                </a:p>
              </p:txBody>
            </p:sp>
            <p:sp>
              <p:nvSpPr>
                <p:cNvPr id="16" name="Freeform 932">
                  <a:extLst>
                    <a:ext uri="{FF2B5EF4-FFF2-40B4-BE49-F238E27FC236}">
                      <a16:creationId xmlns:a16="http://schemas.microsoft.com/office/drawing/2014/main" id="{651C89BD-1372-2B5F-63F1-B9D7117A03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84263" y="3502026"/>
                  <a:ext cx="47625" cy="4763"/>
                </a:xfrm>
                <a:custGeom>
                  <a:avLst/>
                  <a:gdLst>
                    <a:gd name="T0" fmla="*/ 104 w 110"/>
                    <a:gd name="T1" fmla="*/ 12 h 12"/>
                    <a:gd name="T2" fmla="*/ 6 w 110"/>
                    <a:gd name="T3" fmla="*/ 12 h 12"/>
                    <a:gd name="T4" fmla="*/ 0 w 110"/>
                    <a:gd name="T5" fmla="*/ 6 h 12"/>
                    <a:gd name="T6" fmla="*/ 6 w 110"/>
                    <a:gd name="T7" fmla="*/ 0 h 12"/>
                    <a:gd name="T8" fmla="*/ 104 w 110"/>
                    <a:gd name="T9" fmla="*/ 0 h 12"/>
                    <a:gd name="T10" fmla="*/ 110 w 110"/>
                    <a:gd name="T11" fmla="*/ 6 h 12"/>
                    <a:gd name="T12" fmla="*/ 104 w 110"/>
                    <a:gd name="T13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10" h="12">
                      <a:moveTo>
                        <a:pt x="104" y="12"/>
                      </a:move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2" y="12"/>
                        <a:pt x="0" y="9"/>
                        <a:pt x="0" y="6"/>
                      </a:cubicBezTo>
                      <a:cubicBezTo>
                        <a:pt x="0" y="2"/>
                        <a:pt x="2" y="0"/>
                        <a:pt x="6" y="0"/>
                      </a:cubicBezTo>
                      <a:cubicBezTo>
                        <a:pt x="104" y="0"/>
                        <a:pt x="104" y="0"/>
                        <a:pt x="104" y="0"/>
                      </a:cubicBezTo>
                      <a:cubicBezTo>
                        <a:pt x="108" y="0"/>
                        <a:pt x="110" y="2"/>
                        <a:pt x="110" y="6"/>
                      </a:cubicBezTo>
                      <a:cubicBezTo>
                        <a:pt x="110" y="9"/>
                        <a:pt x="108" y="12"/>
                        <a:pt x="104" y="12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accent1"/>
                  </a:solidFill>
                </a:ln>
              </p:spPr>
              <p:txBody>
                <a:bodyPr vert="horz" wrap="square" lIns="118674" tIns="59337" rIns="118674" bIns="59337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1300"/>
                </a:p>
              </p:txBody>
            </p:sp>
            <p:sp>
              <p:nvSpPr>
                <p:cNvPr id="17" name="Freeform 933">
                  <a:extLst>
                    <a:ext uri="{FF2B5EF4-FFF2-40B4-BE49-F238E27FC236}">
                      <a16:creationId xmlns:a16="http://schemas.microsoft.com/office/drawing/2014/main" id="{77794714-86BC-9CEB-D461-DB3B4EA1DA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84263" y="3532188"/>
                  <a:ext cx="4763" cy="36513"/>
                </a:xfrm>
                <a:custGeom>
                  <a:avLst/>
                  <a:gdLst>
                    <a:gd name="T0" fmla="*/ 6 w 12"/>
                    <a:gd name="T1" fmla="*/ 83 h 83"/>
                    <a:gd name="T2" fmla="*/ 0 w 12"/>
                    <a:gd name="T3" fmla="*/ 77 h 83"/>
                    <a:gd name="T4" fmla="*/ 0 w 12"/>
                    <a:gd name="T5" fmla="*/ 6 h 83"/>
                    <a:gd name="T6" fmla="*/ 6 w 12"/>
                    <a:gd name="T7" fmla="*/ 0 h 83"/>
                    <a:gd name="T8" fmla="*/ 12 w 12"/>
                    <a:gd name="T9" fmla="*/ 6 h 83"/>
                    <a:gd name="T10" fmla="*/ 12 w 12"/>
                    <a:gd name="T11" fmla="*/ 77 h 83"/>
                    <a:gd name="T12" fmla="*/ 6 w 12"/>
                    <a:gd name="T13" fmla="*/ 83 h 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2" h="83">
                      <a:moveTo>
                        <a:pt x="6" y="83"/>
                      </a:moveTo>
                      <a:cubicBezTo>
                        <a:pt x="2" y="83"/>
                        <a:pt x="0" y="81"/>
                        <a:pt x="0" y="77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2" y="0"/>
                        <a:pt x="6" y="0"/>
                      </a:cubicBezTo>
                      <a:cubicBezTo>
                        <a:pt x="9" y="0"/>
                        <a:pt x="12" y="3"/>
                        <a:pt x="12" y="6"/>
                      </a:cubicBezTo>
                      <a:cubicBezTo>
                        <a:pt x="12" y="77"/>
                        <a:pt x="12" y="77"/>
                        <a:pt x="12" y="77"/>
                      </a:cubicBezTo>
                      <a:cubicBezTo>
                        <a:pt x="12" y="81"/>
                        <a:pt x="9" y="83"/>
                        <a:pt x="6" y="83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accent1"/>
                  </a:solidFill>
                </a:ln>
              </p:spPr>
              <p:txBody>
                <a:bodyPr vert="horz" wrap="square" lIns="118674" tIns="59337" rIns="118674" bIns="59337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1300" dirty="0"/>
                </a:p>
              </p:txBody>
            </p:sp>
            <p:sp>
              <p:nvSpPr>
                <p:cNvPr id="18" name="Freeform 934">
                  <a:extLst>
                    <a:ext uri="{FF2B5EF4-FFF2-40B4-BE49-F238E27FC236}">
                      <a16:creationId xmlns:a16="http://schemas.microsoft.com/office/drawing/2014/main" id="{7618C452-B28C-DE30-2E32-4390BC57C4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27125" y="3532188"/>
                  <a:ext cx="4763" cy="36513"/>
                </a:xfrm>
                <a:custGeom>
                  <a:avLst/>
                  <a:gdLst>
                    <a:gd name="T0" fmla="*/ 6 w 12"/>
                    <a:gd name="T1" fmla="*/ 83 h 83"/>
                    <a:gd name="T2" fmla="*/ 0 w 12"/>
                    <a:gd name="T3" fmla="*/ 77 h 83"/>
                    <a:gd name="T4" fmla="*/ 0 w 12"/>
                    <a:gd name="T5" fmla="*/ 6 h 83"/>
                    <a:gd name="T6" fmla="*/ 6 w 12"/>
                    <a:gd name="T7" fmla="*/ 0 h 83"/>
                    <a:gd name="T8" fmla="*/ 12 w 12"/>
                    <a:gd name="T9" fmla="*/ 6 h 83"/>
                    <a:gd name="T10" fmla="*/ 12 w 12"/>
                    <a:gd name="T11" fmla="*/ 77 h 83"/>
                    <a:gd name="T12" fmla="*/ 6 w 12"/>
                    <a:gd name="T13" fmla="*/ 83 h 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2" h="83">
                      <a:moveTo>
                        <a:pt x="6" y="83"/>
                      </a:moveTo>
                      <a:cubicBezTo>
                        <a:pt x="3" y="83"/>
                        <a:pt x="0" y="81"/>
                        <a:pt x="0" y="77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10" y="0"/>
                        <a:pt x="12" y="3"/>
                        <a:pt x="12" y="6"/>
                      </a:cubicBezTo>
                      <a:cubicBezTo>
                        <a:pt x="12" y="77"/>
                        <a:pt x="12" y="77"/>
                        <a:pt x="12" y="77"/>
                      </a:cubicBezTo>
                      <a:cubicBezTo>
                        <a:pt x="12" y="81"/>
                        <a:pt x="10" y="83"/>
                        <a:pt x="6" y="83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accent1"/>
                  </a:solidFill>
                </a:ln>
              </p:spPr>
              <p:txBody>
                <a:bodyPr vert="horz" wrap="square" lIns="118674" tIns="59337" rIns="118674" bIns="59337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1300"/>
                </a:p>
              </p:txBody>
            </p:sp>
            <p:sp>
              <p:nvSpPr>
                <p:cNvPr id="19" name="Freeform 935">
                  <a:extLst>
                    <a:ext uri="{FF2B5EF4-FFF2-40B4-BE49-F238E27FC236}">
                      <a16:creationId xmlns:a16="http://schemas.microsoft.com/office/drawing/2014/main" id="{6C12B157-7CF9-4C14-7197-1F0131E20DA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090613" y="3460751"/>
                  <a:ext cx="34925" cy="34925"/>
                </a:xfrm>
                <a:custGeom>
                  <a:avLst/>
                  <a:gdLst>
                    <a:gd name="T0" fmla="*/ 39 w 78"/>
                    <a:gd name="T1" fmla="*/ 78 h 78"/>
                    <a:gd name="T2" fmla="*/ 0 w 78"/>
                    <a:gd name="T3" fmla="*/ 39 h 78"/>
                    <a:gd name="T4" fmla="*/ 39 w 78"/>
                    <a:gd name="T5" fmla="*/ 0 h 78"/>
                    <a:gd name="T6" fmla="*/ 78 w 78"/>
                    <a:gd name="T7" fmla="*/ 39 h 78"/>
                    <a:gd name="T8" fmla="*/ 39 w 78"/>
                    <a:gd name="T9" fmla="*/ 78 h 78"/>
                    <a:gd name="T10" fmla="*/ 39 w 78"/>
                    <a:gd name="T11" fmla="*/ 12 h 78"/>
                    <a:gd name="T12" fmla="*/ 12 w 78"/>
                    <a:gd name="T13" fmla="*/ 39 h 78"/>
                    <a:gd name="T14" fmla="*/ 39 w 78"/>
                    <a:gd name="T15" fmla="*/ 66 h 78"/>
                    <a:gd name="T16" fmla="*/ 66 w 78"/>
                    <a:gd name="T17" fmla="*/ 39 h 78"/>
                    <a:gd name="T18" fmla="*/ 39 w 78"/>
                    <a:gd name="T19" fmla="*/ 12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8" h="78">
                      <a:moveTo>
                        <a:pt x="39" y="78"/>
                      </a:moveTo>
                      <a:cubicBezTo>
                        <a:pt x="17" y="78"/>
                        <a:pt x="0" y="61"/>
                        <a:pt x="0" y="39"/>
                      </a:cubicBezTo>
                      <a:cubicBezTo>
                        <a:pt x="0" y="17"/>
                        <a:pt x="17" y="0"/>
                        <a:pt x="39" y="0"/>
                      </a:cubicBezTo>
                      <a:cubicBezTo>
                        <a:pt x="61" y="0"/>
                        <a:pt x="78" y="17"/>
                        <a:pt x="78" y="39"/>
                      </a:cubicBezTo>
                      <a:cubicBezTo>
                        <a:pt x="78" y="61"/>
                        <a:pt x="61" y="78"/>
                        <a:pt x="39" y="78"/>
                      </a:cubicBezTo>
                      <a:close/>
                      <a:moveTo>
                        <a:pt x="39" y="12"/>
                      </a:moveTo>
                      <a:cubicBezTo>
                        <a:pt x="24" y="12"/>
                        <a:pt x="12" y="24"/>
                        <a:pt x="12" y="39"/>
                      </a:cubicBezTo>
                      <a:cubicBezTo>
                        <a:pt x="12" y="54"/>
                        <a:pt x="24" y="66"/>
                        <a:pt x="39" y="66"/>
                      </a:cubicBezTo>
                      <a:cubicBezTo>
                        <a:pt x="54" y="66"/>
                        <a:pt x="66" y="54"/>
                        <a:pt x="66" y="39"/>
                      </a:cubicBezTo>
                      <a:cubicBezTo>
                        <a:pt x="66" y="24"/>
                        <a:pt x="54" y="12"/>
                        <a:pt x="39" y="12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accent1"/>
                  </a:solidFill>
                </a:ln>
              </p:spPr>
              <p:txBody>
                <a:bodyPr vert="horz" wrap="square" lIns="118674" tIns="59337" rIns="118674" bIns="59337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1300"/>
                </a:p>
              </p:txBody>
            </p:sp>
            <p:sp>
              <p:nvSpPr>
                <p:cNvPr id="20" name="Freeform 936">
                  <a:extLst>
                    <a:ext uri="{FF2B5EF4-FFF2-40B4-BE49-F238E27FC236}">
                      <a16:creationId xmlns:a16="http://schemas.microsoft.com/office/drawing/2014/main" id="{D70BFA60-25AD-0DE9-CBA6-46BAB7DD2E3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04904" y="3567113"/>
                  <a:ext cx="65088" cy="41275"/>
                </a:xfrm>
                <a:custGeom>
                  <a:avLst/>
                  <a:gdLst>
                    <a:gd name="T0" fmla="*/ 129 w 149"/>
                    <a:gd name="T1" fmla="*/ 94 h 94"/>
                    <a:gd name="T2" fmla="*/ 19 w 149"/>
                    <a:gd name="T3" fmla="*/ 94 h 94"/>
                    <a:gd name="T4" fmla="*/ 0 w 149"/>
                    <a:gd name="T5" fmla="*/ 74 h 94"/>
                    <a:gd name="T6" fmla="*/ 0 w 149"/>
                    <a:gd name="T7" fmla="*/ 19 h 94"/>
                    <a:gd name="T8" fmla="*/ 19 w 149"/>
                    <a:gd name="T9" fmla="*/ 0 h 94"/>
                    <a:gd name="T10" fmla="*/ 129 w 149"/>
                    <a:gd name="T11" fmla="*/ 0 h 94"/>
                    <a:gd name="T12" fmla="*/ 149 w 149"/>
                    <a:gd name="T13" fmla="*/ 19 h 94"/>
                    <a:gd name="T14" fmla="*/ 149 w 149"/>
                    <a:gd name="T15" fmla="*/ 74 h 94"/>
                    <a:gd name="T16" fmla="*/ 129 w 149"/>
                    <a:gd name="T17" fmla="*/ 94 h 94"/>
                    <a:gd name="T18" fmla="*/ 19 w 149"/>
                    <a:gd name="T19" fmla="*/ 12 h 94"/>
                    <a:gd name="T20" fmla="*/ 12 w 149"/>
                    <a:gd name="T21" fmla="*/ 19 h 94"/>
                    <a:gd name="T22" fmla="*/ 12 w 149"/>
                    <a:gd name="T23" fmla="*/ 74 h 94"/>
                    <a:gd name="T24" fmla="*/ 19 w 149"/>
                    <a:gd name="T25" fmla="*/ 82 h 94"/>
                    <a:gd name="T26" fmla="*/ 129 w 149"/>
                    <a:gd name="T27" fmla="*/ 82 h 94"/>
                    <a:gd name="T28" fmla="*/ 137 w 149"/>
                    <a:gd name="T29" fmla="*/ 74 h 94"/>
                    <a:gd name="T30" fmla="*/ 137 w 149"/>
                    <a:gd name="T31" fmla="*/ 19 h 94"/>
                    <a:gd name="T32" fmla="*/ 129 w 149"/>
                    <a:gd name="T33" fmla="*/ 12 h 94"/>
                    <a:gd name="T34" fmla="*/ 19 w 149"/>
                    <a:gd name="T35" fmla="*/ 12 h 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9" h="94">
                      <a:moveTo>
                        <a:pt x="129" y="94"/>
                      </a:moveTo>
                      <a:cubicBezTo>
                        <a:pt x="19" y="94"/>
                        <a:pt x="19" y="94"/>
                        <a:pt x="19" y="94"/>
                      </a:cubicBezTo>
                      <a:cubicBezTo>
                        <a:pt x="9" y="94"/>
                        <a:pt x="0" y="85"/>
                        <a:pt x="0" y="74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9"/>
                        <a:pt x="9" y="0"/>
                        <a:pt x="19" y="0"/>
                      </a:cubicBezTo>
                      <a:cubicBezTo>
                        <a:pt x="129" y="0"/>
                        <a:pt x="129" y="0"/>
                        <a:pt x="129" y="0"/>
                      </a:cubicBezTo>
                      <a:cubicBezTo>
                        <a:pt x="140" y="0"/>
                        <a:pt x="149" y="9"/>
                        <a:pt x="149" y="19"/>
                      </a:cubicBezTo>
                      <a:cubicBezTo>
                        <a:pt x="149" y="74"/>
                        <a:pt x="149" y="74"/>
                        <a:pt x="149" y="74"/>
                      </a:cubicBezTo>
                      <a:cubicBezTo>
                        <a:pt x="149" y="85"/>
                        <a:pt x="140" y="94"/>
                        <a:pt x="129" y="94"/>
                      </a:cubicBezTo>
                      <a:close/>
                      <a:moveTo>
                        <a:pt x="19" y="12"/>
                      </a:moveTo>
                      <a:cubicBezTo>
                        <a:pt x="15" y="12"/>
                        <a:pt x="12" y="15"/>
                        <a:pt x="12" y="19"/>
                      </a:cubicBezTo>
                      <a:cubicBezTo>
                        <a:pt x="12" y="74"/>
                        <a:pt x="12" y="74"/>
                        <a:pt x="12" y="74"/>
                      </a:cubicBezTo>
                      <a:cubicBezTo>
                        <a:pt x="12" y="78"/>
                        <a:pt x="15" y="82"/>
                        <a:pt x="19" y="82"/>
                      </a:cubicBezTo>
                      <a:cubicBezTo>
                        <a:pt x="129" y="82"/>
                        <a:pt x="129" y="82"/>
                        <a:pt x="129" y="82"/>
                      </a:cubicBezTo>
                      <a:cubicBezTo>
                        <a:pt x="133" y="82"/>
                        <a:pt x="137" y="78"/>
                        <a:pt x="137" y="74"/>
                      </a:cubicBezTo>
                      <a:cubicBezTo>
                        <a:pt x="137" y="19"/>
                        <a:pt x="137" y="19"/>
                        <a:pt x="137" y="19"/>
                      </a:cubicBezTo>
                      <a:cubicBezTo>
                        <a:pt x="137" y="15"/>
                        <a:pt x="133" y="12"/>
                        <a:pt x="129" y="12"/>
                      </a:cubicBezTo>
                      <a:lnTo>
                        <a:pt x="19" y="12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accent1"/>
                  </a:solidFill>
                </a:ln>
              </p:spPr>
              <p:txBody>
                <a:bodyPr vert="horz" wrap="square" lIns="118674" tIns="59337" rIns="118674" bIns="59337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1300" dirty="0"/>
                </a:p>
              </p:txBody>
            </p:sp>
          </p:grp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0D6A41B-98DC-3E4A-A215-245B4E217F9C}"/>
                  </a:ext>
                </a:extLst>
              </p:cNvPr>
              <p:cNvSpPr/>
              <p:nvPr/>
            </p:nvSpPr>
            <p:spPr>
              <a:xfrm>
                <a:off x="5616180" y="4699937"/>
                <a:ext cx="398734" cy="587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/>
              </a:p>
            </p:txBody>
          </p:sp>
          <p:pic>
            <p:nvPicPr>
              <p:cNvPr id="13" name="Picture 12" descr="A blue arrows pointing to the left&#10;&#10;Description automatically generated">
                <a:extLst>
                  <a:ext uri="{FF2B5EF4-FFF2-40B4-BE49-F238E27FC236}">
                    <a16:creationId xmlns:a16="http://schemas.microsoft.com/office/drawing/2014/main" id="{DD09F4B6-058E-E91E-6F1B-F71476D2B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24192" y="4769081"/>
                <a:ext cx="527163" cy="527163"/>
              </a:xfrm>
              <a:prstGeom prst="rect">
                <a:avLst/>
              </a:prstGeom>
            </p:spPr>
          </p:pic>
        </p:grpSp>
      </p:grpSp>
      <p:graphicFrame>
        <p:nvGraphicFramePr>
          <p:cNvPr id="95" name="Diagram 94">
            <a:extLst>
              <a:ext uri="{FF2B5EF4-FFF2-40B4-BE49-F238E27FC236}">
                <a16:creationId xmlns:a16="http://schemas.microsoft.com/office/drawing/2014/main" id="{3EFB0489-EE2B-8BA2-6FB2-AC4244FA04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2686586"/>
              </p:ext>
            </p:extLst>
          </p:nvPr>
        </p:nvGraphicFramePr>
        <p:xfrm>
          <a:off x="7131065" y="1616490"/>
          <a:ext cx="4889842" cy="43878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6" name="TextBox 95">
            <a:extLst>
              <a:ext uri="{FF2B5EF4-FFF2-40B4-BE49-F238E27FC236}">
                <a16:creationId xmlns:a16="http://schemas.microsoft.com/office/drawing/2014/main" id="{CB4F542C-B090-7105-1085-D9D026C9BD91}"/>
              </a:ext>
            </a:extLst>
          </p:cNvPr>
          <p:cNvSpPr txBox="1"/>
          <p:nvPr/>
        </p:nvSpPr>
        <p:spPr>
          <a:xfrm>
            <a:off x="7484125" y="1403386"/>
            <a:ext cx="4038600" cy="3626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171450" algn="ctr"/>
            <a:r>
              <a:rPr lang="en-US" sz="1200" dirty="0">
                <a:solidFill>
                  <a:schemeClr val="tx1"/>
                </a:solidFill>
              </a:rPr>
              <a:t>Over 6K features are developed  across various events in the patient journey </a:t>
            </a:r>
          </a:p>
        </p:txBody>
      </p:sp>
      <p:sp>
        <p:nvSpPr>
          <p:cNvPr id="97" name="Speech Bubble: Rectangle 96">
            <a:extLst>
              <a:ext uri="{FF2B5EF4-FFF2-40B4-BE49-F238E27FC236}">
                <a16:creationId xmlns:a16="http://schemas.microsoft.com/office/drawing/2014/main" id="{CCC4EFD3-0344-56C4-3D39-FE48F0509E25}"/>
              </a:ext>
            </a:extLst>
          </p:cNvPr>
          <p:cNvSpPr/>
          <p:nvPr/>
        </p:nvSpPr>
        <p:spPr>
          <a:xfrm>
            <a:off x="179996" y="1956014"/>
            <a:ext cx="2150215" cy="794525"/>
          </a:xfrm>
          <a:prstGeom prst="wedgeRectCallout">
            <a:avLst>
              <a:gd name="adj1" fmla="val 11123"/>
              <a:gd name="adj2" fmla="val 79853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>
                    <a:lumMod val="10000"/>
                  </a:schemeClr>
                </a:solidFill>
              </a:rPr>
              <a:t>Transfusion Burden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>
                    <a:lumMod val="10000"/>
                  </a:schemeClr>
                </a:solidFill>
              </a:rPr>
              <a:t>Dosage modification &amp; delay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>
                    <a:lumMod val="10000"/>
                  </a:schemeClr>
                </a:solidFill>
              </a:rPr>
              <a:t>Iron chelation therapy</a:t>
            </a:r>
            <a:endParaRPr lang="en-IN" sz="1200" dirty="0" err="1">
              <a:solidFill>
                <a:schemeClr val="tx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296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AD05E82A-2F7C-9284-384A-DE9622D07B35}"/>
              </a:ext>
            </a:extLst>
          </p:cNvPr>
          <p:cNvSpPr/>
          <p:nvPr/>
        </p:nvSpPr>
        <p:spPr>
          <a:xfrm>
            <a:off x="453420" y="1496290"/>
            <a:ext cx="4753369" cy="42772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IN" b="1" dirty="0" err="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BE63D9-2579-E013-0C06-A9112298A5A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17FD7E-A021-819C-DF5E-DCBB7BE439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17E807-23D1-8AAA-9CD2-64CAB4CCC7F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Model Training and Hold-out data</a:t>
            </a:r>
          </a:p>
          <a:p>
            <a:r>
              <a:rPr lang="en-US" sz="1700" dirty="0">
                <a:solidFill>
                  <a:srgbClr val="203661"/>
                </a:solidFill>
                <a:cs typeface="Times New Roman" panose="02020603050405020304" pitchFamily="18" charset="0"/>
              </a:rPr>
              <a:t>231K training instances are fed into the model with only 5% instances with line progression in next 3 months</a:t>
            </a:r>
            <a:endParaRPr lang="en-IN" sz="1700" dirty="0"/>
          </a:p>
        </p:txBody>
      </p:sp>
      <p:pic>
        <p:nvPicPr>
          <p:cNvPr id="7" name="Graphic 6" descr="Database with solid fill">
            <a:extLst>
              <a:ext uri="{FF2B5EF4-FFF2-40B4-BE49-F238E27FC236}">
                <a16:creationId xmlns:a16="http://schemas.microsoft.com/office/drawing/2014/main" id="{6C64D0B7-E37B-9313-74F7-EEEADDC48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067" y="2866860"/>
            <a:ext cx="1313469" cy="1332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404B1F-7763-2F0B-D538-F922F8E425A3}"/>
              </a:ext>
            </a:extLst>
          </p:cNvPr>
          <p:cNvSpPr txBox="1"/>
          <p:nvPr/>
        </p:nvSpPr>
        <p:spPr>
          <a:xfrm>
            <a:off x="872654" y="2356128"/>
            <a:ext cx="2363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>
                <a:schemeClr val="bg2"/>
              </a:buClr>
              <a:tabLst/>
            </a:pPr>
            <a:r>
              <a:rPr lang="en-US" sz="1200" b="1" dirty="0"/>
              <a:t>Patient Monthly Data</a:t>
            </a:r>
          </a:p>
          <a:p>
            <a:pPr algn="l">
              <a:buClr>
                <a:schemeClr val="bg2"/>
              </a:buClr>
              <a:tabLst/>
            </a:pPr>
            <a:r>
              <a:rPr lang="en-US" sz="1200" u="sng" dirty="0"/>
              <a:t>Time-period</a:t>
            </a:r>
            <a:r>
              <a:rPr lang="en-US" sz="1200" dirty="0"/>
              <a:t>: Jan’23 till Sep’24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CC575B6-9B61-B68D-1F15-36F6D4A9B904}"/>
              </a:ext>
            </a:extLst>
          </p:cNvPr>
          <p:cNvCxnSpPr>
            <a:cxnSpLocks/>
          </p:cNvCxnSpPr>
          <p:nvPr/>
        </p:nvCxnSpPr>
        <p:spPr>
          <a:xfrm flipV="1">
            <a:off x="2250536" y="2598808"/>
            <a:ext cx="1313469" cy="960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 descr="Database with solid fill">
            <a:extLst>
              <a:ext uri="{FF2B5EF4-FFF2-40B4-BE49-F238E27FC236}">
                <a16:creationId xmlns:a16="http://schemas.microsoft.com/office/drawing/2014/main" id="{E6483853-B864-47E8-4C80-488F9FC66B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38981" y="1932808"/>
            <a:ext cx="1313475" cy="1332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430CF85-6B5E-04CF-6E27-D8D00584CFA6}"/>
              </a:ext>
            </a:extLst>
          </p:cNvPr>
          <p:cNvSpPr txBox="1"/>
          <p:nvPr/>
        </p:nvSpPr>
        <p:spPr>
          <a:xfrm>
            <a:off x="3454272" y="1613103"/>
            <a:ext cx="1591860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1200" b="1" dirty="0"/>
              <a:t>Model Training data</a:t>
            </a:r>
          </a:p>
        </p:txBody>
      </p:sp>
      <p:pic>
        <p:nvPicPr>
          <p:cNvPr id="12" name="Graphic 11" descr="Database with solid fill">
            <a:extLst>
              <a:ext uri="{FF2B5EF4-FFF2-40B4-BE49-F238E27FC236}">
                <a16:creationId xmlns:a16="http://schemas.microsoft.com/office/drawing/2014/main" id="{E34E2B00-D42F-9D07-275B-B55DF3B65A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38981" y="4257603"/>
            <a:ext cx="1313475" cy="1332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D0C3855-4205-7D53-FC2E-434A123458F4}"/>
              </a:ext>
            </a:extLst>
          </p:cNvPr>
          <p:cNvSpPr txBox="1"/>
          <p:nvPr/>
        </p:nvSpPr>
        <p:spPr>
          <a:xfrm>
            <a:off x="3593468" y="3853846"/>
            <a:ext cx="1313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1200" b="1" dirty="0"/>
              <a:t>Model Hold-out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4065EEC-3D03-DADF-B666-4601300B8050}"/>
              </a:ext>
            </a:extLst>
          </p:cNvPr>
          <p:cNvCxnSpPr>
            <a:cxnSpLocks/>
          </p:cNvCxnSpPr>
          <p:nvPr/>
        </p:nvCxnSpPr>
        <p:spPr>
          <a:xfrm>
            <a:off x="2250536" y="3559327"/>
            <a:ext cx="1313469" cy="1330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peech Bubble: Rectangle with Corners Rounded 19">
            <a:extLst>
              <a:ext uri="{FF2B5EF4-FFF2-40B4-BE49-F238E27FC236}">
                <a16:creationId xmlns:a16="http://schemas.microsoft.com/office/drawing/2014/main" id="{E4CEBEE7-C575-30EA-E48C-B861DB3B9E83}"/>
              </a:ext>
            </a:extLst>
          </p:cNvPr>
          <p:cNvSpPr/>
          <p:nvPr/>
        </p:nvSpPr>
        <p:spPr>
          <a:xfrm>
            <a:off x="4459490" y="5460238"/>
            <a:ext cx="1880854" cy="440088"/>
          </a:xfrm>
          <a:prstGeom prst="wedgeRoundRectCallout">
            <a:avLst>
              <a:gd name="adj1" fmla="val -40068"/>
              <a:gd name="adj2" fmla="val -98628"/>
              <a:gd name="adj3" fmla="val 16667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sz="1200" b="1" dirty="0"/>
              <a:t>Model performance will be evaluated on this data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CBC1A9-0626-46CE-0878-4E48E6856135}"/>
              </a:ext>
            </a:extLst>
          </p:cNvPr>
          <p:cNvSpPr txBox="1"/>
          <p:nvPr/>
        </p:nvSpPr>
        <p:spPr>
          <a:xfrm>
            <a:off x="3634977" y="1814981"/>
            <a:ext cx="11214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1200" dirty="0"/>
              <a:t>80% of data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9B76B5-2A0E-2936-8072-02FCF73FBEC3}"/>
              </a:ext>
            </a:extLst>
          </p:cNvPr>
          <p:cNvSpPr txBox="1"/>
          <p:nvPr/>
        </p:nvSpPr>
        <p:spPr>
          <a:xfrm>
            <a:off x="3647490" y="4086265"/>
            <a:ext cx="11214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1200" dirty="0"/>
              <a:t>20% of data</a:t>
            </a: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70870146-3494-C577-803A-AA365B303E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120759"/>
              </p:ext>
            </p:extLst>
          </p:nvPr>
        </p:nvGraphicFramePr>
        <p:xfrm>
          <a:off x="6140900" y="2714011"/>
          <a:ext cx="5391970" cy="1797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535">
                  <a:extLst>
                    <a:ext uri="{9D8B030D-6E8A-4147-A177-3AD203B41FA5}">
                      <a16:colId xmlns:a16="http://schemas.microsoft.com/office/drawing/2014/main" val="296024932"/>
                    </a:ext>
                  </a:extLst>
                </a:gridCol>
                <a:gridCol w="1434698">
                  <a:extLst>
                    <a:ext uri="{9D8B030D-6E8A-4147-A177-3AD203B41FA5}">
                      <a16:colId xmlns:a16="http://schemas.microsoft.com/office/drawing/2014/main" val="4073359331"/>
                    </a:ext>
                  </a:extLst>
                </a:gridCol>
                <a:gridCol w="1434698">
                  <a:extLst>
                    <a:ext uri="{9D8B030D-6E8A-4147-A177-3AD203B41FA5}">
                      <a16:colId xmlns:a16="http://schemas.microsoft.com/office/drawing/2014/main" val="856402699"/>
                    </a:ext>
                  </a:extLst>
                </a:gridCol>
                <a:gridCol w="1735039">
                  <a:extLst>
                    <a:ext uri="{9D8B030D-6E8A-4147-A177-3AD203B41FA5}">
                      <a16:colId xmlns:a16="http://schemas.microsoft.com/office/drawing/2014/main" val="3087183135"/>
                    </a:ext>
                  </a:extLst>
                </a:gridCol>
              </a:tblGrid>
              <a:tr h="714966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107698" marR="107698" marT="44503" marB="44503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#Unique Patients</a:t>
                      </a:r>
                    </a:p>
                  </a:txBody>
                  <a:tcPr marL="107698" marR="107698" marT="44503" marB="4450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# Patient * month</a:t>
                      </a:r>
                    </a:p>
                  </a:txBody>
                  <a:tcPr marL="107698" marR="107698" marT="44503" marB="44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% Progressing in next 3 months from cohort date</a:t>
                      </a:r>
                    </a:p>
                  </a:txBody>
                  <a:tcPr marL="107698" marR="107698" marT="44503" marB="44503" anchor="ctr"/>
                </a:tc>
                <a:extLst>
                  <a:ext uri="{0D108BD9-81ED-4DB2-BD59-A6C34878D82A}">
                    <a16:rowId xmlns:a16="http://schemas.microsoft.com/office/drawing/2014/main" val="2477536185"/>
                  </a:ext>
                </a:extLst>
              </a:tr>
              <a:tr h="457296">
                <a:tc>
                  <a:txBody>
                    <a:bodyPr/>
                    <a:lstStyle/>
                    <a:p>
                      <a:r>
                        <a:rPr lang="en-US" sz="1200" b="1" dirty="0"/>
                        <a:t>Training</a:t>
                      </a:r>
                    </a:p>
                  </a:txBody>
                  <a:tcPr marL="107698" marR="107698" marT="44503" marB="44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27,039</a:t>
                      </a:r>
                    </a:p>
                  </a:txBody>
                  <a:tcPr marL="107698" marR="107698" marT="44503" marB="44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231,433</a:t>
                      </a:r>
                    </a:p>
                  </a:txBody>
                  <a:tcPr marL="107698" marR="107698" marT="44503" marB="44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5%</a:t>
                      </a:r>
                    </a:p>
                  </a:txBody>
                  <a:tcPr marL="107698" marR="107698" marT="44503" marB="44503" anchor="ctr"/>
                </a:tc>
                <a:extLst>
                  <a:ext uri="{0D108BD9-81ED-4DB2-BD59-A6C34878D82A}">
                    <a16:rowId xmlns:a16="http://schemas.microsoft.com/office/drawing/2014/main" val="3957770867"/>
                  </a:ext>
                </a:extLst>
              </a:tr>
              <a:tr h="625173">
                <a:tc>
                  <a:txBody>
                    <a:bodyPr/>
                    <a:lstStyle/>
                    <a:p>
                      <a:r>
                        <a:rPr lang="en-US" sz="1200" b="1" dirty="0"/>
                        <a:t>Holdout</a:t>
                      </a:r>
                    </a:p>
                  </a:txBody>
                  <a:tcPr marL="107698" marR="107698" marT="44503" marB="44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6,759</a:t>
                      </a:r>
                    </a:p>
                  </a:txBody>
                  <a:tcPr marL="107698" marR="107698" marT="44503" marB="44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57,859</a:t>
                      </a:r>
                    </a:p>
                  </a:txBody>
                  <a:tcPr marL="107698" marR="107698" marT="44503" marB="44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5%</a:t>
                      </a:r>
                    </a:p>
                  </a:txBody>
                  <a:tcPr marL="107698" marR="107698" marT="44503" marB="44503" anchor="ctr"/>
                </a:tc>
                <a:extLst>
                  <a:ext uri="{0D108BD9-81ED-4DB2-BD59-A6C34878D82A}">
                    <a16:rowId xmlns:a16="http://schemas.microsoft.com/office/drawing/2014/main" val="2671785065"/>
                  </a:ext>
                </a:extLst>
              </a:tr>
            </a:tbl>
          </a:graphicData>
        </a:graphic>
      </p:graphicFrame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C3C75FDE-F234-97B2-146C-C306A4BD84A6}"/>
              </a:ext>
            </a:extLst>
          </p:cNvPr>
          <p:cNvSpPr/>
          <p:nvPr/>
        </p:nvSpPr>
        <p:spPr>
          <a:xfrm rot="5400000">
            <a:off x="4676052" y="3516349"/>
            <a:ext cx="1794143" cy="31764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IN" b="1" dirty="0" err="1"/>
          </a:p>
        </p:txBody>
      </p:sp>
    </p:spTree>
    <p:extLst>
      <p:ext uri="{BB962C8B-B14F-4D97-AF65-F5344CB8AC3E}">
        <p14:creationId xmlns:p14="http://schemas.microsoft.com/office/powerpoint/2010/main" val="2631422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64928A8A-8317-E58F-D6D4-04E8CDAD7805}"/>
              </a:ext>
            </a:extLst>
          </p:cNvPr>
          <p:cNvSpPr/>
          <p:nvPr/>
        </p:nvSpPr>
        <p:spPr>
          <a:xfrm>
            <a:off x="4592418" y="1639019"/>
            <a:ext cx="2155391" cy="4392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IN" b="1" dirty="0" err="1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B90C888-3031-F665-B473-D9B1024BFD9B}"/>
              </a:ext>
            </a:extLst>
          </p:cNvPr>
          <p:cNvSpPr/>
          <p:nvPr/>
        </p:nvSpPr>
        <p:spPr>
          <a:xfrm>
            <a:off x="476092" y="1639019"/>
            <a:ext cx="3634929" cy="43921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IN" b="1" dirty="0" err="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BCE8B0-CB65-8E7E-7EF9-DC0EC2C519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F55829-140E-9F53-EE10-6B7574750A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1DBA1C-EDF3-BC9D-0092-8528EF9AF3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Evaluating </a:t>
            </a:r>
            <a:r>
              <a:rPr lang="en-US" dirty="0"/>
              <a:t>Model-Driven Predictions vs. Field Call Activity: Account Sampling Approach</a:t>
            </a:r>
            <a:endParaRPr lang="en-IN" dirty="0"/>
          </a:p>
        </p:txBody>
      </p:sp>
      <p:pic>
        <p:nvPicPr>
          <p:cNvPr id="13" name="Graphic 12" descr="Robot with solid fill">
            <a:extLst>
              <a:ext uri="{FF2B5EF4-FFF2-40B4-BE49-F238E27FC236}">
                <a16:creationId xmlns:a16="http://schemas.microsoft.com/office/drawing/2014/main" id="{A99C517E-C665-558F-F743-EC05CCB72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560" y="2330263"/>
            <a:ext cx="720000" cy="720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2E784F1-E678-D2D0-DFD4-EEF078EF7547}"/>
              </a:ext>
            </a:extLst>
          </p:cNvPr>
          <p:cNvSpPr txBox="1"/>
          <p:nvPr/>
        </p:nvSpPr>
        <p:spPr bwMode="gray">
          <a:xfrm>
            <a:off x="606468" y="2028788"/>
            <a:ext cx="1027139" cy="374432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rtlCol="0" anchor="ctr">
            <a:normAutofit/>
          </a:bodyPr>
          <a:lstStyle/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Model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5281B5C-37BF-CC81-5971-FE29DED2420C}"/>
              </a:ext>
            </a:extLst>
          </p:cNvPr>
          <p:cNvSpPr/>
          <p:nvPr/>
        </p:nvSpPr>
        <p:spPr>
          <a:xfrm>
            <a:off x="1497829" y="2623295"/>
            <a:ext cx="326825" cy="217067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IN" b="1" dirty="0" err="1"/>
          </a:p>
        </p:txBody>
      </p:sp>
      <p:pic>
        <p:nvPicPr>
          <p:cNvPr id="17" name="Graphic 16" descr="Clipboard Checked with solid fill">
            <a:extLst>
              <a:ext uri="{FF2B5EF4-FFF2-40B4-BE49-F238E27FC236}">
                <a16:creationId xmlns:a16="http://schemas.microsoft.com/office/drawing/2014/main" id="{238B9202-91C5-3BE7-DD7A-3F3D5B037F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79923" y="2330263"/>
            <a:ext cx="720000" cy="720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6A039AC-EF4C-538A-F5EB-6D0710C67DFB}"/>
              </a:ext>
            </a:extLst>
          </p:cNvPr>
          <p:cNvSpPr txBox="1"/>
          <p:nvPr/>
        </p:nvSpPr>
        <p:spPr bwMode="gray">
          <a:xfrm>
            <a:off x="1824654" y="1980505"/>
            <a:ext cx="914400" cy="422715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rtlCol="0" anchor="ctr">
            <a:normAutofit fontScale="92500"/>
          </a:bodyPr>
          <a:lstStyle/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Oct’ 24 Patient predictions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2C37D0-DE2B-C5E4-6DD0-989EE2A99ABF}"/>
              </a:ext>
            </a:extLst>
          </p:cNvPr>
          <p:cNvSpPr txBox="1"/>
          <p:nvPr/>
        </p:nvSpPr>
        <p:spPr bwMode="gray">
          <a:xfrm>
            <a:off x="1549686" y="3013222"/>
            <a:ext cx="1312483" cy="462466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rtlCol="0" anchor="ctr">
            <a:normAutofit/>
          </a:bodyPr>
          <a:lstStyle/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450 High &amp; Medium confidence patient predictions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8D7AAB2-D18B-E1F0-78FF-D829AB6EF6BB}"/>
              </a:ext>
            </a:extLst>
          </p:cNvPr>
          <p:cNvSpPr/>
          <p:nvPr/>
        </p:nvSpPr>
        <p:spPr>
          <a:xfrm>
            <a:off x="2700535" y="2623295"/>
            <a:ext cx="326825" cy="217067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IN" b="1" dirty="0" err="1"/>
          </a:p>
        </p:txBody>
      </p:sp>
      <p:pic>
        <p:nvPicPr>
          <p:cNvPr id="22" name="Graphic 21" descr="Hospital with solid fill">
            <a:extLst>
              <a:ext uri="{FF2B5EF4-FFF2-40B4-BE49-F238E27FC236}">
                <a16:creationId xmlns:a16="http://schemas.microsoft.com/office/drawing/2014/main" id="{6CEFF77F-6147-66FB-390B-80E1E83DC4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34486" y="2330263"/>
            <a:ext cx="720000" cy="720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F113159-BEAF-45BB-2702-EFC8547B5F45}"/>
              </a:ext>
            </a:extLst>
          </p:cNvPr>
          <p:cNvSpPr txBox="1"/>
          <p:nvPr/>
        </p:nvSpPr>
        <p:spPr bwMode="gray">
          <a:xfrm>
            <a:off x="3037286" y="2028788"/>
            <a:ext cx="914400" cy="374432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rtlCol="0" anchor="ctr">
            <a:normAutofit/>
          </a:bodyPr>
          <a:lstStyle/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L2 Accounts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BC86DA-16DA-6DBF-5698-DB9FC96EC0D6}"/>
              </a:ext>
            </a:extLst>
          </p:cNvPr>
          <p:cNvSpPr txBox="1"/>
          <p:nvPr/>
        </p:nvSpPr>
        <p:spPr bwMode="gray">
          <a:xfrm>
            <a:off x="2872404" y="3013222"/>
            <a:ext cx="1238617" cy="462466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rtlCol="0" anchor="ctr">
            <a:normAutofit/>
          </a:bodyPr>
          <a:lstStyle/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lang="en-IN" sz="900" b="1" dirty="0">
                <a:solidFill>
                  <a:schemeClr val="tx2">
                    <a:lumMod val="10000"/>
                  </a:schemeClr>
                </a:solidFill>
                <a:latin typeface="Source Sans Pro"/>
              </a:rPr>
              <a:t>320</a:t>
            </a: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L2 accounts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86B2EB-484E-82B6-48C7-10571AA67D67}"/>
              </a:ext>
            </a:extLst>
          </p:cNvPr>
          <p:cNvSpPr txBox="1"/>
          <p:nvPr/>
        </p:nvSpPr>
        <p:spPr bwMode="gray">
          <a:xfrm>
            <a:off x="719207" y="4033434"/>
            <a:ext cx="807215" cy="374432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rtlCol="0" anchor="ctr">
            <a:normAutofit/>
          </a:bodyPr>
          <a:lstStyle/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GDARS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494B562A-C148-D38B-0AA1-60343E30104A}"/>
              </a:ext>
            </a:extLst>
          </p:cNvPr>
          <p:cNvSpPr/>
          <p:nvPr/>
        </p:nvSpPr>
        <p:spPr>
          <a:xfrm>
            <a:off x="1497829" y="4627941"/>
            <a:ext cx="326825" cy="217067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IN" b="1" dirty="0" err="1"/>
          </a:p>
        </p:txBody>
      </p:sp>
      <p:pic>
        <p:nvPicPr>
          <p:cNvPr id="29" name="Graphic 28" descr="Clipboard Checked with solid fill">
            <a:extLst>
              <a:ext uri="{FF2B5EF4-FFF2-40B4-BE49-F238E27FC236}">
                <a16:creationId xmlns:a16="http://schemas.microsoft.com/office/drawing/2014/main" id="{E6B62ED8-3510-6299-E97C-755EA22D8C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79923" y="4334909"/>
            <a:ext cx="720000" cy="7200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01AB492-7B15-1D6E-6E76-D900CCA6E74F}"/>
              </a:ext>
            </a:extLst>
          </p:cNvPr>
          <p:cNvSpPr txBox="1"/>
          <p:nvPr/>
        </p:nvSpPr>
        <p:spPr bwMode="gray">
          <a:xfrm>
            <a:off x="1824654" y="3985151"/>
            <a:ext cx="914400" cy="422715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rtlCol="0" anchor="ctr">
            <a:normAutofit/>
          </a:bodyPr>
          <a:lstStyle/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Oct’ 24 call activity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A1FF28C-C550-FDB2-321C-088BC547A46F}"/>
              </a:ext>
            </a:extLst>
          </p:cNvPr>
          <p:cNvSpPr/>
          <p:nvPr/>
        </p:nvSpPr>
        <p:spPr>
          <a:xfrm>
            <a:off x="2700535" y="4627941"/>
            <a:ext cx="326825" cy="217067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IN" b="1" dirty="0" err="1"/>
          </a:p>
        </p:txBody>
      </p:sp>
      <p:pic>
        <p:nvPicPr>
          <p:cNvPr id="33" name="Graphic 32" descr="Hospital with solid fill">
            <a:extLst>
              <a:ext uri="{FF2B5EF4-FFF2-40B4-BE49-F238E27FC236}">
                <a16:creationId xmlns:a16="http://schemas.microsoft.com/office/drawing/2014/main" id="{A2395FC6-157B-3D65-54BA-7E05FCD5F9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34486" y="4334909"/>
            <a:ext cx="720000" cy="7200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689DF4D-B3D2-0D0F-5C8C-D10D0F8E7EB0}"/>
              </a:ext>
            </a:extLst>
          </p:cNvPr>
          <p:cNvSpPr txBox="1"/>
          <p:nvPr/>
        </p:nvSpPr>
        <p:spPr bwMode="gray">
          <a:xfrm>
            <a:off x="3037286" y="4033434"/>
            <a:ext cx="914400" cy="374432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rtlCol="0" anchor="ctr">
            <a:normAutofit/>
          </a:bodyPr>
          <a:lstStyle/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L2 Accounts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2734FB-8683-4B95-EC39-B16803666C9F}"/>
              </a:ext>
            </a:extLst>
          </p:cNvPr>
          <p:cNvSpPr txBox="1"/>
          <p:nvPr/>
        </p:nvSpPr>
        <p:spPr bwMode="gray">
          <a:xfrm>
            <a:off x="2872405" y="5017868"/>
            <a:ext cx="1140376" cy="462466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180975" marR="0" indent="-17145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926 L2 accounts with at least 1 call</a:t>
            </a:r>
          </a:p>
          <a:p>
            <a:pPr marL="180975" marR="0" indent="-17145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tabLst/>
            </a:pPr>
            <a:r>
              <a:rPr lang="en-IN" sz="900" b="1" dirty="0">
                <a:solidFill>
                  <a:schemeClr val="tx2">
                    <a:lumMod val="10000"/>
                  </a:schemeClr>
                </a:solidFill>
                <a:latin typeface="Source Sans Pro"/>
              </a:rPr>
              <a:t>312 L2 accounts with at least 2 calls</a:t>
            </a:r>
            <a:endParaRPr kumimoji="0" lang="en-IN" sz="9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783EB74-7C1F-97B3-3757-FEBB54F16FBF}"/>
              </a:ext>
            </a:extLst>
          </p:cNvPr>
          <p:cNvCxnSpPr>
            <a:cxnSpLocks/>
          </p:cNvCxnSpPr>
          <p:nvPr/>
        </p:nvCxnSpPr>
        <p:spPr bwMode="gray">
          <a:xfrm>
            <a:off x="476092" y="3662583"/>
            <a:ext cx="3634929" cy="0"/>
          </a:xfrm>
          <a:prstGeom prst="line">
            <a:avLst/>
          </a:prstGeom>
          <a:noFill/>
          <a:ln w="12700" cap="rnd">
            <a:solidFill>
              <a:schemeClr val="tx2">
                <a:lumMod val="10000"/>
              </a:schemeClr>
            </a:solidFill>
            <a:prstDash val="dash"/>
            <a:round/>
            <a:headEnd/>
            <a:tailEnd/>
          </a:ln>
          <a:effectLst/>
        </p:spPr>
      </p:cxn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73B650E6-5D83-D08D-1158-0F5634F5C2E4}"/>
              </a:ext>
            </a:extLst>
          </p:cNvPr>
          <p:cNvSpPr/>
          <p:nvPr/>
        </p:nvSpPr>
        <p:spPr>
          <a:xfrm rot="5400000">
            <a:off x="3457064" y="3521487"/>
            <a:ext cx="1794143" cy="31764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IN" b="1" dirty="0" err="1"/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E6AFA4D1-18BF-4324-7966-58131EE05A9C}"/>
              </a:ext>
            </a:extLst>
          </p:cNvPr>
          <p:cNvSpPr/>
          <p:nvPr/>
        </p:nvSpPr>
        <p:spPr>
          <a:xfrm rot="5400000">
            <a:off x="6107273" y="3521488"/>
            <a:ext cx="1794143" cy="31764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IN" b="1" dirty="0" err="1"/>
          </a:p>
        </p:txBody>
      </p:sp>
      <p:pic>
        <p:nvPicPr>
          <p:cNvPr id="42" name="Graphic 41" descr="Server with solid fill">
            <a:extLst>
              <a:ext uri="{FF2B5EF4-FFF2-40B4-BE49-F238E27FC236}">
                <a16:creationId xmlns:a16="http://schemas.microsoft.com/office/drawing/2014/main" id="{8C2FCA21-6FF5-D658-60BE-DB9D7D5FC6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5683" y="4344224"/>
            <a:ext cx="720000" cy="720000"/>
          </a:xfrm>
          <a:prstGeom prst="rect">
            <a:avLst/>
          </a:prstGeom>
        </p:spPr>
      </p:pic>
      <p:pic>
        <p:nvPicPr>
          <p:cNvPr id="43" name="Graphic 42" descr="Hospital with solid fill">
            <a:extLst>
              <a:ext uri="{FF2B5EF4-FFF2-40B4-BE49-F238E27FC236}">
                <a16:creationId xmlns:a16="http://schemas.microsoft.com/office/drawing/2014/main" id="{4C4DE6B9-255D-1203-9F83-F1EB84E8EC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76000" y="2403899"/>
            <a:ext cx="720000" cy="720000"/>
          </a:xfrm>
          <a:prstGeom prst="rect">
            <a:avLst/>
          </a:prstGeom>
        </p:spPr>
      </p:pic>
      <p:pic>
        <p:nvPicPr>
          <p:cNvPr id="44" name="Graphic 43" descr="Hospital with solid fill">
            <a:extLst>
              <a:ext uri="{FF2B5EF4-FFF2-40B4-BE49-F238E27FC236}">
                <a16:creationId xmlns:a16="http://schemas.microsoft.com/office/drawing/2014/main" id="{A3F8FB81-6B53-AB6E-9807-17693FCF0F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76000" y="4335588"/>
            <a:ext cx="720000" cy="720000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5B4C9F-A531-254C-D5C3-9309F051E8ED}"/>
              </a:ext>
            </a:extLst>
          </p:cNvPr>
          <p:cNvCxnSpPr>
            <a:cxnSpLocks/>
          </p:cNvCxnSpPr>
          <p:nvPr/>
        </p:nvCxnSpPr>
        <p:spPr bwMode="gray">
          <a:xfrm>
            <a:off x="4592418" y="3662583"/>
            <a:ext cx="2155391" cy="0"/>
          </a:xfrm>
          <a:prstGeom prst="line">
            <a:avLst/>
          </a:prstGeom>
          <a:noFill/>
          <a:ln w="12700" cap="rnd">
            <a:solidFill>
              <a:schemeClr val="tx2">
                <a:lumMod val="10000"/>
              </a:schemeClr>
            </a:solidFill>
            <a:prstDash val="dash"/>
            <a:round/>
            <a:headEnd/>
            <a:tailEnd/>
          </a:ln>
          <a:effectLst/>
        </p:spPr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CBC3D44-F5D1-7D0D-A343-76AD0547DF72}"/>
              </a:ext>
            </a:extLst>
          </p:cNvPr>
          <p:cNvSpPr txBox="1"/>
          <p:nvPr/>
        </p:nvSpPr>
        <p:spPr bwMode="gray">
          <a:xfrm>
            <a:off x="4896952" y="1984771"/>
            <a:ext cx="1639873" cy="462466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rtlCol="0" anchor="ctr">
            <a:normAutofit/>
          </a:bodyPr>
          <a:lstStyle/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lang="en-IN" sz="1200" b="1" dirty="0">
                <a:solidFill>
                  <a:schemeClr val="tx2">
                    <a:lumMod val="10000"/>
                  </a:schemeClr>
                </a:solidFill>
                <a:latin typeface="Source Sans Pro"/>
              </a:rPr>
              <a:t>320</a:t>
            </a: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L2 accounts related to patient predictions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A4307AF-B8D5-B4F8-43E2-EB1D93017A92}"/>
              </a:ext>
            </a:extLst>
          </p:cNvPr>
          <p:cNvSpPr txBox="1"/>
          <p:nvPr/>
        </p:nvSpPr>
        <p:spPr bwMode="gray">
          <a:xfrm>
            <a:off x="4896953" y="3881758"/>
            <a:ext cx="1639872" cy="462466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rtlCol="0" anchor="ctr">
            <a:normAutofit/>
          </a:bodyPr>
          <a:lstStyle/>
          <a:p>
            <a:pPr marL="9525" algn="ctr" defTabSz="914400">
              <a:spcBef>
                <a:spcPts val="300"/>
              </a:spcBef>
              <a:buClr>
                <a:srgbClr val="005EB8"/>
              </a:buClr>
              <a:buSzPct val="100000"/>
            </a:pPr>
            <a:r>
              <a:rPr lang="en-IN" sz="1200" b="1" dirty="0">
                <a:solidFill>
                  <a:schemeClr val="tx2">
                    <a:lumMod val="10000"/>
                  </a:schemeClr>
                </a:solidFill>
              </a:rPr>
              <a:t>320 L2 accounts related to KAM call activity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F22CEFC-EB7D-6BBF-1BC4-AD271017977F}"/>
              </a:ext>
            </a:extLst>
          </p:cNvPr>
          <p:cNvSpPr txBox="1"/>
          <p:nvPr/>
        </p:nvSpPr>
        <p:spPr bwMode="gray">
          <a:xfrm>
            <a:off x="4753369" y="5046952"/>
            <a:ext cx="1889256" cy="462466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rtlCol="0" anchor="ctr">
            <a:normAutofit/>
          </a:bodyPr>
          <a:lstStyle/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Pct val="100000"/>
              <a:tabLst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Account selection methodology included combination of stratified sampling and random sampling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7B097F7-D7AB-3691-F1E0-A1496D6D12F1}"/>
              </a:ext>
            </a:extLst>
          </p:cNvPr>
          <p:cNvSpPr/>
          <p:nvPr/>
        </p:nvSpPr>
        <p:spPr>
          <a:xfrm>
            <a:off x="7479102" y="2855344"/>
            <a:ext cx="365760" cy="36576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IN" b="1" dirty="0" err="1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D37A645-1955-C5CC-16B8-D9F279E96F79}"/>
              </a:ext>
            </a:extLst>
          </p:cNvPr>
          <p:cNvSpPr/>
          <p:nvPr/>
        </p:nvSpPr>
        <p:spPr>
          <a:xfrm>
            <a:off x="8033589" y="2763904"/>
            <a:ext cx="548640" cy="54864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IN" b="1" dirty="0" err="1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52AAAC6-AD88-39B9-D520-EAE620F251CA}"/>
              </a:ext>
            </a:extLst>
          </p:cNvPr>
          <p:cNvSpPr/>
          <p:nvPr/>
        </p:nvSpPr>
        <p:spPr>
          <a:xfrm>
            <a:off x="8770956" y="2629878"/>
            <a:ext cx="731520" cy="73152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IN" b="1" dirty="0" err="1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9DD908-6F70-273B-4BAA-6C467F784238}"/>
              </a:ext>
            </a:extLst>
          </p:cNvPr>
          <p:cNvSpPr/>
          <p:nvPr/>
        </p:nvSpPr>
        <p:spPr>
          <a:xfrm>
            <a:off x="9691203" y="2622977"/>
            <a:ext cx="822960" cy="82296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IN" b="1" dirty="0" err="1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14D1B0-09F0-EFB2-0AB3-11F0ACFB7ECD}"/>
              </a:ext>
            </a:extLst>
          </p:cNvPr>
          <p:cNvSpPr/>
          <p:nvPr/>
        </p:nvSpPr>
        <p:spPr>
          <a:xfrm>
            <a:off x="10788256" y="2602513"/>
            <a:ext cx="914400" cy="9144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IN" b="1" dirty="0" err="1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F6E5AD-033D-0677-036C-7DA55613017A}"/>
              </a:ext>
            </a:extLst>
          </p:cNvPr>
          <p:cNvSpPr/>
          <p:nvPr/>
        </p:nvSpPr>
        <p:spPr>
          <a:xfrm>
            <a:off x="7563089" y="4349394"/>
            <a:ext cx="365760" cy="36576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IN" b="1" dirty="0" err="1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EB1719-2974-9F82-60EF-FAB08834DAE9}"/>
              </a:ext>
            </a:extLst>
          </p:cNvPr>
          <p:cNvSpPr/>
          <p:nvPr/>
        </p:nvSpPr>
        <p:spPr>
          <a:xfrm>
            <a:off x="8051803" y="4239087"/>
            <a:ext cx="548640" cy="54864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IN" b="1" dirty="0" err="1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267FF5F-EDDE-D4D0-AEE1-4425B543C7FB}"/>
              </a:ext>
            </a:extLst>
          </p:cNvPr>
          <p:cNvSpPr/>
          <p:nvPr/>
        </p:nvSpPr>
        <p:spPr>
          <a:xfrm>
            <a:off x="8778648" y="4151584"/>
            <a:ext cx="731520" cy="73152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IN" b="1" dirty="0" err="1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58C9412-846A-2B4C-2D02-93FECBC20A88}"/>
              </a:ext>
            </a:extLst>
          </p:cNvPr>
          <p:cNvSpPr/>
          <p:nvPr/>
        </p:nvSpPr>
        <p:spPr>
          <a:xfrm>
            <a:off x="9695464" y="4120794"/>
            <a:ext cx="822960" cy="82296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IN" b="1" dirty="0" err="1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632BE8C-4EC7-BA12-BCD0-BBFC995A1775}"/>
              </a:ext>
            </a:extLst>
          </p:cNvPr>
          <p:cNvSpPr/>
          <p:nvPr/>
        </p:nvSpPr>
        <p:spPr>
          <a:xfrm>
            <a:off x="10761219" y="4056207"/>
            <a:ext cx="914400" cy="9144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IN" b="1" dirty="0" err="1"/>
          </a:p>
        </p:txBody>
      </p:sp>
      <p:sp>
        <p:nvSpPr>
          <p:cNvPr id="31" name="Arrow: Up-Down 30">
            <a:extLst>
              <a:ext uri="{FF2B5EF4-FFF2-40B4-BE49-F238E27FC236}">
                <a16:creationId xmlns:a16="http://schemas.microsoft.com/office/drawing/2014/main" id="{DEA53EE9-B4F6-1388-FCE5-353DB08527C3}"/>
              </a:ext>
            </a:extLst>
          </p:cNvPr>
          <p:cNvSpPr/>
          <p:nvPr/>
        </p:nvSpPr>
        <p:spPr>
          <a:xfrm>
            <a:off x="7625941" y="3562704"/>
            <a:ext cx="158726" cy="457200"/>
          </a:xfrm>
          <a:prstGeom prst="upDown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IN" b="1" dirty="0" err="1"/>
          </a:p>
        </p:txBody>
      </p:sp>
      <p:sp>
        <p:nvSpPr>
          <p:cNvPr id="37" name="Arrow: Up-Down 36">
            <a:extLst>
              <a:ext uri="{FF2B5EF4-FFF2-40B4-BE49-F238E27FC236}">
                <a16:creationId xmlns:a16="http://schemas.microsoft.com/office/drawing/2014/main" id="{D1AE8767-AC98-190B-9B5D-5E51A85EDBC9}"/>
              </a:ext>
            </a:extLst>
          </p:cNvPr>
          <p:cNvSpPr/>
          <p:nvPr/>
        </p:nvSpPr>
        <p:spPr>
          <a:xfrm>
            <a:off x="8222347" y="3558105"/>
            <a:ext cx="158726" cy="457200"/>
          </a:xfrm>
          <a:prstGeom prst="upDown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IN" b="1" dirty="0" err="1"/>
          </a:p>
        </p:txBody>
      </p:sp>
      <p:sp>
        <p:nvSpPr>
          <p:cNvPr id="47" name="Arrow: Up-Down 46">
            <a:extLst>
              <a:ext uri="{FF2B5EF4-FFF2-40B4-BE49-F238E27FC236}">
                <a16:creationId xmlns:a16="http://schemas.microsoft.com/office/drawing/2014/main" id="{FE6DF99E-CA5D-B1EC-1A31-9D6E3F68AFB7}"/>
              </a:ext>
            </a:extLst>
          </p:cNvPr>
          <p:cNvSpPr/>
          <p:nvPr/>
        </p:nvSpPr>
        <p:spPr>
          <a:xfrm>
            <a:off x="9102783" y="3558105"/>
            <a:ext cx="158726" cy="457200"/>
          </a:xfrm>
          <a:prstGeom prst="upDown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IN" b="1" dirty="0" err="1"/>
          </a:p>
        </p:txBody>
      </p:sp>
      <p:sp>
        <p:nvSpPr>
          <p:cNvPr id="48" name="Arrow: Up-Down 47">
            <a:extLst>
              <a:ext uri="{FF2B5EF4-FFF2-40B4-BE49-F238E27FC236}">
                <a16:creationId xmlns:a16="http://schemas.microsoft.com/office/drawing/2014/main" id="{60F301DF-2761-2264-C352-A957009B7DD7}"/>
              </a:ext>
            </a:extLst>
          </p:cNvPr>
          <p:cNvSpPr/>
          <p:nvPr/>
        </p:nvSpPr>
        <p:spPr>
          <a:xfrm>
            <a:off x="10037721" y="3558105"/>
            <a:ext cx="158726" cy="457200"/>
          </a:xfrm>
          <a:prstGeom prst="upDown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IN" b="1" dirty="0" err="1"/>
          </a:p>
        </p:txBody>
      </p:sp>
      <p:sp>
        <p:nvSpPr>
          <p:cNvPr id="52" name="Arrow: Up-Down 51">
            <a:extLst>
              <a:ext uri="{FF2B5EF4-FFF2-40B4-BE49-F238E27FC236}">
                <a16:creationId xmlns:a16="http://schemas.microsoft.com/office/drawing/2014/main" id="{856CB9B9-8465-EA99-4EFD-B5C495630574}"/>
              </a:ext>
            </a:extLst>
          </p:cNvPr>
          <p:cNvSpPr/>
          <p:nvPr/>
        </p:nvSpPr>
        <p:spPr>
          <a:xfrm>
            <a:off x="11166093" y="3562704"/>
            <a:ext cx="158726" cy="457200"/>
          </a:xfrm>
          <a:prstGeom prst="upDown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IN" b="1" dirty="0" err="1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81796B7-534A-625D-6C52-EDC1FA5FF7A7}"/>
              </a:ext>
            </a:extLst>
          </p:cNvPr>
          <p:cNvSpPr txBox="1"/>
          <p:nvPr/>
        </p:nvSpPr>
        <p:spPr bwMode="gray">
          <a:xfrm>
            <a:off x="7374995" y="2296206"/>
            <a:ext cx="553854" cy="272495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Top 10%</a:t>
            </a:r>
          </a:p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lang="en-US" sz="1200" b="1" dirty="0">
                <a:solidFill>
                  <a:srgbClr val="003B5C"/>
                </a:solidFill>
                <a:latin typeface="Source Sans Pro"/>
              </a:rPr>
              <a:t>#32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srgbClr val="003B5C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6FF3C57-3D11-BA08-9A50-773DAF29BCEF}"/>
              </a:ext>
            </a:extLst>
          </p:cNvPr>
          <p:cNvSpPr txBox="1"/>
          <p:nvPr/>
        </p:nvSpPr>
        <p:spPr bwMode="gray">
          <a:xfrm>
            <a:off x="8070894" y="2275663"/>
            <a:ext cx="553854" cy="272495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Top 20%</a:t>
            </a:r>
          </a:p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lang="en-US" sz="1200" b="1" dirty="0">
                <a:solidFill>
                  <a:srgbClr val="003B5C"/>
                </a:solidFill>
                <a:latin typeface="Source Sans Pro"/>
              </a:rPr>
              <a:t>#64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srgbClr val="003B5C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E0ADF2C-EBE0-76CE-AAB6-9EABAF02DB10}"/>
              </a:ext>
            </a:extLst>
          </p:cNvPr>
          <p:cNvSpPr txBox="1"/>
          <p:nvPr/>
        </p:nvSpPr>
        <p:spPr bwMode="gray">
          <a:xfrm>
            <a:off x="8865394" y="2275663"/>
            <a:ext cx="553854" cy="272495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Top 30%</a:t>
            </a:r>
          </a:p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lang="en-US" sz="1200" b="1" dirty="0">
                <a:solidFill>
                  <a:srgbClr val="003B5C"/>
                </a:solidFill>
                <a:latin typeface="Source Sans Pro"/>
              </a:rPr>
              <a:t>#96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srgbClr val="003B5C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2DE9130-BABB-837A-8767-110F0AC5241A}"/>
              </a:ext>
            </a:extLst>
          </p:cNvPr>
          <p:cNvSpPr txBox="1"/>
          <p:nvPr/>
        </p:nvSpPr>
        <p:spPr bwMode="gray">
          <a:xfrm>
            <a:off x="9789449" y="2250295"/>
            <a:ext cx="553854" cy="272495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Top 40%</a:t>
            </a:r>
          </a:p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lang="en-US" sz="1200" b="1" dirty="0">
                <a:solidFill>
                  <a:srgbClr val="003B5C"/>
                </a:solidFill>
                <a:latin typeface="Source Sans Pro"/>
              </a:rPr>
              <a:t>#128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srgbClr val="003B5C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040B44E-BE5D-2559-2B68-327D0422EB73}"/>
              </a:ext>
            </a:extLst>
          </p:cNvPr>
          <p:cNvSpPr txBox="1"/>
          <p:nvPr/>
        </p:nvSpPr>
        <p:spPr bwMode="gray">
          <a:xfrm>
            <a:off x="10936215" y="2247728"/>
            <a:ext cx="553854" cy="272495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Top 50%</a:t>
            </a:r>
          </a:p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#160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9E42FD7-1F5F-9443-80D3-F896F586E9DC}"/>
              </a:ext>
            </a:extLst>
          </p:cNvPr>
          <p:cNvSpPr txBox="1"/>
          <p:nvPr/>
        </p:nvSpPr>
        <p:spPr bwMode="gray">
          <a:xfrm>
            <a:off x="7355393" y="1365424"/>
            <a:ext cx="4227007" cy="626494"/>
          </a:xfrm>
          <a:prstGeom prst="rect">
            <a:avLst/>
          </a:prstGeom>
          <a:noFill/>
          <a:ln w="12700" cap="flat" cmpd="sng" algn="ctr">
            <a:solidFill>
              <a:srgbClr val="003B5C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Accounts related to patient predictions are compared against accounts receiving calls to check if those accounts had a patient progression </a:t>
            </a:r>
            <a:r>
              <a:rPr lang="en-US" sz="1000" b="1" dirty="0">
                <a:solidFill>
                  <a:srgbClr val="003B5C"/>
                </a:solidFill>
                <a:latin typeface="Source Sans Pro"/>
              </a:rPr>
              <a:t>within next 3 months</a:t>
            </a:r>
            <a:endParaRPr kumimoji="0" lang="en-IN" sz="1000" b="1" i="0" u="none" strike="noStrike" kern="1200" cap="none" spc="0" normalizeH="0" baseline="0" noProof="0" dirty="0">
              <a:ln>
                <a:noFill/>
              </a:ln>
              <a:solidFill>
                <a:srgbClr val="003B5C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47A39B5-62AD-B713-41C8-40B0200B87CC}"/>
              </a:ext>
            </a:extLst>
          </p:cNvPr>
          <p:cNvSpPr txBox="1"/>
          <p:nvPr/>
        </p:nvSpPr>
        <p:spPr bwMode="gray">
          <a:xfrm>
            <a:off x="7355393" y="5116799"/>
            <a:ext cx="4227007" cy="914400"/>
          </a:xfrm>
          <a:prstGeom prst="rect">
            <a:avLst/>
          </a:prstGeom>
          <a:noFill/>
          <a:ln w="12700" cap="flat" cmpd="sng" algn="ctr">
            <a:solidFill>
              <a:srgbClr val="003B5C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262890" indent="-171450" defTabSz="914400">
              <a:spcBef>
                <a:spcPts val="300"/>
              </a:spcBef>
              <a:buClr>
                <a:srgbClr val="005EB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050" dirty="0"/>
              <a:t>Accounts for patient progression predictions are prioritized based on the descending order of patient-level probabilities to progress within the next 3 months</a:t>
            </a:r>
          </a:p>
          <a:p>
            <a:pPr marL="262890" indent="-171450" defTabSz="914400">
              <a:spcBef>
                <a:spcPts val="300"/>
              </a:spcBef>
              <a:buClr>
                <a:srgbClr val="005EB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050" dirty="0"/>
              <a:t>Accounts related to call activity are selected using a stratified random sampling approach across multiple scenarios and sample sets</a:t>
            </a:r>
            <a:endParaRPr kumimoji="0" lang="en-IN" sz="1050" i="0" u="none" strike="noStrike" kern="1200" cap="none" spc="0" normalizeH="0" baseline="0" noProof="0" dirty="0">
              <a:ln>
                <a:noFill/>
              </a:ln>
              <a:solidFill>
                <a:srgbClr val="003B5C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C6A6C7F-D46C-7FC9-B80C-EFF4914023C2}"/>
              </a:ext>
            </a:extLst>
          </p:cNvPr>
          <p:cNvCxnSpPr/>
          <p:nvPr/>
        </p:nvCxnSpPr>
        <p:spPr bwMode="gray">
          <a:xfrm>
            <a:off x="11786643" y="3050263"/>
            <a:ext cx="304800" cy="0"/>
          </a:xfrm>
          <a:prstGeom prst="straightConnector1">
            <a:avLst/>
          </a:prstGeom>
          <a:noFill/>
          <a:ln w="38100" cap="rnd">
            <a:solidFill>
              <a:srgbClr val="003B5C"/>
            </a:solidFill>
            <a:prstDash val="sysDot"/>
            <a:round/>
            <a:headEnd/>
            <a:tailEnd type="triangle"/>
          </a:ln>
          <a:effectLst/>
        </p:spPr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B974CE4-72FC-BCDE-4472-FA8E9AEE1AB0}"/>
              </a:ext>
            </a:extLst>
          </p:cNvPr>
          <p:cNvCxnSpPr/>
          <p:nvPr/>
        </p:nvCxnSpPr>
        <p:spPr bwMode="gray">
          <a:xfrm>
            <a:off x="11769475" y="4513407"/>
            <a:ext cx="304800" cy="0"/>
          </a:xfrm>
          <a:prstGeom prst="straightConnector1">
            <a:avLst/>
          </a:prstGeom>
          <a:noFill/>
          <a:ln w="38100" cap="rnd">
            <a:solidFill>
              <a:srgbClr val="003B5C"/>
            </a:solidFill>
            <a:prstDash val="sysDot"/>
            <a:round/>
            <a:headEnd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130920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C3B153-714A-379A-77A8-6498F332DC3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0186670" y="6713487"/>
            <a:ext cx="1346200" cy="152398"/>
          </a:xfrm>
        </p:spPr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B5EF42-4511-E9D4-2CD7-1D99DDED22A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Predictive model provides ~3x improvement in targeting compared to existing targeting selection of Accounts in a month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16089AC-AA2D-E430-4EF4-717C588BD4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6036182"/>
              </p:ext>
            </p:extLst>
          </p:nvPr>
        </p:nvGraphicFramePr>
        <p:xfrm>
          <a:off x="695057" y="1797277"/>
          <a:ext cx="4415327" cy="22743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194DB01-E6FE-5742-5935-4CB1FEE41D4C}"/>
              </a:ext>
            </a:extLst>
          </p:cNvPr>
          <p:cNvSpPr/>
          <p:nvPr/>
        </p:nvSpPr>
        <p:spPr>
          <a:xfrm>
            <a:off x="695057" y="1797277"/>
            <a:ext cx="923026" cy="2674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100" b="1" dirty="0"/>
              <a:t>Scenario#1</a:t>
            </a:r>
            <a:endParaRPr lang="en-IN" sz="1100" b="1" dirty="0" err="1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ACB08B51-E0C7-4514-A5F2-239ACB52E3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6361937"/>
              </p:ext>
            </p:extLst>
          </p:nvPr>
        </p:nvGraphicFramePr>
        <p:xfrm>
          <a:off x="695057" y="4075662"/>
          <a:ext cx="4415327" cy="22743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B9322B86-305B-6EB4-61D9-BEDD0E3831BB}"/>
              </a:ext>
            </a:extLst>
          </p:cNvPr>
          <p:cNvSpPr/>
          <p:nvPr/>
        </p:nvSpPr>
        <p:spPr>
          <a:xfrm>
            <a:off x="695057" y="4075662"/>
            <a:ext cx="923026" cy="2674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100" b="1" dirty="0"/>
              <a:t>Scenario#3</a:t>
            </a:r>
            <a:endParaRPr lang="en-IN" sz="1100" b="1" dirty="0" err="1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ADE7852E-62F4-F3B3-9157-62B467A912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6277265"/>
              </p:ext>
            </p:extLst>
          </p:nvPr>
        </p:nvGraphicFramePr>
        <p:xfrm>
          <a:off x="5290061" y="1797277"/>
          <a:ext cx="4415327" cy="22743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19DCAB8-56ED-6F16-FFBB-9E3A1E8D82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9661808"/>
              </p:ext>
            </p:extLst>
          </p:nvPr>
        </p:nvGraphicFramePr>
        <p:xfrm>
          <a:off x="5290061" y="4075662"/>
          <a:ext cx="4415327" cy="22743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2ABB3DBD-22B5-AF05-16E5-7D2F4D928BF4}"/>
              </a:ext>
            </a:extLst>
          </p:cNvPr>
          <p:cNvSpPr/>
          <p:nvPr/>
        </p:nvSpPr>
        <p:spPr>
          <a:xfrm>
            <a:off x="5290061" y="1800272"/>
            <a:ext cx="923026" cy="2674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100" b="1" dirty="0"/>
              <a:t>Scenario#2</a:t>
            </a:r>
            <a:endParaRPr lang="en-IN" sz="1100" b="1" dirty="0" err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57A463-8CC5-D3FA-A407-658FD99E0750}"/>
              </a:ext>
            </a:extLst>
          </p:cNvPr>
          <p:cNvSpPr/>
          <p:nvPr/>
        </p:nvSpPr>
        <p:spPr>
          <a:xfrm>
            <a:off x="5295812" y="4075662"/>
            <a:ext cx="923026" cy="2674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100" b="1" dirty="0"/>
              <a:t>Scenario#4</a:t>
            </a:r>
            <a:endParaRPr lang="en-IN" sz="1100" b="1" dirty="0" err="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E049AD-BCE7-DCF8-372B-C894CBDA6251}"/>
              </a:ext>
            </a:extLst>
          </p:cNvPr>
          <p:cNvSpPr/>
          <p:nvPr/>
        </p:nvSpPr>
        <p:spPr>
          <a:xfrm>
            <a:off x="9877244" y="1797277"/>
            <a:ext cx="2096219" cy="4552766"/>
          </a:xfrm>
          <a:prstGeom prst="rect">
            <a:avLst/>
          </a:prstGeom>
          <a:noFill/>
          <a:ln>
            <a:solidFill>
              <a:srgbClr val="00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Account selection is same across all scenarios for predictive model</a:t>
            </a:r>
            <a:endParaRPr lang="en-IN" sz="11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IN" sz="11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Account selection for current targeting varies across scenarios and is based on stratified random sampling from accounts with recorded call activity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100 sample sets are drawn for each scenario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Proportion of accounts followed</a:t>
            </a:r>
            <a:endParaRPr lang="en-IN" sz="11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chemeClr val="tx1"/>
                </a:solidFill>
              </a:rPr>
              <a:t>Scenario1</a:t>
            </a:r>
            <a:r>
              <a:rPr lang="en-IN" sz="1100" dirty="0">
                <a:solidFill>
                  <a:schemeClr val="tx1"/>
                </a:solidFill>
              </a:rPr>
              <a:t>: 25% each of Account segments- High, Medium, Low, No Tier</a:t>
            </a:r>
          </a:p>
          <a:p>
            <a:pPr marL="171450" indent="-1714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chemeClr val="tx1"/>
                </a:solidFill>
              </a:rPr>
              <a:t>Scenario2</a:t>
            </a:r>
            <a:r>
              <a:rPr lang="en-IN" sz="1100" dirty="0">
                <a:solidFill>
                  <a:schemeClr val="tx1"/>
                </a:solidFill>
              </a:rPr>
              <a:t>: 50% High, 30% Medium, 15% Low, 5% No Tier </a:t>
            </a:r>
            <a:endParaRPr lang="en-US" sz="11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chemeClr val="tx1"/>
                </a:solidFill>
              </a:rPr>
              <a:t>Scenario3</a:t>
            </a:r>
            <a:r>
              <a:rPr lang="en-IN" sz="1100" dirty="0">
                <a:solidFill>
                  <a:schemeClr val="tx1"/>
                </a:solidFill>
              </a:rPr>
              <a:t>: 60% High, 30% Medium, 10% Low, 0% No Tier </a:t>
            </a:r>
            <a:endParaRPr lang="en-US" sz="11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chemeClr val="tx1"/>
                </a:solidFill>
              </a:rPr>
              <a:t>Scenario4</a:t>
            </a:r>
            <a:r>
              <a:rPr lang="en-IN" sz="1100" dirty="0">
                <a:solidFill>
                  <a:schemeClr val="tx1"/>
                </a:solidFill>
              </a:rPr>
              <a:t>: 65% High, 25% Medium, 10% Low, 0% No Tier 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732DD2-C180-B895-914D-C877E5728616}"/>
              </a:ext>
            </a:extLst>
          </p:cNvPr>
          <p:cNvSpPr txBox="1"/>
          <p:nvPr/>
        </p:nvSpPr>
        <p:spPr bwMode="gray">
          <a:xfrm>
            <a:off x="695057" y="1259456"/>
            <a:ext cx="11278406" cy="422695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9525" marR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kumimoji="0" lang="en-IN" sz="1400" b="1" i="1" u="none" strike="noStrike" kern="1200" cap="none" spc="0" normalizeH="0" baseline="0" noProof="0" dirty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%Accounts with patient progression for - </a:t>
            </a:r>
            <a:r>
              <a:rPr kumimoji="0" lang="en-IN" sz="1400" i="1" u="none" strike="noStrike" kern="1200" cap="none" spc="0" normalizeH="0" baseline="0" noProof="0" dirty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accounts predicted to have a patient progression vs account receiving a KAM call</a:t>
            </a:r>
          </a:p>
        </p:txBody>
      </p:sp>
    </p:spTree>
    <p:extLst>
      <p:ext uri="{BB962C8B-B14F-4D97-AF65-F5344CB8AC3E}">
        <p14:creationId xmlns:p14="http://schemas.microsoft.com/office/powerpoint/2010/main" val="336384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6F8691-C5E3-A2AA-B9C8-50F604A67D5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7E507D-6DE9-6BD6-4173-9FA7D9DB8A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44E81EB-F726-D060-815B-42E862DAD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841237"/>
              </p:ext>
            </p:extLst>
          </p:nvPr>
        </p:nvGraphicFramePr>
        <p:xfrm>
          <a:off x="668321" y="3290667"/>
          <a:ext cx="4730540" cy="2577631"/>
        </p:xfrm>
        <a:graphic>
          <a:graphicData uri="http://schemas.openxmlformats.org/drawingml/2006/table">
            <a:tbl>
              <a:tblPr firstRow="1" firstCol="1">
                <a:tableStyleId>{B301B821-A1FF-4177-AEE7-76D212191A09}</a:tableStyleId>
              </a:tblPr>
              <a:tblGrid>
                <a:gridCol w="1182635">
                  <a:extLst>
                    <a:ext uri="{9D8B030D-6E8A-4147-A177-3AD203B41FA5}">
                      <a16:colId xmlns:a16="http://schemas.microsoft.com/office/drawing/2014/main" val="1206801336"/>
                    </a:ext>
                  </a:extLst>
                </a:gridCol>
                <a:gridCol w="1182635">
                  <a:extLst>
                    <a:ext uri="{9D8B030D-6E8A-4147-A177-3AD203B41FA5}">
                      <a16:colId xmlns:a16="http://schemas.microsoft.com/office/drawing/2014/main" val="570710685"/>
                    </a:ext>
                  </a:extLst>
                </a:gridCol>
                <a:gridCol w="1124341">
                  <a:extLst>
                    <a:ext uri="{9D8B030D-6E8A-4147-A177-3AD203B41FA5}">
                      <a16:colId xmlns:a16="http://schemas.microsoft.com/office/drawing/2014/main" val="3667044271"/>
                    </a:ext>
                  </a:extLst>
                </a:gridCol>
                <a:gridCol w="1240929">
                  <a:extLst>
                    <a:ext uri="{9D8B030D-6E8A-4147-A177-3AD203B41FA5}">
                      <a16:colId xmlns:a16="http://schemas.microsoft.com/office/drawing/2014/main" val="458507897"/>
                    </a:ext>
                  </a:extLst>
                </a:gridCol>
              </a:tblGrid>
              <a:tr h="5256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Patient Segment</a:t>
                      </a:r>
                      <a:endParaRPr lang="en-IN" sz="1400" b="1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Precision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Recall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# Progressions in data holdout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96637244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Overall</a:t>
                      </a:r>
                      <a:endParaRPr lang="en-I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~40%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~60%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2722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18276090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RS-</a:t>
                      </a:r>
                      <a:endParaRPr lang="en-I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37%</a:t>
                      </a:r>
                      <a:endParaRPr lang="en-I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57%</a:t>
                      </a:r>
                      <a:endParaRPr lang="en-I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2216</a:t>
                      </a:r>
                      <a:endParaRPr lang="en-I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70709427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RS+</a:t>
                      </a:r>
                      <a:endParaRPr lang="en-I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51%</a:t>
                      </a:r>
                      <a:endParaRPr lang="en-I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67%</a:t>
                      </a:r>
                      <a:endParaRPr lang="en-I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506</a:t>
                      </a:r>
                      <a:endParaRPr lang="en-I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42786099"/>
                  </a:ext>
                </a:extLst>
              </a:tr>
            </a:tbl>
          </a:graphicData>
        </a:graphic>
      </p:graphicFrame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0D1C81E-6FE7-0793-3A0D-B2734505566E}"/>
              </a:ext>
            </a:extLst>
          </p:cNvPr>
          <p:cNvSpPr/>
          <p:nvPr/>
        </p:nvSpPr>
        <p:spPr>
          <a:xfrm>
            <a:off x="8142916" y="1596488"/>
            <a:ext cx="2993328" cy="828562"/>
          </a:xfrm>
          <a:prstGeom prst="roundRect">
            <a:avLst/>
          </a:prstGeom>
          <a:solidFill>
            <a:schemeClr val="accent3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9DBCD30-5725-D4D2-99C1-455928353671}"/>
              </a:ext>
            </a:extLst>
          </p:cNvPr>
          <p:cNvSpPr/>
          <p:nvPr/>
        </p:nvSpPr>
        <p:spPr>
          <a:xfrm>
            <a:off x="6869044" y="1596488"/>
            <a:ext cx="2543934" cy="828562"/>
          </a:xfrm>
          <a:prstGeom prst="roundRect">
            <a:avLst/>
          </a:prstGeom>
          <a:solidFill>
            <a:schemeClr val="tx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5184FAF-FD90-2768-9494-366CECA25A22}"/>
              </a:ext>
            </a:extLst>
          </p:cNvPr>
          <p:cNvSpPr txBox="1">
            <a:spLocks/>
          </p:cNvSpPr>
          <p:nvPr/>
        </p:nvSpPr>
        <p:spPr>
          <a:xfrm>
            <a:off x="551041" y="1454434"/>
            <a:ext cx="4730540" cy="124055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9525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tabLst/>
              <a:defRPr sz="1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574675" indent="-2698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System Font Regular"/>
              <a:buChar char="◦"/>
              <a:tabLst/>
              <a:defRPr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806450" indent="-2794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System Font Regular"/>
              <a:buChar char="▸"/>
              <a:tabLst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042416" indent="-28892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.Apple SD Gothic NeoI Regular"/>
              <a:buChar char="▹"/>
              <a:tabLst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260475" indent="-2159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System Font Regular"/>
              <a:buChar char="⁃"/>
              <a:tabLst/>
              <a:defRPr sz="14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960120" indent="0" algn="l" defTabSz="914400" rtl="0" eaLnBrk="1" latinLnBrk="0" hangingPunct="1">
              <a:lnSpc>
                <a:spcPct val="90000"/>
              </a:lnSpc>
              <a:spcBef>
                <a:spcPts val="100"/>
              </a:spcBef>
              <a:buClr>
                <a:schemeClr val="accent3"/>
              </a:buClr>
              <a:buFont typeface="Wingdings" panose="05000000000000000000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78992" indent="-118872" algn="l" defTabSz="914400" rtl="0" eaLnBrk="1" latinLnBrk="0" hangingPunct="1">
              <a:lnSpc>
                <a:spcPct val="90000"/>
              </a:lnSpc>
              <a:spcBef>
                <a:spcPts val="100"/>
              </a:spcBef>
              <a:buClr>
                <a:schemeClr val="accent3"/>
              </a:buClr>
              <a:buFont typeface="Wingdings" panose="05000000000000000000" pitchFamily="2" charset="2"/>
              <a:buChar char="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78992" indent="-118872" algn="l" defTabSz="914400" rtl="0" eaLnBrk="1" latinLnBrk="0" hangingPunct="1">
              <a:lnSpc>
                <a:spcPct val="90000"/>
              </a:lnSpc>
              <a:spcBef>
                <a:spcPts val="100"/>
              </a:spcBef>
              <a:buClr>
                <a:schemeClr val="accent3"/>
              </a:buClr>
              <a:buFont typeface="Wingdings" panose="05000000000000000000" pitchFamily="2" charset="2"/>
              <a:buChar char="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78992" indent="-118872" algn="l" defTabSz="914400" rtl="0" eaLnBrk="1" latinLnBrk="0" hangingPunct="1">
              <a:lnSpc>
                <a:spcPct val="90000"/>
              </a:lnSpc>
              <a:spcBef>
                <a:spcPts val="100"/>
              </a:spcBef>
              <a:buClr>
                <a:schemeClr val="accent3"/>
              </a:buClr>
              <a:buFont typeface="Wingdings" panose="05000000000000000000" pitchFamily="2" charset="2"/>
              <a:buChar char="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/>
            <a:r>
              <a:rPr lang="en-US" sz="1200" b="1" i="1" dirty="0"/>
              <a:t>Recall </a:t>
            </a:r>
            <a:r>
              <a:rPr lang="en-US" sz="1200" i="1" dirty="0"/>
              <a:t>– </a:t>
            </a:r>
            <a:r>
              <a:rPr lang="en-US" sz="1200" i="1" dirty="0">
                <a:latin typeface="Trebuchet MS" panose="020B0603020202020204" pitchFamily="34" charset="0"/>
              </a:rPr>
              <a:t>The percentage of patients who actually progress within the next 3 months and are correctly predicted by the model</a:t>
            </a:r>
          </a:p>
          <a:p>
            <a:pPr marL="182880"/>
            <a:endParaRPr lang="en-US" sz="1200" i="1" dirty="0">
              <a:latin typeface="Trebuchet MS" panose="020B0603020202020204" pitchFamily="34" charset="0"/>
            </a:endParaRPr>
          </a:p>
          <a:p>
            <a:pPr marL="182880"/>
            <a:r>
              <a:rPr lang="en-US" sz="1200" b="1" i="1" dirty="0"/>
              <a:t>Precision</a:t>
            </a:r>
            <a:r>
              <a:rPr lang="en-US" sz="1200" i="1" dirty="0"/>
              <a:t> – </a:t>
            </a:r>
            <a:r>
              <a:rPr lang="en-US" sz="1200" i="1" dirty="0">
                <a:latin typeface="Trebuchet MS" panose="020B0603020202020204" pitchFamily="34" charset="0"/>
              </a:rPr>
              <a:t>The percentage of patients predicted by the model to progress who actually do progress within the next 3 months</a:t>
            </a:r>
          </a:p>
        </p:txBody>
      </p:sp>
      <p:pic>
        <p:nvPicPr>
          <p:cNvPr id="14" name="Graphic 13" descr="Woman with solid fill">
            <a:extLst>
              <a:ext uri="{FF2B5EF4-FFF2-40B4-BE49-F238E27FC236}">
                <a16:creationId xmlns:a16="http://schemas.microsoft.com/office/drawing/2014/main" id="{38B7E0AB-F1E8-8BB3-AB36-4331548D1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5636" y="1926219"/>
            <a:ext cx="423294" cy="423294"/>
          </a:xfrm>
          <a:prstGeom prst="rect">
            <a:avLst/>
          </a:prstGeom>
        </p:spPr>
      </p:pic>
      <p:pic>
        <p:nvPicPr>
          <p:cNvPr id="15" name="Graphic 14" descr="Woman outline">
            <a:extLst>
              <a:ext uri="{FF2B5EF4-FFF2-40B4-BE49-F238E27FC236}">
                <a16:creationId xmlns:a16="http://schemas.microsoft.com/office/drawing/2014/main" id="{E32C5216-9DD6-8305-F497-1D8E759146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17176" y="1926219"/>
            <a:ext cx="423294" cy="423294"/>
          </a:xfrm>
          <a:prstGeom prst="rect">
            <a:avLst/>
          </a:prstGeom>
        </p:spPr>
      </p:pic>
      <p:pic>
        <p:nvPicPr>
          <p:cNvPr id="16" name="Graphic 15" descr="Woman with solid fill">
            <a:extLst>
              <a:ext uri="{FF2B5EF4-FFF2-40B4-BE49-F238E27FC236}">
                <a16:creationId xmlns:a16="http://schemas.microsoft.com/office/drawing/2014/main" id="{DC24C062-00BB-D43E-A1A4-2C7A969C59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9226" y="1926219"/>
            <a:ext cx="423294" cy="423294"/>
          </a:xfrm>
          <a:prstGeom prst="rect">
            <a:avLst/>
          </a:prstGeom>
        </p:spPr>
      </p:pic>
      <p:pic>
        <p:nvPicPr>
          <p:cNvPr id="17" name="Graphic 16" descr="Woman with solid fill">
            <a:extLst>
              <a:ext uri="{FF2B5EF4-FFF2-40B4-BE49-F238E27FC236}">
                <a16:creationId xmlns:a16="http://schemas.microsoft.com/office/drawing/2014/main" id="{FEDAC5CE-B1E6-33ED-D721-C83C05433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02816" y="1926219"/>
            <a:ext cx="423294" cy="423294"/>
          </a:xfrm>
          <a:prstGeom prst="rect">
            <a:avLst/>
          </a:prstGeom>
        </p:spPr>
      </p:pic>
      <p:pic>
        <p:nvPicPr>
          <p:cNvPr id="18" name="Graphic 17" descr="Woman with solid fill">
            <a:extLst>
              <a:ext uri="{FF2B5EF4-FFF2-40B4-BE49-F238E27FC236}">
                <a16:creationId xmlns:a16="http://schemas.microsoft.com/office/drawing/2014/main" id="{1348FC92-7194-664F-AA8C-E3815FBB0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56406" y="1926219"/>
            <a:ext cx="423294" cy="423294"/>
          </a:xfrm>
          <a:prstGeom prst="rect">
            <a:avLst/>
          </a:prstGeom>
        </p:spPr>
      </p:pic>
      <p:pic>
        <p:nvPicPr>
          <p:cNvPr id="19" name="Graphic 18" descr="Woman with solid fill">
            <a:extLst>
              <a:ext uri="{FF2B5EF4-FFF2-40B4-BE49-F238E27FC236}">
                <a16:creationId xmlns:a16="http://schemas.microsoft.com/office/drawing/2014/main" id="{0C39D22C-D8EA-7CC2-19C2-5073FE15E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09996" y="1926219"/>
            <a:ext cx="423294" cy="423294"/>
          </a:xfrm>
          <a:prstGeom prst="rect">
            <a:avLst/>
          </a:prstGeom>
        </p:spPr>
      </p:pic>
      <p:pic>
        <p:nvPicPr>
          <p:cNvPr id="20" name="Graphic 19" descr="Woman with solid fill">
            <a:extLst>
              <a:ext uri="{FF2B5EF4-FFF2-40B4-BE49-F238E27FC236}">
                <a16:creationId xmlns:a16="http://schemas.microsoft.com/office/drawing/2014/main" id="{0824BC2E-814E-4125-32E7-3F18746AC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63586" y="1926219"/>
            <a:ext cx="423294" cy="423294"/>
          </a:xfrm>
          <a:prstGeom prst="rect">
            <a:avLst/>
          </a:prstGeom>
        </p:spPr>
      </p:pic>
      <p:pic>
        <p:nvPicPr>
          <p:cNvPr id="21" name="Graphic 20" descr="Woman outline">
            <a:extLst>
              <a:ext uri="{FF2B5EF4-FFF2-40B4-BE49-F238E27FC236}">
                <a16:creationId xmlns:a16="http://schemas.microsoft.com/office/drawing/2014/main" id="{D3B646B7-D64A-53AA-DB22-523117E2D0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70766" y="1926219"/>
            <a:ext cx="423294" cy="423294"/>
          </a:xfrm>
          <a:prstGeom prst="rect">
            <a:avLst/>
          </a:prstGeom>
        </p:spPr>
      </p:pic>
      <p:pic>
        <p:nvPicPr>
          <p:cNvPr id="22" name="Graphic 21" descr="Woman outline">
            <a:extLst>
              <a:ext uri="{FF2B5EF4-FFF2-40B4-BE49-F238E27FC236}">
                <a16:creationId xmlns:a16="http://schemas.microsoft.com/office/drawing/2014/main" id="{C13EA150-736F-3DE9-F325-034252B07F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4356" y="1926219"/>
            <a:ext cx="423294" cy="423294"/>
          </a:xfrm>
          <a:prstGeom prst="rect">
            <a:avLst/>
          </a:prstGeom>
        </p:spPr>
      </p:pic>
      <p:pic>
        <p:nvPicPr>
          <p:cNvPr id="23" name="Graphic 22" descr="Woman outline">
            <a:extLst>
              <a:ext uri="{FF2B5EF4-FFF2-40B4-BE49-F238E27FC236}">
                <a16:creationId xmlns:a16="http://schemas.microsoft.com/office/drawing/2014/main" id="{DAE27F08-9F8B-B9B3-5C69-35270ADABD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7946" y="1926219"/>
            <a:ext cx="423294" cy="423294"/>
          </a:xfrm>
          <a:prstGeom prst="rect">
            <a:avLst/>
          </a:prstGeom>
        </p:spPr>
      </p:pic>
      <p:pic>
        <p:nvPicPr>
          <p:cNvPr id="24" name="Graphic 23" descr="Woman outline">
            <a:extLst>
              <a:ext uri="{FF2B5EF4-FFF2-40B4-BE49-F238E27FC236}">
                <a16:creationId xmlns:a16="http://schemas.microsoft.com/office/drawing/2014/main" id="{A75906D6-089F-26E0-3391-8438936A50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31536" y="1926219"/>
            <a:ext cx="423294" cy="423294"/>
          </a:xfrm>
          <a:prstGeom prst="rect">
            <a:avLst/>
          </a:prstGeom>
        </p:spPr>
      </p:pic>
      <p:pic>
        <p:nvPicPr>
          <p:cNvPr id="25" name="Graphic 24" descr="Woman outline">
            <a:extLst>
              <a:ext uri="{FF2B5EF4-FFF2-40B4-BE49-F238E27FC236}">
                <a16:creationId xmlns:a16="http://schemas.microsoft.com/office/drawing/2014/main" id="{37C01EDD-1278-7945-A7C7-446E492967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8716" y="1926219"/>
            <a:ext cx="423294" cy="423294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BAD85B7-5F5B-18E5-A0C1-1351C3D4252D}"/>
              </a:ext>
            </a:extLst>
          </p:cNvPr>
          <p:cNvSpPr/>
          <p:nvPr/>
        </p:nvSpPr>
        <p:spPr>
          <a:xfrm>
            <a:off x="8164445" y="1901288"/>
            <a:ext cx="2971799" cy="50052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US"/>
          </a:p>
        </p:txBody>
      </p:sp>
      <p:sp>
        <p:nvSpPr>
          <p:cNvPr id="27" name="Footer Placeholder 3">
            <a:extLst>
              <a:ext uri="{FF2B5EF4-FFF2-40B4-BE49-F238E27FC236}">
                <a16:creationId xmlns:a16="http://schemas.microsoft.com/office/drawing/2014/main" id="{53F5F187-42DF-561A-1CF8-331CA6720B95}"/>
              </a:ext>
            </a:extLst>
          </p:cNvPr>
          <p:cNvSpPr txBox="1">
            <a:spLocks/>
          </p:cNvSpPr>
          <p:nvPr/>
        </p:nvSpPr>
        <p:spPr>
          <a:xfrm>
            <a:off x="7326244" y="1569298"/>
            <a:ext cx="1379271" cy="31071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95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 algn="l"/>
            <a:r>
              <a:rPr lang="en-US" sz="1050" b="1" i="1" dirty="0"/>
              <a:t>Recall </a:t>
            </a:r>
            <a:r>
              <a:rPr lang="en-US" sz="1050" i="1" dirty="0"/>
              <a:t>=5/10=50%</a:t>
            </a:r>
            <a:endParaRPr lang="en-US" sz="1050" i="1" dirty="0">
              <a:latin typeface="Trebuchet MS" panose="020B0603020202020204" pitchFamily="34" charset="0"/>
            </a:endParaRPr>
          </a:p>
        </p:txBody>
      </p:sp>
      <p:pic>
        <p:nvPicPr>
          <p:cNvPr id="28" name="Graphic 27" descr="Woman with solid fill">
            <a:extLst>
              <a:ext uri="{FF2B5EF4-FFF2-40B4-BE49-F238E27FC236}">
                <a16:creationId xmlns:a16="http://schemas.microsoft.com/office/drawing/2014/main" id="{5D60CF95-CB4B-0E89-0E2E-63AFF78458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81276" y="1926219"/>
            <a:ext cx="423294" cy="423294"/>
          </a:xfrm>
          <a:prstGeom prst="rect">
            <a:avLst/>
          </a:prstGeom>
        </p:spPr>
      </p:pic>
      <p:pic>
        <p:nvPicPr>
          <p:cNvPr id="29" name="Graphic 28" descr="Woman with solid fill">
            <a:extLst>
              <a:ext uri="{FF2B5EF4-FFF2-40B4-BE49-F238E27FC236}">
                <a16:creationId xmlns:a16="http://schemas.microsoft.com/office/drawing/2014/main" id="{1EEC1A7E-E384-375A-6671-23F77F562E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88456" y="1926219"/>
            <a:ext cx="423294" cy="423294"/>
          </a:xfrm>
          <a:prstGeom prst="rect">
            <a:avLst/>
          </a:prstGeom>
        </p:spPr>
      </p:pic>
      <p:pic>
        <p:nvPicPr>
          <p:cNvPr id="30" name="Graphic 29" descr="Woman with solid fill">
            <a:extLst>
              <a:ext uri="{FF2B5EF4-FFF2-40B4-BE49-F238E27FC236}">
                <a16:creationId xmlns:a16="http://schemas.microsoft.com/office/drawing/2014/main" id="{532734BA-D407-BFB1-DA27-F7E5A5EEA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2046" y="1926219"/>
            <a:ext cx="423294" cy="423294"/>
          </a:xfrm>
          <a:prstGeom prst="rect">
            <a:avLst/>
          </a:prstGeom>
        </p:spPr>
      </p:pic>
      <p:pic>
        <p:nvPicPr>
          <p:cNvPr id="31" name="Graphic 30" descr="Woman outline">
            <a:extLst>
              <a:ext uri="{FF2B5EF4-FFF2-40B4-BE49-F238E27FC236}">
                <a16:creationId xmlns:a16="http://schemas.microsoft.com/office/drawing/2014/main" id="{03C24D40-A8C6-3681-1A29-6CF8958330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85126" y="1926219"/>
            <a:ext cx="423294" cy="423294"/>
          </a:xfrm>
          <a:prstGeom prst="rect">
            <a:avLst/>
          </a:prstGeom>
        </p:spPr>
      </p:pic>
      <p:pic>
        <p:nvPicPr>
          <p:cNvPr id="32" name="Graphic 31" descr="Woman outline">
            <a:extLst>
              <a:ext uri="{FF2B5EF4-FFF2-40B4-BE49-F238E27FC236}">
                <a16:creationId xmlns:a16="http://schemas.microsoft.com/office/drawing/2014/main" id="{F2904211-554C-2280-207E-100B032D9F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92306" y="1926219"/>
            <a:ext cx="423294" cy="423294"/>
          </a:xfrm>
          <a:prstGeom prst="rect">
            <a:avLst/>
          </a:prstGeom>
        </p:spPr>
      </p:pic>
      <p:pic>
        <p:nvPicPr>
          <p:cNvPr id="33" name="Graphic 32" descr="Woman outline">
            <a:extLst>
              <a:ext uri="{FF2B5EF4-FFF2-40B4-BE49-F238E27FC236}">
                <a16:creationId xmlns:a16="http://schemas.microsoft.com/office/drawing/2014/main" id="{3E751AF1-FE6A-F236-6200-12DDA21E72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45896" y="1926219"/>
            <a:ext cx="423294" cy="423294"/>
          </a:xfrm>
          <a:prstGeom prst="rect">
            <a:avLst/>
          </a:prstGeom>
        </p:spPr>
      </p:pic>
      <p:pic>
        <p:nvPicPr>
          <p:cNvPr id="34" name="Graphic 33" descr="Woman outline">
            <a:extLst>
              <a:ext uri="{FF2B5EF4-FFF2-40B4-BE49-F238E27FC236}">
                <a16:creationId xmlns:a16="http://schemas.microsoft.com/office/drawing/2014/main" id="{E30815C4-29FC-1B0A-B0CE-C1A075F66A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9490" y="1926219"/>
            <a:ext cx="423294" cy="423294"/>
          </a:xfrm>
          <a:prstGeom prst="rect">
            <a:avLst/>
          </a:prstGeom>
        </p:spPr>
      </p:pic>
      <p:pic>
        <p:nvPicPr>
          <p:cNvPr id="35" name="Graphic 34" descr="Woman with solid fill">
            <a:extLst>
              <a:ext uri="{FF2B5EF4-FFF2-40B4-BE49-F238E27FC236}">
                <a16:creationId xmlns:a16="http://schemas.microsoft.com/office/drawing/2014/main" id="{9D9E334C-8493-D15C-B83A-82669A6F6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4866" y="1926219"/>
            <a:ext cx="423294" cy="423294"/>
          </a:xfrm>
          <a:prstGeom prst="rect">
            <a:avLst/>
          </a:prstGeom>
        </p:spPr>
      </p:pic>
      <p:sp>
        <p:nvSpPr>
          <p:cNvPr id="36" name="Footer Placeholder 3">
            <a:extLst>
              <a:ext uri="{FF2B5EF4-FFF2-40B4-BE49-F238E27FC236}">
                <a16:creationId xmlns:a16="http://schemas.microsoft.com/office/drawing/2014/main" id="{4A526A0E-6372-6E21-8E65-2722BB7D4106}"/>
              </a:ext>
            </a:extLst>
          </p:cNvPr>
          <p:cNvSpPr txBox="1">
            <a:spLocks/>
          </p:cNvSpPr>
          <p:nvPr/>
        </p:nvSpPr>
        <p:spPr>
          <a:xfrm>
            <a:off x="9366894" y="1442276"/>
            <a:ext cx="1811293" cy="545303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95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 algn="l"/>
            <a:r>
              <a:rPr lang="en-US" sz="1050" b="1" i="1" dirty="0"/>
              <a:t>Precision</a:t>
            </a:r>
            <a:r>
              <a:rPr lang="en-US" sz="1050" i="1" dirty="0"/>
              <a:t> =5/12=42%</a:t>
            </a:r>
            <a:endParaRPr lang="en-US" sz="1050" i="1" dirty="0">
              <a:latin typeface="Trebuchet MS" panose="020B0603020202020204" pitchFamily="34" charset="0"/>
            </a:endParaRP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98FB7DD-F960-0EAF-ABD9-2A7670F9A584}"/>
              </a:ext>
            </a:extLst>
          </p:cNvPr>
          <p:cNvSpPr txBox="1">
            <a:spLocks/>
          </p:cNvSpPr>
          <p:nvPr/>
        </p:nvSpPr>
        <p:spPr>
          <a:xfrm>
            <a:off x="8412440" y="2394911"/>
            <a:ext cx="1862171" cy="31071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95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 algn="l"/>
            <a:r>
              <a:rPr lang="en-US" sz="1000" i="1" dirty="0">
                <a:solidFill>
                  <a:srgbClr val="FF0000"/>
                </a:solidFill>
              </a:rPr>
              <a:t>predicted to progress (N=10)</a:t>
            </a:r>
            <a:endParaRPr lang="en-US" sz="1000" i="1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38" name="Footer Placeholder 3">
            <a:extLst>
              <a:ext uri="{FF2B5EF4-FFF2-40B4-BE49-F238E27FC236}">
                <a16:creationId xmlns:a16="http://schemas.microsoft.com/office/drawing/2014/main" id="{DF9E0C3D-A92A-F9B3-8EA4-9D4CABA8E619}"/>
              </a:ext>
            </a:extLst>
          </p:cNvPr>
          <p:cNvSpPr txBox="1">
            <a:spLocks/>
          </p:cNvSpPr>
          <p:nvPr/>
        </p:nvSpPr>
        <p:spPr>
          <a:xfrm>
            <a:off x="6652234" y="2403175"/>
            <a:ext cx="1336897" cy="31071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95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 algn="l"/>
            <a:r>
              <a:rPr lang="en-US" sz="1000" b="1" dirty="0">
                <a:solidFill>
                  <a:srgbClr val="000000"/>
                </a:solidFill>
              </a:rPr>
              <a:t>Actual progressed (N=10)</a:t>
            </a:r>
            <a:endParaRPr lang="en-US" sz="1000" b="1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541DC1E-EF22-574B-5E5E-BE86BBACF4C2}"/>
              </a:ext>
            </a:extLst>
          </p:cNvPr>
          <p:cNvSpPr txBox="1">
            <a:spLocks/>
          </p:cNvSpPr>
          <p:nvPr/>
        </p:nvSpPr>
        <p:spPr>
          <a:xfrm>
            <a:off x="10501240" y="2394911"/>
            <a:ext cx="1597499" cy="31071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95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 algn="l"/>
            <a:r>
              <a:rPr lang="en-US" sz="1000" dirty="0">
                <a:solidFill>
                  <a:srgbClr val="000000"/>
                </a:solidFill>
              </a:rPr>
              <a:t>Actual didn’t progress (N=10)</a:t>
            </a:r>
            <a:endParaRPr lang="en-US" sz="1000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3217693F-6A95-1FAC-3A80-5D23933101A7}"/>
              </a:ext>
            </a:extLst>
          </p:cNvPr>
          <p:cNvSpPr/>
          <p:nvPr/>
        </p:nvSpPr>
        <p:spPr>
          <a:xfrm>
            <a:off x="5680914" y="1810994"/>
            <a:ext cx="880561" cy="545038"/>
          </a:xfrm>
          <a:prstGeom prst="rightArrow">
            <a:avLst>
              <a:gd name="adj1" fmla="val 68137"/>
              <a:gd name="adj2" fmla="val 63603"/>
            </a:avLst>
          </a:prstGeom>
          <a:solidFill>
            <a:srgbClr val="66C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200" dirty="0"/>
              <a:t> example</a:t>
            </a:r>
          </a:p>
        </p:txBody>
      </p:sp>
      <p:sp>
        <p:nvSpPr>
          <p:cNvPr id="41" name="Right Bracket 40">
            <a:extLst>
              <a:ext uri="{FF2B5EF4-FFF2-40B4-BE49-F238E27FC236}">
                <a16:creationId xmlns:a16="http://schemas.microsoft.com/office/drawing/2014/main" id="{FFC27EF3-7C29-9F01-3730-14F50E75E35D}"/>
              </a:ext>
            </a:extLst>
          </p:cNvPr>
          <p:cNvSpPr/>
          <p:nvPr/>
        </p:nvSpPr>
        <p:spPr>
          <a:xfrm>
            <a:off x="5375271" y="1608545"/>
            <a:ext cx="128067" cy="907237"/>
          </a:xfrm>
          <a:prstGeom prst="rightBracket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7F338380-6A88-204B-21E8-32C5CF0D3606}"/>
              </a:ext>
            </a:extLst>
          </p:cNvPr>
          <p:cNvSpPr txBox="1">
            <a:spLocks/>
          </p:cNvSpPr>
          <p:nvPr/>
        </p:nvSpPr>
        <p:spPr>
          <a:xfrm>
            <a:off x="384695" y="238538"/>
            <a:ext cx="11422612" cy="800501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1" i="0" kern="1200">
                <a:solidFill>
                  <a:schemeClr val="accent1"/>
                </a:solidFill>
                <a:latin typeface="Avenir Next LT Pro" panose="020B0504020202020204" pitchFamily="34" charset="77"/>
                <a:ea typeface="+mj-ea"/>
                <a:cs typeface="+mj-cs"/>
              </a:defRPr>
            </a:lvl1pPr>
          </a:lstStyle>
          <a:p>
            <a:r>
              <a:rPr lang="en-US" dirty="0"/>
              <a:t>Model identifies 60% of patients with line progression in the data, but with 40% precision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86D5D5-8E8F-B5E1-B5A4-105EF9F200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490782"/>
              </p:ext>
            </p:extLst>
          </p:nvPr>
        </p:nvGraphicFramePr>
        <p:xfrm>
          <a:off x="6096000" y="3290667"/>
          <a:ext cx="5082186" cy="2577631"/>
        </p:xfrm>
        <a:graphic>
          <a:graphicData uri="http://schemas.openxmlformats.org/drawingml/2006/table">
            <a:tbl>
              <a:tblPr firstRow="1" firstCol="1">
                <a:tableStyleId>{B301B821-A1FF-4177-AEE7-76D212191A09}</a:tableStyleId>
              </a:tblPr>
              <a:tblGrid>
                <a:gridCol w="1694062">
                  <a:extLst>
                    <a:ext uri="{9D8B030D-6E8A-4147-A177-3AD203B41FA5}">
                      <a16:colId xmlns:a16="http://schemas.microsoft.com/office/drawing/2014/main" val="1206801336"/>
                    </a:ext>
                  </a:extLst>
                </a:gridCol>
                <a:gridCol w="1694062">
                  <a:extLst>
                    <a:ext uri="{9D8B030D-6E8A-4147-A177-3AD203B41FA5}">
                      <a16:colId xmlns:a16="http://schemas.microsoft.com/office/drawing/2014/main" val="570710685"/>
                    </a:ext>
                  </a:extLst>
                </a:gridCol>
                <a:gridCol w="1694062">
                  <a:extLst>
                    <a:ext uri="{9D8B030D-6E8A-4147-A177-3AD203B41FA5}">
                      <a16:colId xmlns:a16="http://schemas.microsoft.com/office/drawing/2014/main" val="3667044271"/>
                    </a:ext>
                  </a:extLst>
                </a:gridCol>
              </a:tblGrid>
              <a:tr h="5256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 Progression</a:t>
                      </a:r>
                      <a:endParaRPr lang="en-IN" sz="1400" b="1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Precision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Recall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96637244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1L to 2L</a:t>
                      </a:r>
                      <a:endParaRPr lang="en-I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~35%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~55%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18276090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2L to 3L</a:t>
                      </a:r>
                      <a:endParaRPr lang="en-I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57%</a:t>
                      </a:r>
                      <a:endParaRPr lang="en-I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65%</a:t>
                      </a:r>
                      <a:endParaRPr lang="en-I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70709427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3L to 4L+</a:t>
                      </a:r>
                      <a:endParaRPr lang="en-I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60%</a:t>
                      </a:r>
                      <a:endParaRPr lang="en-I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70%</a:t>
                      </a:r>
                      <a:endParaRPr lang="en-I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42786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081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D37BA8-48BB-1F71-0D1E-291B4402318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2047D-C5D6-5E6B-7C72-A7BB86A871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D3FC1D-6A04-0A7A-7546-56B12A7775E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KAMs Receive 8–10 Actionable Alerts Each Month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5C46A33-064B-FA8A-81E6-3F4D7D030E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408494"/>
              </p:ext>
            </p:extLst>
          </p:nvPr>
        </p:nvGraphicFramePr>
        <p:xfrm>
          <a:off x="608806" y="2771457"/>
          <a:ext cx="10134601" cy="26167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83815">
                  <a:extLst>
                    <a:ext uri="{9D8B030D-6E8A-4147-A177-3AD203B41FA5}">
                      <a16:colId xmlns:a16="http://schemas.microsoft.com/office/drawing/2014/main" val="3075356794"/>
                    </a:ext>
                  </a:extLst>
                </a:gridCol>
                <a:gridCol w="2185286">
                  <a:extLst>
                    <a:ext uri="{9D8B030D-6E8A-4147-A177-3AD203B41FA5}">
                      <a16:colId xmlns:a16="http://schemas.microsoft.com/office/drawing/2014/main" val="2594982798"/>
                    </a:ext>
                  </a:extLst>
                </a:gridCol>
                <a:gridCol w="3032750">
                  <a:extLst>
                    <a:ext uri="{9D8B030D-6E8A-4147-A177-3AD203B41FA5}">
                      <a16:colId xmlns:a16="http://schemas.microsoft.com/office/drawing/2014/main" val="2970884813"/>
                    </a:ext>
                  </a:extLst>
                </a:gridCol>
                <a:gridCol w="3032750">
                  <a:extLst>
                    <a:ext uri="{9D8B030D-6E8A-4147-A177-3AD203B41FA5}">
                      <a16:colId xmlns:a16="http://schemas.microsoft.com/office/drawing/2014/main" val="2693005740"/>
                    </a:ext>
                  </a:extLst>
                </a:gridCol>
              </a:tblGrid>
              <a:tr h="6541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Progression Likelihood bucket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#Average monthly Alerts [A]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50 KAMs:</a:t>
                      </a:r>
                    </a:p>
                    <a:p>
                      <a:pPr algn="ctr" fontAlgn="b"/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Average Monthly Alerts per Rep</a:t>
                      </a:r>
                    </a:p>
                    <a:p>
                      <a:pPr algn="ctr" fontAlgn="b"/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[B]= [A]/(50 KAMs)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60 KAMs:</a:t>
                      </a:r>
                    </a:p>
                    <a:p>
                      <a:pPr algn="ctr" fontAlgn="b"/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Average Monthly Alerts per Rep</a:t>
                      </a:r>
                    </a:p>
                    <a:p>
                      <a:pPr algn="ctr" fontAlgn="b"/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[B]= [A]/(60 KAMs)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43911226"/>
                  </a:ext>
                </a:extLst>
              </a:tr>
              <a:tr h="6541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High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~4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~3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36745471"/>
                  </a:ext>
                </a:extLst>
              </a:tr>
              <a:tr h="6541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Medium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280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71909673"/>
                  </a:ext>
                </a:extLst>
              </a:tr>
              <a:tr h="6541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High + Medium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445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6978201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C5E986B-C087-9DBC-3B02-A53B31A90302}"/>
              </a:ext>
            </a:extLst>
          </p:cNvPr>
          <p:cNvSpPr txBox="1"/>
          <p:nvPr/>
        </p:nvSpPr>
        <p:spPr>
          <a:xfrm>
            <a:off x="608806" y="1401276"/>
            <a:ext cx="10134602" cy="114236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0366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Just focusing on ‘High’ likelihood alerts will result in KAMs receiving 3 to 4 alerts per month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srgbClr val="20366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Focusing on both High and Medium likelihood alerts</a:t>
            </a:r>
            <a:r>
              <a:rPr lang="en-US" sz="1400" dirty="0">
                <a:solidFill>
                  <a:srgbClr val="20366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will result in KAMs receiving 8 to 10 alerts per month</a:t>
            </a:r>
          </a:p>
        </p:txBody>
      </p:sp>
    </p:spTree>
    <p:extLst>
      <p:ext uri="{BB962C8B-B14F-4D97-AF65-F5344CB8AC3E}">
        <p14:creationId xmlns:p14="http://schemas.microsoft.com/office/powerpoint/2010/main" val="1657271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B8FBAD-4562-2E73-AD06-CA5A8291DA8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A4BF3-2800-6DDF-6B89-051487C3C2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B799F8-A2E7-9573-AAB5-7F49EFE7F8C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" y="126120"/>
            <a:ext cx="10972800" cy="790173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n-US" sz="2400" dirty="0"/>
              <a:t>Consistent Alert Volume Across Territories: </a:t>
            </a:r>
          </a:p>
          <a:p>
            <a:r>
              <a:rPr lang="en-US" sz="2400" dirty="0"/>
              <a:t>80% Receive 5+ Alerts/Month; </a:t>
            </a:r>
            <a:r>
              <a:rPr lang="en-IN" sz="2400" dirty="0"/>
              <a:t>Minimum 2 Alerts per Territory</a:t>
            </a:r>
            <a:endParaRPr lang="en-US" sz="2400" dirty="0"/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6D5C7A1A-B78C-57E5-F31B-3616B609C9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4287987"/>
              </p:ext>
            </p:extLst>
          </p:nvPr>
        </p:nvGraphicFramePr>
        <p:xfrm>
          <a:off x="609600" y="1859313"/>
          <a:ext cx="3657600" cy="37259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A7877908-30E2-85E4-D3F1-62B00541DCC0}"/>
              </a:ext>
            </a:extLst>
          </p:cNvPr>
          <p:cNvSpPr/>
          <p:nvPr/>
        </p:nvSpPr>
        <p:spPr>
          <a:xfrm>
            <a:off x="609600" y="1380226"/>
            <a:ext cx="3657600" cy="350378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400" b="1" dirty="0">
                <a:solidFill>
                  <a:schemeClr val="bg1"/>
                </a:solidFill>
              </a:rPr>
              <a:t>Oct’24 Predicted patient alerts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A3531A7-71B9-C6B1-A917-54360AD9D2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7350655"/>
              </p:ext>
            </p:extLst>
          </p:nvPr>
        </p:nvGraphicFramePr>
        <p:xfrm>
          <a:off x="4267202" y="1859313"/>
          <a:ext cx="3657600" cy="37259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8A7CDB7E-1F82-CC3E-C5B5-BBF4AA29A1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5395487"/>
              </p:ext>
            </p:extLst>
          </p:nvPr>
        </p:nvGraphicFramePr>
        <p:xfrm>
          <a:off x="7924800" y="1859313"/>
          <a:ext cx="3657600" cy="37259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2280917D-F1A7-5168-BDA8-9236BE2443B9}"/>
              </a:ext>
            </a:extLst>
          </p:cNvPr>
          <p:cNvSpPr/>
          <p:nvPr/>
        </p:nvSpPr>
        <p:spPr>
          <a:xfrm>
            <a:off x="4267200" y="1380226"/>
            <a:ext cx="3657600" cy="350378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400" b="1" dirty="0">
                <a:solidFill>
                  <a:schemeClr val="bg1"/>
                </a:solidFill>
              </a:rPr>
              <a:t>Nov’24 Predicted patient alerts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365D70-F4E3-36D5-3B0A-DCA6C4D3A0FA}"/>
              </a:ext>
            </a:extLst>
          </p:cNvPr>
          <p:cNvSpPr/>
          <p:nvPr/>
        </p:nvSpPr>
        <p:spPr>
          <a:xfrm>
            <a:off x="7924800" y="1380226"/>
            <a:ext cx="3657600" cy="350378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400" b="1" dirty="0">
                <a:solidFill>
                  <a:schemeClr val="bg1"/>
                </a:solidFill>
              </a:rPr>
              <a:t>Dec’24 Predicted patient alerts</a:t>
            </a:r>
          </a:p>
        </p:txBody>
      </p:sp>
    </p:spTree>
    <p:extLst>
      <p:ext uri="{BB962C8B-B14F-4D97-AF65-F5344CB8AC3E}">
        <p14:creationId xmlns:p14="http://schemas.microsoft.com/office/powerpoint/2010/main" val="3112865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19C4CD-6888-F8FF-0C36-FC894AE244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15D4B-C3F8-421C-CE71-7F0FFCE9F0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2D94CC-41D0-B2CC-59B7-E6BB8CE215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anchor="ctr"/>
          <a:lstStyle/>
          <a:p>
            <a:r>
              <a:rPr lang="en-IN" dirty="0"/>
              <a:t>Proposed Format of Field Alert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B325F0-ADF1-74CD-7861-3A4B397F67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488961"/>
              </p:ext>
            </p:extLst>
          </p:nvPr>
        </p:nvGraphicFramePr>
        <p:xfrm>
          <a:off x="609600" y="2786022"/>
          <a:ext cx="10975677" cy="2387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789">
                  <a:extLst>
                    <a:ext uri="{9D8B030D-6E8A-4147-A177-3AD203B41FA5}">
                      <a16:colId xmlns:a16="http://schemas.microsoft.com/office/drawing/2014/main" val="4197451306"/>
                    </a:ext>
                  </a:extLst>
                </a:gridCol>
                <a:gridCol w="997789">
                  <a:extLst>
                    <a:ext uri="{9D8B030D-6E8A-4147-A177-3AD203B41FA5}">
                      <a16:colId xmlns:a16="http://schemas.microsoft.com/office/drawing/2014/main" val="3095408172"/>
                    </a:ext>
                  </a:extLst>
                </a:gridCol>
                <a:gridCol w="997789">
                  <a:extLst>
                    <a:ext uri="{9D8B030D-6E8A-4147-A177-3AD203B41FA5}">
                      <a16:colId xmlns:a16="http://schemas.microsoft.com/office/drawing/2014/main" val="1140020290"/>
                    </a:ext>
                  </a:extLst>
                </a:gridCol>
                <a:gridCol w="997789">
                  <a:extLst>
                    <a:ext uri="{9D8B030D-6E8A-4147-A177-3AD203B41FA5}">
                      <a16:colId xmlns:a16="http://schemas.microsoft.com/office/drawing/2014/main" val="2399176420"/>
                    </a:ext>
                  </a:extLst>
                </a:gridCol>
                <a:gridCol w="997789">
                  <a:extLst>
                    <a:ext uri="{9D8B030D-6E8A-4147-A177-3AD203B41FA5}">
                      <a16:colId xmlns:a16="http://schemas.microsoft.com/office/drawing/2014/main" val="90989450"/>
                    </a:ext>
                  </a:extLst>
                </a:gridCol>
                <a:gridCol w="1272542">
                  <a:extLst>
                    <a:ext uri="{9D8B030D-6E8A-4147-A177-3AD203B41FA5}">
                      <a16:colId xmlns:a16="http://schemas.microsoft.com/office/drawing/2014/main" val="1160728644"/>
                    </a:ext>
                  </a:extLst>
                </a:gridCol>
                <a:gridCol w="4714190">
                  <a:extLst>
                    <a:ext uri="{9D8B030D-6E8A-4147-A177-3AD203B41FA5}">
                      <a16:colId xmlns:a16="http://schemas.microsoft.com/office/drawing/2014/main" val="3223068845"/>
                    </a:ext>
                  </a:extLst>
                </a:gridCol>
              </a:tblGrid>
              <a:tr h="7957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Physician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Territory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Account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Account Segment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Alert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Alert 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6876867"/>
                  </a:ext>
                </a:extLst>
              </a:tr>
              <a:tr h="795796">
                <a:tc>
                  <a:txBody>
                    <a:bodyPr/>
                    <a:lstStyle/>
                    <a:p>
                      <a:pPr algn="l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Dr. Smith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Tier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Territory ‘A’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Account ‘Z’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1L to 2L Progression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Predicted upcoming progression from Line 1 to Line 2 for a patient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6813553"/>
                  </a:ext>
                </a:extLst>
              </a:tr>
              <a:tr h="795796">
                <a:tc>
                  <a:txBody>
                    <a:bodyPr/>
                    <a:lstStyle/>
                    <a:p>
                      <a:pPr algn="l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Dr. John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Tier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Territory ‘B’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Account ‘X’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2L to 3L Progression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Predicted upcoming progression from Line 2 to Line 3 for a patient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949715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7784ABC-C768-54C2-2921-A954B44D84AF}"/>
              </a:ext>
            </a:extLst>
          </p:cNvPr>
          <p:cNvSpPr txBox="1"/>
          <p:nvPr/>
        </p:nvSpPr>
        <p:spPr>
          <a:xfrm>
            <a:off x="609600" y="1839462"/>
            <a:ext cx="10515603" cy="7941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400" dirty="0"/>
              <a:t>Dear Kristi,</a:t>
            </a:r>
          </a:p>
          <a:p>
            <a:pPr algn="l"/>
            <a:endParaRPr lang="en-US" sz="1400" dirty="0"/>
          </a:p>
          <a:p>
            <a:pPr algn="l"/>
            <a:r>
              <a:rPr lang="en-US" sz="1400" dirty="0"/>
              <a:t>Please find below the table with predictive alerts from your territory</a:t>
            </a:r>
          </a:p>
          <a:p>
            <a:pPr algn="l"/>
            <a:endParaRPr lang="en-US" sz="1400" dirty="0"/>
          </a:p>
          <a:p>
            <a:pPr algn="l"/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07CFE8-6394-91B9-E21D-F25841F60A12}"/>
              </a:ext>
            </a:extLst>
          </p:cNvPr>
          <p:cNvSpPr txBox="1"/>
          <p:nvPr/>
        </p:nvSpPr>
        <p:spPr>
          <a:xfrm>
            <a:off x="609601" y="5670120"/>
            <a:ext cx="10328274" cy="5175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IN" sz="1200" dirty="0"/>
              <a:t>Disclaimer will be included in the bottom of the email on how to use the alerts. internal use only.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BB2BEC-3BA4-A1DE-6F5E-CA2EA3E98ACD}"/>
              </a:ext>
            </a:extLst>
          </p:cNvPr>
          <p:cNvSpPr/>
          <p:nvPr/>
        </p:nvSpPr>
        <p:spPr>
          <a:xfrm>
            <a:off x="609600" y="1312514"/>
            <a:ext cx="1488734" cy="4160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b="1" dirty="0">
                <a:solidFill>
                  <a:schemeClr val="tx1"/>
                </a:solidFill>
              </a:rPr>
              <a:t>Illustrative</a:t>
            </a:r>
            <a:endParaRPr lang="en-IN" b="1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472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6002CC-D7FD-B8A8-3F9F-E5036DFCCCA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785C2D-AC93-A4F7-809D-0986BD7FBC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CE8D31-F8D7-5C1C-8E01-13183AC90C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anchor="ctr"/>
          <a:lstStyle/>
          <a:p>
            <a:r>
              <a:rPr lang="en-US" dirty="0"/>
              <a:t>Options for Patient to HCP Attribution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F90BD2-35EC-6CC5-D71C-5F61E4C6E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209" y="2209801"/>
            <a:ext cx="619399" cy="771257"/>
          </a:xfrm>
          <a:prstGeom prst="rect">
            <a:avLst/>
          </a:prstGeom>
        </p:spPr>
      </p:pic>
      <p:pic>
        <p:nvPicPr>
          <p:cNvPr id="7" name="Graphic 6" descr="Doctor male with solid fill">
            <a:extLst>
              <a:ext uri="{FF2B5EF4-FFF2-40B4-BE49-F238E27FC236}">
                <a16:creationId xmlns:a16="http://schemas.microsoft.com/office/drawing/2014/main" id="{370AEA3F-3F45-0F42-6F0D-293A4A3B1D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7200" y="1825752"/>
            <a:ext cx="768096" cy="76809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306AB7E-6A9A-486A-2CB2-9BE6FB2FCF7A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1013608" y="2209800"/>
            <a:ext cx="713593" cy="385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356D571-A21F-68A0-03F7-D3EDC3C2B886}"/>
              </a:ext>
            </a:extLst>
          </p:cNvPr>
          <p:cNvSpPr txBox="1"/>
          <p:nvPr/>
        </p:nvSpPr>
        <p:spPr>
          <a:xfrm>
            <a:off x="1603248" y="1504865"/>
            <a:ext cx="10160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1333" dirty="0"/>
              <a:t>Dr. John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4D6FA2-C9CE-6BBA-D04E-E94A4ECDB13D}"/>
              </a:ext>
            </a:extLst>
          </p:cNvPr>
          <p:cNvSpPr txBox="1"/>
          <p:nvPr/>
        </p:nvSpPr>
        <p:spPr>
          <a:xfrm>
            <a:off x="1541927" y="2593848"/>
            <a:ext cx="1139952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1333" dirty="0"/>
              <a:t>LR MDS Dx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B9DFE0-A3B7-B82D-21A9-027CC7FF90B3}"/>
              </a:ext>
            </a:extLst>
          </p:cNvPr>
          <p:cNvSpPr txBox="1"/>
          <p:nvPr/>
        </p:nvSpPr>
        <p:spPr>
          <a:xfrm>
            <a:off x="82952" y="1884289"/>
            <a:ext cx="1241913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1467" dirty="0"/>
              <a:t>Patient ‘X’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6AED83-0046-8B95-7F71-9A73F0DE28C6}"/>
              </a:ext>
            </a:extLst>
          </p:cNvPr>
          <p:cNvCxnSpPr>
            <a:cxnSpLocks/>
          </p:cNvCxnSpPr>
          <p:nvPr/>
        </p:nvCxnSpPr>
        <p:spPr>
          <a:xfrm>
            <a:off x="2495297" y="2220424"/>
            <a:ext cx="713593" cy="2941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 descr="Doctor male with solid fill">
            <a:extLst>
              <a:ext uri="{FF2B5EF4-FFF2-40B4-BE49-F238E27FC236}">
                <a16:creationId xmlns:a16="http://schemas.microsoft.com/office/drawing/2014/main" id="{1163CF8C-1F74-8AA0-997F-39144A757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32841" y="1856363"/>
            <a:ext cx="768096" cy="76809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AC4C265-2A0B-9739-9931-47711631862E}"/>
              </a:ext>
            </a:extLst>
          </p:cNvPr>
          <p:cNvSpPr txBox="1"/>
          <p:nvPr/>
        </p:nvSpPr>
        <p:spPr>
          <a:xfrm>
            <a:off x="3208889" y="1535476"/>
            <a:ext cx="10160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1333" dirty="0"/>
              <a:t>Dr. John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2B0E09-B2AB-3DF4-E9FE-1ECEA193FF10}"/>
              </a:ext>
            </a:extLst>
          </p:cNvPr>
          <p:cNvSpPr txBox="1"/>
          <p:nvPr/>
        </p:nvSpPr>
        <p:spPr>
          <a:xfrm>
            <a:off x="2619248" y="2627637"/>
            <a:ext cx="2359152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1333" dirty="0"/>
              <a:t>1</a:t>
            </a:r>
            <a:r>
              <a:rPr lang="en-US" sz="1333" baseline="30000" dirty="0"/>
              <a:t>st</a:t>
            </a:r>
            <a:r>
              <a:rPr lang="en-US" sz="1333" dirty="0"/>
              <a:t> Line Treatment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F49AC66-084D-6D84-8D71-EA27B11FEF61}"/>
              </a:ext>
            </a:extLst>
          </p:cNvPr>
          <p:cNvCxnSpPr>
            <a:cxnSpLocks/>
          </p:cNvCxnSpPr>
          <p:nvPr/>
        </p:nvCxnSpPr>
        <p:spPr>
          <a:xfrm flipV="1">
            <a:off x="4167993" y="2233102"/>
            <a:ext cx="892048" cy="1909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 descr="Doctor male with solid fill">
            <a:extLst>
              <a:ext uri="{FF2B5EF4-FFF2-40B4-BE49-F238E27FC236}">
                <a16:creationId xmlns:a16="http://schemas.microsoft.com/office/drawing/2014/main" id="{66C8E19B-54CA-B177-CDF5-7B5D4879F3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33083" y="1856363"/>
            <a:ext cx="768096" cy="76809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7903743-EE19-75FE-2F85-8B5D4E0FC117}"/>
              </a:ext>
            </a:extLst>
          </p:cNvPr>
          <p:cNvCxnSpPr>
            <a:cxnSpLocks/>
          </p:cNvCxnSpPr>
          <p:nvPr/>
        </p:nvCxnSpPr>
        <p:spPr>
          <a:xfrm>
            <a:off x="9184643" y="1647993"/>
            <a:ext cx="0" cy="15849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0278D2F-355A-9DFB-543E-3A3E86709749}"/>
              </a:ext>
            </a:extLst>
          </p:cNvPr>
          <p:cNvSpPr txBox="1"/>
          <p:nvPr/>
        </p:nvSpPr>
        <p:spPr>
          <a:xfrm>
            <a:off x="9448800" y="1825753"/>
            <a:ext cx="2660245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>
                <a:schemeClr val="bg2"/>
              </a:buClr>
              <a:tabLst/>
            </a:pPr>
            <a:r>
              <a:rPr lang="en-US" sz="1467" b="1" dirty="0"/>
              <a:t>Most visited HCP: </a:t>
            </a:r>
            <a:r>
              <a:rPr lang="en-US" sz="1467" dirty="0"/>
              <a:t>Dr. John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9D1894-7F5C-9C2C-324E-EC4514A9E904}"/>
              </a:ext>
            </a:extLst>
          </p:cNvPr>
          <p:cNvSpPr txBox="1"/>
          <p:nvPr/>
        </p:nvSpPr>
        <p:spPr>
          <a:xfrm>
            <a:off x="9144003" y="2152579"/>
            <a:ext cx="2965043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>
                <a:schemeClr val="bg2"/>
              </a:buClr>
              <a:tabLst/>
            </a:pPr>
            <a:r>
              <a:rPr lang="en-US" sz="1467" b="1" dirty="0"/>
              <a:t>Recently visited HCP: </a:t>
            </a:r>
            <a:r>
              <a:rPr lang="en-US" sz="1467" dirty="0"/>
              <a:t>Dr. Smith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E2D888-6AE1-72DE-3B41-CA6A609E51C9}"/>
              </a:ext>
            </a:extLst>
          </p:cNvPr>
          <p:cNvSpPr txBox="1"/>
          <p:nvPr/>
        </p:nvSpPr>
        <p:spPr>
          <a:xfrm>
            <a:off x="9184643" y="2488225"/>
            <a:ext cx="2965043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>
                <a:schemeClr val="bg2"/>
              </a:buClr>
              <a:tabLst/>
            </a:pPr>
            <a:r>
              <a:rPr lang="en-US" sz="1467" b="1" dirty="0"/>
              <a:t>Most visited Account: </a:t>
            </a:r>
            <a:r>
              <a:rPr lang="en-US" sz="1467" dirty="0"/>
              <a:t>TOPA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293A5B-EC4B-ECDD-CEB5-091ED6968433}"/>
              </a:ext>
            </a:extLst>
          </p:cNvPr>
          <p:cNvSpPr txBox="1"/>
          <p:nvPr/>
        </p:nvSpPr>
        <p:spPr>
          <a:xfrm>
            <a:off x="9184643" y="2843526"/>
            <a:ext cx="2965043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>
                <a:schemeClr val="bg2"/>
              </a:buClr>
              <a:tabLst/>
            </a:pPr>
            <a:r>
              <a:rPr lang="en-US" sz="1467" b="1" dirty="0"/>
              <a:t>Recently visited HCP: </a:t>
            </a:r>
            <a:r>
              <a:rPr lang="en-US" sz="1467" dirty="0"/>
              <a:t>TOPA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97C8497-6083-BE07-9D2C-9AB0E100EC47}"/>
              </a:ext>
            </a:extLst>
          </p:cNvPr>
          <p:cNvCxnSpPr>
            <a:cxnSpLocks/>
          </p:cNvCxnSpPr>
          <p:nvPr/>
        </p:nvCxnSpPr>
        <p:spPr>
          <a:xfrm flipV="1">
            <a:off x="394208" y="3371833"/>
            <a:ext cx="11594592" cy="1331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4AEF545-8757-9BFF-0961-FCEDFDE90CE7}"/>
              </a:ext>
            </a:extLst>
          </p:cNvPr>
          <p:cNvSpPr txBox="1"/>
          <p:nvPr/>
        </p:nvSpPr>
        <p:spPr>
          <a:xfrm>
            <a:off x="4938301" y="1543048"/>
            <a:ext cx="10160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1333" dirty="0"/>
              <a:t>Dr. John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91A3B4-0776-5B76-A50F-01C3901507DF}"/>
              </a:ext>
            </a:extLst>
          </p:cNvPr>
          <p:cNvSpPr txBox="1"/>
          <p:nvPr/>
        </p:nvSpPr>
        <p:spPr>
          <a:xfrm>
            <a:off x="4528971" y="2624460"/>
            <a:ext cx="1871829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1333" dirty="0"/>
              <a:t>Blood</a:t>
            </a:r>
          </a:p>
          <a:p>
            <a:pPr algn="ctr">
              <a:buClr>
                <a:schemeClr val="bg2"/>
              </a:buClr>
              <a:tabLst/>
            </a:pPr>
            <a:r>
              <a:rPr lang="en-US" sz="1333" dirty="0"/>
              <a:t>Transfusion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77A0830-DC0B-4473-7FD6-F8C311CBDBBD}"/>
              </a:ext>
            </a:extLst>
          </p:cNvPr>
          <p:cNvCxnSpPr>
            <a:cxnSpLocks/>
          </p:cNvCxnSpPr>
          <p:nvPr/>
        </p:nvCxnSpPr>
        <p:spPr>
          <a:xfrm>
            <a:off x="5858437" y="2220424"/>
            <a:ext cx="713593" cy="2941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aphic 26" descr="Doctor male with solid fill">
            <a:extLst>
              <a:ext uri="{FF2B5EF4-FFF2-40B4-BE49-F238E27FC236}">
                <a16:creationId xmlns:a16="http://schemas.microsoft.com/office/drawing/2014/main" id="{6160663E-3899-316F-86C2-1D451CC788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9455" y="1856363"/>
            <a:ext cx="768096" cy="76809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0F5007B-C284-1896-A756-DCCD8A824981}"/>
              </a:ext>
            </a:extLst>
          </p:cNvPr>
          <p:cNvSpPr txBox="1"/>
          <p:nvPr/>
        </p:nvSpPr>
        <p:spPr>
          <a:xfrm>
            <a:off x="6474673" y="1543048"/>
            <a:ext cx="10160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1333" dirty="0"/>
              <a:t>Dr. Smith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E7A619-FEE9-8C3F-BC65-0C9E4FB7C2F5}"/>
              </a:ext>
            </a:extLst>
          </p:cNvPr>
          <p:cNvSpPr txBox="1"/>
          <p:nvPr/>
        </p:nvSpPr>
        <p:spPr>
          <a:xfrm>
            <a:off x="6065343" y="2624459"/>
            <a:ext cx="1871829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1333" dirty="0"/>
              <a:t>2</a:t>
            </a:r>
            <a:r>
              <a:rPr lang="en-US" sz="1333" baseline="30000" dirty="0"/>
              <a:t>nd</a:t>
            </a:r>
            <a:r>
              <a:rPr lang="en-US" sz="1333" dirty="0"/>
              <a:t> Line treatment</a:t>
            </a:r>
          </a:p>
          <a:p>
            <a:pPr algn="ctr">
              <a:buClr>
                <a:schemeClr val="bg2"/>
              </a:buClr>
              <a:tabLst/>
            </a:pPr>
            <a:r>
              <a:rPr lang="en-US" sz="1333" dirty="0"/>
              <a:t>initiation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8DC7299-BA4A-5327-BB19-CFBB9A712255}"/>
              </a:ext>
            </a:extLst>
          </p:cNvPr>
          <p:cNvCxnSpPr>
            <a:cxnSpLocks/>
          </p:cNvCxnSpPr>
          <p:nvPr/>
        </p:nvCxnSpPr>
        <p:spPr>
          <a:xfrm flipV="1">
            <a:off x="7306776" y="2233102"/>
            <a:ext cx="892048" cy="1909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aphic 30" descr="Doctor male with solid fill">
            <a:extLst>
              <a:ext uri="{FF2B5EF4-FFF2-40B4-BE49-F238E27FC236}">
                <a16:creationId xmlns:a16="http://schemas.microsoft.com/office/drawing/2014/main" id="{3305EEBF-8376-66DC-8386-0820DCBB29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1865" y="1856363"/>
            <a:ext cx="768096" cy="76809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ADB29D8-5E40-8F7C-8087-64AEEBD96AE5}"/>
              </a:ext>
            </a:extLst>
          </p:cNvPr>
          <p:cNvSpPr txBox="1"/>
          <p:nvPr/>
        </p:nvSpPr>
        <p:spPr>
          <a:xfrm>
            <a:off x="8077084" y="1543047"/>
            <a:ext cx="10160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1333" dirty="0"/>
              <a:t>Dr. </a:t>
            </a:r>
            <a:r>
              <a:rPr lang="en-US" sz="1333" b="1" dirty="0"/>
              <a:t>??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C19592-5687-C350-83B6-58D7E1A726C4}"/>
              </a:ext>
            </a:extLst>
          </p:cNvPr>
          <p:cNvSpPr txBox="1"/>
          <p:nvPr/>
        </p:nvSpPr>
        <p:spPr>
          <a:xfrm>
            <a:off x="7667754" y="2624460"/>
            <a:ext cx="1871829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1333" dirty="0"/>
              <a:t>3</a:t>
            </a:r>
            <a:r>
              <a:rPr lang="en-US" sz="1333" baseline="30000" dirty="0"/>
              <a:t>rd</a:t>
            </a:r>
            <a:r>
              <a:rPr lang="en-US" sz="1333" dirty="0"/>
              <a:t> Line </a:t>
            </a:r>
          </a:p>
          <a:p>
            <a:pPr algn="ctr">
              <a:buClr>
                <a:schemeClr val="bg2"/>
              </a:buClr>
              <a:tabLst/>
            </a:pPr>
            <a:r>
              <a:rPr lang="en-US" sz="1333" dirty="0"/>
              <a:t>initiation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4E27731-3559-6448-BAA2-AB8F329C50A6}"/>
              </a:ext>
            </a:extLst>
          </p:cNvPr>
          <p:cNvSpPr/>
          <p:nvPr/>
        </p:nvSpPr>
        <p:spPr>
          <a:xfrm>
            <a:off x="164954" y="4458381"/>
            <a:ext cx="1625599" cy="1625600"/>
          </a:xfrm>
          <a:prstGeom prst="ellipse">
            <a:avLst/>
          </a:prstGeom>
          <a:solidFill>
            <a:srgbClr val="FFBCF2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1C6FBCD-2307-415D-2391-F24727A8AB46}"/>
              </a:ext>
            </a:extLst>
          </p:cNvPr>
          <p:cNvSpPr/>
          <p:nvPr/>
        </p:nvSpPr>
        <p:spPr>
          <a:xfrm>
            <a:off x="1117601" y="4458381"/>
            <a:ext cx="1625599" cy="1625600"/>
          </a:xfrm>
          <a:prstGeom prst="ellipse">
            <a:avLst/>
          </a:prstGeom>
          <a:solidFill>
            <a:srgbClr val="E7F8F9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5D0A05-E1C4-A059-F3E7-F9B2A1B303CE}"/>
              </a:ext>
            </a:extLst>
          </p:cNvPr>
          <p:cNvSpPr txBox="1"/>
          <p:nvPr/>
        </p:nvSpPr>
        <p:spPr>
          <a:xfrm>
            <a:off x="164954" y="3852325"/>
            <a:ext cx="2599289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1333" dirty="0"/>
              <a:t>Overlap of line initiating HCP with Recently visited HCP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200A21-EFDF-96F4-E20D-A181892CD38E}"/>
              </a:ext>
            </a:extLst>
          </p:cNvPr>
          <p:cNvSpPr txBox="1"/>
          <p:nvPr/>
        </p:nvSpPr>
        <p:spPr>
          <a:xfrm>
            <a:off x="1033928" y="5107034"/>
            <a:ext cx="693273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1333" dirty="0"/>
              <a:t>~65%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C316FF7-D1E5-7359-FC2E-812F52847306}"/>
              </a:ext>
            </a:extLst>
          </p:cNvPr>
          <p:cNvSpPr/>
          <p:nvPr/>
        </p:nvSpPr>
        <p:spPr>
          <a:xfrm>
            <a:off x="3148291" y="4458381"/>
            <a:ext cx="1625599" cy="1625600"/>
          </a:xfrm>
          <a:prstGeom prst="ellipse">
            <a:avLst/>
          </a:prstGeom>
          <a:solidFill>
            <a:srgbClr val="FFBCF2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7FCFB35-5879-2416-D0B8-DB47C4D091A5}"/>
              </a:ext>
            </a:extLst>
          </p:cNvPr>
          <p:cNvSpPr/>
          <p:nvPr/>
        </p:nvSpPr>
        <p:spPr>
          <a:xfrm>
            <a:off x="4100938" y="4458381"/>
            <a:ext cx="1625599" cy="1625600"/>
          </a:xfrm>
          <a:prstGeom prst="ellipse">
            <a:avLst/>
          </a:prstGeom>
          <a:solidFill>
            <a:schemeClr val="accent3">
              <a:lumMod val="40000"/>
              <a:lumOff val="60000"/>
              <a:alpha val="6980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2FF9A1D-68E1-4C86-34C5-1975D502BA32}"/>
              </a:ext>
            </a:extLst>
          </p:cNvPr>
          <p:cNvSpPr txBox="1"/>
          <p:nvPr/>
        </p:nvSpPr>
        <p:spPr>
          <a:xfrm>
            <a:off x="3148292" y="3852325"/>
            <a:ext cx="2599289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1333" dirty="0"/>
              <a:t>Overlap of line initiating HCP with Most visited HCP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5CE1A3A-4A7B-580C-C95B-6F725DD6AA72}"/>
              </a:ext>
            </a:extLst>
          </p:cNvPr>
          <p:cNvSpPr txBox="1"/>
          <p:nvPr/>
        </p:nvSpPr>
        <p:spPr>
          <a:xfrm>
            <a:off x="4017265" y="5107034"/>
            <a:ext cx="693273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1333" dirty="0"/>
              <a:t>~62%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6FE209D-1FC5-CF5B-B947-2BDE67D82F24}"/>
              </a:ext>
            </a:extLst>
          </p:cNvPr>
          <p:cNvSpPr/>
          <p:nvPr/>
        </p:nvSpPr>
        <p:spPr>
          <a:xfrm>
            <a:off x="6354130" y="4441456"/>
            <a:ext cx="1625599" cy="1625600"/>
          </a:xfrm>
          <a:prstGeom prst="ellipse">
            <a:avLst/>
          </a:prstGeom>
          <a:solidFill>
            <a:srgbClr val="FFBCF2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DBFAD7A-42D0-FAFA-98E5-A372D38202EC}"/>
              </a:ext>
            </a:extLst>
          </p:cNvPr>
          <p:cNvSpPr/>
          <p:nvPr/>
        </p:nvSpPr>
        <p:spPr>
          <a:xfrm>
            <a:off x="7306777" y="4441456"/>
            <a:ext cx="1625599" cy="1625600"/>
          </a:xfrm>
          <a:prstGeom prst="ellipse">
            <a:avLst/>
          </a:prstGeom>
          <a:solidFill>
            <a:srgbClr val="E7F8F9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0971E93-4B31-F1EA-3BCD-CD1F1E3ADD5B}"/>
              </a:ext>
            </a:extLst>
          </p:cNvPr>
          <p:cNvSpPr txBox="1"/>
          <p:nvPr/>
        </p:nvSpPr>
        <p:spPr>
          <a:xfrm>
            <a:off x="6299201" y="3835400"/>
            <a:ext cx="2793884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1333" dirty="0"/>
              <a:t>Overlap of line initiating Account with Recently visited Account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0F6FB4C-1AD5-F5D6-E05F-A84A54772CCC}"/>
              </a:ext>
            </a:extLst>
          </p:cNvPr>
          <p:cNvSpPr txBox="1"/>
          <p:nvPr/>
        </p:nvSpPr>
        <p:spPr>
          <a:xfrm>
            <a:off x="7223104" y="5090109"/>
            <a:ext cx="693273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1333" dirty="0"/>
              <a:t>~75%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2ED0A9B-1AA6-2BB6-8902-B28394749D7B}"/>
              </a:ext>
            </a:extLst>
          </p:cNvPr>
          <p:cNvSpPr/>
          <p:nvPr/>
        </p:nvSpPr>
        <p:spPr>
          <a:xfrm>
            <a:off x="9257198" y="4450211"/>
            <a:ext cx="1625599" cy="1625600"/>
          </a:xfrm>
          <a:prstGeom prst="ellipse">
            <a:avLst/>
          </a:prstGeom>
          <a:solidFill>
            <a:srgbClr val="FFBCF2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52B3C7A-48F2-DC82-AAD4-A916EC2550BA}"/>
              </a:ext>
            </a:extLst>
          </p:cNvPr>
          <p:cNvSpPr/>
          <p:nvPr/>
        </p:nvSpPr>
        <p:spPr>
          <a:xfrm>
            <a:off x="10209845" y="4450211"/>
            <a:ext cx="1625599" cy="1625600"/>
          </a:xfrm>
          <a:prstGeom prst="ellipse">
            <a:avLst/>
          </a:prstGeom>
          <a:solidFill>
            <a:srgbClr val="FFF0C4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4E1F7DA-A27B-4C6B-43F9-29EB044A89D1}"/>
              </a:ext>
            </a:extLst>
          </p:cNvPr>
          <p:cNvSpPr txBox="1"/>
          <p:nvPr/>
        </p:nvSpPr>
        <p:spPr>
          <a:xfrm>
            <a:off x="9202269" y="3844155"/>
            <a:ext cx="2793884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1333" dirty="0"/>
              <a:t>Overlap of line initiating Account with Most visited Account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20727E-7959-C17C-A4B1-8A046AA334E2}"/>
              </a:ext>
            </a:extLst>
          </p:cNvPr>
          <p:cNvSpPr txBox="1"/>
          <p:nvPr/>
        </p:nvSpPr>
        <p:spPr>
          <a:xfrm>
            <a:off x="10126172" y="5098864"/>
            <a:ext cx="693273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2"/>
              </a:buClr>
              <a:tabLst/>
            </a:pPr>
            <a:r>
              <a:rPr lang="en-US" sz="1333" dirty="0"/>
              <a:t>~78%</a:t>
            </a:r>
          </a:p>
        </p:txBody>
      </p:sp>
    </p:spTree>
    <p:extLst>
      <p:ext uri="{BB962C8B-B14F-4D97-AF65-F5344CB8AC3E}">
        <p14:creationId xmlns:p14="http://schemas.microsoft.com/office/powerpoint/2010/main" val="4017145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/>
      <p:bldP spid="37" grpId="0"/>
      <p:bldP spid="38" grpId="0" animBg="1"/>
      <p:bldP spid="39" grpId="0" animBg="1"/>
      <p:bldP spid="40" grpId="0"/>
      <p:bldP spid="41" grpId="0"/>
      <p:bldP spid="42" grpId="0" animBg="1"/>
      <p:bldP spid="43" grpId="0" animBg="1"/>
      <p:bldP spid="44" grpId="0"/>
      <p:bldP spid="45" grpId="0"/>
      <p:bldP spid="46" grpId="0" animBg="1"/>
      <p:bldP spid="47" grpId="0" animBg="1"/>
      <p:bldP spid="48" grpId="0"/>
      <p:bldP spid="4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29605E-A3A1-8531-D9A9-2A6750477B1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5AE19A-9F4A-81A5-0749-AF889BA6A4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08A729-9E39-B5E4-A5B9-059758A728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anchor="ctr"/>
          <a:lstStyle/>
          <a:p>
            <a:r>
              <a:rPr lang="en-US" dirty="0"/>
              <a:t>Next Steps- DRAFT</a:t>
            </a:r>
            <a:endParaRPr lang="en-IN" dirty="0"/>
          </a:p>
        </p:txBody>
      </p:sp>
      <p:sp>
        <p:nvSpPr>
          <p:cNvPr id="6" name="Google Shape;3625;p58">
            <a:extLst>
              <a:ext uri="{FF2B5EF4-FFF2-40B4-BE49-F238E27FC236}">
                <a16:creationId xmlns:a16="http://schemas.microsoft.com/office/drawing/2014/main" id="{65C8ABA3-8AA5-19F6-30E0-CDA9D344234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962357" y="4291371"/>
            <a:ext cx="348427" cy="351909"/>
          </a:xfrm>
          <a:prstGeom prst="ellipse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>
                <a:latin typeface="Trebuchet MS" panose="020B0603020202020204"/>
              </a:defRPr>
            </a:pPr>
            <a:r>
              <a:rPr lang="en-US" sz="1600" b="1">
                <a:solidFill>
                  <a:srgbClr val="FFFFFF"/>
                </a:solidFill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7" name="Google Shape;3626;p58">
            <a:extLst>
              <a:ext uri="{FF2B5EF4-FFF2-40B4-BE49-F238E27FC236}">
                <a16:creationId xmlns:a16="http://schemas.microsoft.com/office/drawing/2014/main" id="{2A8CDDBC-41CF-D0C7-A62D-421A983D928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210693" y="3680763"/>
            <a:ext cx="348427" cy="351909"/>
          </a:xfrm>
          <a:prstGeom prst="ellipse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>
                <a:latin typeface="Trebuchet MS" panose="020B0603020202020204"/>
              </a:defRPr>
            </a:pPr>
            <a:r>
              <a:rPr lang="en-US" sz="1600" b="1">
                <a:solidFill>
                  <a:srgbClr val="FFFFFF"/>
                </a:solidFill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8" name="Google Shape;3627;p58">
            <a:extLst>
              <a:ext uri="{FF2B5EF4-FFF2-40B4-BE49-F238E27FC236}">
                <a16:creationId xmlns:a16="http://schemas.microsoft.com/office/drawing/2014/main" id="{CE3BD154-0BDA-456D-95F5-C56ADE2A0C9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983077" y="3340943"/>
            <a:ext cx="348427" cy="351909"/>
          </a:xfrm>
          <a:prstGeom prst="ellipse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>
                <a:latin typeface="Trebuchet MS" panose="020B0603020202020204"/>
              </a:defRPr>
            </a:pPr>
            <a:r>
              <a:rPr lang="en-US" sz="1600" b="1">
                <a:solidFill>
                  <a:srgbClr val="FFFFFF"/>
                </a:solidFill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9" name="Google Shape;3628;p58">
            <a:extLst>
              <a:ext uri="{FF2B5EF4-FFF2-40B4-BE49-F238E27FC236}">
                <a16:creationId xmlns:a16="http://schemas.microsoft.com/office/drawing/2014/main" id="{F654D030-4399-6A41-D34D-28A429EF988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732749" y="3680763"/>
            <a:ext cx="348427" cy="351909"/>
          </a:xfrm>
          <a:prstGeom prst="ellipse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>
                <a:latin typeface="Trebuchet MS" panose="020B0603020202020204"/>
              </a:defRPr>
            </a:pPr>
            <a:r>
              <a:rPr lang="en-US" sz="1600" b="1">
                <a:solidFill>
                  <a:srgbClr val="FFFFFF"/>
                </a:solidFill>
                <a:sym typeface="Arial"/>
              </a:rPr>
              <a:t>4</a:t>
            </a:r>
          </a:p>
        </p:txBody>
      </p:sp>
      <p:sp>
        <p:nvSpPr>
          <p:cNvPr id="10" name="Google Shape;3629;p58">
            <a:extLst>
              <a:ext uri="{FF2B5EF4-FFF2-40B4-BE49-F238E27FC236}">
                <a16:creationId xmlns:a16="http://schemas.microsoft.com/office/drawing/2014/main" id="{A78912DF-F48F-ABF9-E8EF-CD67C2276FE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973069" y="4299459"/>
            <a:ext cx="348427" cy="351909"/>
          </a:xfrm>
          <a:prstGeom prst="ellipse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>
                <a:latin typeface="Trebuchet MS" panose="020B0603020202020204"/>
              </a:defRPr>
            </a:pPr>
            <a:r>
              <a:rPr lang="en-US" sz="1600" b="1">
                <a:solidFill>
                  <a:srgbClr val="FFFFFF"/>
                </a:solidFill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11" name="Google Shape;3630;p58">
            <a:extLst>
              <a:ext uri="{FF2B5EF4-FFF2-40B4-BE49-F238E27FC236}">
                <a16:creationId xmlns:a16="http://schemas.microsoft.com/office/drawing/2014/main" id="{951D0A64-12F5-89C8-8D39-B0C64B748DA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634538" y="3861658"/>
            <a:ext cx="814503" cy="822647"/>
          </a:xfrm>
          <a:prstGeom prst="ellipse">
            <a:avLst/>
          </a:prstGeom>
          <a:solidFill>
            <a:srgbClr val="FFFFFF"/>
          </a:solidFill>
          <a:ln w="76200" cap="flat" cmpd="sng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>
                <a:latin typeface="Trebuchet MS" panose="020B0603020202020204"/>
              </a:defRPr>
            </a:pPr>
            <a:r>
              <a:rPr lang="en-US" sz="1600">
                <a:solidFill>
                  <a:srgbClr val="FFFFFF"/>
                </a:solidFill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12" name="Google Shape;3631;p58">
            <a:extLst>
              <a:ext uri="{FF2B5EF4-FFF2-40B4-BE49-F238E27FC236}">
                <a16:creationId xmlns:a16="http://schemas.microsoft.com/office/drawing/2014/main" id="{27B29F87-2E05-2829-0AFD-6633AD9A236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222046" y="2755804"/>
            <a:ext cx="814503" cy="822647"/>
          </a:xfrm>
          <a:prstGeom prst="ellipse">
            <a:avLst/>
          </a:prstGeom>
          <a:solidFill>
            <a:srgbClr val="FFFFFF"/>
          </a:solidFill>
          <a:ln w="76200" cap="flat" cmpd="sng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>
                <a:latin typeface="Trebuchet MS" panose="020B0603020202020204"/>
              </a:defRPr>
            </a:pPr>
            <a:r>
              <a:rPr lang="en-US" sz="1600">
                <a:solidFill>
                  <a:srgbClr val="FFFFFF"/>
                </a:solidFill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13" name="Google Shape;3632;p58">
            <a:extLst>
              <a:ext uri="{FF2B5EF4-FFF2-40B4-BE49-F238E27FC236}">
                <a16:creationId xmlns:a16="http://schemas.microsoft.com/office/drawing/2014/main" id="{DB9681C4-7996-804A-20F7-5E3C1E103BD8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750041" y="2157792"/>
            <a:ext cx="814503" cy="822647"/>
          </a:xfrm>
          <a:prstGeom prst="ellipse">
            <a:avLst/>
          </a:prstGeom>
          <a:solidFill>
            <a:srgbClr val="FFFFFF"/>
          </a:solidFill>
          <a:ln w="76200" cap="flat" cmpd="sng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>
                <a:latin typeface="Trebuchet MS" panose="020B0603020202020204"/>
              </a:defRPr>
            </a:pPr>
            <a:r>
              <a:rPr lang="en-US" sz="1600">
                <a:solidFill>
                  <a:srgbClr val="FFFFFF"/>
                </a:solidFill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14" name="Google Shape;3633;p58">
            <a:extLst>
              <a:ext uri="{FF2B5EF4-FFF2-40B4-BE49-F238E27FC236}">
                <a16:creationId xmlns:a16="http://schemas.microsoft.com/office/drawing/2014/main" id="{D70F3BD1-B882-3950-C9AA-C6641BF5A5F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189042" y="2764906"/>
            <a:ext cx="814503" cy="822647"/>
          </a:xfrm>
          <a:prstGeom prst="ellipse">
            <a:avLst/>
          </a:prstGeom>
          <a:solidFill>
            <a:srgbClr val="FFFFFF"/>
          </a:solidFill>
          <a:ln w="76200" cap="flat" cmpd="sng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>
                <a:latin typeface="Trebuchet MS" panose="020B0603020202020204"/>
              </a:defRPr>
            </a:pPr>
            <a:r>
              <a:rPr lang="en-US" sz="1600">
                <a:solidFill>
                  <a:srgbClr val="FFFFFF"/>
                </a:solidFill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15" name="Google Shape;3634;p58">
            <a:extLst>
              <a:ext uri="{FF2B5EF4-FFF2-40B4-BE49-F238E27FC236}">
                <a16:creationId xmlns:a16="http://schemas.microsoft.com/office/drawing/2014/main" id="{73D2A554-69E0-23DC-46CF-D69EE6E966C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768213" y="3813969"/>
            <a:ext cx="814503" cy="822647"/>
          </a:xfrm>
          <a:prstGeom prst="ellipse">
            <a:avLst/>
          </a:prstGeom>
          <a:solidFill>
            <a:srgbClr val="FFFFFF"/>
          </a:solidFill>
          <a:ln w="76200" cap="flat" cmpd="sng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>
                <a:latin typeface="Trebuchet MS" panose="020B0603020202020204"/>
              </a:defRPr>
            </a:pPr>
            <a:r>
              <a:rPr lang="en-US" sz="1600">
                <a:solidFill>
                  <a:srgbClr val="FFFFFF"/>
                </a:solidFill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16" name="Google Shape;3635;p58">
            <a:extLst>
              <a:ext uri="{FF2B5EF4-FFF2-40B4-BE49-F238E27FC236}">
                <a16:creationId xmlns:a16="http://schemas.microsoft.com/office/drawing/2014/main" id="{5C944017-91F5-0641-5A53-F9DD57DED27A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 rot="6108972">
            <a:off x="4390336" y="4226882"/>
            <a:ext cx="312968" cy="267128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>
                <a:latin typeface="Trebuchet MS" panose="020B0603020202020204"/>
              </a:defRPr>
            </a:pPr>
            <a:r>
              <a:rPr sz="2400">
                <a:solidFill>
                  <a:srgbClr val="000000"/>
                </a:solidFill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7" name="Google Shape;3636;p58">
            <a:extLst>
              <a:ext uri="{FF2B5EF4-FFF2-40B4-BE49-F238E27FC236}">
                <a16:creationId xmlns:a16="http://schemas.microsoft.com/office/drawing/2014/main" id="{5E3E3BBE-81EE-F5ED-48F9-832B5E30F93E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 rot="7811026">
            <a:off x="4884286" y="3370930"/>
            <a:ext cx="309871" cy="2698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>
                <a:latin typeface="Trebuchet MS" panose="020B0603020202020204"/>
              </a:defRPr>
            </a:pPr>
            <a:r>
              <a:rPr sz="2400">
                <a:solidFill>
                  <a:srgbClr val="000000"/>
                </a:solidFill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8" name="Google Shape;3637;p58">
            <a:extLst>
              <a:ext uri="{FF2B5EF4-FFF2-40B4-BE49-F238E27FC236}">
                <a16:creationId xmlns:a16="http://schemas.microsoft.com/office/drawing/2014/main" id="{C04AC5EB-AE61-F8AF-6983-B3FD262D65E3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 rot="10800000">
            <a:off x="6002355" y="2958099"/>
            <a:ext cx="309871" cy="2698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>
                <a:latin typeface="Trebuchet MS" panose="020B0603020202020204"/>
              </a:defRPr>
            </a:pPr>
            <a:r>
              <a:rPr sz="2400">
                <a:solidFill>
                  <a:srgbClr val="000000"/>
                </a:solidFill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9" name="Google Shape;3638;p58">
            <a:extLst>
              <a:ext uri="{FF2B5EF4-FFF2-40B4-BE49-F238E27FC236}">
                <a16:creationId xmlns:a16="http://schemas.microsoft.com/office/drawing/2014/main" id="{0CA0C486-5DEF-8B0C-4901-372FAE47C45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 rot="13606454">
            <a:off x="7037037" y="3395763"/>
            <a:ext cx="309871" cy="2698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>
                <a:latin typeface="Trebuchet MS" panose="020B0603020202020204"/>
              </a:defRPr>
            </a:pPr>
            <a:r>
              <a:rPr sz="2400">
                <a:solidFill>
                  <a:srgbClr val="000000"/>
                </a:solidFill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0" name="Google Shape;3639;p58">
            <a:extLst>
              <a:ext uri="{FF2B5EF4-FFF2-40B4-BE49-F238E27FC236}">
                <a16:creationId xmlns:a16="http://schemas.microsoft.com/office/drawing/2014/main" id="{E3CFAE2D-C07E-4E2A-A853-DECFF991091B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 rot="15067710">
            <a:off x="7515576" y="4254284"/>
            <a:ext cx="312968" cy="267128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>
                <a:latin typeface="Trebuchet MS" panose="020B0603020202020204"/>
              </a:defRPr>
            </a:pPr>
            <a:r>
              <a:rPr sz="2400">
                <a:solidFill>
                  <a:srgbClr val="000000"/>
                </a:solidFill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1" name="Google Shape;3642;p58">
            <a:extLst>
              <a:ext uri="{FF2B5EF4-FFF2-40B4-BE49-F238E27FC236}">
                <a16:creationId xmlns:a16="http://schemas.microsoft.com/office/drawing/2014/main" id="{52D450A6-03B5-95EE-FC09-25FC9B46A0F3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 flipH="1">
            <a:off x="1575249" y="4123926"/>
            <a:ext cx="184737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56" lvl="1">
              <a:buClr>
                <a:schemeClr val="dk1"/>
              </a:buClr>
              <a:buSzPts val="2160"/>
              <a:defRPr sz="1300">
                <a:latin typeface="Trebuchet MS" panose="020B0603020202020204"/>
              </a:defRPr>
            </a:pPr>
            <a:r>
              <a:rPr lang="en-US" sz="1600" b="1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Marketing Review</a:t>
            </a:r>
          </a:p>
        </p:txBody>
      </p:sp>
      <p:sp>
        <p:nvSpPr>
          <p:cNvPr id="22" name="Google Shape;3642;p58">
            <a:extLst>
              <a:ext uri="{FF2B5EF4-FFF2-40B4-BE49-F238E27FC236}">
                <a16:creationId xmlns:a16="http://schemas.microsoft.com/office/drawing/2014/main" id="{E23EE459-ED72-48DB-AC32-DED05E0280B1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 flipH="1">
            <a:off x="900784" y="4403898"/>
            <a:ext cx="28130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56" lvl="1" algn="ctr">
              <a:buClr>
                <a:schemeClr val="dk1"/>
              </a:buClr>
              <a:buSzPts val="2160"/>
              <a:defRPr sz="1300">
                <a:latin typeface="Trebuchet MS" panose="020B0603020202020204"/>
              </a:defRPr>
            </a:pPr>
            <a:r>
              <a:rPr lang="en-US" sz="12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Marketing team review on alerts messaging and language</a:t>
            </a:r>
          </a:p>
        </p:txBody>
      </p:sp>
      <p:sp>
        <p:nvSpPr>
          <p:cNvPr id="23" name="Google Shape;3642;p58">
            <a:extLst>
              <a:ext uri="{FF2B5EF4-FFF2-40B4-BE49-F238E27FC236}">
                <a16:creationId xmlns:a16="http://schemas.microsoft.com/office/drawing/2014/main" id="{17E2394E-56A1-E919-58C0-7138D2C776D8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 flipH="1">
            <a:off x="1046119" y="2114757"/>
            <a:ext cx="327564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56" lvl="1" algn="r">
              <a:buClr>
                <a:schemeClr val="dk1"/>
              </a:buClr>
              <a:buSzPts val="2160"/>
              <a:defRPr sz="1300">
                <a:latin typeface="Trebuchet MS" panose="020B0603020202020204"/>
              </a:defRPr>
            </a:pPr>
            <a:r>
              <a:rPr lang="en-US" sz="1600" b="1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Compliance Review and sign off?</a:t>
            </a:r>
          </a:p>
        </p:txBody>
      </p:sp>
      <p:sp>
        <p:nvSpPr>
          <p:cNvPr id="24" name="Google Shape;3642;p58">
            <a:extLst>
              <a:ext uri="{FF2B5EF4-FFF2-40B4-BE49-F238E27FC236}">
                <a16:creationId xmlns:a16="http://schemas.microsoft.com/office/drawing/2014/main" id="{7AD81201-8BD4-F33F-80A8-C925EE860AFB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 flipH="1">
            <a:off x="976637" y="2405500"/>
            <a:ext cx="35597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56" lvl="1" algn="ctr">
              <a:buClr>
                <a:schemeClr val="dk1"/>
              </a:buClr>
              <a:buSzPts val="2160"/>
              <a:defRPr sz="1300">
                <a:latin typeface="Trebuchet MS" panose="020B0603020202020204"/>
              </a:defRPr>
            </a:pPr>
            <a:r>
              <a:rPr lang="en-US" sz="12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Compliance review on alerts language to ensure on-label?</a:t>
            </a:r>
          </a:p>
        </p:txBody>
      </p:sp>
      <p:sp>
        <p:nvSpPr>
          <p:cNvPr id="25" name="Google Shape;3642;p58">
            <a:extLst>
              <a:ext uri="{FF2B5EF4-FFF2-40B4-BE49-F238E27FC236}">
                <a16:creationId xmlns:a16="http://schemas.microsoft.com/office/drawing/2014/main" id="{082F51EA-F630-52C7-7C2B-BE676137D88E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 flipH="1">
            <a:off x="5233602" y="1481082"/>
            <a:ext cx="184737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56" lvl="1" algn="ctr">
              <a:buClr>
                <a:schemeClr val="dk1"/>
              </a:buClr>
              <a:buSzPts val="2160"/>
              <a:defRPr sz="1300">
                <a:latin typeface="Trebuchet MS" panose="020B0603020202020204"/>
              </a:defRPr>
            </a:pPr>
            <a:r>
              <a:rPr lang="en-US" sz="1600" b="1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Pilot team Rollout</a:t>
            </a:r>
          </a:p>
        </p:txBody>
      </p:sp>
      <p:sp>
        <p:nvSpPr>
          <p:cNvPr id="26" name="Google Shape;3642;p58">
            <a:extLst>
              <a:ext uri="{FF2B5EF4-FFF2-40B4-BE49-F238E27FC236}">
                <a16:creationId xmlns:a16="http://schemas.microsoft.com/office/drawing/2014/main" id="{859F7BFB-88D8-E11C-1A89-8F8664C2FC2A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 flipH="1">
            <a:off x="8073636" y="2456238"/>
            <a:ext cx="327564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56" lvl="1">
              <a:buClr>
                <a:schemeClr val="dk1"/>
              </a:buClr>
              <a:buSzPts val="2160"/>
              <a:defRPr sz="1300">
                <a:latin typeface="Trebuchet MS" panose="020B0603020202020204"/>
              </a:defRPr>
            </a:pPr>
            <a:r>
              <a:rPr lang="en-US" sz="1600" b="1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Pilot Team Feedback</a:t>
            </a:r>
          </a:p>
        </p:txBody>
      </p:sp>
      <p:sp>
        <p:nvSpPr>
          <p:cNvPr id="27" name="Google Shape;3642;p58">
            <a:extLst>
              <a:ext uri="{FF2B5EF4-FFF2-40B4-BE49-F238E27FC236}">
                <a16:creationId xmlns:a16="http://schemas.microsoft.com/office/drawing/2014/main" id="{F952E298-7D7B-9911-6D59-EDFD4F0F3B4B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 flipH="1">
            <a:off x="8073636" y="2717935"/>
            <a:ext cx="350876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56" lvl="1">
              <a:buClr>
                <a:schemeClr val="dk1"/>
              </a:buClr>
              <a:buSzPts val="2160"/>
              <a:defRPr sz="1300">
                <a:latin typeface="Trebuchet MS" panose="020B0603020202020204"/>
              </a:defRPr>
            </a:pPr>
            <a:r>
              <a:rPr lang="en-US" sz="12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Gather Pilot team feedback on alerts accuracy </a:t>
            </a:r>
          </a:p>
        </p:txBody>
      </p:sp>
      <p:sp>
        <p:nvSpPr>
          <p:cNvPr id="28" name="Google Shape;3642;p58">
            <a:extLst>
              <a:ext uri="{FF2B5EF4-FFF2-40B4-BE49-F238E27FC236}">
                <a16:creationId xmlns:a16="http://schemas.microsoft.com/office/drawing/2014/main" id="{2CEA1557-5D8F-8D8A-5C57-6A7A8C8580A0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 flipH="1">
            <a:off x="8781572" y="3987290"/>
            <a:ext cx="184737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56" lvl="1">
              <a:buClr>
                <a:schemeClr val="dk1"/>
              </a:buClr>
              <a:buSzPts val="2160"/>
              <a:defRPr sz="1300">
                <a:latin typeface="Trebuchet MS" panose="020B0603020202020204"/>
              </a:defRPr>
            </a:pPr>
            <a:r>
              <a:rPr lang="en-US" sz="1600" b="1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Full Field Rollout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C27BFDD-1F65-6A48-D842-D42AE95D5718}"/>
              </a:ext>
            </a:extLst>
          </p:cNvPr>
          <p:cNvGrpSpPr/>
          <p:nvPr>
            <p:custDataLst>
              <p:tags r:id="rId24"/>
            </p:custDataLst>
          </p:nvPr>
        </p:nvGrpSpPr>
        <p:grpSpPr>
          <a:xfrm>
            <a:off x="5567155" y="3889560"/>
            <a:ext cx="1227012" cy="1977840"/>
            <a:chOff x="4175365" y="3042376"/>
            <a:chExt cx="920259" cy="1483380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2FFDFA9-CAD2-A10A-1A62-87D0985A1193}"/>
                </a:ext>
              </a:extLst>
            </p:cNvPr>
            <p:cNvSpPr/>
            <p:nvPr/>
          </p:nvSpPr>
          <p:spPr>
            <a:xfrm>
              <a:off x="4520463" y="3760888"/>
              <a:ext cx="230065" cy="301312"/>
            </a:xfrm>
            <a:custGeom>
              <a:avLst/>
              <a:gdLst>
                <a:gd name="connsiteX0" fmla="*/ 128052 w 1280519"/>
                <a:gd name="connsiteY0" fmla="*/ 0 h 1677074"/>
                <a:gd name="connsiteX1" fmla="*/ 256104 w 1280519"/>
                <a:gd name="connsiteY1" fmla="*/ 129006 h 1677074"/>
                <a:gd name="connsiteX2" fmla="*/ 384156 w 1280519"/>
                <a:gd name="connsiteY2" fmla="*/ 1677074 h 1677074"/>
                <a:gd name="connsiteX3" fmla="*/ 896364 w 1280519"/>
                <a:gd name="connsiteY3" fmla="*/ 1677074 h 1677074"/>
                <a:gd name="connsiteX4" fmla="*/ 1024416 w 1280519"/>
                <a:gd name="connsiteY4" fmla="*/ 129006 h 1677074"/>
                <a:gd name="connsiteX5" fmla="*/ 1152467 w 1280519"/>
                <a:gd name="connsiteY5" fmla="*/ 0 h 1677074"/>
                <a:gd name="connsiteX6" fmla="*/ 1280519 w 1280519"/>
                <a:gd name="connsiteY6" fmla="*/ 161257 h 1677074"/>
                <a:gd name="connsiteX7" fmla="*/ 1152467 w 1280519"/>
                <a:gd name="connsiteY7" fmla="*/ 1677074 h 1677074"/>
                <a:gd name="connsiteX8" fmla="*/ 128052 w 1280519"/>
                <a:gd name="connsiteY8" fmla="*/ 1677074 h 1677074"/>
                <a:gd name="connsiteX9" fmla="*/ 0 w 1280519"/>
                <a:gd name="connsiteY9" fmla="*/ 161257 h 1677074"/>
                <a:gd name="connsiteX10" fmla="*/ 128052 w 1280519"/>
                <a:gd name="connsiteY10" fmla="*/ 0 h 1677074"/>
                <a:gd name="connsiteX11" fmla="*/ 128052 w 1280519"/>
                <a:gd name="connsiteY11" fmla="*/ 0 h 1677074"/>
                <a:gd name="connsiteX12" fmla="*/ 128052 w 1280519"/>
                <a:gd name="connsiteY12" fmla="*/ 0 h 1683633"/>
                <a:gd name="connsiteX13" fmla="*/ 128052 w 1280519"/>
                <a:gd name="connsiteY13" fmla="*/ 0 h 1683633"/>
                <a:gd name="connsiteX14" fmla="*/ 128052 w 1280519"/>
                <a:gd name="connsiteY14" fmla="*/ 0 h 1683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80519" h="1677074">
                  <a:moveTo>
                    <a:pt x="128052" y="0"/>
                  </a:moveTo>
                  <a:cubicBezTo>
                    <a:pt x="192078" y="0"/>
                    <a:pt x="256104" y="64503"/>
                    <a:pt x="256104" y="129006"/>
                  </a:cubicBezTo>
                  <a:lnTo>
                    <a:pt x="384156" y="1677074"/>
                  </a:lnTo>
                  <a:lnTo>
                    <a:pt x="896364" y="1677074"/>
                  </a:lnTo>
                  <a:lnTo>
                    <a:pt x="1024416" y="129006"/>
                  </a:lnTo>
                  <a:cubicBezTo>
                    <a:pt x="1024416" y="64503"/>
                    <a:pt x="1088442" y="0"/>
                    <a:pt x="1152467" y="0"/>
                  </a:cubicBezTo>
                  <a:cubicBezTo>
                    <a:pt x="1216493" y="0"/>
                    <a:pt x="1280519" y="64503"/>
                    <a:pt x="1280519" y="161257"/>
                  </a:cubicBezTo>
                  <a:lnTo>
                    <a:pt x="1152467" y="1677074"/>
                  </a:lnTo>
                  <a:lnTo>
                    <a:pt x="128052" y="1677074"/>
                  </a:lnTo>
                  <a:lnTo>
                    <a:pt x="0" y="161257"/>
                  </a:lnTo>
                  <a:cubicBezTo>
                    <a:pt x="0" y="64503"/>
                    <a:pt x="32013" y="0"/>
                    <a:pt x="128052" y="0"/>
                  </a:cubicBezTo>
                  <a:close/>
                </a:path>
              </a:pathLst>
            </a:custGeom>
            <a:solidFill>
              <a:srgbClr val="334A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rgbClr val="FFFFFF"/>
                  </a:solidFill>
                  <a:latin typeface="Trebuchet MS" panose="020B0603020202020204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rgbClr val="FFFFFF"/>
                  </a:solidFill>
                  <a:latin typeface="Trebuchet MS" panose="020B0603020202020204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rgbClr val="FFFFFF"/>
                  </a:solidFill>
                  <a:latin typeface="Trebuchet MS" panose="020B0603020202020204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rgbClr val="FFFFFF"/>
                  </a:solidFill>
                  <a:latin typeface="Trebuchet MS" panose="020B0603020202020204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rgbClr val="FFFFFF"/>
                  </a:solidFill>
                  <a:latin typeface="Trebuchet MS" panose="020B0603020202020204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rgbClr val="FFFFFF"/>
                  </a:solidFill>
                  <a:latin typeface="Trebuchet MS" panose="020B0603020202020204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rgbClr val="FFFFFF"/>
                  </a:solidFill>
                  <a:latin typeface="Trebuchet MS" panose="020B0603020202020204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rgbClr val="FFFFFF"/>
                  </a:solidFill>
                  <a:latin typeface="Trebuchet MS" panose="020B0603020202020204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rgbClr val="FFFFFF"/>
                  </a:solidFill>
                  <a:latin typeface="Trebuchet MS" panose="020B0603020202020204"/>
                  <a:ea typeface="+mn-ea"/>
                  <a:cs typeface="+mn-cs"/>
                </a:defRPr>
              </a:lvl9pPr>
            </a:lstStyle>
            <a:p>
              <a:pPr algn="ctr">
                <a:buClr>
                  <a:srgbClr val="000000"/>
                </a:buClr>
                <a:defRPr sz="1300">
                  <a:latin typeface="Trebuchet MS" panose="020B0603020202020204"/>
                </a:defRPr>
              </a:pPr>
              <a:r>
                <a:rPr sz="1333" kern="0">
                  <a:latin typeface="+mn-lt"/>
                  <a:sym typeface="Arial"/>
                </a:rPr>
                <a:t> </a:t>
              </a:r>
              <a:endParaRPr sz="1400" kern="0">
                <a:latin typeface="+mn-lt"/>
                <a:sym typeface="Arial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D3AED31-E7AA-F036-3746-8888C246FEC0}"/>
                </a:ext>
              </a:extLst>
            </p:cNvPr>
            <p:cNvSpPr/>
            <p:nvPr/>
          </p:nvSpPr>
          <p:spPr>
            <a:xfrm>
              <a:off x="4428436" y="4125503"/>
              <a:ext cx="414116" cy="400253"/>
            </a:xfrm>
            <a:custGeom>
              <a:avLst/>
              <a:gdLst>
                <a:gd name="connsiteX0" fmla="*/ 157077 w 2304934"/>
                <a:gd name="connsiteY0" fmla="*/ 0 h 2227770"/>
                <a:gd name="connsiteX1" fmla="*/ 2116069 w 2304934"/>
                <a:gd name="connsiteY1" fmla="*/ 0 h 2227770"/>
                <a:gd name="connsiteX2" fmla="*/ 2112856 w 2304934"/>
                <a:gd name="connsiteY2" fmla="*/ 2422 h 2227770"/>
                <a:gd name="connsiteX3" fmla="*/ 2304934 w 2304934"/>
                <a:gd name="connsiteY3" fmla="*/ 357188 h 2227770"/>
                <a:gd name="connsiteX4" fmla="*/ 2176882 w 2304934"/>
                <a:gd name="connsiteY4" fmla="*/ 679702 h 2227770"/>
                <a:gd name="connsiteX5" fmla="*/ 2304934 w 2304934"/>
                <a:gd name="connsiteY5" fmla="*/ 1002216 h 2227770"/>
                <a:gd name="connsiteX6" fmla="*/ 2048830 w 2304934"/>
                <a:gd name="connsiteY6" fmla="*/ 1421485 h 2227770"/>
                <a:gd name="connsiteX7" fmla="*/ 1152467 w 2304934"/>
                <a:gd name="connsiteY7" fmla="*/ 2227770 h 2227770"/>
                <a:gd name="connsiteX8" fmla="*/ 256104 w 2304934"/>
                <a:gd name="connsiteY8" fmla="*/ 1421485 h 2227770"/>
                <a:gd name="connsiteX9" fmla="*/ 0 w 2304934"/>
                <a:gd name="connsiteY9" fmla="*/ 1002216 h 2227770"/>
                <a:gd name="connsiteX10" fmla="*/ 128052 w 2304934"/>
                <a:gd name="connsiteY10" fmla="*/ 679702 h 2227770"/>
                <a:gd name="connsiteX11" fmla="*/ 0 w 2304934"/>
                <a:gd name="connsiteY11" fmla="*/ 357188 h 2227770"/>
                <a:gd name="connsiteX12" fmla="*/ 160065 w 2304934"/>
                <a:gd name="connsiteY12" fmla="*/ 2422 h 2227770"/>
                <a:gd name="connsiteX13" fmla="*/ 157077 w 2304934"/>
                <a:gd name="connsiteY13" fmla="*/ 0 h 2227770"/>
                <a:gd name="connsiteX14" fmla="*/ 448181 w 2304934"/>
                <a:gd name="connsiteY14" fmla="*/ 163679 h 2227770"/>
                <a:gd name="connsiteX15" fmla="*/ 256104 w 2304934"/>
                <a:gd name="connsiteY15" fmla="*/ 357188 h 2227770"/>
                <a:gd name="connsiteX16" fmla="*/ 448181 w 2304934"/>
                <a:gd name="connsiteY16" fmla="*/ 550697 h 2227770"/>
                <a:gd name="connsiteX17" fmla="*/ 1856752 w 2304934"/>
                <a:gd name="connsiteY17" fmla="*/ 550697 h 2227770"/>
                <a:gd name="connsiteX18" fmla="*/ 2048830 w 2304934"/>
                <a:gd name="connsiteY18" fmla="*/ 357188 h 2227770"/>
                <a:gd name="connsiteX19" fmla="*/ 1856752 w 2304934"/>
                <a:gd name="connsiteY19" fmla="*/ 163679 h 2227770"/>
                <a:gd name="connsiteX20" fmla="*/ 1664674 w 2304934"/>
                <a:gd name="connsiteY20" fmla="*/ 163679 h 2227770"/>
                <a:gd name="connsiteX21" fmla="*/ 640259 w 2304934"/>
                <a:gd name="connsiteY21" fmla="*/ 163679 h 2227770"/>
                <a:gd name="connsiteX22" fmla="*/ 448181 w 2304934"/>
                <a:gd name="connsiteY22" fmla="*/ 163679 h 2227770"/>
                <a:gd name="connsiteX23" fmla="*/ 448181 w 2304934"/>
                <a:gd name="connsiteY23" fmla="*/ 808708 h 2227770"/>
                <a:gd name="connsiteX24" fmla="*/ 256104 w 2304934"/>
                <a:gd name="connsiteY24" fmla="*/ 1002216 h 2227770"/>
                <a:gd name="connsiteX25" fmla="*/ 448181 w 2304934"/>
                <a:gd name="connsiteY25" fmla="*/ 1195725 h 2227770"/>
                <a:gd name="connsiteX26" fmla="*/ 1856752 w 2304934"/>
                <a:gd name="connsiteY26" fmla="*/ 1195725 h 2227770"/>
                <a:gd name="connsiteX27" fmla="*/ 2048830 w 2304934"/>
                <a:gd name="connsiteY27" fmla="*/ 1002216 h 2227770"/>
                <a:gd name="connsiteX28" fmla="*/ 1856752 w 2304934"/>
                <a:gd name="connsiteY28" fmla="*/ 808708 h 2227770"/>
                <a:gd name="connsiteX29" fmla="*/ 448181 w 2304934"/>
                <a:gd name="connsiteY29" fmla="*/ 808708 h 2227770"/>
                <a:gd name="connsiteX30" fmla="*/ 512207 w 2304934"/>
                <a:gd name="connsiteY30" fmla="*/ 1453736 h 2227770"/>
                <a:gd name="connsiteX31" fmla="*/ 1152467 w 2304934"/>
                <a:gd name="connsiteY31" fmla="*/ 1969759 h 2227770"/>
                <a:gd name="connsiteX32" fmla="*/ 1760713 w 2304934"/>
                <a:gd name="connsiteY32" fmla="*/ 1453736 h 2227770"/>
                <a:gd name="connsiteX33" fmla="*/ 512207 w 2304934"/>
                <a:gd name="connsiteY33" fmla="*/ 1453736 h 2227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304934" h="2227770">
                  <a:moveTo>
                    <a:pt x="157077" y="0"/>
                  </a:moveTo>
                  <a:lnTo>
                    <a:pt x="2116069" y="0"/>
                  </a:lnTo>
                  <a:lnTo>
                    <a:pt x="2112856" y="2422"/>
                  </a:lnTo>
                  <a:cubicBezTo>
                    <a:pt x="2240908" y="99177"/>
                    <a:pt x="2304934" y="228182"/>
                    <a:pt x="2304934" y="357188"/>
                  </a:cubicBezTo>
                  <a:cubicBezTo>
                    <a:pt x="2304934" y="486194"/>
                    <a:pt x="2240908" y="615199"/>
                    <a:pt x="2176882" y="679702"/>
                  </a:cubicBezTo>
                  <a:cubicBezTo>
                    <a:pt x="2240908" y="776456"/>
                    <a:pt x="2304934" y="873211"/>
                    <a:pt x="2304934" y="1002216"/>
                  </a:cubicBezTo>
                  <a:cubicBezTo>
                    <a:pt x="2304934" y="1195725"/>
                    <a:pt x="2176882" y="1356982"/>
                    <a:pt x="2048830" y="1421485"/>
                  </a:cubicBezTo>
                  <a:cubicBezTo>
                    <a:pt x="1984804" y="1873005"/>
                    <a:pt x="1600649" y="2227770"/>
                    <a:pt x="1152467" y="2227770"/>
                  </a:cubicBezTo>
                  <a:cubicBezTo>
                    <a:pt x="672272" y="2227770"/>
                    <a:pt x="288116" y="1873005"/>
                    <a:pt x="256104" y="1421485"/>
                  </a:cubicBezTo>
                  <a:cubicBezTo>
                    <a:pt x="96039" y="1356982"/>
                    <a:pt x="0" y="1195725"/>
                    <a:pt x="0" y="1002216"/>
                  </a:cubicBezTo>
                  <a:cubicBezTo>
                    <a:pt x="0" y="873211"/>
                    <a:pt x="64026" y="776456"/>
                    <a:pt x="128052" y="679702"/>
                  </a:cubicBezTo>
                  <a:cubicBezTo>
                    <a:pt x="64026" y="615199"/>
                    <a:pt x="0" y="486194"/>
                    <a:pt x="0" y="357188"/>
                  </a:cubicBezTo>
                  <a:cubicBezTo>
                    <a:pt x="0" y="228182"/>
                    <a:pt x="64026" y="99177"/>
                    <a:pt x="160065" y="2422"/>
                  </a:cubicBezTo>
                  <a:lnTo>
                    <a:pt x="157077" y="0"/>
                  </a:lnTo>
                  <a:close/>
                  <a:moveTo>
                    <a:pt x="448181" y="163679"/>
                  </a:moveTo>
                  <a:cubicBezTo>
                    <a:pt x="352142" y="163679"/>
                    <a:pt x="256104" y="260434"/>
                    <a:pt x="256104" y="357188"/>
                  </a:cubicBezTo>
                  <a:cubicBezTo>
                    <a:pt x="256104" y="486194"/>
                    <a:pt x="352142" y="550697"/>
                    <a:pt x="448181" y="550697"/>
                  </a:cubicBezTo>
                  <a:cubicBezTo>
                    <a:pt x="448181" y="550697"/>
                    <a:pt x="448181" y="550697"/>
                    <a:pt x="1856752" y="550697"/>
                  </a:cubicBezTo>
                  <a:cubicBezTo>
                    <a:pt x="1952791" y="550697"/>
                    <a:pt x="2048830" y="486194"/>
                    <a:pt x="2048830" y="357188"/>
                  </a:cubicBezTo>
                  <a:cubicBezTo>
                    <a:pt x="2048830" y="260434"/>
                    <a:pt x="1952791" y="163679"/>
                    <a:pt x="1856752" y="163679"/>
                  </a:cubicBezTo>
                  <a:lnTo>
                    <a:pt x="1664674" y="163679"/>
                  </a:lnTo>
                  <a:cubicBezTo>
                    <a:pt x="1664674" y="163679"/>
                    <a:pt x="1664674" y="163679"/>
                    <a:pt x="640259" y="163679"/>
                  </a:cubicBezTo>
                  <a:cubicBezTo>
                    <a:pt x="640259" y="163679"/>
                    <a:pt x="640259" y="163679"/>
                    <a:pt x="448181" y="163679"/>
                  </a:cubicBezTo>
                  <a:close/>
                  <a:moveTo>
                    <a:pt x="448181" y="808708"/>
                  </a:moveTo>
                  <a:cubicBezTo>
                    <a:pt x="352142" y="808708"/>
                    <a:pt x="256104" y="905462"/>
                    <a:pt x="256104" y="1002216"/>
                  </a:cubicBezTo>
                  <a:cubicBezTo>
                    <a:pt x="256104" y="1131222"/>
                    <a:pt x="352142" y="1195725"/>
                    <a:pt x="448181" y="1195725"/>
                  </a:cubicBezTo>
                  <a:cubicBezTo>
                    <a:pt x="448181" y="1195725"/>
                    <a:pt x="448181" y="1195725"/>
                    <a:pt x="1856752" y="1195725"/>
                  </a:cubicBezTo>
                  <a:cubicBezTo>
                    <a:pt x="1952791" y="1195725"/>
                    <a:pt x="2048830" y="1131222"/>
                    <a:pt x="2048830" y="1002216"/>
                  </a:cubicBezTo>
                  <a:cubicBezTo>
                    <a:pt x="2048830" y="905462"/>
                    <a:pt x="1952791" y="808708"/>
                    <a:pt x="1856752" y="808708"/>
                  </a:cubicBezTo>
                  <a:cubicBezTo>
                    <a:pt x="1856752" y="808708"/>
                    <a:pt x="1856752" y="808708"/>
                    <a:pt x="448181" y="808708"/>
                  </a:cubicBezTo>
                  <a:close/>
                  <a:moveTo>
                    <a:pt x="512207" y="1453736"/>
                  </a:moveTo>
                  <a:cubicBezTo>
                    <a:pt x="576233" y="1743999"/>
                    <a:pt x="832337" y="1969759"/>
                    <a:pt x="1152467" y="1969759"/>
                  </a:cubicBezTo>
                  <a:cubicBezTo>
                    <a:pt x="1440584" y="1969759"/>
                    <a:pt x="1696687" y="1743999"/>
                    <a:pt x="1760713" y="1453736"/>
                  </a:cubicBezTo>
                  <a:cubicBezTo>
                    <a:pt x="1760713" y="1453736"/>
                    <a:pt x="1760713" y="1453736"/>
                    <a:pt x="512207" y="1453736"/>
                  </a:cubicBezTo>
                  <a:close/>
                </a:path>
              </a:pathLst>
            </a:custGeom>
            <a:solidFill>
              <a:srgbClr val="334A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rgbClr val="FFFFFF"/>
                  </a:solidFill>
                  <a:latin typeface="Trebuchet MS" panose="020B0603020202020204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rgbClr val="FFFFFF"/>
                  </a:solidFill>
                  <a:latin typeface="Trebuchet MS" panose="020B0603020202020204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rgbClr val="FFFFFF"/>
                  </a:solidFill>
                  <a:latin typeface="Trebuchet MS" panose="020B0603020202020204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rgbClr val="FFFFFF"/>
                  </a:solidFill>
                  <a:latin typeface="Trebuchet MS" panose="020B0603020202020204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rgbClr val="FFFFFF"/>
                  </a:solidFill>
                  <a:latin typeface="Trebuchet MS" panose="020B0603020202020204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rgbClr val="FFFFFF"/>
                  </a:solidFill>
                  <a:latin typeface="Trebuchet MS" panose="020B0603020202020204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rgbClr val="FFFFFF"/>
                  </a:solidFill>
                  <a:latin typeface="Trebuchet MS" panose="020B0603020202020204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rgbClr val="FFFFFF"/>
                  </a:solidFill>
                  <a:latin typeface="Trebuchet MS" panose="020B0603020202020204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rgbClr val="FFFFFF"/>
                  </a:solidFill>
                  <a:latin typeface="Trebuchet MS" panose="020B0603020202020204"/>
                  <a:ea typeface="+mn-ea"/>
                  <a:cs typeface="+mn-cs"/>
                </a:defRPr>
              </a:lvl9pPr>
            </a:lstStyle>
            <a:p>
              <a:pPr algn="ctr">
                <a:buClr>
                  <a:srgbClr val="000000"/>
                </a:buClr>
                <a:defRPr sz="1300">
                  <a:latin typeface="Trebuchet MS" panose="020B0603020202020204"/>
                </a:defRPr>
              </a:pPr>
              <a:r>
                <a:rPr sz="1333" kern="0">
                  <a:latin typeface="+mn-lt"/>
                  <a:sym typeface="Arial"/>
                </a:rPr>
                <a:t> </a:t>
              </a:r>
              <a:endParaRPr sz="1400" kern="0">
                <a:latin typeface="+mn-lt"/>
                <a:sym typeface="Arial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14E9EDC-C6BB-9E6B-D233-5283A3481FC2}"/>
                </a:ext>
              </a:extLst>
            </p:cNvPr>
            <p:cNvSpPr/>
            <p:nvPr/>
          </p:nvSpPr>
          <p:spPr>
            <a:xfrm>
              <a:off x="4175365" y="3042376"/>
              <a:ext cx="920259" cy="1083128"/>
            </a:xfrm>
            <a:custGeom>
              <a:avLst/>
              <a:gdLst>
                <a:gd name="connsiteX0" fmla="*/ 2561038 w 5122076"/>
                <a:gd name="connsiteY0" fmla="*/ 0 h 6028593"/>
                <a:gd name="connsiteX1" fmla="*/ 5122076 w 5122076"/>
                <a:gd name="connsiteY1" fmla="*/ 2580114 h 6028593"/>
                <a:gd name="connsiteX2" fmla="*/ 4769933 w 5122076"/>
                <a:gd name="connsiteY2" fmla="*/ 3870170 h 6028593"/>
                <a:gd name="connsiteX3" fmla="*/ 3777531 w 5122076"/>
                <a:gd name="connsiteY3" fmla="*/ 5773004 h 6028593"/>
                <a:gd name="connsiteX4" fmla="*/ 3592956 w 5122076"/>
                <a:gd name="connsiteY4" fmla="*/ 5977095 h 6028593"/>
                <a:gd name="connsiteX5" fmla="*/ 3524640 w 5122076"/>
                <a:gd name="connsiteY5" fmla="*/ 6028593 h 6028593"/>
                <a:gd name="connsiteX6" fmla="*/ 1565648 w 5122076"/>
                <a:gd name="connsiteY6" fmla="*/ 6028593 h 6028593"/>
                <a:gd name="connsiteX7" fmla="*/ 1502109 w 5122076"/>
                <a:gd name="connsiteY7" fmla="*/ 5977095 h 6028593"/>
                <a:gd name="connsiteX8" fmla="*/ 1344545 w 5122076"/>
                <a:gd name="connsiteY8" fmla="*/ 5773004 h 6028593"/>
                <a:gd name="connsiteX9" fmla="*/ 352142 w 5122076"/>
                <a:gd name="connsiteY9" fmla="*/ 3870170 h 6028593"/>
                <a:gd name="connsiteX10" fmla="*/ 0 w 5122076"/>
                <a:gd name="connsiteY10" fmla="*/ 2580114 h 6028593"/>
                <a:gd name="connsiteX11" fmla="*/ 2561038 w 5122076"/>
                <a:gd name="connsiteY11" fmla="*/ 0 h 6028593"/>
                <a:gd name="connsiteX12" fmla="*/ 2561038 w 5122076"/>
                <a:gd name="connsiteY12" fmla="*/ 516023 h 6028593"/>
                <a:gd name="connsiteX13" fmla="*/ 512207 w 5122076"/>
                <a:gd name="connsiteY13" fmla="*/ 2580114 h 6028593"/>
                <a:gd name="connsiteX14" fmla="*/ 800324 w 5122076"/>
                <a:gd name="connsiteY14" fmla="*/ 3612159 h 6028593"/>
                <a:gd name="connsiteX15" fmla="*/ 1824739 w 5122076"/>
                <a:gd name="connsiteY15" fmla="*/ 5547244 h 6028593"/>
                <a:gd name="connsiteX16" fmla="*/ 1964296 w 5122076"/>
                <a:gd name="connsiteY16" fmla="*/ 5665164 h 6028593"/>
                <a:gd name="connsiteX17" fmla="*/ 3157779 w 5122076"/>
                <a:gd name="connsiteY17" fmla="*/ 5665164 h 6028593"/>
                <a:gd name="connsiteX18" fmla="*/ 3297336 w 5122076"/>
                <a:gd name="connsiteY18" fmla="*/ 5547244 h 6028593"/>
                <a:gd name="connsiteX19" fmla="*/ 4321751 w 5122076"/>
                <a:gd name="connsiteY19" fmla="*/ 3612159 h 6028593"/>
                <a:gd name="connsiteX20" fmla="*/ 4609868 w 5122076"/>
                <a:gd name="connsiteY20" fmla="*/ 2580114 h 6028593"/>
                <a:gd name="connsiteX21" fmla="*/ 2561038 w 5122076"/>
                <a:gd name="connsiteY21" fmla="*/ 516023 h 6028593"/>
                <a:gd name="connsiteX22" fmla="*/ 2561038 w 5122076"/>
                <a:gd name="connsiteY22" fmla="*/ 516023 h 6028593"/>
                <a:gd name="connsiteX23" fmla="*/ 2561038 w 5122076"/>
                <a:gd name="connsiteY23" fmla="*/ 516023 h 6028593"/>
                <a:gd name="connsiteX24" fmla="*/ 2561038 w 5122076"/>
                <a:gd name="connsiteY24" fmla="*/ 516023 h 6028593"/>
                <a:gd name="connsiteX25" fmla="*/ 2561038 w 5122076"/>
                <a:gd name="connsiteY25" fmla="*/ 516023 h 6028593"/>
                <a:gd name="connsiteX26" fmla="*/ 2561038 w 5122076"/>
                <a:gd name="connsiteY26" fmla="*/ 516023 h 6028593"/>
                <a:gd name="connsiteX27" fmla="*/ 2561038 w 5122076"/>
                <a:gd name="connsiteY27" fmla="*/ 516023 h 6028593"/>
                <a:gd name="connsiteX28" fmla="*/ 2561038 w 5122076"/>
                <a:gd name="connsiteY28" fmla="*/ 516023 h 6028593"/>
                <a:gd name="connsiteX29" fmla="*/ 2561038 w 5122076"/>
                <a:gd name="connsiteY29" fmla="*/ 516023 h 6028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122076" h="6028593">
                  <a:moveTo>
                    <a:pt x="2561038" y="0"/>
                  </a:moveTo>
                  <a:cubicBezTo>
                    <a:pt x="3969609" y="0"/>
                    <a:pt x="5122076" y="1161051"/>
                    <a:pt x="5122076" y="2580114"/>
                  </a:cubicBezTo>
                  <a:cubicBezTo>
                    <a:pt x="5122076" y="3063885"/>
                    <a:pt x="4994024" y="3515405"/>
                    <a:pt x="4769933" y="3870170"/>
                  </a:cubicBezTo>
                  <a:lnTo>
                    <a:pt x="3777531" y="5773004"/>
                  </a:lnTo>
                  <a:cubicBezTo>
                    <a:pt x="3729512" y="5845570"/>
                    <a:pt x="3663485" y="5918136"/>
                    <a:pt x="3592956" y="5977095"/>
                  </a:cubicBezTo>
                  <a:lnTo>
                    <a:pt x="3524640" y="6028593"/>
                  </a:lnTo>
                  <a:lnTo>
                    <a:pt x="1565648" y="6028593"/>
                  </a:lnTo>
                  <a:lnTo>
                    <a:pt x="1502109" y="5977095"/>
                  </a:lnTo>
                  <a:cubicBezTo>
                    <a:pt x="1440584" y="5918136"/>
                    <a:pt x="1392565" y="5845570"/>
                    <a:pt x="1344545" y="5773004"/>
                  </a:cubicBezTo>
                  <a:lnTo>
                    <a:pt x="352142" y="3870170"/>
                  </a:lnTo>
                  <a:cubicBezTo>
                    <a:pt x="128052" y="3515405"/>
                    <a:pt x="0" y="3063885"/>
                    <a:pt x="0" y="2580114"/>
                  </a:cubicBezTo>
                  <a:cubicBezTo>
                    <a:pt x="0" y="1161051"/>
                    <a:pt x="1152467" y="0"/>
                    <a:pt x="2561038" y="0"/>
                  </a:cubicBezTo>
                  <a:close/>
                  <a:moveTo>
                    <a:pt x="2561038" y="516023"/>
                  </a:moveTo>
                  <a:cubicBezTo>
                    <a:pt x="1440584" y="516023"/>
                    <a:pt x="512207" y="1451314"/>
                    <a:pt x="512207" y="2580114"/>
                  </a:cubicBezTo>
                  <a:cubicBezTo>
                    <a:pt x="512207" y="2934879"/>
                    <a:pt x="608246" y="3321896"/>
                    <a:pt x="800324" y="3612159"/>
                  </a:cubicBezTo>
                  <a:cubicBezTo>
                    <a:pt x="1019079" y="4106681"/>
                    <a:pt x="1630744" y="5205077"/>
                    <a:pt x="1824739" y="5547244"/>
                  </a:cubicBezTo>
                  <a:cubicBezTo>
                    <a:pt x="1848749" y="5595621"/>
                    <a:pt x="1890766" y="5643999"/>
                    <a:pt x="1964296" y="5665164"/>
                  </a:cubicBezTo>
                  <a:lnTo>
                    <a:pt x="3157779" y="5665164"/>
                  </a:lnTo>
                  <a:cubicBezTo>
                    <a:pt x="3231309" y="5643999"/>
                    <a:pt x="3273326" y="5595621"/>
                    <a:pt x="3297336" y="5547244"/>
                  </a:cubicBezTo>
                  <a:cubicBezTo>
                    <a:pt x="3491331" y="5205077"/>
                    <a:pt x="4102996" y="4106681"/>
                    <a:pt x="4321751" y="3612159"/>
                  </a:cubicBezTo>
                  <a:cubicBezTo>
                    <a:pt x="4513829" y="3321896"/>
                    <a:pt x="4609868" y="2934879"/>
                    <a:pt x="4609868" y="2580114"/>
                  </a:cubicBezTo>
                  <a:cubicBezTo>
                    <a:pt x="4609868" y="1451314"/>
                    <a:pt x="3681492" y="516023"/>
                    <a:pt x="2561038" y="516023"/>
                  </a:cubicBezTo>
                  <a:close/>
                </a:path>
              </a:pathLst>
            </a:custGeom>
            <a:solidFill>
              <a:srgbClr val="FBEB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rgbClr val="FFFFFF"/>
                  </a:solidFill>
                  <a:latin typeface="Trebuchet MS" panose="020B0603020202020204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rgbClr val="FFFFFF"/>
                  </a:solidFill>
                  <a:latin typeface="Trebuchet MS" panose="020B0603020202020204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rgbClr val="FFFFFF"/>
                  </a:solidFill>
                  <a:latin typeface="Trebuchet MS" panose="020B0603020202020204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rgbClr val="FFFFFF"/>
                  </a:solidFill>
                  <a:latin typeface="Trebuchet MS" panose="020B0603020202020204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rgbClr val="FFFFFF"/>
                  </a:solidFill>
                  <a:latin typeface="Trebuchet MS" panose="020B0603020202020204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rgbClr val="FFFFFF"/>
                  </a:solidFill>
                  <a:latin typeface="Trebuchet MS" panose="020B0603020202020204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rgbClr val="FFFFFF"/>
                  </a:solidFill>
                  <a:latin typeface="Trebuchet MS" panose="020B0603020202020204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rgbClr val="FFFFFF"/>
                  </a:solidFill>
                  <a:latin typeface="Trebuchet MS" panose="020B0603020202020204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rgbClr val="FFFFFF"/>
                  </a:solidFill>
                  <a:latin typeface="Trebuchet MS" panose="020B0603020202020204"/>
                  <a:ea typeface="+mn-ea"/>
                  <a:cs typeface="+mn-cs"/>
                </a:defRPr>
              </a:lvl9pPr>
            </a:lstStyle>
            <a:p>
              <a:pPr algn="ctr">
                <a:buClr>
                  <a:srgbClr val="000000"/>
                </a:buClr>
                <a:defRPr sz="1300">
                  <a:latin typeface="Trebuchet MS" panose="020B0603020202020204"/>
                </a:defRPr>
              </a:pPr>
              <a:r>
                <a:rPr sz="1333" kern="0">
                  <a:latin typeface="+mn-lt"/>
                  <a:sym typeface="Arial"/>
                </a:rPr>
                <a:t> </a:t>
              </a:r>
              <a:endParaRPr sz="1400" kern="0">
                <a:latin typeface="+mn-lt"/>
                <a:sym typeface="Arial"/>
              </a:endParaRPr>
            </a:p>
          </p:txBody>
        </p:sp>
      </p:grpSp>
      <p:grpSp>
        <p:nvGrpSpPr>
          <p:cNvPr id="33" name="ZenIcon1">
            <a:extLst>
              <a:ext uri="{FF2B5EF4-FFF2-40B4-BE49-F238E27FC236}">
                <a16:creationId xmlns:a16="http://schemas.microsoft.com/office/drawing/2014/main" id="{922E76EA-C889-605F-DB13-FE95E6E94DBB}"/>
              </a:ext>
            </a:extLst>
          </p:cNvPr>
          <p:cNvGrpSpPr>
            <a:grpSpLocks noChangeAspect="1"/>
          </p:cNvGrpSpPr>
          <p:nvPr>
            <p:custDataLst>
              <p:tags r:id="rId25"/>
            </p:custDataLst>
          </p:nvPr>
        </p:nvGrpSpPr>
        <p:grpSpPr>
          <a:xfrm>
            <a:off x="3854906" y="4094999"/>
            <a:ext cx="394125" cy="390845"/>
            <a:chOff x="22452012" y="2119313"/>
            <a:chExt cx="374650" cy="377826"/>
          </a:xfrm>
          <a:solidFill>
            <a:schemeClr val="tx1"/>
          </a:solidFill>
        </p:grpSpPr>
        <p:sp>
          <p:nvSpPr>
            <p:cNvPr id="34" name="Freeform 1532">
              <a:extLst>
                <a:ext uri="{FF2B5EF4-FFF2-40B4-BE49-F238E27FC236}">
                  <a16:creationId xmlns:a16="http://schemas.microsoft.com/office/drawing/2014/main" id="{33B2E41E-94B5-8DCE-33EB-96FACFC074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09188" y="2378076"/>
              <a:ext cx="92075" cy="92075"/>
            </a:xfrm>
            <a:custGeom>
              <a:avLst/>
              <a:gdLst>
                <a:gd name="T0" fmla="*/ 16 w 41"/>
                <a:gd name="T1" fmla="*/ 41 h 41"/>
                <a:gd name="T2" fmla="*/ 13 w 41"/>
                <a:gd name="T3" fmla="*/ 40 h 41"/>
                <a:gd name="T4" fmla="*/ 1 w 41"/>
                <a:gd name="T5" fmla="*/ 28 h 41"/>
                <a:gd name="T6" fmla="*/ 0 w 41"/>
                <a:gd name="T7" fmla="*/ 24 h 41"/>
                <a:gd name="T8" fmla="*/ 5 w 41"/>
                <a:gd name="T9" fmla="*/ 7 h 41"/>
                <a:gd name="T10" fmla="*/ 7 w 41"/>
                <a:gd name="T11" fmla="*/ 5 h 41"/>
                <a:gd name="T12" fmla="*/ 24 w 41"/>
                <a:gd name="T13" fmla="*/ 0 h 41"/>
                <a:gd name="T14" fmla="*/ 28 w 41"/>
                <a:gd name="T15" fmla="*/ 1 h 41"/>
                <a:gd name="T16" fmla="*/ 40 w 41"/>
                <a:gd name="T17" fmla="*/ 14 h 41"/>
                <a:gd name="T18" fmla="*/ 40 w 41"/>
                <a:gd name="T19" fmla="*/ 14 h 41"/>
                <a:gd name="T20" fmla="*/ 41 w 41"/>
                <a:gd name="T21" fmla="*/ 17 h 41"/>
                <a:gd name="T22" fmla="*/ 36 w 41"/>
                <a:gd name="T23" fmla="*/ 34 h 41"/>
                <a:gd name="T24" fmla="*/ 34 w 41"/>
                <a:gd name="T25" fmla="*/ 37 h 41"/>
                <a:gd name="T26" fmla="*/ 17 w 41"/>
                <a:gd name="T27" fmla="*/ 41 h 41"/>
                <a:gd name="T28" fmla="*/ 16 w 41"/>
                <a:gd name="T29" fmla="*/ 41 h 41"/>
                <a:gd name="T30" fmla="*/ 5 w 41"/>
                <a:gd name="T31" fmla="*/ 25 h 41"/>
                <a:gd name="T32" fmla="*/ 16 w 41"/>
                <a:gd name="T33" fmla="*/ 36 h 41"/>
                <a:gd name="T34" fmla="*/ 32 w 41"/>
                <a:gd name="T35" fmla="*/ 32 h 41"/>
                <a:gd name="T36" fmla="*/ 36 w 41"/>
                <a:gd name="T37" fmla="*/ 17 h 41"/>
                <a:gd name="T38" fmla="*/ 25 w 41"/>
                <a:gd name="T39" fmla="*/ 5 h 41"/>
                <a:gd name="T40" fmla="*/ 9 w 41"/>
                <a:gd name="T41" fmla="*/ 9 h 41"/>
                <a:gd name="T42" fmla="*/ 5 w 41"/>
                <a:gd name="T43" fmla="*/ 25 h 41"/>
                <a:gd name="T44" fmla="*/ 32 w 41"/>
                <a:gd name="T45" fmla="*/ 33 h 41"/>
                <a:gd name="T46" fmla="*/ 32 w 41"/>
                <a:gd name="T47" fmla="*/ 33 h 41"/>
                <a:gd name="T48" fmla="*/ 5 w 41"/>
                <a:gd name="T49" fmla="*/ 26 h 41"/>
                <a:gd name="T50" fmla="*/ 5 w 41"/>
                <a:gd name="T51" fmla="*/ 26 h 41"/>
                <a:gd name="T52" fmla="*/ 5 w 41"/>
                <a:gd name="T53" fmla="*/ 26 h 41"/>
                <a:gd name="T54" fmla="*/ 36 w 41"/>
                <a:gd name="T55" fmla="*/ 16 h 41"/>
                <a:gd name="T56" fmla="*/ 36 w 41"/>
                <a:gd name="T57" fmla="*/ 16 h 41"/>
                <a:gd name="T58" fmla="*/ 9 w 41"/>
                <a:gd name="T59" fmla="*/ 9 h 41"/>
                <a:gd name="T60" fmla="*/ 9 w 41"/>
                <a:gd name="T61" fmla="*/ 9 h 41"/>
                <a:gd name="T62" fmla="*/ 9 w 41"/>
                <a:gd name="T63" fmla="*/ 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" h="41">
                  <a:moveTo>
                    <a:pt x="16" y="41"/>
                  </a:moveTo>
                  <a:cubicBezTo>
                    <a:pt x="15" y="41"/>
                    <a:pt x="14" y="41"/>
                    <a:pt x="13" y="40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0" y="27"/>
                    <a:pt x="0" y="26"/>
                    <a:pt x="0" y="2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6" y="5"/>
                    <a:pt x="7" y="5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5" y="0"/>
                    <a:pt x="27" y="0"/>
                    <a:pt x="28" y="1"/>
                  </a:cubicBezTo>
                  <a:cubicBezTo>
                    <a:pt x="40" y="14"/>
                    <a:pt x="40" y="14"/>
                    <a:pt x="40" y="14"/>
                  </a:cubicBezTo>
                  <a:cubicBezTo>
                    <a:pt x="40" y="14"/>
                    <a:pt x="40" y="14"/>
                    <a:pt x="40" y="14"/>
                  </a:cubicBezTo>
                  <a:cubicBezTo>
                    <a:pt x="41" y="15"/>
                    <a:pt x="41" y="16"/>
                    <a:pt x="41" y="17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5"/>
                    <a:pt x="35" y="36"/>
                    <a:pt x="34" y="37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lose/>
                  <a:moveTo>
                    <a:pt x="5" y="25"/>
                  </a:moveTo>
                  <a:cubicBezTo>
                    <a:pt x="16" y="36"/>
                    <a:pt x="16" y="36"/>
                    <a:pt x="16" y="36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9" y="9"/>
                    <a:pt x="9" y="9"/>
                    <a:pt x="9" y="9"/>
                  </a:cubicBezTo>
                  <a:lnTo>
                    <a:pt x="5" y="25"/>
                  </a:lnTo>
                  <a:close/>
                  <a:moveTo>
                    <a:pt x="32" y="33"/>
                  </a:moveTo>
                  <a:cubicBezTo>
                    <a:pt x="32" y="33"/>
                    <a:pt x="32" y="33"/>
                    <a:pt x="32" y="33"/>
                  </a:cubicBezTo>
                  <a:close/>
                  <a:moveTo>
                    <a:pt x="5" y="26"/>
                  </a:moveTo>
                  <a:cubicBezTo>
                    <a:pt x="5" y="26"/>
                    <a:pt x="5" y="26"/>
                    <a:pt x="5" y="26"/>
                  </a:cubicBezTo>
                  <a:cubicBezTo>
                    <a:pt x="5" y="26"/>
                    <a:pt x="5" y="26"/>
                    <a:pt x="5" y="26"/>
                  </a:cubicBezTo>
                  <a:close/>
                  <a:moveTo>
                    <a:pt x="36" y="16"/>
                  </a:moveTo>
                  <a:cubicBezTo>
                    <a:pt x="36" y="16"/>
                    <a:pt x="36" y="16"/>
                    <a:pt x="36" y="16"/>
                  </a:cubicBezTo>
                  <a:close/>
                  <a:moveTo>
                    <a:pt x="9" y="9"/>
                  </a:move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300">
                  <a:latin typeface="Trebuchet MS" panose="020B0603020202020204"/>
                </a:defRPr>
              </a:pPr>
              <a:r>
                <a:rPr lang="en-IN" sz="1733"/>
                <a:t> </a:t>
              </a:r>
            </a:p>
          </p:txBody>
        </p:sp>
        <p:sp>
          <p:nvSpPr>
            <p:cNvPr id="35" name="Freeform 1533">
              <a:extLst>
                <a:ext uri="{FF2B5EF4-FFF2-40B4-BE49-F238E27FC236}">
                  <a16:creationId xmlns:a16="http://schemas.microsoft.com/office/drawing/2014/main" id="{F2781390-46B1-8280-0634-054D1985C5D9}"/>
                </a:ext>
              </a:extLst>
            </p:cNvPr>
            <p:cNvSpPr/>
            <p:nvPr/>
          </p:nvSpPr>
          <p:spPr bwMode="auto">
            <a:xfrm>
              <a:off x="22455188" y="2122488"/>
              <a:ext cx="103188" cy="103188"/>
            </a:xfrm>
            <a:custGeom>
              <a:avLst/>
              <a:gdLst>
                <a:gd name="T0" fmla="*/ 18 w 46"/>
                <a:gd name="T1" fmla="*/ 46 h 46"/>
                <a:gd name="T2" fmla="*/ 16 w 46"/>
                <a:gd name="T3" fmla="*/ 45 h 46"/>
                <a:gd name="T4" fmla="*/ 1 w 46"/>
                <a:gd name="T5" fmla="*/ 30 h 46"/>
                <a:gd name="T6" fmla="*/ 1 w 46"/>
                <a:gd name="T7" fmla="*/ 26 h 46"/>
                <a:gd name="T8" fmla="*/ 5 w 46"/>
                <a:gd name="T9" fmla="*/ 26 h 46"/>
                <a:gd name="T10" fmla="*/ 19 w 46"/>
                <a:gd name="T11" fmla="*/ 41 h 46"/>
                <a:gd name="T12" fmla="*/ 36 w 46"/>
                <a:gd name="T13" fmla="*/ 36 h 46"/>
                <a:gd name="T14" fmla="*/ 40 w 46"/>
                <a:gd name="T15" fmla="*/ 19 h 46"/>
                <a:gd name="T16" fmla="*/ 26 w 46"/>
                <a:gd name="T17" fmla="*/ 5 h 46"/>
                <a:gd name="T18" fmla="*/ 26 w 46"/>
                <a:gd name="T19" fmla="*/ 1 h 46"/>
                <a:gd name="T20" fmla="*/ 30 w 46"/>
                <a:gd name="T21" fmla="*/ 1 h 46"/>
                <a:gd name="T22" fmla="*/ 45 w 46"/>
                <a:gd name="T23" fmla="*/ 17 h 46"/>
                <a:gd name="T24" fmla="*/ 45 w 46"/>
                <a:gd name="T25" fmla="*/ 19 h 46"/>
                <a:gd name="T26" fmla="*/ 40 w 46"/>
                <a:gd name="T27" fmla="*/ 39 h 46"/>
                <a:gd name="T28" fmla="*/ 38 w 46"/>
                <a:gd name="T29" fmla="*/ 40 h 46"/>
                <a:gd name="T30" fmla="*/ 19 w 46"/>
                <a:gd name="T31" fmla="*/ 46 h 46"/>
                <a:gd name="T32" fmla="*/ 18 w 46"/>
                <a:gd name="T33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46">
                  <a:moveTo>
                    <a:pt x="18" y="46"/>
                  </a:moveTo>
                  <a:cubicBezTo>
                    <a:pt x="18" y="46"/>
                    <a:pt x="17" y="46"/>
                    <a:pt x="16" y="45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29"/>
                    <a:pt x="0" y="27"/>
                    <a:pt x="1" y="26"/>
                  </a:cubicBezTo>
                  <a:cubicBezTo>
                    <a:pt x="2" y="25"/>
                    <a:pt x="4" y="25"/>
                    <a:pt x="5" y="26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5" y="4"/>
                    <a:pt x="25" y="2"/>
                    <a:pt x="26" y="1"/>
                  </a:cubicBezTo>
                  <a:cubicBezTo>
                    <a:pt x="27" y="0"/>
                    <a:pt x="29" y="0"/>
                    <a:pt x="30" y="1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7"/>
                    <a:pt x="46" y="18"/>
                    <a:pt x="45" y="19"/>
                  </a:cubicBezTo>
                  <a:cubicBezTo>
                    <a:pt x="40" y="39"/>
                    <a:pt x="40" y="39"/>
                    <a:pt x="40" y="39"/>
                  </a:cubicBezTo>
                  <a:cubicBezTo>
                    <a:pt x="40" y="40"/>
                    <a:pt x="39" y="40"/>
                    <a:pt x="38" y="40"/>
                  </a:cubicBezTo>
                  <a:cubicBezTo>
                    <a:pt x="19" y="46"/>
                    <a:pt x="19" y="46"/>
                    <a:pt x="19" y="46"/>
                  </a:cubicBezTo>
                  <a:cubicBezTo>
                    <a:pt x="19" y="46"/>
                    <a:pt x="18" y="46"/>
                    <a:pt x="18" y="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300">
                  <a:latin typeface="Trebuchet MS" panose="020B0603020202020204"/>
                </a:defRPr>
              </a:pPr>
              <a:r>
                <a:rPr lang="en-IN" sz="1733"/>
                <a:t> </a:t>
              </a:r>
            </a:p>
          </p:txBody>
        </p:sp>
        <p:sp>
          <p:nvSpPr>
            <p:cNvPr id="36" name="Freeform 1534">
              <a:extLst>
                <a:ext uri="{FF2B5EF4-FFF2-40B4-BE49-F238E27FC236}">
                  <a16:creationId xmlns:a16="http://schemas.microsoft.com/office/drawing/2014/main" id="{DBB7DCED-7B2D-8A8D-2686-27849ECEAC14}"/>
                </a:ext>
              </a:extLst>
            </p:cNvPr>
            <p:cNvSpPr/>
            <p:nvPr/>
          </p:nvSpPr>
          <p:spPr bwMode="auto">
            <a:xfrm>
              <a:off x="22452012" y="2178051"/>
              <a:ext cx="115888" cy="90488"/>
            </a:xfrm>
            <a:custGeom>
              <a:avLst/>
              <a:gdLst>
                <a:gd name="T0" fmla="*/ 33 w 51"/>
                <a:gd name="T1" fmla="*/ 40 h 40"/>
                <a:gd name="T2" fmla="*/ 11 w 51"/>
                <a:gd name="T3" fmla="*/ 30 h 40"/>
                <a:gd name="T4" fmla="*/ 1 w 51"/>
                <a:gd name="T5" fmla="*/ 3 h 40"/>
                <a:gd name="T6" fmla="*/ 4 w 51"/>
                <a:gd name="T7" fmla="*/ 1 h 40"/>
                <a:gd name="T8" fmla="*/ 6 w 51"/>
                <a:gd name="T9" fmla="*/ 3 h 40"/>
                <a:gd name="T10" fmla="*/ 14 w 51"/>
                <a:gd name="T11" fmla="*/ 27 h 40"/>
                <a:gd name="T12" fmla="*/ 47 w 51"/>
                <a:gd name="T13" fmla="*/ 31 h 40"/>
                <a:gd name="T14" fmla="*/ 50 w 51"/>
                <a:gd name="T15" fmla="*/ 32 h 40"/>
                <a:gd name="T16" fmla="*/ 50 w 51"/>
                <a:gd name="T17" fmla="*/ 35 h 40"/>
                <a:gd name="T18" fmla="*/ 33 w 51"/>
                <a:gd name="T1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" h="40">
                  <a:moveTo>
                    <a:pt x="33" y="40"/>
                  </a:moveTo>
                  <a:cubicBezTo>
                    <a:pt x="25" y="40"/>
                    <a:pt x="17" y="36"/>
                    <a:pt x="11" y="30"/>
                  </a:cubicBezTo>
                  <a:cubicBezTo>
                    <a:pt x="3" y="23"/>
                    <a:pt x="0" y="13"/>
                    <a:pt x="1" y="3"/>
                  </a:cubicBezTo>
                  <a:cubicBezTo>
                    <a:pt x="2" y="1"/>
                    <a:pt x="3" y="0"/>
                    <a:pt x="4" y="1"/>
                  </a:cubicBezTo>
                  <a:cubicBezTo>
                    <a:pt x="6" y="1"/>
                    <a:pt x="7" y="2"/>
                    <a:pt x="6" y="3"/>
                  </a:cubicBezTo>
                  <a:cubicBezTo>
                    <a:pt x="5" y="12"/>
                    <a:pt x="8" y="21"/>
                    <a:pt x="14" y="27"/>
                  </a:cubicBezTo>
                  <a:cubicBezTo>
                    <a:pt x="23" y="36"/>
                    <a:pt x="36" y="37"/>
                    <a:pt x="47" y="31"/>
                  </a:cubicBezTo>
                  <a:cubicBezTo>
                    <a:pt x="48" y="30"/>
                    <a:pt x="50" y="31"/>
                    <a:pt x="50" y="32"/>
                  </a:cubicBezTo>
                  <a:cubicBezTo>
                    <a:pt x="51" y="33"/>
                    <a:pt x="51" y="34"/>
                    <a:pt x="50" y="35"/>
                  </a:cubicBezTo>
                  <a:cubicBezTo>
                    <a:pt x="45" y="38"/>
                    <a:pt x="39" y="40"/>
                    <a:pt x="33" y="4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300">
                  <a:latin typeface="Trebuchet MS" panose="020B0603020202020204"/>
                </a:defRPr>
              </a:pPr>
              <a:r>
                <a:rPr lang="en-IN" sz="1733"/>
                <a:t> </a:t>
              </a:r>
            </a:p>
          </p:txBody>
        </p:sp>
        <p:sp>
          <p:nvSpPr>
            <p:cNvPr id="37" name="Freeform 1535">
              <a:extLst>
                <a:ext uri="{FF2B5EF4-FFF2-40B4-BE49-F238E27FC236}">
                  <a16:creationId xmlns:a16="http://schemas.microsoft.com/office/drawing/2014/main" id="{70C02A2B-4BEA-502E-9A3C-06298F3F5E35}"/>
                </a:ext>
              </a:extLst>
            </p:cNvPr>
            <p:cNvSpPr/>
            <p:nvPr/>
          </p:nvSpPr>
          <p:spPr bwMode="auto">
            <a:xfrm>
              <a:off x="22510752" y="2119313"/>
              <a:ext cx="95250" cy="115888"/>
            </a:xfrm>
            <a:custGeom>
              <a:avLst/>
              <a:gdLst>
                <a:gd name="T0" fmla="*/ 33 w 42"/>
                <a:gd name="T1" fmla="*/ 51 h 51"/>
                <a:gd name="T2" fmla="*/ 31 w 42"/>
                <a:gd name="T3" fmla="*/ 51 h 51"/>
                <a:gd name="T4" fmla="*/ 31 w 42"/>
                <a:gd name="T5" fmla="*/ 47 h 51"/>
                <a:gd name="T6" fmla="*/ 26 w 42"/>
                <a:gd name="T7" fmla="*/ 14 h 51"/>
                <a:gd name="T8" fmla="*/ 3 w 42"/>
                <a:gd name="T9" fmla="*/ 7 h 51"/>
                <a:gd name="T10" fmla="*/ 0 w 42"/>
                <a:gd name="T11" fmla="*/ 5 h 51"/>
                <a:gd name="T12" fmla="*/ 2 w 42"/>
                <a:gd name="T13" fmla="*/ 2 h 51"/>
                <a:gd name="T14" fmla="*/ 30 w 42"/>
                <a:gd name="T15" fmla="*/ 11 h 51"/>
                <a:gd name="T16" fmla="*/ 35 w 42"/>
                <a:gd name="T17" fmla="*/ 50 h 51"/>
                <a:gd name="T18" fmla="*/ 33 w 42"/>
                <a:gd name="T1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" h="51">
                  <a:moveTo>
                    <a:pt x="33" y="51"/>
                  </a:moveTo>
                  <a:cubicBezTo>
                    <a:pt x="32" y="51"/>
                    <a:pt x="32" y="51"/>
                    <a:pt x="31" y="51"/>
                  </a:cubicBezTo>
                  <a:cubicBezTo>
                    <a:pt x="30" y="50"/>
                    <a:pt x="30" y="49"/>
                    <a:pt x="31" y="47"/>
                  </a:cubicBezTo>
                  <a:cubicBezTo>
                    <a:pt x="37" y="37"/>
                    <a:pt x="35" y="23"/>
                    <a:pt x="26" y="14"/>
                  </a:cubicBezTo>
                  <a:cubicBezTo>
                    <a:pt x="20" y="8"/>
                    <a:pt x="12" y="5"/>
                    <a:pt x="3" y="7"/>
                  </a:cubicBezTo>
                  <a:cubicBezTo>
                    <a:pt x="2" y="7"/>
                    <a:pt x="1" y="6"/>
                    <a:pt x="0" y="5"/>
                  </a:cubicBezTo>
                  <a:cubicBezTo>
                    <a:pt x="0" y="3"/>
                    <a:pt x="1" y="2"/>
                    <a:pt x="2" y="2"/>
                  </a:cubicBezTo>
                  <a:cubicBezTo>
                    <a:pt x="12" y="0"/>
                    <a:pt x="23" y="4"/>
                    <a:pt x="30" y="11"/>
                  </a:cubicBezTo>
                  <a:cubicBezTo>
                    <a:pt x="40" y="21"/>
                    <a:pt x="42" y="37"/>
                    <a:pt x="35" y="50"/>
                  </a:cubicBezTo>
                  <a:cubicBezTo>
                    <a:pt x="34" y="51"/>
                    <a:pt x="34" y="51"/>
                    <a:pt x="33" y="5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300">
                  <a:latin typeface="Trebuchet MS" panose="020B0603020202020204"/>
                </a:defRPr>
              </a:pPr>
              <a:r>
                <a:rPr lang="en-IN" sz="1733"/>
                <a:t> </a:t>
              </a:r>
            </a:p>
          </p:txBody>
        </p:sp>
        <p:sp>
          <p:nvSpPr>
            <p:cNvPr id="38" name="Freeform 1536">
              <a:extLst>
                <a:ext uri="{FF2B5EF4-FFF2-40B4-BE49-F238E27FC236}">
                  <a16:creationId xmlns:a16="http://schemas.microsoft.com/office/drawing/2014/main" id="{19941356-D1AB-A2A8-ACFA-B8718756EA41}"/>
                </a:ext>
              </a:extLst>
            </p:cNvPr>
            <p:cNvSpPr/>
            <p:nvPr/>
          </p:nvSpPr>
          <p:spPr bwMode="auto">
            <a:xfrm>
              <a:off x="22556788" y="2249488"/>
              <a:ext cx="58738" cy="55563"/>
            </a:xfrm>
            <a:custGeom>
              <a:avLst/>
              <a:gdLst>
                <a:gd name="T0" fmla="*/ 23 w 26"/>
                <a:gd name="T1" fmla="*/ 25 h 25"/>
                <a:gd name="T2" fmla="*/ 21 w 26"/>
                <a:gd name="T3" fmla="*/ 25 h 25"/>
                <a:gd name="T4" fmla="*/ 1 w 26"/>
                <a:gd name="T5" fmla="*/ 4 h 25"/>
                <a:gd name="T6" fmla="*/ 1 w 26"/>
                <a:gd name="T7" fmla="*/ 1 h 25"/>
                <a:gd name="T8" fmla="*/ 5 w 26"/>
                <a:gd name="T9" fmla="*/ 1 h 25"/>
                <a:gd name="T10" fmla="*/ 25 w 26"/>
                <a:gd name="T11" fmla="*/ 21 h 25"/>
                <a:gd name="T12" fmla="*/ 25 w 26"/>
                <a:gd name="T13" fmla="*/ 25 h 25"/>
                <a:gd name="T14" fmla="*/ 23 w 26"/>
                <a:gd name="T15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25">
                  <a:moveTo>
                    <a:pt x="23" y="25"/>
                  </a:moveTo>
                  <a:cubicBezTo>
                    <a:pt x="23" y="25"/>
                    <a:pt x="22" y="25"/>
                    <a:pt x="21" y="2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6" y="22"/>
                    <a:pt x="26" y="24"/>
                    <a:pt x="25" y="25"/>
                  </a:cubicBezTo>
                  <a:cubicBezTo>
                    <a:pt x="24" y="25"/>
                    <a:pt x="24" y="25"/>
                    <a:pt x="23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300">
                  <a:latin typeface="Trebuchet MS" panose="020B0603020202020204"/>
                </a:defRPr>
              </a:pPr>
              <a:r>
                <a:rPr lang="en-IN" sz="1733"/>
                <a:t> </a:t>
              </a:r>
            </a:p>
          </p:txBody>
        </p:sp>
        <p:sp>
          <p:nvSpPr>
            <p:cNvPr id="39" name="Freeform 1537">
              <a:extLst>
                <a:ext uri="{FF2B5EF4-FFF2-40B4-BE49-F238E27FC236}">
                  <a16:creationId xmlns:a16="http://schemas.microsoft.com/office/drawing/2014/main" id="{1249DC25-FC4F-AF3B-2C49-57A931E78BA8}"/>
                </a:ext>
              </a:extLst>
            </p:cNvPr>
            <p:cNvSpPr/>
            <p:nvPr/>
          </p:nvSpPr>
          <p:spPr bwMode="auto">
            <a:xfrm>
              <a:off x="22644102" y="2336801"/>
              <a:ext cx="60325" cy="58738"/>
            </a:xfrm>
            <a:custGeom>
              <a:avLst/>
              <a:gdLst>
                <a:gd name="T0" fmla="*/ 24 w 27"/>
                <a:gd name="T1" fmla="*/ 26 h 26"/>
                <a:gd name="T2" fmla="*/ 22 w 27"/>
                <a:gd name="T3" fmla="*/ 26 h 26"/>
                <a:gd name="T4" fmla="*/ 1 w 27"/>
                <a:gd name="T5" fmla="*/ 4 h 26"/>
                <a:gd name="T6" fmla="*/ 1 w 27"/>
                <a:gd name="T7" fmla="*/ 1 h 26"/>
                <a:gd name="T8" fmla="*/ 5 w 27"/>
                <a:gd name="T9" fmla="*/ 1 h 26"/>
                <a:gd name="T10" fmla="*/ 26 w 27"/>
                <a:gd name="T11" fmla="*/ 22 h 26"/>
                <a:gd name="T12" fmla="*/ 26 w 27"/>
                <a:gd name="T13" fmla="*/ 26 h 26"/>
                <a:gd name="T14" fmla="*/ 24 w 27"/>
                <a:gd name="T1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6">
                  <a:moveTo>
                    <a:pt x="24" y="26"/>
                  </a:moveTo>
                  <a:cubicBezTo>
                    <a:pt x="24" y="26"/>
                    <a:pt x="23" y="26"/>
                    <a:pt x="22" y="26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26" y="22"/>
                    <a:pt x="26" y="22"/>
                    <a:pt x="26" y="22"/>
                  </a:cubicBezTo>
                  <a:cubicBezTo>
                    <a:pt x="27" y="23"/>
                    <a:pt x="27" y="25"/>
                    <a:pt x="26" y="26"/>
                  </a:cubicBezTo>
                  <a:cubicBezTo>
                    <a:pt x="25" y="26"/>
                    <a:pt x="25" y="26"/>
                    <a:pt x="24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300">
                  <a:latin typeface="Trebuchet MS" panose="020B0603020202020204"/>
                </a:defRPr>
              </a:pPr>
              <a:r>
                <a:rPr lang="en-IN" sz="1733"/>
                <a:t> </a:t>
              </a:r>
            </a:p>
          </p:txBody>
        </p:sp>
        <p:sp>
          <p:nvSpPr>
            <p:cNvPr id="40" name="Freeform 1538">
              <a:extLst>
                <a:ext uri="{FF2B5EF4-FFF2-40B4-BE49-F238E27FC236}">
                  <a16:creationId xmlns:a16="http://schemas.microsoft.com/office/drawing/2014/main" id="{FA556D29-1C3B-0713-D279-6579564E9B91}"/>
                </a:ext>
              </a:extLst>
            </p:cNvPr>
            <p:cNvSpPr/>
            <p:nvPr/>
          </p:nvSpPr>
          <p:spPr bwMode="auto">
            <a:xfrm>
              <a:off x="22580602" y="2225676"/>
              <a:ext cx="147638" cy="147638"/>
            </a:xfrm>
            <a:custGeom>
              <a:avLst/>
              <a:gdLst>
                <a:gd name="T0" fmla="*/ 63 w 65"/>
                <a:gd name="T1" fmla="*/ 65 h 65"/>
                <a:gd name="T2" fmla="*/ 61 w 65"/>
                <a:gd name="T3" fmla="*/ 64 h 65"/>
                <a:gd name="T4" fmla="*/ 1 w 65"/>
                <a:gd name="T5" fmla="*/ 4 h 65"/>
                <a:gd name="T6" fmla="*/ 1 w 65"/>
                <a:gd name="T7" fmla="*/ 1 h 65"/>
                <a:gd name="T8" fmla="*/ 4 w 65"/>
                <a:gd name="T9" fmla="*/ 1 h 65"/>
                <a:gd name="T10" fmla="*/ 64 w 65"/>
                <a:gd name="T11" fmla="*/ 61 h 65"/>
                <a:gd name="T12" fmla="*/ 64 w 65"/>
                <a:gd name="T13" fmla="*/ 64 h 65"/>
                <a:gd name="T14" fmla="*/ 63 w 65"/>
                <a:gd name="T15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" h="65">
                  <a:moveTo>
                    <a:pt x="63" y="65"/>
                  </a:moveTo>
                  <a:cubicBezTo>
                    <a:pt x="62" y="65"/>
                    <a:pt x="61" y="65"/>
                    <a:pt x="61" y="6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64" y="61"/>
                    <a:pt x="64" y="61"/>
                    <a:pt x="64" y="61"/>
                  </a:cubicBezTo>
                  <a:cubicBezTo>
                    <a:pt x="65" y="62"/>
                    <a:pt x="65" y="63"/>
                    <a:pt x="64" y="64"/>
                  </a:cubicBezTo>
                  <a:cubicBezTo>
                    <a:pt x="64" y="65"/>
                    <a:pt x="63" y="65"/>
                    <a:pt x="63" y="6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300">
                  <a:latin typeface="Trebuchet MS" panose="020B0603020202020204"/>
                </a:defRPr>
              </a:pPr>
              <a:r>
                <a:rPr lang="en-IN" sz="1733"/>
                <a:t> </a:t>
              </a:r>
            </a:p>
          </p:txBody>
        </p:sp>
        <p:sp>
          <p:nvSpPr>
            <p:cNvPr id="41" name="Freeform 1539">
              <a:extLst>
                <a:ext uri="{FF2B5EF4-FFF2-40B4-BE49-F238E27FC236}">
                  <a16:creationId xmlns:a16="http://schemas.microsoft.com/office/drawing/2014/main" id="{B6F4ADC4-6ECA-95D9-CE39-B4A23CF70620}"/>
                </a:ext>
              </a:extLst>
            </p:cNvPr>
            <p:cNvSpPr/>
            <p:nvPr/>
          </p:nvSpPr>
          <p:spPr bwMode="auto">
            <a:xfrm>
              <a:off x="22677438" y="2346326"/>
              <a:ext cx="149225" cy="150813"/>
            </a:xfrm>
            <a:custGeom>
              <a:avLst/>
              <a:gdLst>
                <a:gd name="T0" fmla="*/ 34 w 66"/>
                <a:gd name="T1" fmla="*/ 67 h 67"/>
                <a:gd name="T2" fmla="*/ 12 w 66"/>
                <a:gd name="T3" fmla="*/ 57 h 67"/>
                <a:gd name="T4" fmla="*/ 7 w 66"/>
                <a:gd name="T5" fmla="*/ 19 h 67"/>
                <a:gd name="T6" fmla="*/ 10 w 66"/>
                <a:gd name="T7" fmla="*/ 18 h 67"/>
                <a:gd name="T8" fmla="*/ 11 w 66"/>
                <a:gd name="T9" fmla="*/ 21 h 67"/>
                <a:gd name="T10" fmla="*/ 16 w 66"/>
                <a:gd name="T11" fmla="*/ 54 h 67"/>
                <a:gd name="T12" fmla="*/ 34 w 66"/>
                <a:gd name="T13" fmla="*/ 62 h 67"/>
                <a:gd name="T14" fmla="*/ 53 w 66"/>
                <a:gd name="T15" fmla="*/ 54 h 67"/>
                <a:gd name="T16" fmla="*/ 61 w 66"/>
                <a:gd name="T17" fmla="*/ 35 h 67"/>
                <a:gd name="T18" fmla="*/ 53 w 66"/>
                <a:gd name="T19" fmla="*/ 16 h 67"/>
                <a:gd name="T20" fmla="*/ 21 w 66"/>
                <a:gd name="T21" fmla="*/ 12 h 67"/>
                <a:gd name="T22" fmla="*/ 18 w 66"/>
                <a:gd name="T23" fmla="*/ 11 h 67"/>
                <a:gd name="T24" fmla="*/ 18 w 66"/>
                <a:gd name="T25" fmla="*/ 7 h 67"/>
                <a:gd name="T26" fmla="*/ 57 w 66"/>
                <a:gd name="T27" fmla="*/ 12 h 67"/>
                <a:gd name="T28" fmla="*/ 66 w 66"/>
                <a:gd name="T29" fmla="*/ 35 h 67"/>
                <a:gd name="T30" fmla="*/ 57 w 66"/>
                <a:gd name="T31" fmla="*/ 57 h 67"/>
                <a:gd name="T32" fmla="*/ 34 w 66"/>
                <a:gd name="T33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67">
                  <a:moveTo>
                    <a:pt x="34" y="67"/>
                  </a:moveTo>
                  <a:cubicBezTo>
                    <a:pt x="26" y="67"/>
                    <a:pt x="18" y="63"/>
                    <a:pt x="12" y="57"/>
                  </a:cubicBezTo>
                  <a:cubicBezTo>
                    <a:pt x="2" y="47"/>
                    <a:pt x="0" y="31"/>
                    <a:pt x="7" y="19"/>
                  </a:cubicBezTo>
                  <a:cubicBezTo>
                    <a:pt x="8" y="18"/>
                    <a:pt x="9" y="17"/>
                    <a:pt x="10" y="18"/>
                  </a:cubicBezTo>
                  <a:cubicBezTo>
                    <a:pt x="12" y="19"/>
                    <a:pt x="12" y="20"/>
                    <a:pt x="11" y="21"/>
                  </a:cubicBezTo>
                  <a:cubicBezTo>
                    <a:pt x="5" y="32"/>
                    <a:pt x="7" y="45"/>
                    <a:pt x="16" y="54"/>
                  </a:cubicBezTo>
                  <a:cubicBezTo>
                    <a:pt x="21" y="59"/>
                    <a:pt x="27" y="62"/>
                    <a:pt x="34" y="62"/>
                  </a:cubicBezTo>
                  <a:cubicBezTo>
                    <a:pt x="42" y="62"/>
                    <a:pt x="48" y="59"/>
                    <a:pt x="53" y="54"/>
                  </a:cubicBezTo>
                  <a:cubicBezTo>
                    <a:pt x="59" y="49"/>
                    <a:pt x="61" y="42"/>
                    <a:pt x="61" y="35"/>
                  </a:cubicBezTo>
                  <a:cubicBezTo>
                    <a:pt x="61" y="28"/>
                    <a:pt x="59" y="21"/>
                    <a:pt x="53" y="16"/>
                  </a:cubicBezTo>
                  <a:cubicBezTo>
                    <a:pt x="45" y="7"/>
                    <a:pt x="31" y="5"/>
                    <a:pt x="21" y="12"/>
                  </a:cubicBezTo>
                  <a:cubicBezTo>
                    <a:pt x="20" y="12"/>
                    <a:pt x="18" y="12"/>
                    <a:pt x="18" y="11"/>
                  </a:cubicBezTo>
                  <a:cubicBezTo>
                    <a:pt x="17" y="10"/>
                    <a:pt x="17" y="8"/>
                    <a:pt x="18" y="7"/>
                  </a:cubicBezTo>
                  <a:cubicBezTo>
                    <a:pt x="31" y="0"/>
                    <a:pt x="47" y="2"/>
                    <a:pt x="57" y="12"/>
                  </a:cubicBezTo>
                  <a:cubicBezTo>
                    <a:pt x="63" y="18"/>
                    <a:pt x="66" y="26"/>
                    <a:pt x="66" y="35"/>
                  </a:cubicBezTo>
                  <a:cubicBezTo>
                    <a:pt x="66" y="43"/>
                    <a:pt x="63" y="51"/>
                    <a:pt x="57" y="57"/>
                  </a:cubicBezTo>
                  <a:cubicBezTo>
                    <a:pt x="51" y="63"/>
                    <a:pt x="43" y="67"/>
                    <a:pt x="34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300">
                  <a:latin typeface="Trebuchet MS" panose="020B0603020202020204"/>
                </a:defRPr>
              </a:pPr>
              <a:r>
                <a:rPr lang="en-IN" sz="1733"/>
                <a:t> </a:t>
              </a:r>
            </a:p>
          </p:txBody>
        </p:sp>
        <p:sp>
          <p:nvSpPr>
            <p:cNvPr id="42" name="Freeform 1540">
              <a:extLst>
                <a:ext uri="{FF2B5EF4-FFF2-40B4-BE49-F238E27FC236}">
                  <a16:creationId xmlns:a16="http://schemas.microsoft.com/office/drawing/2014/main" id="{FD1B4AE1-2895-021B-008E-3943733BCFD1}"/>
                </a:ext>
              </a:extLst>
            </p:cNvPr>
            <p:cNvSpPr/>
            <p:nvPr/>
          </p:nvSpPr>
          <p:spPr bwMode="auto">
            <a:xfrm>
              <a:off x="22628227" y="2135188"/>
              <a:ext cx="185738" cy="188913"/>
            </a:xfrm>
            <a:custGeom>
              <a:avLst/>
              <a:gdLst>
                <a:gd name="T0" fmla="*/ 2 w 82"/>
                <a:gd name="T1" fmla="*/ 83 h 83"/>
                <a:gd name="T2" fmla="*/ 1 w 82"/>
                <a:gd name="T3" fmla="*/ 82 h 83"/>
                <a:gd name="T4" fmla="*/ 1 w 82"/>
                <a:gd name="T5" fmla="*/ 78 h 83"/>
                <a:gd name="T6" fmla="*/ 78 w 82"/>
                <a:gd name="T7" fmla="*/ 1 h 83"/>
                <a:gd name="T8" fmla="*/ 81 w 82"/>
                <a:gd name="T9" fmla="*/ 1 h 83"/>
                <a:gd name="T10" fmla="*/ 81 w 82"/>
                <a:gd name="T11" fmla="*/ 5 h 83"/>
                <a:gd name="T12" fmla="*/ 4 w 82"/>
                <a:gd name="T13" fmla="*/ 82 h 83"/>
                <a:gd name="T14" fmla="*/ 2 w 82"/>
                <a:gd name="T15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2" h="83">
                  <a:moveTo>
                    <a:pt x="2" y="83"/>
                  </a:moveTo>
                  <a:cubicBezTo>
                    <a:pt x="2" y="83"/>
                    <a:pt x="1" y="82"/>
                    <a:pt x="1" y="82"/>
                  </a:cubicBezTo>
                  <a:cubicBezTo>
                    <a:pt x="0" y="81"/>
                    <a:pt x="0" y="79"/>
                    <a:pt x="1" y="78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9" y="0"/>
                    <a:pt x="80" y="0"/>
                    <a:pt x="81" y="1"/>
                  </a:cubicBezTo>
                  <a:cubicBezTo>
                    <a:pt x="82" y="2"/>
                    <a:pt x="82" y="4"/>
                    <a:pt x="81" y="5"/>
                  </a:cubicBezTo>
                  <a:cubicBezTo>
                    <a:pt x="4" y="82"/>
                    <a:pt x="4" y="82"/>
                    <a:pt x="4" y="82"/>
                  </a:cubicBezTo>
                  <a:cubicBezTo>
                    <a:pt x="4" y="82"/>
                    <a:pt x="3" y="83"/>
                    <a:pt x="2" y="8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300">
                  <a:latin typeface="Trebuchet MS" panose="020B0603020202020204"/>
                </a:defRPr>
              </a:pPr>
              <a:r>
                <a:rPr lang="en-IN" sz="1733"/>
                <a:t> </a:t>
              </a:r>
            </a:p>
          </p:txBody>
        </p:sp>
        <p:sp>
          <p:nvSpPr>
            <p:cNvPr id="43" name="Freeform 1541">
              <a:extLst>
                <a:ext uri="{FF2B5EF4-FFF2-40B4-BE49-F238E27FC236}">
                  <a16:creationId xmlns:a16="http://schemas.microsoft.com/office/drawing/2014/main" id="{41F52950-AA23-86D6-6CF0-029BDAD1EC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456777" y="2314576"/>
              <a:ext cx="180975" cy="176213"/>
            </a:xfrm>
            <a:custGeom>
              <a:avLst/>
              <a:gdLst>
                <a:gd name="T0" fmla="*/ 26 w 80"/>
                <a:gd name="T1" fmla="*/ 78 h 78"/>
                <a:gd name="T2" fmla="*/ 20 w 80"/>
                <a:gd name="T3" fmla="*/ 76 h 78"/>
                <a:gd name="T4" fmla="*/ 4 w 80"/>
                <a:gd name="T5" fmla="*/ 60 h 78"/>
                <a:gd name="T6" fmla="*/ 4 w 80"/>
                <a:gd name="T7" fmla="*/ 48 h 78"/>
                <a:gd name="T8" fmla="*/ 49 w 80"/>
                <a:gd name="T9" fmla="*/ 3 h 78"/>
                <a:gd name="T10" fmla="*/ 55 w 80"/>
                <a:gd name="T11" fmla="*/ 0 h 78"/>
                <a:gd name="T12" fmla="*/ 61 w 80"/>
                <a:gd name="T13" fmla="*/ 3 h 78"/>
                <a:gd name="T14" fmla="*/ 77 w 80"/>
                <a:gd name="T15" fmla="*/ 19 h 78"/>
                <a:gd name="T16" fmla="*/ 77 w 80"/>
                <a:gd name="T17" fmla="*/ 31 h 78"/>
                <a:gd name="T18" fmla="*/ 32 w 80"/>
                <a:gd name="T19" fmla="*/ 76 h 78"/>
                <a:gd name="T20" fmla="*/ 26 w 80"/>
                <a:gd name="T21" fmla="*/ 78 h 78"/>
                <a:gd name="T22" fmla="*/ 55 w 80"/>
                <a:gd name="T23" fmla="*/ 5 h 78"/>
                <a:gd name="T24" fmla="*/ 52 w 80"/>
                <a:gd name="T25" fmla="*/ 7 h 78"/>
                <a:gd name="T26" fmla="*/ 7 w 80"/>
                <a:gd name="T27" fmla="*/ 51 h 78"/>
                <a:gd name="T28" fmla="*/ 7 w 80"/>
                <a:gd name="T29" fmla="*/ 57 h 78"/>
                <a:gd name="T30" fmla="*/ 23 w 80"/>
                <a:gd name="T31" fmla="*/ 72 h 78"/>
                <a:gd name="T32" fmla="*/ 28 w 80"/>
                <a:gd name="T33" fmla="*/ 72 h 78"/>
                <a:gd name="T34" fmla="*/ 73 w 80"/>
                <a:gd name="T35" fmla="*/ 28 h 78"/>
                <a:gd name="T36" fmla="*/ 73 w 80"/>
                <a:gd name="T37" fmla="*/ 22 h 78"/>
                <a:gd name="T38" fmla="*/ 58 w 80"/>
                <a:gd name="T39" fmla="*/ 7 h 78"/>
                <a:gd name="T40" fmla="*/ 55 w 80"/>
                <a:gd name="T41" fmla="*/ 5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0" h="78">
                  <a:moveTo>
                    <a:pt x="26" y="78"/>
                  </a:moveTo>
                  <a:cubicBezTo>
                    <a:pt x="23" y="78"/>
                    <a:pt x="21" y="77"/>
                    <a:pt x="20" y="76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0" y="57"/>
                    <a:pt x="0" y="51"/>
                    <a:pt x="4" y="48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50" y="1"/>
                    <a:pt x="52" y="0"/>
                    <a:pt x="55" y="0"/>
                  </a:cubicBezTo>
                  <a:cubicBezTo>
                    <a:pt x="57" y="0"/>
                    <a:pt x="59" y="1"/>
                    <a:pt x="61" y="3"/>
                  </a:cubicBezTo>
                  <a:cubicBezTo>
                    <a:pt x="77" y="19"/>
                    <a:pt x="77" y="19"/>
                    <a:pt x="77" y="19"/>
                  </a:cubicBezTo>
                  <a:cubicBezTo>
                    <a:pt x="80" y="22"/>
                    <a:pt x="80" y="28"/>
                    <a:pt x="77" y="31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0" y="77"/>
                    <a:pt x="28" y="78"/>
                    <a:pt x="26" y="78"/>
                  </a:cubicBezTo>
                  <a:close/>
                  <a:moveTo>
                    <a:pt x="55" y="5"/>
                  </a:moveTo>
                  <a:cubicBezTo>
                    <a:pt x="54" y="5"/>
                    <a:pt x="53" y="6"/>
                    <a:pt x="52" y="7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6" y="53"/>
                    <a:pt x="6" y="55"/>
                    <a:pt x="7" y="57"/>
                  </a:cubicBezTo>
                  <a:cubicBezTo>
                    <a:pt x="23" y="72"/>
                    <a:pt x="23" y="72"/>
                    <a:pt x="23" y="72"/>
                  </a:cubicBezTo>
                  <a:cubicBezTo>
                    <a:pt x="24" y="74"/>
                    <a:pt x="27" y="74"/>
                    <a:pt x="28" y="72"/>
                  </a:cubicBezTo>
                  <a:cubicBezTo>
                    <a:pt x="73" y="28"/>
                    <a:pt x="73" y="28"/>
                    <a:pt x="73" y="28"/>
                  </a:cubicBezTo>
                  <a:cubicBezTo>
                    <a:pt x="75" y="26"/>
                    <a:pt x="75" y="24"/>
                    <a:pt x="73" y="22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7" y="6"/>
                    <a:pt x="56" y="5"/>
                    <a:pt x="55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300">
                  <a:latin typeface="Trebuchet MS" panose="020B0603020202020204"/>
                </a:defRPr>
              </a:pPr>
              <a:r>
                <a:rPr lang="en-IN" sz="1733"/>
                <a:t> </a:t>
              </a:r>
            </a:p>
          </p:txBody>
        </p:sp>
        <p:sp>
          <p:nvSpPr>
            <p:cNvPr id="44" name="Freeform 1542">
              <a:extLst>
                <a:ext uri="{FF2B5EF4-FFF2-40B4-BE49-F238E27FC236}">
                  <a16:creationId xmlns:a16="http://schemas.microsoft.com/office/drawing/2014/main" id="{E807D1EF-CCC4-0F57-D351-F1976510A8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585362" y="2293938"/>
              <a:ext cx="73025" cy="69850"/>
            </a:xfrm>
            <a:custGeom>
              <a:avLst/>
              <a:gdLst>
                <a:gd name="T0" fmla="*/ 19 w 32"/>
                <a:gd name="T1" fmla="*/ 31 h 31"/>
                <a:gd name="T2" fmla="*/ 14 w 32"/>
                <a:gd name="T3" fmla="*/ 29 h 31"/>
                <a:gd name="T4" fmla="*/ 2 w 32"/>
                <a:gd name="T5" fmla="*/ 17 h 31"/>
                <a:gd name="T6" fmla="*/ 0 w 32"/>
                <a:gd name="T7" fmla="*/ 12 h 31"/>
                <a:gd name="T8" fmla="*/ 2 w 32"/>
                <a:gd name="T9" fmla="*/ 7 h 31"/>
                <a:gd name="T10" fmla="*/ 7 w 32"/>
                <a:gd name="T11" fmla="*/ 3 h 31"/>
                <a:gd name="T12" fmla="*/ 12 w 32"/>
                <a:gd name="T13" fmla="*/ 0 h 31"/>
                <a:gd name="T14" fmla="*/ 17 w 32"/>
                <a:gd name="T15" fmla="*/ 3 h 31"/>
                <a:gd name="T16" fmla="*/ 29 w 32"/>
                <a:gd name="T17" fmla="*/ 14 h 31"/>
                <a:gd name="T18" fmla="*/ 29 w 32"/>
                <a:gd name="T19" fmla="*/ 24 h 31"/>
                <a:gd name="T20" fmla="*/ 24 w 32"/>
                <a:gd name="T21" fmla="*/ 29 h 31"/>
                <a:gd name="T22" fmla="*/ 19 w 32"/>
                <a:gd name="T23" fmla="*/ 31 h 31"/>
                <a:gd name="T24" fmla="*/ 12 w 32"/>
                <a:gd name="T25" fmla="*/ 5 h 31"/>
                <a:gd name="T26" fmla="*/ 11 w 32"/>
                <a:gd name="T27" fmla="*/ 6 h 31"/>
                <a:gd name="T28" fmla="*/ 6 w 32"/>
                <a:gd name="T29" fmla="*/ 11 h 31"/>
                <a:gd name="T30" fmla="*/ 5 w 32"/>
                <a:gd name="T31" fmla="*/ 12 h 31"/>
                <a:gd name="T32" fmla="*/ 6 w 32"/>
                <a:gd name="T33" fmla="*/ 14 h 31"/>
                <a:gd name="T34" fmla="*/ 18 w 32"/>
                <a:gd name="T35" fmla="*/ 26 h 31"/>
                <a:gd name="T36" fmla="*/ 21 w 32"/>
                <a:gd name="T37" fmla="*/ 26 h 31"/>
                <a:gd name="T38" fmla="*/ 24 w 32"/>
                <a:gd name="T39" fmla="*/ 23 h 31"/>
                <a:gd name="T40" fmla="*/ 24 w 32"/>
                <a:gd name="T41" fmla="*/ 23 h 31"/>
                <a:gd name="T42" fmla="*/ 26 w 32"/>
                <a:gd name="T43" fmla="*/ 21 h 31"/>
                <a:gd name="T44" fmla="*/ 26 w 32"/>
                <a:gd name="T45" fmla="*/ 18 h 31"/>
                <a:gd name="T46" fmla="*/ 14 w 32"/>
                <a:gd name="T47" fmla="*/ 6 h 31"/>
                <a:gd name="T48" fmla="*/ 12 w 32"/>
                <a:gd name="T49" fmla="*/ 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2" h="31">
                  <a:moveTo>
                    <a:pt x="19" y="31"/>
                  </a:moveTo>
                  <a:cubicBezTo>
                    <a:pt x="17" y="31"/>
                    <a:pt x="16" y="31"/>
                    <a:pt x="14" y="29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1" y="16"/>
                    <a:pt x="0" y="14"/>
                    <a:pt x="0" y="12"/>
                  </a:cubicBezTo>
                  <a:cubicBezTo>
                    <a:pt x="0" y="10"/>
                    <a:pt x="1" y="9"/>
                    <a:pt x="2" y="7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8" y="1"/>
                    <a:pt x="10" y="0"/>
                    <a:pt x="12" y="0"/>
                  </a:cubicBezTo>
                  <a:cubicBezTo>
                    <a:pt x="14" y="0"/>
                    <a:pt x="16" y="1"/>
                    <a:pt x="17" y="3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32" y="17"/>
                    <a:pt x="32" y="22"/>
                    <a:pt x="29" y="24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3" y="31"/>
                    <a:pt x="21" y="31"/>
                    <a:pt x="19" y="31"/>
                  </a:cubicBezTo>
                  <a:close/>
                  <a:moveTo>
                    <a:pt x="12" y="5"/>
                  </a:moveTo>
                  <a:cubicBezTo>
                    <a:pt x="12" y="5"/>
                    <a:pt x="11" y="6"/>
                    <a:pt x="11" y="6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5" y="11"/>
                    <a:pt x="5" y="12"/>
                    <a:pt x="5" y="12"/>
                  </a:cubicBezTo>
                  <a:cubicBezTo>
                    <a:pt x="5" y="13"/>
                    <a:pt x="5" y="13"/>
                    <a:pt x="6" y="14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9" y="27"/>
                    <a:pt x="20" y="27"/>
                    <a:pt x="21" y="26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7" y="20"/>
                    <a:pt x="27" y="19"/>
                    <a:pt x="26" y="18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3" y="6"/>
                    <a:pt x="13" y="5"/>
                    <a:pt x="12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300">
                  <a:latin typeface="Trebuchet MS" panose="020B0603020202020204"/>
                </a:defRPr>
              </a:pPr>
              <a:r>
                <a:rPr lang="en-IN" sz="1733"/>
                <a:t> </a:t>
              </a:r>
            </a:p>
          </p:txBody>
        </p:sp>
        <p:sp>
          <p:nvSpPr>
            <p:cNvPr id="45" name="Freeform 1543">
              <a:extLst>
                <a:ext uri="{FF2B5EF4-FFF2-40B4-BE49-F238E27FC236}">
                  <a16:creationId xmlns:a16="http://schemas.microsoft.com/office/drawing/2014/main" id="{BE7A7CA0-59A0-337B-268E-5BDB022A2FD0}"/>
                </a:ext>
              </a:extLst>
            </p:cNvPr>
            <p:cNvSpPr/>
            <p:nvPr/>
          </p:nvSpPr>
          <p:spPr bwMode="auto">
            <a:xfrm>
              <a:off x="22783802" y="2135188"/>
              <a:ext cx="31750" cy="31750"/>
            </a:xfrm>
            <a:custGeom>
              <a:avLst/>
              <a:gdLst>
                <a:gd name="T0" fmla="*/ 4 w 14"/>
                <a:gd name="T1" fmla="*/ 14 h 14"/>
                <a:gd name="T2" fmla="*/ 1 w 14"/>
                <a:gd name="T3" fmla="*/ 13 h 14"/>
                <a:gd name="T4" fmla="*/ 1 w 14"/>
                <a:gd name="T5" fmla="*/ 13 h 14"/>
                <a:gd name="T6" fmla="*/ 1 w 14"/>
                <a:gd name="T7" fmla="*/ 8 h 14"/>
                <a:gd name="T8" fmla="*/ 8 w 14"/>
                <a:gd name="T9" fmla="*/ 1 h 14"/>
                <a:gd name="T10" fmla="*/ 13 w 14"/>
                <a:gd name="T11" fmla="*/ 1 h 14"/>
                <a:gd name="T12" fmla="*/ 14 w 14"/>
                <a:gd name="T13" fmla="*/ 3 h 14"/>
                <a:gd name="T14" fmla="*/ 13 w 14"/>
                <a:gd name="T15" fmla="*/ 6 h 14"/>
                <a:gd name="T16" fmla="*/ 6 w 14"/>
                <a:gd name="T17" fmla="*/ 13 h 14"/>
                <a:gd name="T18" fmla="*/ 4 w 14"/>
                <a:gd name="T1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14">
                  <a:moveTo>
                    <a:pt x="4" y="14"/>
                  </a:moveTo>
                  <a:cubicBezTo>
                    <a:pt x="3" y="14"/>
                    <a:pt x="2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1"/>
                    <a:pt x="0" y="9"/>
                    <a:pt x="1" y="8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9" y="0"/>
                    <a:pt x="11" y="0"/>
                    <a:pt x="13" y="1"/>
                  </a:cubicBezTo>
                  <a:cubicBezTo>
                    <a:pt x="13" y="2"/>
                    <a:pt x="14" y="3"/>
                    <a:pt x="14" y="3"/>
                  </a:cubicBezTo>
                  <a:cubicBezTo>
                    <a:pt x="14" y="4"/>
                    <a:pt x="13" y="5"/>
                    <a:pt x="13" y="6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3"/>
                    <a:pt x="4" y="14"/>
                    <a:pt x="4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300">
                  <a:latin typeface="Trebuchet MS" panose="020B0603020202020204"/>
                </a:defRPr>
              </a:pPr>
              <a:r>
                <a:rPr lang="en-IN" sz="1733"/>
                <a:t> </a:t>
              </a:r>
            </a:p>
          </p:txBody>
        </p:sp>
      </p:grpSp>
      <p:grpSp>
        <p:nvGrpSpPr>
          <p:cNvPr id="46" name="ZenIcon2">
            <a:extLst>
              <a:ext uri="{FF2B5EF4-FFF2-40B4-BE49-F238E27FC236}">
                <a16:creationId xmlns:a16="http://schemas.microsoft.com/office/drawing/2014/main" id="{27A01E9E-B7D1-1400-0F90-D7BE7D8E996C}"/>
              </a:ext>
            </a:extLst>
          </p:cNvPr>
          <p:cNvGrpSpPr>
            <a:grpSpLocks noChangeAspect="1"/>
          </p:cNvGrpSpPr>
          <p:nvPr>
            <p:custDataLst>
              <p:tags r:id="rId26"/>
            </p:custDataLst>
          </p:nvPr>
        </p:nvGrpSpPr>
        <p:grpSpPr>
          <a:xfrm>
            <a:off x="4465312" y="2976373"/>
            <a:ext cx="341075" cy="344485"/>
            <a:chOff x="641351" y="2794001"/>
            <a:chExt cx="158750" cy="160338"/>
          </a:xfrm>
          <a:solidFill>
            <a:schemeClr val="tx1"/>
          </a:solidFill>
        </p:grpSpPr>
        <p:sp>
          <p:nvSpPr>
            <p:cNvPr id="47" name="Freeform 380">
              <a:extLst>
                <a:ext uri="{FF2B5EF4-FFF2-40B4-BE49-F238E27FC236}">
                  <a16:creationId xmlns:a16="http://schemas.microsoft.com/office/drawing/2014/main" id="{1176FB87-F262-8000-AC32-662D31E5EA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1351" y="2794001"/>
              <a:ext cx="123825" cy="125413"/>
            </a:xfrm>
            <a:custGeom>
              <a:avLst/>
              <a:gdLst>
                <a:gd name="T0" fmla="*/ 142 w 285"/>
                <a:gd name="T1" fmla="*/ 285 h 285"/>
                <a:gd name="T2" fmla="*/ 0 w 285"/>
                <a:gd name="T3" fmla="*/ 143 h 285"/>
                <a:gd name="T4" fmla="*/ 142 w 285"/>
                <a:gd name="T5" fmla="*/ 0 h 285"/>
                <a:gd name="T6" fmla="*/ 285 w 285"/>
                <a:gd name="T7" fmla="*/ 143 h 285"/>
                <a:gd name="T8" fmla="*/ 142 w 285"/>
                <a:gd name="T9" fmla="*/ 285 h 285"/>
                <a:gd name="T10" fmla="*/ 142 w 285"/>
                <a:gd name="T11" fmla="*/ 12 h 285"/>
                <a:gd name="T12" fmla="*/ 12 w 285"/>
                <a:gd name="T13" fmla="*/ 143 h 285"/>
                <a:gd name="T14" fmla="*/ 142 w 285"/>
                <a:gd name="T15" fmla="*/ 273 h 285"/>
                <a:gd name="T16" fmla="*/ 273 w 285"/>
                <a:gd name="T17" fmla="*/ 143 h 285"/>
                <a:gd name="T18" fmla="*/ 142 w 285"/>
                <a:gd name="T19" fmla="*/ 12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5" h="285">
                  <a:moveTo>
                    <a:pt x="142" y="285"/>
                  </a:moveTo>
                  <a:cubicBezTo>
                    <a:pt x="64" y="285"/>
                    <a:pt x="0" y="221"/>
                    <a:pt x="0" y="143"/>
                  </a:cubicBezTo>
                  <a:cubicBezTo>
                    <a:pt x="0" y="64"/>
                    <a:pt x="64" y="0"/>
                    <a:pt x="142" y="0"/>
                  </a:cubicBezTo>
                  <a:cubicBezTo>
                    <a:pt x="221" y="0"/>
                    <a:pt x="285" y="64"/>
                    <a:pt x="285" y="143"/>
                  </a:cubicBezTo>
                  <a:cubicBezTo>
                    <a:pt x="285" y="221"/>
                    <a:pt x="221" y="285"/>
                    <a:pt x="142" y="285"/>
                  </a:cubicBezTo>
                  <a:close/>
                  <a:moveTo>
                    <a:pt x="142" y="12"/>
                  </a:moveTo>
                  <a:cubicBezTo>
                    <a:pt x="70" y="12"/>
                    <a:pt x="12" y="71"/>
                    <a:pt x="12" y="143"/>
                  </a:cubicBezTo>
                  <a:cubicBezTo>
                    <a:pt x="12" y="214"/>
                    <a:pt x="70" y="273"/>
                    <a:pt x="142" y="273"/>
                  </a:cubicBezTo>
                  <a:cubicBezTo>
                    <a:pt x="214" y="273"/>
                    <a:pt x="273" y="214"/>
                    <a:pt x="273" y="143"/>
                  </a:cubicBezTo>
                  <a:cubicBezTo>
                    <a:pt x="273" y="71"/>
                    <a:pt x="214" y="12"/>
                    <a:pt x="142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300">
                  <a:latin typeface="Trebuchet MS" panose="020B0603020202020204"/>
                </a:defRPr>
              </a:pPr>
              <a:r>
                <a:rPr lang="en-IN" sz="1733"/>
                <a:t> </a:t>
              </a:r>
            </a:p>
          </p:txBody>
        </p:sp>
        <p:sp>
          <p:nvSpPr>
            <p:cNvPr id="48" name="Freeform 381">
              <a:extLst>
                <a:ext uri="{FF2B5EF4-FFF2-40B4-BE49-F238E27FC236}">
                  <a16:creationId xmlns:a16="http://schemas.microsoft.com/office/drawing/2014/main" id="{0F4AE05C-E4CA-2249-7BA0-B26EF8162E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6601" y="2889251"/>
              <a:ext cx="63500" cy="65088"/>
            </a:xfrm>
            <a:custGeom>
              <a:avLst/>
              <a:gdLst>
                <a:gd name="T0" fmla="*/ 119 w 145"/>
                <a:gd name="T1" fmla="*/ 146 h 146"/>
                <a:gd name="T2" fmla="*/ 100 w 145"/>
                <a:gd name="T3" fmla="*/ 138 h 146"/>
                <a:gd name="T4" fmla="*/ 2 w 145"/>
                <a:gd name="T5" fmla="*/ 40 h 146"/>
                <a:gd name="T6" fmla="*/ 2 w 145"/>
                <a:gd name="T7" fmla="*/ 32 h 146"/>
                <a:gd name="T8" fmla="*/ 31 w 145"/>
                <a:gd name="T9" fmla="*/ 3 h 146"/>
                <a:gd name="T10" fmla="*/ 40 w 145"/>
                <a:gd name="T11" fmla="*/ 3 h 146"/>
                <a:gd name="T12" fmla="*/ 138 w 145"/>
                <a:gd name="T13" fmla="*/ 100 h 146"/>
                <a:gd name="T14" fmla="*/ 145 w 145"/>
                <a:gd name="T15" fmla="*/ 119 h 146"/>
                <a:gd name="T16" fmla="*/ 138 w 145"/>
                <a:gd name="T17" fmla="*/ 138 h 146"/>
                <a:gd name="T18" fmla="*/ 119 w 145"/>
                <a:gd name="T19" fmla="*/ 146 h 146"/>
                <a:gd name="T20" fmla="*/ 15 w 145"/>
                <a:gd name="T21" fmla="*/ 36 h 146"/>
                <a:gd name="T22" fmla="*/ 109 w 145"/>
                <a:gd name="T23" fmla="*/ 129 h 146"/>
                <a:gd name="T24" fmla="*/ 109 w 145"/>
                <a:gd name="T25" fmla="*/ 129 h 146"/>
                <a:gd name="T26" fmla="*/ 129 w 145"/>
                <a:gd name="T27" fmla="*/ 129 h 146"/>
                <a:gd name="T28" fmla="*/ 133 w 145"/>
                <a:gd name="T29" fmla="*/ 119 h 146"/>
                <a:gd name="T30" fmla="*/ 129 w 145"/>
                <a:gd name="T31" fmla="*/ 109 h 146"/>
                <a:gd name="T32" fmla="*/ 36 w 145"/>
                <a:gd name="T33" fmla="*/ 16 h 146"/>
                <a:gd name="T34" fmla="*/ 15 w 145"/>
                <a:gd name="T35" fmla="*/ 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5" h="146">
                  <a:moveTo>
                    <a:pt x="119" y="146"/>
                  </a:moveTo>
                  <a:cubicBezTo>
                    <a:pt x="112" y="146"/>
                    <a:pt x="105" y="143"/>
                    <a:pt x="100" y="138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0" y="38"/>
                    <a:pt x="0" y="34"/>
                    <a:pt x="2" y="32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34" y="0"/>
                    <a:pt x="38" y="0"/>
                    <a:pt x="40" y="3"/>
                  </a:cubicBezTo>
                  <a:cubicBezTo>
                    <a:pt x="138" y="100"/>
                    <a:pt x="138" y="100"/>
                    <a:pt x="138" y="100"/>
                  </a:cubicBezTo>
                  <a:cubicBezTo>
                    <a:pt x="143" y="105"/>
                    <a:pt x="145" y="112"/>
                    <a:pt x="145" y="119"/>
                  </a:cubicBezTo>
                  <a:cubicBezTo>
                    <a:pt x="145" y="126"/>
                    <a:pt x="143" y="133"/>
                    <a:pt x="138" y="138"/>
                  </a:cubicBezTo>
                  <a:cubicBezTo>
                    <a:pt x="132" y="143"/>
                    <a:pt x="126" y="146"/>
                    <a:pt x="119" y="146"/>
                  </a:cubicBezTo>
                  <a:close/>
                  <a:moveTo>
                    <a:pt x="15" y="36"/>
                  </a:moveTo>
                  <a:cubicBezTo>
                    <a:pt x="109" y="129"/>
                    <a:pt x="109" y="129"/>
                    <a:pt x="109" y="129"/>
                  </a:cubicBezTo>
                  <a:cubicBezTo>
                    <a:pt x="109" y="129"/>
                    <a:pt x="109" y="129"/>
                    <a:pt x="109" y="129"/>
                  </a:cubicBezTo>
                  <a:cubicBezTo>
                    <a:pt x="114" y="135"/>
                    <a:pt x="123" y="135"/>
                    <a:pt x="129" y="129"/>
                  </a:cubicBezTo>
                  <a:cubicBezTo>
                    <a:pt x="132" y="126"/>
                    <a:pt x="133" y="123"/>
                    <a:pt x="133" y="119"/>
                  </a:cubicBezTo>
                  <a:cubicBezTo>
                    <a:pt x="133" y="115"/>
                    <a:pt x="132" y="112"/>
                    <a:pt x="129" y="109"/>
                  </a:cubicBezTo>
                  <a:cubicBezTo>
                    <a:pt x="36" y="16"/>
                    <a:pt x="36" y="16"/>
                    <a:pt x="36" y="16"/>
                  </a:cubicBezTo>
                  <a:lnTo>
                    <a:pt x="15" y="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300">
                  <a:latin typeface="Trebuchet MS" panose="020B0603020202020204"/>
                </a:defRPr>
              </a:pPr>
              <a:r>
                <a:rPr lang="en-IN" sz="1733"/>
                <a:t> </a:t>
              </a:r>
            </a:p>
          </p:txBody>
        </p:sp>
        <p:sp>
          <p:nvSpPr>
            <p:cNvPr id="49" name="Freeform 382">
              <a:extLst>
                <a:ext uri="{FF2B5EF4-FFF2-40B4-BE49-F238E27FC236}">
                  <a16:creationId xmlns:a16="http://schemas.microsoft.com/office/drawing/2014/main" id="{18784AC8-9706-44D4-41B3-2A9F51C09957}"/>
                </a:ext>
              </a:extLst>
            </p:cNvPr>
            <p:cNvSpPr/>
            <p:nvPr/>
          </p:nvSpPr>
          <p:spPr bwMode="auto">
            <a:xfrm>
              <a:off x="661988" y="2814638"/>
              <a:ext cx="44450" cy="44450"/>
            </a:xfrm>
            <a:custGeom>
              <a:avLst/>
              <a:gdLst>
                <a:gd name="T0" fmla="*/ 6 w 99"/>
                <a:gd name="T1" fmla="*/ 100 h 100"/>
                <a:gd name="T2" fmla="*/ 0 w 99"/>
                <a:gd name="T3" fmla="*/ 94 h 100"/>
                <a:gd name="T4" fmla="*/ 93 w 99"/>
                <a:gd name="T5" fmla="*/ 0 h 100"/>
                <a:gd name="T6" fmla="*/ 99 w 99"/>
                <a:gd name="T7" fmla="*/ 6 h 100"/>
                <a:gd name="T8" fmla="*/ 93 w 99"/>
                <a:gd name="T9" fmla="*/ 12 h 100"/>
                <a:gd name="T10" fmla="*/ 12 w 99"/>
                <a:gd name="T11" fmla="*/ 94 h 100"/>
                <a:gd name="T12" fmla="*/ 6 w 99"/>
                <a:gd name="T13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9" h="100">
                  <a:moveTo>
                    <a:pt x="6" y="100"/>
                  </a:moveTo>
                  <a:cubicBezTo>
                    <a:pt x="3" y="100"/>
                    <a:pt x="0" y="97"/>
                    <a:pt x="0" y="94"/>
                  </a:cubicBezTo>
                  <a:cubicBezTo>
                    <a:pt x="0" y="42"/>
                    <a:pt x="42" y="0"/>
                    <a:pt x="93" y="0"/>
                  </a:cubicBezTo>
                  <a:cubicBezTo>
                    <a:pt x="97" y="0"/>
                    <a:pt x="99" y="3"/>
                    <a:pt x="99" y="6"/>
                  </a:cubicBezTo>
                  <a:cubicBezTo>
                    <a:pt x="99" y="10"/>
                    <a:pt x="97" y="12"/>
                    <a:pt x="93" y="12"/>
                  </a:cubicBezTo>
                  <a:cubicBezTo>
                    <a:pt x="48" y="12"/>
                    <a:pt x="12" y="49"/>
                    <a:pt x="12" y="94"/>
                  </a:cubicBezTo>
                  <a:cubicBezTo>
                    <a:pt x="12" y="97"/>
                    <a:pt x="9" y="100"/>
                    <a:pt x="6" y="10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300">
                  <a:latin typeface="Trebuchet MS" panose="020B0603020202020204"/>
                </a:defRPr>
              </a:pPr>
              <a:r>
                <a:rPr lang="en-IN" sz="1733"/>
                <a:t> </a:t>
              </a:r>
            </a:p>
          </p:txBody>
        </p:sp>
      </p:grpSp>
      <p:grpSp>
        <p:nvGrpSpPr>
          <p:cNvPr id="50" name="ZenIcon3">
            <a:extLst>
              <a:ext uri="{FF2B5EF4-FFF2-40B4-BE49-F238E27FC236}">
                <a16:creationId xmlns:a16="http://schemas.microsoft.com/office/drawing/2014/main" id="{0DB309C9-8949-9EEB-6450-1E542242ABA5}"/>
              </a:ext>
            </a:extLst>
          </p:cNvPr>
          <p:cNvGrpSpPr>
            <a:grpSpLocks noChangeAspect="1"/>
          </p:cNvGrpSpPr>
          <p:nvPr>
            <p:custDataLst>
              <p:tags r:id="rId27"/>
            </p:custDataLst>
          </p:nvPr>
        </p:nvGrpSpPr>
        <p:grpSpPr>
          <a:xfrm>
            <a:off x="5938246" y="2351887"/>
            <a:ext cx="438095" cy="434448"/>
            <a:chOff x="625475" y="4483101"/>
            <a:chExt cx="190500" cy="188913"/>
          </a:xfrm>
          <a:solidFill>
            <a:schemeClr val="tx1"/>
          </a:solidFill>
        </p:grpSpPr>
        <p:sp>
          <p:nvSpPr>
            <p:cNvPr id="51" name="Freeform 44">
              <a:extLst>
                <a:ext uri="{FF2B5EF4-FFF2-40B4-BE49-F238E27FC236}">
                  <a16:creationId xmlns:a16="http://schemas.microsoft.com/office/drawing/2014/main" id="{81B7FF0A-FF92-CA97-DFC0-8355E274D3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9925" y="4527551"/>
              <a:ext cx="100013" cy="100013"/>
            </a:xfrm>
            <a:custGeom>
              <a:avLst/>
              <a:gdLst>
                <a:gd name="T0" fmla="*/ 114 w 228"/>
                <a:gd name="T1" fmla="*/ 228 h 228"/>
                <a:gd name="T2" fmla="*/ 0 w 228"/>
                <a:gd name="T3" fmla="*/ 114 h 228"/>
                <a:gd name="T4" fmla="*/ 114 w 228"/>
                <a:gd name="T5" fmla="*/ 0 h 228"/>
                <a:gd name="T6" fmla="*/ 228 w 228"/>
                <a:gd name="T7" fmla="*/ 114 h 228"/>
                <a:gd name="T8" fmla="*/ 114 w 228"/>
                <a:gd name="T9" fmla="*/ 228 h 228"/>
                <a:gd name="T10" fmla="*/ 114 w 228"/>
                <a:gd name="T11" fmla="*/ 12 h 228"/>
                <a:gd name="T12" fmla="*/ 12 w 228"/>
                <a:gd name="T13" fmla="*/ 114 h 228"/>
                <a:gd name="T14" fmla="*/ 114 w 228"/>
                <a:gd name="T15" fmla="*/ 216 h 228"/>
                <a:gd name="T16" fmla="*/ 216 w 228"/>
                <a:gd name="T17" fmla="*/ 114 h 228"/>
                <a:gd name="T18" fmla="*/ 114 w 228"/>
                <a:gd name="T19" fmla="*/ 12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8" h="228">
                  <a:moveTo>
                    <a:pt x="114" y="228"/>
                  </a:moveTo>
                  <a:cubicBezTo>
                    <a:pt x="51" y="228"/>
                    <a:pt x="0" y="177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77" y="0"/>
                    <a:pt x="228" y="51"/>
                    <a:pt x="228" y="114"/>
                  </a:cubicBezTo>
                  <a:cubicBezTo>
                    <a:pt x="228" y="177"/>
                    <a:pt x="177" y="228"/>
                    <a:pt x="114" y="228"/>
                  </a:cubicBezTo>
                  <a:close/>
                  <a:moveTo>
                    <a:pt x="114" y="12"/>
                  </a:moveTo>
                  <a:cubicBezTo>
                    <a:pt x="58" y="12"/>
                    <a:pt x="12" y="58"/>
                    <a:pt x="12" y="114"/>
                  </a:cubicBezTo>
                  <a:cubicBezTo>
                    <a:pt x="12" y="170"/>
                    <a:pt x="58" y="216"/>
                    <a:pt x="114" y="216"/>
                  </a:cubicBezTo>
                  <a:cubicBezTo>
                    <a:pt x="170" y="216"/>
                    <a:pt x="216" y="170"/>
                    <a:pt x="216" y="114"/>
                  </a:cubicBezTo>
                  <a:cubicBezTo>
                    <a:pt x="216" y="58"/>
                    <a:pt x="170" y="12"/>
                    <a:pt x="114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300">
                  <a:latin typeface="Trebuchet MS" panose="020B0603020202020204"/>
                </a:defRPr>
              </a:pPr>
              <a:r>
                <a:rPr lang="en-IN" sz="1733"/>
                <a:t> </a:t>
              </a:r>
            </a:p>
          </p:txBody>
        </p:sp>
        <p:sp>
          <p:nvSpPr>
            <p:cNvPr id="52" name="Freeform 45">
              <a:extLst>
                <a:ext uri="{FF2B5EF4-FFF2-40B4-BE49-F238E27FC236}">
                  <a16:creationId xmlns:a16="http://schemas.microsoft.com/office/drawing/2014/main" id="{F425E8F5-9D7F-821E-6899-9DB293B834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5475" y="4483101"/>
              <a:ext cx="190500" cy="188913"/>
            </a:xfrm>
            <a:custGeom>
              <a:avLst/>
              <a:gdLst>
                <a:gd name="T0" fmla="*/ 204 w 432"/>
                <a:gd name="T1" fmla="*/ 432 h 432"/>
                <a:gd name="T2" fmla="*/ 172 w 432"/>
                <a:gd name="T3" fmla="*/ 379 h 432"/>
                <a:gd name="T4" fmla="*/ 116 w 432"/>
                <a:gd name="T5" fmla="*/ 378 h 432"/>
                <a:gd name="T6" fmla="*/ 54 w 432"/>
                <a:gd name="T7" fmla="*/ 360 h 432"/>
                <a:gd name="T8" fmla="*/ 54 w 432"/>
                <a:gd name="T9" fmla="*/ 316 h 432"/>
                <a:gd name="T10" fmla="*/ 53 w 432"/>
                <a:gd name="T11" fmla="*/ 260 h 432"/>
                <a:gd name="T12" fmla="*/ 0 w 432"/>
                <a:gd name="T13" fmla="*/ 228 h 432"/>
                <a:gd name="T14" fmla="*/ 31 w 432"/>
                <a:gd name="T15" fmla="*/ 172 h 432"/>
                <a:gd name="T16" fmla="*/ 70 w 432"/>
                <a:gd name="T17" fmla="*/ 132 h 432"/>
                <a:gd name="T18" fmla="*/ 45 w 432"/>
                <a:gd name="T19" fmla="*/ 94 h 432"/>
                <a:gd name="T20" fmla="*/ 72 w 432"/>
                <a:gd name="T21" fmla="*/ 54 h 432"/>
                <a:gd name="T22" fmla="*/ 132 w 432"/>
                <a:gd name="T23" fmla="*/ 70 h 432"/>
                <a:gd name="T24" fmla="*/ 172 w 432"/>
                <a:gd name="T25" fmla="*/ 31 h 432"/>
                <a:gd name="T26" fmla="*/ 229 w 432"/>
                <a:gd name="T27" fmla="*/ 0 h 432"/>
                <a:gd name="T28" fmla="*/ 260 w 432"/>
                <a:gd name="T29" fmla="*/ 53 h 432"/>
                <a:gd name="T30" fmla="*/ 316 w 432"/>
                <a:gd name="T31" fmla="*/ 54 h 432"/>
                <a:gd name="T32" fmla="*/ 378 w 432"/>
                <a:gd name="T33" fmla="*/ 72 h 432"/>
                <a:gd name="T34" fmla="*/ 378 w 432"/>
                <a:gd name="T35" fmla="*/ 116 h 432"/>
                <a:gd name="T36" fmla="*/ 379 w 432"/>
                <a:gd name="T37" fmla="*/ 172 h 432"/>
                <a:gd name="T38" fmla="*/ 432 w 432"/>
                <a:gd name="T39" fmla="*/ 203 h 432"/>
                <a:gd name="T40" fmla="*/ 401 w 432"/>
                <a:gd name="T41" fmla="*/ 260 h 432"/>
                <a:gd name="T42" fmla="*/ 362 w 432"/>
                <a:gd name="T43" fmla="*/ 300 h 432"/>
                <a:gd name="T44" fmla="*/ 387 w 432"/>
                <a:gd name="T45" fmla="*/ 338 h 432"/>
                <a:gd name="T46" fmla="*/ 360 w 432"/>
                <a:gd name="T47" fmla="*/ 378 h 432"/>
                <a:gd name="T48" fmla="*/ 300 w 432"/>
                <a:gd name="T49" fmla="*/ 362 h 432"/>
                <a:gd name="T50" fmla="*/ 260 w 432"/>
                <a:gd name="T51" fmla="*/ 401 h 432"/>
                <a:gd name="T52" fmla="*/ 131 w 432"/>
                <a:gd name="T53" fmla="*/ 348 h 432"/>
                <a:gd name="T54" fmla="*/ 180 w 432"/>
                <a:gd name="T55" fmla="*/ 368 h 432"/>
                <a:gd name="T56" fmla="*/ 185 w 432"/>
                <a:gd name="T57" fmla="*/ 401 h 432"/>
                <a:gd name="T58" fmla="*/ 229 w 432"/>
                <a:gd name="T59" fmla="*/ 420 h 432"/>
                <a:gd name="T60" fmla="*/ 248 w 432"/>
                <a:gd name="T61" fmla="*/ 374 h 432"/>
                <a:gd name="T62" fmla="*/ 298 w 432"/>
                <a:gd name="T63" fmla="*/ 349 h 432"/>
                <a:gd name="T64" fmla="*/ 325 w 432"/>
                <a:gd name="T65" fmla="*/ 369 h 432"/>
                <a:gd name="T66" fmla="*/ 369 w 432"/>
                <a:gd name="T67" fmla="*/ 351 h 432"/>
                <a:gd name="T68" fmla="*/ 351 w 432"/>
                <a:gd name="T69" fmla="*/ 306 h 432"/>
                <a:gd name="T70" fmla="*/ 349 w 432"/>
                <a:gd name="T71" fmla="*/ 298 h 432"/>
                <a:gd name="T72" fmla="*/ 374 w 432"/>
                <a:gd name="T73" fmla="*/ 247 h 432"/>
                <a:gd name="T74" fmla="*/ 420 w 432"/>
                <a:gd name="T75" fmla="*/ 228 h 432"/>
                <a:gd name="T76" fmla="*/ 401 w 432"/>
                <a:gd name="T77" fmla="*/ 184 h 432"/>
                <a:gd name="T78" fmla="*/ 368 w 432"/>
                <a:gd name="T79" fmla="*/ 180 h 432"/>
                <a:gd name="T80" fmla="*/ 350 w 432"/>
                <a:gd name="T81" fmla="*/ 126 h 432"/>
                <a:gd name="T82" fmla="*/ 369 w 432"/>
                <a:gd name="T83" fmla="*/ 80 h 432"/>
                <a:gd name="T84" fmla="*/ 325 w 432"/>
                <a:gd name="T85" fmla="*/ 63 h 432"/>
                <a:gd name="T86" fmla="*/ 298 w 432"/>
                <a:gd name="T87" fmla="*/ 83 h 432"/>
                <a:gd name="T88" fmla="*/ 248 w 432"/>
                <a:gd name="T89" fmla="*/ 58 h 432"/>
                <a:gd name="T90" fmla="*/ 229 w 432"/>
                <a:gd name="T91" fmla="*/ 12 h 432"/>
                <a:gd name="T92" fmla="*/ 185 w 432"/>
                <a:gd name="T93" fmla="*/ 31 h 432"/>
                <a:gd name="T94" fmla="*/ 180 w 432"/>
                <a:gd name="T95" fmla="*/ 64 h 432"/>
                <a:gd name="T96" fmla="*/ 127 w 432"/>
                <a:gd name="T97" fmla="*/ 82 h 432"/>
                <a:gd name="T98" fmla="*/ 81 w 432"/>
                <a:gd name="T99" fmla="*/ 63 h 432"/>
                <a:gd name="T100" fmla="*/ 57 w 432"/>
                <a:gd name="T101" fmla="*/ 94 h 432"/>
                <a:gd name="T102" fmla="*/ 82 w 432"/>
                <a:gd name="T103" fmla="*/ 126 h 432"/>
                <a:gd name="T104" fmla="*/ 64 w 432"/>
                <a:gd name="T105" fmla="*/ 180 h 432"/>
                <a:gd name="T106" fmla="*/ 31 w 432"/>
                <a:gd name="T107" fmla="*/ 184 h 432"/>
                <a:gd name="T108" fmla="*/ 12 w 432"/>
                <a:gd name="T109" fmla="*/ 228 h 432"/>
                <a:gd name="T110" fmla="*/ 58 w 432"/>
                <a:gd name="T111" fmla="*/ 247 h 432"/>
                <a:gd name="T112" fmla="*/ 83 w 432"/>
                <a:gd name="T113" fmla="*/ 298 h 432"/>
                <a:gd name="T114" fmla="*/ 82 w 432"/>
                <a:gd name="T115" fmla="*/ 306 h 432"/>
                <a:gd name="T116" fmla="*/ 57 w 432"/>
                <a:gd name="T117" fmla="*/ 338 h 432"/>
                <a:gd name="T118" fmla="*/ 81 w 432"/>
                <a:gd name="T119" fmla="*/ 369 h 432"/>
                <a:gd name="T120" fmla="*/ 126 w 432"/>
                <a:gd name="T121" fmla="*/ 350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32" h="432">
                  <a:moveTo>
                    <a:pt x="229" y="432"/>
                  </a:moveTo>
                  <a:cubicBezTo>
                    <a:pt x="204" y="432"/>
                    <a:pt x="204" y="432"/>
                    <a:pt x="204" y="432"/>
                  </a:cubicBezTo>
                  <a:cubicBezTo>
                    <a:pt x="186" y="432"/>
                    <a:pt x="172" y="418"/>
                    <a:pt x="172" y="401"/>
                  </a:cubicBezTo>
                  <a:cubicBezTo>
                    <a:pt x="172" y="379"/>
                    <a:pt x="172" y="379"/>
                    <a:pt x="172" y="379"/>
                  </a:cubicBezTo>
                  <a:cubicBezTo>
                    <a:pt x="158" y="375"/>
                    <a:pt x="145" y="369"/>
                    <a:pt x="132" y="362"/>
                  </a:cubicBezTo>
                  <a:cubicBezTo>
                    <a:pt x="116" y="378"/>
                    <a:pt x="116" y="378"/>
                    <a:pt x="116" y="378"/>
                  </a:cubicBezTo>
                  <a:cubicBezTo>
                    <a:pt x="104" y="390"/>
                    <a:pt x="84" y="390"/>
                    <a:pt x="72" y="378"/>
                  </a:cubicBezTo>
                  <a:cubicBezTo>
                    <a:pt x="54" y="360"/>
                    <a:pt x="54" y="360"/>
                    <a:pt x="54" y="360"/>
                  </a:cubicBezTo>
                  <a:cubicBezTo>
                    <a:pt x="48" y="354"/>
                    <a:pt x="45" y="346"/>
                    <a:pt x="45" y="338"/>
                  </a:cubicBezTo>
                  <a:cubicBezTo>
                    <a:pt x="45" y="329"/>
                    <a:pt x="48" y="322"/>
                    <a:pt x="54" y="316"/>
                  </a:cubicBezTo>
                  <a:cubicBezTo>
                    <a:pt x="70" y="300"/>
                    <a:pt x="70" y="300"/>
                    <a:pt x="70" y="300"/>
                  </a:cubicBezTo>
                  <a:cubicBezTo>
                    <a:pt x="63" y="287"/>
                    <a:pt x="57" y="274"/>
                    <a:pt x="53" y="260"/>
                  </a:cubicBezTo>
                  <a:cubicBezTo>
                    <a:pt x="31" y="260"/>
                    <a:pt x="31" y="260"/>
                    <a:pt x="31" y="260"/>
                  </a:cubicBezTo>
                  <a:cubicBezTo>
                    <a:pt x="14" y="260"/>
                    <a:pt x="0" y="246"/>
                    <a:pt x="0" y="228"/>
                  </a:cubicBezTo>
                  <a:cubicBezTo>
                    <a:pt x="0" y="203"/>
                    <a:pt x="0" y="203"/>
                    <a:pt x="0" y="203"/>
                  </a:cubicBezTo>
                  <a:cubicBezTo>
                    <a:pt x="0" y="186"/>
                    <a:pt x="14" y="172"/>
                    <a:pt x="31" y="172"/>
                  </a:cubicBezTo>
                  <a:cubicBezTo>
                    <a:pt x="53" y="172"/>
                    <a:pt x="53" y="172"/>
                    <a:pt x="53" y="172"/>
                  </a:cubicBezTo>
                  <a:cubicBezTo>
                    <a:pt x="57" y="158"/>
                    <a:pt x="63" y="144"/>
                    <a:pt x="70" y="132"/>
                  </a:cubicBezTo>
                  <a:cubicBezTo>
                    <a:pt x="54" y="116"/>
                    <a:pt x="54" y="116"/>
                    <a:pt x="54" y="116"/>
                  </a:cubicBezTo>
                  <a:cubicBezTo>
                    <a:pt x="48" y="110"/>
                    <a:pt x="45" y="102"/>
                    <a:pt x="45" y="94"/>
                  </a:cubicBezTo>
                  <a:cubicBezTo>
                    <a:pt x="45" y="85"/>
                    <a:pt x="48" y="78"/>
                    <a:pt x="54" y="72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84" y="42"/>
                    <a:pt x="104" y="42"/>
                    <a:pt x="116" y="54"/>
                  </a:cubicBezTo>
                  <a:cubicBezTo>
                    <a:pt x="132" y="70"/>
                    <a:pt x="132" y="70"/>
                    <a:pt x="132" y="70"/>
                  </a:cubicBezTo>
                  <a:cubicBezTo>
                    <a:pt x="145" y="62"/>
                    <a:pt x="158" y="57"/>
                    <a:pt x="172" y="53"/>
                  </a:cubicBezTo>
                  <a:cubicBezTo>
                    <a:pt x="172" y="31"/>
                    <a:pt x="172" y="31"/>
                    <a:pt x="172" y="31"/>
                  </a:cubicBezTo>
                  <a:cubicBezTo>
                    <a:pt x="172" y="14"/>
                    <a:pt x="186" y="0"/>
                    <a:pt x="204" y="0"/>
                  </a:cubicBezTo>
                  <a:cubicBezTo>
                    <a:pt x="229" y="0"/>
                    <a:pt x="229" y="0"/>
                    <a:pt x="229" y="0"/>
                  </a:cubicBezTo>
                  <a:cubicBezTo>
                    <a:pt x="246" y="0"/>
                    <a:pt x="260" y="14"/>
                    <a:pt x="260" y="31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74" y="57"/>
                    <a:pt x="288" y="62"/>
                    <a:pt x="300" y="70"/>
                  </a:cubicBezTo>
                  <a:cubicBezTo>
                    <a:pt x="316" y="54"/>
                    <a:pt x="316" y="54"/>
                    <a:pt x="316" y="54"/>
                  </a:cubicBezTo>
                  <a:cubicBezTo>
                    <a:pt x="328" y="42"/>
                    <a:pt x="348" y="42"/>
                    <a:pt x="360" y="54"/>
                  </a:cubicBezTo>
                  <a:cubicBezTo>
                    <a:pt x="378" y="72"/>
                    <a:pt x="378" y="72"/>
                    <a:pt x="378" y="72"/>
                  </a:cubicBezTo>
                  <a:cubicBezTo>
                    <a:pt x="384" y="78"/>
                    <a:pt x="387" y="85"/>
                    <a:pt x="387" y="94"/>
                  </a:cubicBezTo>
                  <a:cubicBezTo>
                    <a:pt x="387" y="102"/>
                    <a:pt x="384" y="110"/>
                    <a:pt x="378" y="116"/>
                  </a:cubicBezTo>
                  <a:cubicBezTo>
                    <a:pt x="362" y="132"/>
                    <a:pt x="362" y="132"/>
                    <a:pt x="362" y="132"/>
                  </a:cubicBezTo>
                  <a:cubicBezTo>
                    <a:pt x="370" y="144"/>
                    <a:pt x="375" y="158"/>
                    <a:pt x="379" y="172"/>
                  </a:cubicBezTo>
                  <a:cubicBezTo>
                    <a:pt x="401" y="172"/>
                    <a:pt x="401" y="172"/>
                    <a:pt x="401" y="172"/>
                  </a:cubicBezTo>
                  <a:cubicBezTo>
                    <a:pt x="418" y="172"/>
                    <a:pt x="432" y="186"/>
                    <a:pt x="432" y="203"/>
                  </a:cubicBezTo>
                  <a:cubicBezTo>
                    <a:pt x="432" y="228"/>
                    <a:pt x="432" y="228"/>
                    <a:pt x="432" y="228"/>
                  </a:cubicBezTo>
                  <a:cubicBezTo>
                    <a:pt x="432" y="246"/>
                    <a:pt x="418" y="260"/>
                    <a:pt x="401" y="260"/>
                  </a:cubicBezTo>
                  <a:cubicBezTo>
                    <a:pt x="379" y="260"/>
                    <a:pt x="379" y="260"/>
                    <a:pt x="379" y="260"/>
                  </a:cubicBezTo>
                  <a:cubicBezTo>
                    <a:pt x="375" y="274"/>
                    <a:pt x="370" y="287"/>
                    <a:pt x="362" y="300"/>
                  </a:cubicBezTo>
                  <a:cubicBezTo>
                    <a:pt x="378" y="316"/>
                    <a:pt x="378" y="316"/>
                    <a:pt x="378" y="316"/>
                  </a:cubicBezTo>
                  <a:cubicBezTo>
                    <a:pt x="384" y="322"/>
                    <a:pt x="387" y="329"/>
                    <a:pt x="387" y="338"/>
                  </a:cubicBezTo>
                  <a:cubicBezTo>
                    <a:pt x="387" y="346"/>
                    <a:pt x="384" y="354"/>
                    <a:pt x="378" y="360"/>
                  </a:cubicBezTo>
                  <a:cubicBezTo>
                    <a:pt x="360" y="378"/>
                    <a:pt x="360" y="378"/>
                    <a:pt x="360" y="378"/>
                  </a:cubicBezTo>
                  <a:cubicBezTo>
                    <a:pt x="348" y="390"/>
                    <a:pt x="328" y="390"/>
                    <a:pt x="316" y="378"/>
                  </a:cubicBezTo>
                  <a:cubicBezTo>
                    <a:pt x="300" y="362"/>
                    <a:pt x="300" y="362"/>
                    <a:pt x="300" y="362"/>
                  </a:cubicBezTo>
                  <a:cubicBezTo>
                    <a:pt x="288" y="369"/>
                    <a:pt x="274" y="375"/>
                    <a:pt x="260" y="379"/>
                  </a:cubicBezTo>
                  <a:cubicBezTo>
                    <a:pt x="260" y="401"/>
                    <a:pt x="260" y="401"/>
                    <a:pt x="260" y="401"/>
                  </a:cubicBezTo>
                  <a:cubicBezTo>
                    <a:pt x="260" y="418"/>
                    <a:pt x="246" y="432"/>
                    <a:pt x="229" y="432"/>
                  </a:cubicBezTo>
                  <a:close/>
                  <a:moveTo>
                    <a:pt x="131" y="348"/>
                  </a:moveTo>
                  <a:cubicBezTo>
                    <a:pt x="132" y="348"/>
                    <a:pt x="133" y="349"/>
                    <a:pt x="134" y="349"/>
                  </a:cubicBezTo>
                  <a:cubicBezTo>
                    <a:pt x="148" y="358"/>
                    <a:pt x="164" y="364"/>
                    <a:pt x="180" y="368"/>
                  </a:cubicBezTo>
                  <a:cubicBezTo>
                    <a:pt x="183" y="369"/>
                    <a:pt x="185" y="371"/>
                    <a:pt x="185" y="374"/>
                  </a:cubicBezTo>
                  <a:cubicBezTo>
                    <a:pt x="185" y="401"/>
                    <a:pt x="185" y="401"/>
                    <a:pt x="185" y="401"/>
                  </a:cubicBezTo>
                  <a:cubicBezTo>
                    <a:pt x="185" y="411"/>
                    <a:pt x="193" y="420"/>
                    <a:pt x="204" y="420"/>
                  </a:cubicBezTo>
                  <a:cubicBezTo>
                    <a:pt x="229" y="420"/>
                    <a:pt x="229" y="420"/>
                    <a:pt x="229" y="420"/>
                  </a:cubicBezTo>
                  <a:cubicBezTo>
                    <a:pt x="239" y="420"/>
                    <a:pt x="248" y="411"/>
                    <a:pt x="248" y="401"/>
                  </a:cubicBezTo>
                  <a:cubicBezTo>
                    <a:pt x="248" y="374"/>
                    <a:pt x="248" y="374"/>
                    <a:pt x="248" y="374"/>
                  </a:cubicBezTo>
                  <a:cubicBezTo>
                    <a:pt x="248" y="371"/>
                    <a:pt x="250" y="369"/>
                    <a:pt x="252" y="368"/>
                  </a:cubicBezTo>
                  <a:cubicBezTo>
                    <a:pt x="269" y="364"/>
                    <a:pt x="284" y="358"/>
                    <a:pt x="298" y="349"/>
                  </a:cubicBezTo>
                  <a:cubicBezTo>
                    <a:pt x="301" y="348"/>
                    <a:pt x="304" y="348"/>
                    <a:pt x="306" y="350"/>
                  </a:cubicBezTo>
                  <a:cubicBezTo>
                    <a:pt x="325" y="369"/>
                    <a:pt x="325" y="369"/>
                    <a:pt x="325" y="369"/>
                  </a:cubicBezTo>
                  <a:cubicBezTo>
                    <a:pt x="332" y="376"/>
                    <a:pt x="344" y="376"/>
                    <a:pt x="352" y="369"/>
                  </a:cubicBezTo>
                  <a:cubicBezTo>
                    <a:pt x="369" y="351"/>
                    <a:pt x="369" y="351"/>
                    <a:pt x="369" y="351"/>
                  </a:cubicBezTo>
                  <a:cubicBezTo>
                    <a:pt x="377" y="344"/>
                    <a:pt x="377" y="332"/>
                    <a:pt x="369" y="324"/>
                  </a:cubicBezTo>
                  <a:cubicBezTo>
                    <a:pt x="351" y="306"/>
                    <a:pt x="351" y="306"/>
                    <a:pt x="351" y="306"/>
                  </a:cubicBezTo>
                  <a:cubicBezTo>
                    <a:pt x="349" y="304"/>
                    <a:pt x="348" y="302"/>
                    <a:pt x="349" y="299"/>
                  </a:cubicBezTo>
                  <a:cubicBezTo>
                    <a:pt x="349" y="299"/>
                    <a:pt x="349" y="298"/>
                    <a:pt x="349" y="298"/>
                  </a:cubicBezTo>
                  <a:cubicBezTo>
                    <a:pt x="358" y="284"/>
                    <a:pt x="364" y="268"/>
                    <a:pt x="368" y="252"/>
                  </a:cubicBezTo>
                  <a:cubicBezTo>
                    <a:pt x="369" y="249"/>
                    <a:pt x="371" y="247"/>
                    <a:pt x="374" y="247"/>
                  </a:cubicBezTo>
                  <a:cubicBezTo>
                    <a:pt x="401" y="247"/>
                    <a:pt x="401" y="247"/>
                    <a:pt x="401" y="247"/>
                  </a:cubicBezTo>
                  <a:cubicBezTo>
                    <a:pt x="412" y="247"/>
                    <a:pt x="420" y="239"/>
                    <a:pt x="420" y="228"/>
                  </a:cubicBezTo>
                  <a:cubicBezTo>
                    <a:pt x="420" y="203"/>
                    <a:pt x="420" y="203"/>
                    <a:pt x="420" y="203"/>
                  </a:cubicBezTo>
                  <a:cubicBezTo>
                    <a:pt x="420" y="193"/>
                    <a:pt x="412" y="184"/>
                    <a:pt x="401" y="184"/>
                  </a:cubicBezTo>
                  <a:cubicBezTo>
                    <a:pt x="374" y="184"/>
                    <a:pt x="374" y="184"/>
                    <a:pt x="374" y="184"/>
                  </a:cubicBezTo>
                  <a:cubicBezTo>
                    <a:pt x="371" y="184"/>
                    <a:pt x="369" y="182"/>
                    <a:pt x="368" y="180"/>
                  </a:cubicBezTo>
                  <a:cubicBezTo>
                    <a:pt x="364" y="163"/>
                    <a:pt x="358" y="148"/>
                    <a:pt x="349" y="134"/>
                  </a:cubicBezTo>
                  <a:cubicBezTo>
                    <a:pt x="348" y="131"/>
                    <a:pt x="348" y="128"/>
                    <a:pt x="350" y="126"/>
                  </a:cubicBezTo>
                  <a:cubicBezTo>
                    <a:pt x="369" y="107"/>
                    <a:pt x="369" y="107"/>
                    <a:pt x="369" y="107"/>
                  </a:cubicBezTo>
                  <a:cubicBezTo>
                    <a:pt x="377" y="100"/>
                    <a:pt x="377" y="88"/>
                    <a:pt x="369" y="80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44" y="55"/>
                    <a:pt x="332" y="55"/>
                    <a:pt x="325" y="63"/>
                  </a:cubicBezTo>
                  <a:cubicBezTo>
                    <a:pt x="306" y="82"/>
                    <a:pt x="306" y="82"/>
                    <a:pt x="306" y="82"/>
                  </a:cubicBezTo>
                  <a:cubicBezTo>
                    <a:pt x="304" y="84"/>
                    <a:pt x="300" y="84"/>
                    <a:pt x="298" y="83"/>
                  </a:cubicBezTo>
                  <a:cubicBezTo>
                    <a:pt x="284" y="74"/>
                    <a:pt x="269" y="68"/>
                    <a:pt x="252" y="64"/>
                  </a:cubicBezTo>
                  <a:cubicBezTo>
                    <a:pt x="250" y="63"/>
                    <a:pt x="248" y="61"/>
                    <a:pt x="248" y="58"/>
                  </a:cubicBezTo>
                  <a:cubicBezTo>
                    <a:pt x="248" y="31"/>
                    <a:pt x="248" y="31"/>
                    <a:pt x="248" y="31"/>
                  </a:cubicBezTo>
                  <a:cubicBezTo>
                    <a:pt x="248" y="20"/>
                    <a:pt x="239" y="12"/>
                    <a:pt x="229" y="12"/>
                  </a:cubicBezTo>
                  <a:cubicBezTo>
                    <a:pt x="204" y="12"/>
                    <a:pt x="204" y="12"/>
                    <a:pt x="204" y="12"/>
                  </a:cubicBezTo>
                  <a:cubicBezTo>
                    <a:pt x="193" y="12"/>
                    <a:pt x="185" y="20"/>
                    <a:pt x="185" y="31"/>
                  </a:cubicBezTo>
                  <a:cubicBezTo>
                    <a:pt x="185" y="58"/>
                    <a:pt x="185" y="58"/>
                    <a:pt x="185" y="58"/>
                  </a:cubicBezTo>
                  <a:cubicBezTo>
                    <a:pt x="185" y="61"/>
                    <a:pt x="183" y="63"/>
                    <a:pt x="180" y="64"/>
                  </a:cubicBezTo>
                  <a:cubicBezTo>
                    <a:pt x="164" y="68"/>
                    <a:pt x="148" y="74"/>
                    <a:pt x="134" y="83"/>
                  </a:cubicBezTo>
                  <a:cubicBezTo>
                    <a:pt x="132" y="84"/>
                    <a:pt x="129" y="84"/>
                    <a:pt x="127" y="82"/>
                  </a:cubicBezTo>
                  <a:cubicBezTo>
                    <a:pt x="108" y="63"/>
                    <a:pt x="108" y="63"/>
                    <a:pt x="108" y="63"/>
                  </a:cubicBezTo>
                  <a:cubicBezTo>
                    <a:pt x="100" y="55"/>
                    <a:pt x="88" y="55"/>
                    <a:pt x="81" y="63"/>
                  </a:cubicBezTo>
                  <a:cubicBezTo>
                    <a:pt x="63" y="80"/>
                    <a:pt x="63" y="80"/>
                    <a:pt x="63" y="80"/>
                  </a:cubicBezTo>
                  <a:cubicBezTo>
                    <a:pt x="59" y="84"/>
                    <a:pt x="57" y="89"/>
                    <a:pt x="57" y="94"/>
                  </a:cubicBezTo>
                  <a:cubicBezTo>
                    <a:pt x="57" y="99"/>
                    <a:pt x="59" y="104"/>
                    <a:pt x="63" y="107"/>
                  </a:cubicBezTo>
                  <a:cubicBezTo>
                    <a:pt x="82" y="126"/>
                    <a:pt x="82" y="126"/>
                    <a:pt x="82" y="126"/>
                  </a:cubicBezTo>
                  <a:cubicBezTo>
                    <a:pt x="84" y="128"/>
                    <a:pt x="84" y="131"/>
                    <a:pt x="83" y="134"/>
                  </a:cubicBezTo>
                  <a:cubicBezTo>
                    <a:pt x="74" y="148"/>
                    <a:pt x="68" y="163"/>
                    <a:pt x="64" y="180"/>
                  </a:cubicBezTo>
                  <a:cubicBezTo>
                    <a:pt x="63" y="182"/>
                    <a:pt x="61" y="184"/>
                    <a:pt x="58" y="184"/>
                  </a:cubicBezTo>
                  <a:cubicBezTo>
                    <a:pt x="31" y="184"/>
                    <a:pt x="31" y="184"/>
                    <a:pt x="31" y="184"/>
                  </a:cubicBezTo>
                  <a:cubicBezTo>
                    <a:pt x="21" y="184"/>
                    <a:pt x="12" y="193"/>
                    <a:pt x="12" y="203"/>
                  </a:cubicBezTo>
                  <a:cubicBezTo>
                    <a:pt x="12" y="228"/>
                    <a:pt x="12" y="228"/>
                    <a:pt x="12" y="228"/>
                  </a:cubicBezTo>
                  <a:cubicBezTo>
                    <a:pt x="12" y="239"/>
                    <a:pt x="21" y="247"/>
                    <a:pt x="31" y="247"/>
                  </a:cubicBezTo>
                  <a:cubicBezTo>
                    <a:pt x="58" y="247"/>
                    <a:pt x="58" y="247"/>
                    <a:pt x="58" y="247"/>
                  </a:cubicBezTo>
                  <a:cubicBezTo>
                    <a:pt x="61" y="247"/>
                    <a:pt x="63" y="249"/>
                    <a:pt x="64" y="252"/>
                  </a:cubicBezTo>
                  <a:cubicBezTo>
                    <a:pt x="68" y="268"/>
                    <a:pt x="74" y="284"/>
                    <a:pt x="83" y="298"/>
                  </a:cubicBezTo>
                  <a:cubicBezTo>
                    <a:pt x="83" y="298"/>
                    <a:pt x="83" y="299"/>
                    <a:pt x="83" y="299"/>
                  </a:cubicBezTo>
                  <a:cubicBezTo>
                    <a:pt x="84" y="302"/>
                    <a:pt x="83" y="304"/>
                    <a:pt x="82" y="306"/>
                  </a:cubicBezTo>
                  <a:cubicBezTo>
                    <a:pt x="63" y="324"/>
                    <a:pt x="63" y="324"/>
                    <a:pt x="63" y="324"/>
                  </a:cubicBezTo>
                  <a:cubicBezTo>
                    <a:pt x="59" y="328"/>
                    <a:pt x="57" y="333"/>
                    <a:pt x="57" y="338"/>
                  </a:cubicBezTo>
                  <a:cubicBezTo>
                    <a:pt x="57" y="343"/>
                    <a:pt x="59" y="348"/>
                    <a:pt x="63" y="351"/>
                  </a:cubicBezTo>
                  <a:cubicBezTo>
                    <a:pt x="81" y="369"/>
                    <a:pt x="81" y="369"/>
                    <a:pt x="81" y="369"/>
                  </a:cubicBezTo>
                  <a:cubicBezTo>
                    <a:pt x="88" y="376"/>
                    <a:pt x="100" y="376"/>
                    <a:pt x="108" y="369"/>
                  </a:cubicBezTo>
                  <a:cubicBezTo>
                    <a:pt x="126" y="350"/>
                    <a:pt x="126" y="350"/>
                    <a:pt x="126" y="350"/>
                  </a:cubicBezTo>
                  <a:cubicBezTo>
                    <a:pt x="127" y="349"/>
                    <a:pt x="129" y="348"/>
                    <a:pt x="131" y="34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300">
                  <a:latin typeface="Trebuchet MS" panose="020B0603020202020204"/>
                </a:defRPr>
              </a:pPr>
              <a:r>
                <a:rPr lang="en-IN" sz="1733"/>
                <a:t> </a:t>
              </a:r>
            </a:p>
          </p:txBody>
        </p:sp>
      </p:grpSp>
      <p:grpSp>
        <p:nvGrpSpPr>
          <p:cNvPr id="53" name="ZenIcon4">
            <a:extLst>
              <a:ext uri="{FF2B5EF4-FFF2-40B4-BE49-F238E27FC236}">
                <a16:creationId xmlns:a16="http://schemas.microsoft.com/office/drawing/2014/main" id="{D1A3812B-D123-4B72-7186-F904A2573108}"/>
              </a:ext>
            </a:extLst>
          </p:cNvPr>
          <p:cNvGrpSpPr>
            <a:grpSpLocks noChangeAspect="1"/>
          </p:cNvGrpSpPr>
          <p:nvPr>
            <p:custDataLst>
              <p:tags r:id="rId28"/>
            </p:custDataLst>
          </p:nvPr>
        </p:nvGrpSpPr>
        <p:grpSpPr>
          <a:xfrm>
            <a:off x="7362125" y="2944008"/>
            <a:ext cx="468337" cy="464440"/>
            <a:chOff x="4605338" y="3459163"/>
            <a:chExt cx="190500" cy="190500"/>
          </a:xfrm>
          <a:solidFill>
            <a:schemeClr val="tx1"/>
          </a:solidFill>
        </p:grpSpPr>
        <p:sp>
          <p:nvSpPr>
            <p:cNvPr id="54" name="Freeform 156">
              <a:extLst>
                <a:ext uri="{FF2B5EF4-FFF2-40B4-BE49-F238E27FC236}">
                  <a16:creationId xmlns:a16="http://schemas.microsoft.com/office/drawing/2014/main" id="{BEB1F782-10C6-A78C-1C29-A67FF495DE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2963" y="3522663"/>
              <a:ext cx="95250" cy="71438"/>
            </a:xfrm>
            <a:custGeom>
              <a:avLst/>
              <a:gdLst>
                <a:gd name="T0" fmla="*/ 90 w 218"/>
                <a:gd name="T1" fmla="*/ 163 h 163"/>
                <a:gd name="T2" fmla="*/ 86 w 218"/>
                <a:gd name="T3" fmla="*/ 161 h 163"/>
                <a:gd name="T4" fmla="*/ 2 w 218"/>
                <a:gd name="T5" fmla="*/ 77 h 163"/>
                <a:gd name="T6" fmla="*/ 2 w 218"/>
                <a:gd name="T7" fmla="*/ 68 h 163"/>
                <a:gd name="T8" fmla="*/ 31 w 218"/>
                <a:gd name="T9" fmla="*/ 39 h 163"/>
                <a:gd name="T10" fmla="*/ 40 w 218"/>
                <a:gd name="T11" fmla="*/ 39 h 163"/>
                <a:gd name="T12" fmla="*/ 90 w 218"/>
                <a:gd name="T13" fmla="*/ 90 h 163"/>
                <a:gd name="T14" fmla="*/ 177 w 218"/>
                <a:gd name="T15" fmla="*/ 2 h 163"/>
                <a:gd name="T16" fmla="*/ 186 w 218"/>
                <a:gd name="T17" fmla="*/ 2 h 163"/>
                <a:gd name="T18" fmla="*/ 215 w 218"/>
                <a:gd name="T19" fmla="*/ 32 h 163"/>
                <a:gd name="T20" fmla="*/ 215 w 218"/>
                <a:gd name="T21" fmla="*/ 40 h 163"/>
                <a:gd name="T22" fmla="*/ 95 w 218"/>
                <a:gd name="T23" fmla="*/ 161 h 163"/>
                <a:gd name="T24" fmla="*/ 90 w 218"/>
                <a:gd name="T25" fmla="*/ 163 h 163"/>
                <a:gd name="T26" fmla="*/ 15 w 218"/>
                <a:gd name="T27" fmla="*/ 73 h 163"/>
                <a:gd name="T28" fmla="*/ 90 w 218"/>
                <a:gd name="T29" fmla="*/ 148 h 163"/>
                <a:gd name="T30" fmla="*/ 202 w 218"/>
                <a:gd name="T31" fmla="*/ 36 h 163"/>
                <a:gd name="T32" fmla="*/ 182 w 218"/>
                <a:gd name="T33" fmla="*/ 15 h 163"/>
                <a:gd name="T34" fmla="*/ 95 w 218"/>
                <a:gd name="T35" fmla="*/ 103 h 163"/>
                <a:gd name="T36" fmla="*/ 86 w 218"/>
                <a:gd name="T37" fmla="*/ 103 h 163"/>
                <a:gd name="T38" fmla="*/ 35 w 218"/>
                <a:gd name="T39" fmla="*/ 52 h 163"/>
                <a:gd name="T40" fmla="*/ 15 w 218"/>
                <a:gd name="T41" fmla="*/ 73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8" h="163">
                  <a:moveTo>
                    <a:pt x="90" y="163"/>
                  </a:moveTo>
                  <a:cubicBezTo>
                    <a:pt x="89" y="163"/>
                    <a:pt x="87" y="162"/>
                    <a:pt x="86" y="161"/>
                  </a:cubicBezTo>
                  <a:cubicBezTo>
                    <a:pt x="2" y="77"/>
                    <a:pt x="2" y="77"/>
                    <a:pt x="2" y="77"/>
                  </a:cubicBezTo>
                  <a:cubicBezTo>
                    <a:pt x="0" y="75"/>
                    <a:pt x="0" y="71"/>
                    <a:pt x="2" y="6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3" y="37"/>
                    <a:pt x="38" y="37"/>
                    <a:pt x="40" y="39"/>
                  </a:cubicBezTo>
                  <a:cubicBezTo>
                    <a:pt x="90" y="90"/>
                    <a:pt x="90" y="90"/>
                    <a:pt x="90" y="90"/>
                  </a:cubicBezTo>
                  <a:cubicBezTo>
                    <a:pt x="177" y="2"/>
                    <a:pt x="177" y="2"/>
                    <a:pt x="177" y="2"/>
                  </a:cubicBezTo>
                  <a:cubicBezTo>
                    <a:pt x="180" y="0"/>
                    <a:pt x="184" y="0"/>
                    <a:pt x="186" y="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8" y="34"/>
                    <a:pt x="218" y="38"/>
                    <a:pt x="215" y="40"/>
                  </a:cubicBezTo>
                  <a:cubicBezTo>
                    <a:pt x="95" y="161"/>
                    <a:pt x="95" y="161"/>
                    <a:pt x="95" y="161"/>
                  </a:cubicBezTo>
                  <a:cubicBezTo>
                    <a:pt x="93" y="162"/>
                    <a:pt x="92" y="163"/>
                    <a:pt x="90" y="163"/>
                  </a:cubicBezTo>
                  <a:close/>
                  <a:moveTo>
                    <a:pt x="15" y="73"/>
                  </a:moveTo>
                  <a:cubicBezTo>
                    <a:pt x="90" y="148"/>
                    <a:pt x="90" y="148"/>
                    <a:pt x="90" y="148"/>
                  </a:cubicBezTo>
                  <a:cubicBezTo>
                    <a:pt x="202" y="36"/>
                    <a:pt x="202" y="36"/>
                    <a:pt x="202" y="36"/>
                  </a:cubicBezTo>
                  <a:cubicBezTo>
                    <a:pt x="182" y="15"/>
                    <a:pt x="182" y="15"/>
                    <a:pt x="182" y="15"/>
                  </a:cubicBezTo>
                  <a:cubicBezTo>
                    <a:pt x="95" y="103"/>
                    <a:pt x="95" y="103"/>
                    <a:pt x="95" y="103"/>
                  </a:cubicBezTo>
                  <a:cubicBezTo>
                    <a:pt x="92" y="105"/>
                    <a:pt x="88" y="105"/>
                    <a:pt x="86" y="103"/>
                  </a:cubicBezTo>
                  <a:cubicBezTo>
                    <a:pt x="35" y="52"/>
                    <a:pt x="35" y="52"/>
                    <a:pt x="35" y="52"/>
                  </a:cubicBezTo>
                  <a:lnTo>
                    <a:pt x="15" y="7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300">
                  <a:latin typeface="Trebuchet MS" panose="020B0603020202020204"/>
                </a:defRPr>
              </a:pPr>
              <a:r>
                <a:rPr lang="en-IN" sz="1733"/>
                <a:t> </a:t>
              </a:r>
            </a:p>
          </p:txBody>
        </p:sp>
        <p:sp>
          <p:nvSpPr>
            <p:cNvPr id="55" name="Freeform 157">
              <a:extLst>
                <a:ext uri="{FF2B5EF4-FFF2-40B4-BE49-F238E27FC236}">
                  <a16:creationId xmlns:a16="http://schemas.microsoft.com/office/drawing/2014/main" id="{4E3CF6A9-B94F-DB81-B060-7A765EFA27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05338" y="3459163"/>
              <a:ext cx="190500" cy="190500"/>
            </a:xfrm>
            <a:custGeom>
              <a:avLst/>
              <a:gdLst>
                <a:gd name="T0" fmla="*/ 191 w 436"/>
                <a:gd name="T1" fmla="*/ 422 h 433"/>
                <a:gd name="T2" fmla="*/ 116 w 436"/>
                <a:gd name="T3" fmla="*/ 397 h 433"/>
                <a:gd name="T4" fmla="*/ 93 w 436"/>
                <a:gd name="T5" fmla="*/ 381 h 433"/>
                <a:gd name="T6" fmla="*/ 55 w 436"/>
                <a:gd name="T7" fmla="*/ 344 h 433"/>
                <a:gd name="T8" fmla="*/ 20 w 436"/>
                <a:gd name="T9" fmla="*/ 301 h 433"/>
                <a:gd name="T10" fmla="*/ 20 w 436"/>
                <a:gd name="T11" fmla="*/ 272 h 433"/>
                <a:gd name="T12" fmla="*/ 14 w 436"/>
                <a:gd name="T13" fmla="*/ 244 h 433"/>
                <a:gd name="T14" fmla="*/ 19 w 436"/>
                <a:gd name="T15" fmla="*/ 165 h 433"/>
                <a:gd name="T16" fmla="*/ 40 w 436"/>
                <a:gd name="T17" fmla="*/ 116 h 433"/>
                <a:gd name="T18" fmla="*/ 55 w 436"/>
                <a:gd name="T19" fmla="*/ 93 h 433"/>
                <a:gd name="T20" fmla="*/ 115 w 436"/>
                <a:gd name="T21" fmla="*/ 40 h 433"/>
                <a:gd name="T22" fmla="*/ 164 w 436"/>
                <a:gd name="T23" fmla="*/ 21 h 433"/>
                <a:gd name="T24" fmla="*/ 191 w 436"/>
                <a:gd name="T25" fmla="*/ 15 h 433"/>
                <a:gd name="T26" fmla="*/ 271 w 436"/>
                <a:gd name="T27" fmla="*/ 20 h 433"/>
                <a:gd name="T28" fmla="*/ 319 w 436"/>
                <a:gd name="T29" fmla="*/ 41 h 433"/>
                <a:gd name="T30" fmla="*/ 343 w 436"/>
                <a:gd name="T31" fmla="*/ 56 h 433"/>
                <a:gd name="T32" fmla="*/ 395 w 436"/>
                <a:gd name="T33" fmla="*/ 116 h 433"/>
                <a:gd name="T34" fmla="*/ 415 w 436"/>
                <a:gd name="T35" fmla="*/ 164 h 433"/>
                <a:gd name="T36" fmla="*/ 420 w 436"/>
                <a:gd name="T37" fmla="*/ 191 h 433"/>
                <a:gd name="T38" fmla="*/ 421 w 436"/>
                <a:gd name="T39" fmla="*/ 244 h 433"/>
                <a:gd name="T40" fmla="*/ 416 w 436"/>
                <a:gd name="T41" fmla="*/ 271 h 433"/>
                <a:gd name="T42" fmla="*/ 395 w 436"/>
                <a:gd name="T43" fmla="*/ 320 h 433"/>
                <a:gd name="T44" fmla="*/ 380 w 436"/>
                <a:gd name="T45" fmla="*/ 344 h 433"/>
                <a:gd name="T46" fmla="*/ 320 w 436"/>
                <a:gd name="T47" fmla="*/ 396 h 433"/>
                <a:gd name="T48" fmla="*/ 272 w 436"/>
                <a:gd name="T49" fmla="*/ 416 h 433"/>
                <a:gd name="T50" fmla="*/ 244 w 436"/>
                <a:gd name="T51" fmla="*/ 421 h 433"/>
                <a:gd name="T52" fmla="*/ 218 w 436"/>
                <a:gd name="T53" fmla="*/ 433 h 433"/>
                <a:gd name="T54" fmla="*/ 200 w 436"/>
                <a:gd name="T55" fmla="*/ 413 h 433"/>
                <a:gd name="T56" fmla="*/ 236 w 436"/>
                <a:gd name="T57" fmla="*/ 412 h 433"/>
                <a:gd name="T58" fmla="*/ 277 w 436"/>
                <a:gd name="T59" fmla="*/ 405 h 433"/>
                <a:gd name="T60" fmla="*/ 309 w 436"/>
                <a:gd name="T61" fmla="*/ 391 h 433"/>
                <a:gd name="T62" fmla="*/ 368 w 436"/>
                <a:gd name="T63" fmla="*/ 344 h 433"/>
                <a:gd name="T64" fmla="*/ 390 w 436"/>
                <a:gd name="T65" fmla="*/ 309 h 433"/>
                <a:gd name="T66" fmla="*/ 404 w 436"/>
                <a:gd name="T67" fmla="*/ 276 h 433"/>
                <a:gd name="T68" fmla="*/ 412 w 436"/>
                <a:gd name="T69" fmla="*/ 201 h 433"/>
                <a:gd name="T70" fmla="*/ 404 w 436"/>
                <a:gd name="T71" fmla="*/ 160 h 433"/>
                <a:gd name="T72" fmla="*/ 404 w 436"/>
                <a:gd name="T73" fmla="*/ 140 h 433"/>
                <a:gd name="T74" fmla="*/ 368 w 436"/>
                <a:gd name="T75" fmla="*/ 93 h 433"/>
                <a:gd name="T76" fmla="*/ 342 w 436"/>
                <a:gd name="T77" fmla="*/ 68 h 433"/>
                <a:gd name="T78" fmla="*/ 308 w 436"/>
                <a:gd name="T79" fmla="*/ 45 h 433"/>
                <a:gd name="T80" fmla="*/ 235 w 436"/>
                <a:gd name="T81" fmla="*/ 23 h 433"/>
                <a:gd name="T82" fmla="*/ 199 w 436"/>
                <a:gd name="T83" fmla="*/ 24 h 433"/>
                <a:gd name="T84" fmla="*/ 159 w 436"/>
                <a:gd name="T85" fmla="*/ 32 h 433"/>
                <a:gd name="T86" fmla="*/ 92 w 436"/>
                <a:gd name="T87" fmla="*/ 68 h 433"/>
                <a:gd name="T88" fmla="*/ 67 w 436"/>
                <a:gd name="T89" fmla="*/ 94 h 433"/>
                <a:gd name="T90" fmla="*/ 44 w 436"/>
                <a:gd name="T91" fmla="*/ 128 h 433"/>
                <a:gd name="T92" fmla="*/ 23 w 436"/>
                <a:gd name="T93" fmla="*/ 201 h 433"/>
                <a:gd name="T94" fmla="*/ 23 w 436"/>
                <a:gd name="T95" fmla="*/ 236 h 433"/>
                <a:gd name="T96" fmla="*/ 31 w 436"/>
                <a:gd name="T97" fmla="*/ 277 h 433"/>
                <a:gd name="T98" fmla="*/ 44 w 436"/>
                <a:gd name="T99" fmla="*/ 309 h 433"/>
                <a:gd name="T100" fmla="*/ 92 w 436"/>
                <a:gd name="T101" fmla="*/ 368 h 433"/>
                <a:gd name="T102" fmla="*/ 127 w 436"/>
                <a:gd name="T103" fmla="*/ 391 h 433"/>
                <a:gd name="T104" fmla="*/ 160 w 436"/>
                <a:gd name="T105" fmla="*/ 405 h 433"/>
                <a:gd name="T106" fmla="*/ 417 w 436"/>
                <a:gd name="T107" fmla="*/ 240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36" h="432">
                  <a:moveTo>
                    <a:pt x="218" y="433"/>
                  </a:moveTo>
                  <a:cubicBezTo>
                    <a:pt x="208" y="433"/>
                    <a:pt x="199" y="429"/>
                    <a:pt x="191" y="422"/>
                  </a:cubicBezTo>
                  <a:cubicBezTo>
                    <a:pt x="184" y="415"/>
                    <a:pt x="174" y="413"/>
                    <a:pt x="164" y="416"/>
                  </a:cubicBezTo>
                  <a:cubicBezTo>
                    <a:pt x="146" y="424"/>
                    <a:pt x="124" y="415"/>
                    <a:pt x="116" y="397"/>
                  </a:cubicBezTo>
                  <a:cubicBezTo>
                    <a:pt x="116" y="396"/>
                    <a:pt x="116" y="396"/>
                    <a:pt x="116" y="396"/>
                  </a:cubicBezTo>
                  <a:cubicBezTo>
                    <a:pt x="112" y="387"/>
                    <a:pt x="103" y="381"/>
                    <a:pt x="93" y="381"/>
                  </a:cubicBezTo>
                  <a:cubicBezTo>
                    <a:pt x="92" y="381"/>
                    <a:pt x="92" y="381"/>
                    <a:pt x="92" y="381"/>
                  </a:cubicBezTo>
                  <a:cubicBezTo>
                    <a:pt x="72" y="381"/>
                    <a:pt x="55" y="364"/>
                    <a:pt x="55" y="344"/>
                  </a:cubicBezTo>
                  <a:cubicBezTo>
                    <a:pt x="55" y="334"/>
                    <a:pt x="49" y="325"/>
                    <a:pt x="40" y="321"/>
                  </a:cubicBezTo>
                  <a:cubicBezTo>
                    <a:pt x="31" y="317"/>
                    <a:pt x="24" y="310"/>
                    <a:pt x="20" y="301"/>
                  </a:cubicBezTo>
                  <a:cubicBezTo>
                    <a:pt x="16" y="292"/>
                    <a:pt x="16" y="282"/>
                    <a:pt x="20" y="273"/>
                  </a:cubicBezTo>
                  <a:cubicBezTo>
                    <a:pt x="20" y="272"/>
                    <a:pt x="20" y="272"/>
                    <a:pt x="20" y="272"/>
                  </a:cubicBezTo>
                  <a:cubicBezTo>
                    <a:pt x="24" y="263"/>
                    <a:pt x="22" y="252"/>
                    <a:pt x="15" y="245"/>
                  </a:cubicBezTo>
                  <a:cubicBezTo>
                    <a:pt x="14" y="244"/>
                    <a:pt x="14" y="244"/>
                    <a:pt x="14" y="244"/>
                  </a:cubicBezTo>
                  <a:cubicBezTo>
                    <a:pt x="0" y="230"/>
                    <a:pt x="0" y="206"/>
                    <a:pt x="14" y="192"/>
                  </a:cubicBezTo>
                  <a:cubicBezTo>
                    <a:pt x="21" y="185"/>
                    <a:pt x="23" y="174"/>
                    <a:pt x="19" y="165"/>
                  </a:cubicBezTo>
                  <a:cubicBezTo>
                    <a:pt x="11" y="146"/>
                    <a:pt x="20" y="125"/>
                    <a:pt x="39" y="117"/>
                  </a:cubicBezTo>
                  <a:cubicBezTo>
                    <a:pt x="40" y="116"/>
                    <a:pt x="40" y="116"/>
                    <a:pt x="40" y="116"/>
                  </a:cubicBezTo>
                  <a:cubicBezTo>
                    <a:pt x="49" y="113"/>
                    <a:pt x="55" y="104"/>
                    <a:pt x="55" y="94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5" y="72"/>
                    <a:pt x="72" y="56"/>
                    <a:pt x="92" y="56"/>
                  </a:cubicBezTo>
                  <a:cubicBezTo>
                    <a:pt x="102" y="56"/>
                    <a:pt x="111" y="50"/>
                    <a:pt x="115" y="40"/>
                  </a:cubicBezTo>
                  <a:cubicBezTo>
                    <a:pt x="123" y="22"/>
                    <a:pt x="144" y="13"/>
                    <a:pt x="163" y="20"/>
                  </a:cubicBezTo>
                  <a:cubicBezTo>
                    <a:pt x="164" y="21"/>
                    <a:pt x="164" y="21"/>
                    <a:pt x="164" y="21"/>
                  </a:cubicBezTo>
                  <a:cubicBezTo>
                    <a:pt x="173" y="24"/>
                    <a:pt x="184" y="22"/>
                    <a:pt x="191" y="15"/>
                  </a:cubicBezTo>
                  <a:cubicBezTo>
                    <a:pt x="191" y="15"/>
                    <a:pt x="191" y="15"/>
                    <a:pt x="191" y="15"/>
                  </a:cubicBezTo>
                  <a:cubicBezTo>
                    <a:pt x="206" y="0"/>
                    <a:pt x="229" y="0"/>
                    <a:pt x="244" y="15"/>
                  </a:cubicBezTo>
                  <a:cubicBezTo>
                    <a:pt x="251" y="22"/>
                    <a:pt x="261" y="24"/>
                    <a:pt x="271" y="20"/>
                  </a:cubicBezTo>
                  <a:cubicBezTo>
                    <a:pt x="289" y="12"/>
                    <a:pt x="311" y="21"/>
                    <a:pt x="319" y="40"/>
                  </a:cubicBezTo>
                  <a:cubicBezTo>
                    <a:pt x="319" y="41"/>
                    <a:pt x="319" y="41"/>
                    <a:pt x="319" y="41"/>
                  </a:cubicBezTo>
                  <a:cubicBezTo>
                    <a:pt x="323" y="50"/>
                    <a:pt x="332" y="56"/>
                    <a:pt x="342" y="56"/>
                  </a:cubicBezTo>
                  <a:cubicBezTo>
                    <a:pt x="343" y="56"/>
                    <a:pt x="343" y="56"/>
                    <a:pt x="343" y="56"/>
                  </a:cubicBezTo>
                  <a:cubicBezTo>
                    <a:pt x="363" y="56"/>
                    <a:pt x="380" y="72"/>
                    <a:pt x="380" y="93"/>
                  </a:cubicBezTo>
                  <a:cubicBezTo>
                    <a:pt x="380" y="103"/>
                    <a:pt x="386" y="112"/>
                    <a:pt x="395" y="116"/>
                  </a:cubicBezTo>
                  <a:cubicBezTo>
                    <a:pt x="404" y="119"/>
                    <a:pt x="412" y="126"/>
                    <a:pt x="415" y="136"/>
                  </a:cubicBezTo>
                  <a:cubicBezTo>
                    <a:pt x="419" y="145"/>
                    <a:pt x="419" y="155"/>
                    <a:pt x="415" y="164"/>
                  </a:cubicBezTo>
                  <a:cubicBezTo>
                    <a:pt x="415" y="165"/>
                    <a:pt x="415" y="165"/>
                    <a:pt x="415" y="165"/>
                  </a:cubicBezTo>
                  <a:cubicBezTo>
                    <a:pt x="411" y="174"/>
                    <a:pt x="413" y="184"/>
                    <a:pt x="420" y="191"/>
                  </a:cubicBezTo>
                  <a:cubicBezTo>
                    <a:pt x="421" y="192"/>
                    <a:pt x="421" y="192"/>
                    <a:pt x="421" y="192"/>
                  </a:cubicBezTo>
                  <a:cubicBezTo>
                    <a:pt x="436" y="206"/>
                    <a:pt x="436" y="230"/>
                    <a:pt x="421" y="244"/>
                  </a:cubicBezTo>
                  <a:cubicBezTo>
                    <a:pt x="421" y="244"/>
                    <a:pt x="421" y="244"/>
                    <a:pt x="421" y="244"/>
                  </a:cubicBezTo>
                  <a:cubicBezTo>
                    <a:pt x="414" y="251"/>
                    <a:pt x="412" y="262"/>
                    <a:pt x="416" y="271"/>
                  </a:cubicBezTo>
                  <a:cubicBezTo>
                    <a:pt x="424" y="290"/>
                    <a:pt x="415" y="312"/>
                    <a:pt x="396" y="320"/>
                  </a:cubicBezTo>
                  <a:cubicBezTo>
                    <a:pt x="395" y="320"/>
                    <a:pt x="395" y="320"/>
                    <a:pt x="395" y="320"/>
                  </a:cubicBezTo>
                  <a:cubicBezTo>
                    <a:pt x="386" y="324"/>
                    <a:pt x="380" y="333"/>
                    <a:pt x="380" y="343"/>
                  </a:cubicBezTo>
                  <a:cubicBezTo>
                    <a:pt x="380" y="344"/>
                    <a:pt x="380" y="344"/>
                    <a:pt x="380" y="344"/>
                  </a:cubicBezTo>
                  <a:cubicBezTo>
                    <a:pt x="380" y="364"/>
                    <a:pt x="363" y="381"/>
                    <a:pt x="343" y="381"/>
                  </a:cubicBezTo>
                  <a:cubicBezTo>
                    <a:pt x="333" y="381"/>
                    <a:pt x="324" y="387"/>
                    <a:pt x="320" y="396"/>
                  </a:cubicBezTo>
                  <a:cubicBezTo>
                    <a:pt x="316" y="405"/>
                    <a:pt x="309" y="412"/>
                    <a:pt x="300" y="416"/>
                  </a:cubicBezTo>
                  <a:cubicBezTo>
                    <a:pt x="291" y="420"/>
                    <a:pt x="281" y="420"/>
                    <a:pt x="272" y="416"/>
                  </a:cubicBezTo>
                  <a:cubicBezTo>
                    <a:pt x="271" y="416"/>
                    <a:pt x="271" y="416"/>
                    <a:pt x="271" y="416"/>
                  </a:cubicBezTo>
                  <a:cubicBezTo>
                    <a:pt x="262" y="412"/>
                    <a:pt x="251" y="414"/>
                    <a:pt x="244" y="421"/>
                  </a:cubicBezTo>
                  <a:cubicBezTo>
                    <a:pt x="244" y="422"/>
                    <a:pt x="244" y="422"/>
                    <a:pt x="244" y="422"/>
                  </a:cubicBezTo>
                  <a:cubicBezTo>
                    <a:pt x="236" y="429"/>
                    <a:pt x="227" y="433"/>
                    <a:pt x="218" y="433"/>
                  </a:cubicBezTo>
                  <a:close/>
                  <a:moveTo>
                    <a:pt x="174" y="402"/>
                  </a:moveTo>
                  <a:cubicBezTo>
                    <a:pt x="184" y="402"/>
                    <a:pt x="193" y="406"/>
                    <a:pt x="200" y="413"/>
                  </a:cubicBezTo>
                  <a:cubicBezTo>
                    <a:pt x="210" y="423"/>
                    <a:pt x="225" y="423"/>
                    <a:pt x="235" y="413"/>
                  </a:cubicBezTo>
                  <a:cubicBezTo>
                    <a:pt x="236" y="412"/>
                    <a:pt x="236" y="412"/>
                    <a:pt x="236" y="412"/>
                  </a:cubicBezTo>
                  <a:cubicBezTo>
                    <a:pt x="246" y="402"/>
                    <a:pt x="262" y="399"/>
                    <a:pt x="276" y="404"/>
                  </a:cubicBezTo>
                  <a:cubicBezTo>
                    <a:pt x="277" y="405"/>
                    <a:pt x="277" y="405"/>
                    <a:pt x="277" y="405"/>
                  </a:cubicBezTo>
                  <a:cubicBezTo>
                    <a:pt x="283" y="407"/>
                    <a:pt x="289" y="407"/>
                    <a:pt x="295" y="405"/>
                  </a:cubicBezTo>
                  <a:cubicBezTo>
                    <a:pt x="302" y="402"/>
                    <a:pt x="306" y="397"/>
                    <a:pt x="309" y="391"/>
                  </a:cubicBezTo>
                  <a:cubicBezTo>
                    <a:pt x="315" y="377"/>
                    <a:pt x="328" y="368"/>
                    <a:pt x="343" y="368"/>
                  </a:cubicBezTo>
                  <a:cubicBezTo>
                    <a:pt x="357" y="368"/>
                    <a:pt x="368" y="357"/>
                    <a:pt x="368" y="344"/>
                  </a:cubicBezTo>
                  <a:cubicBezTo>
                    <a:pt x="368" y="343"/>
                    <a:pt x="368" y="343"/>
                    <a:pt x="368" y="343"/>
                  </a:cubicBezTo>
                  <a:cubicBezTo>
                    <a:pt x="368" y="328"/>
                    <a:pt x="377" y="314"/>
                    <a:pt x="390" y="309"/>
                  </a:cubicBezTo>
                  <a:cubicBezTo>
                    <a:pt x="391" y="308"/>
                    <a:pt x="391" y="308"/>
                    <a:pt x="391" y="308"/>
                  </a:cubicBezTo>
                  <a:cubicBezTo>
                    <a:pt x="404" y="303"/>
                    <a:pt x="410" y="289"/>
                    <a:pt x="404" y="276"/>
                  </a:cubicBezTo>
                  <a:cubicBezTo>
                    <a:pt x="399" y="262"/>
                    <a:pt x="402" y="246"/>
                    <a:pt x="412" y="236"/>
                  </a:cubicBezTo>
                  <a:cubicBezTo>
                    <a:pt x="422" y="226"/>
                    <a:pt x="422" y="210"/>
                    <a:pt x="412" y="201"/>
                  </a:cubicBezTo>
                  <a:cubicBezTo>
                    <a:pt x="412" y="200"/>
                    <a:pt x="412" y="200"/>
                    <a:pt x="412" y="200"/>
                  </a:cubicBezTo>
                  <a:cubicBezTo>
                    <a:pt x="401" y="190"/>
                    <a:pt x="398" y="174"/>
                    <a:pt x="404" y="160"/>
                  </a:cubicBezTo>
                  <a:cubicBezTo>
                    <a:pt x="404" y="159"/>
                    <a:pt x="404" y="159"/>
                    <a:pt x="404" y="159"/>
                  </a:cubicBezTo>
                  <a:cubicBezTo>
                    <a:pt x="407" y="153"/>
                    <a:pt x="407" y="146"/>
                    <a:pt x="404" y="140"/>
                  </a:cubicBezTo>
                  <a:cubicBezTo>
                    <a:pt x="401" y="134"/>
                    <a:pt x="397" y="129"/>
                    <a:pt x="391" y="127"/>
                  </a:cubicBezTo>
                  <a:cubicBezTo>
                    <a:pt x="377" y="121"/>
                    <a:pt x="368" y="108"/>
                    <a:pt x="368" y="93"/>
                  </a:cubicBezTo>
                  <a:cubicBezTo>
                    <a:pt x="368" y="79"/>
                    <a:pt x="357" y="68"/>
                    <a:pt x="343" y="68"/>
                  </a:cubicBezTo>
                  <a:cubicBezTo>
                    <a:pt x="342" y="68"/>
                    <a:pt x="342" y="68"/>
                    <a:pt x="342" y="68"/>
                  </a:cubicBezTo>
                  <a:cubicBezTo>
                    <a:pt x="327" y="68"/>
                    <a:pt x="314" y="59"/>
                    <a:pt x="308" y="45"/>
                  </a:cubicBezTo>
                  <a:cubicBezTo>
                    <a:pt x="308" y="45"/>
                    <a:pt x="308" y="45"/>
                    <a:pt x="308" y="45"/>
                  </a:cubicBezTo>
                  <a:cubicBezTo>
                    <a:pt x="302" y="32"/>
                    <a:pt x="288" y="26"/>
                    <a:pt x="275" y="31"/>
                  </a:cubicBezTo>
                  <a:cubicBezTo>
                    <a:pt x="262" y="37"/>
                    <a:pt x="246" y="34"/>
                    <a:pt x="235" y="23"/>
                  </a:cubicBezTo>
                  <a:cubicBezTo>
                    <a:pt x="225" y="14"/>
                    <a:pt x="210" y="14"/>
                    <a:pt x="200" y="23"/>
                  </a:cubicBezTo>
                  <a:cubicBezTo>
                    <a:pt x="199" y="24"/>
                    <a:pt x="199" y="24"/>
                    <a:pt x="199" y="24"/>
                  </a:cubicBezTo>
                  <a:cubicBezTo>
                    <a:pt x="189" y="35"/>
                    <a:pt x="173" y="38"/>
                    <a:pt x="159" y="32"/>
                  </a:cubicBezTo>
                  <a:cubicBezTo>
                    <a:pt x="159" y="32"/>
                    <a:pt x="159" y="32"/>
                    <a:pt x="159" y="32"/>
                  </a:cubicBezTo>
                  <a:cubicBezTo>
                    <a:pt x="146" y="27"/>
                    <a:pt x="131" y="33"/>
                    <a:pt x="126" y="45"/>
                  </a:cubicBezTo>
                  <a:cubicBezTo>
                    <a:pt x="121" y="59"/>
                    <a:pt x="107" y="68"/>
                    <a:pt x="92" y="68"/>
                  </a:cubicBezTo>
                  <a:cubicBezTo>
                    <a:pt x="78" y="68"/>
                    <a:pt x="67" y="79"/>
                    <a:pt x="67" y="93"/>
                  </a:cubicBezTo>
                  <a:cubicBezTo>
                    <a:pt x="67" y="94"/>
                    <a:pt x="67" y="94"/>
                    <a:pt x="67" y="94"/>
                  </a:cubicBezTo>
                  <a:cubicBezTo>
                    <a:pt x="67" y="109"/>
                    <a:pt x="58" y="122"/>
                    <a:pt x="45" y="128"/>
                  </a:cubicBezTo>
                  <a:cubicBezTo>
                    <a:pt x="44" y="128"/>
                    <a:pt x="44" y="128"/>
                    <a:pt x="44" y="128"/>
                  </a:cubicBezTo>
                  <a:cubicBezTo>
                    <a:pt x="31" y="133"/>
                    <a:pt x="25" y="148"/>
                    <a:pt x="31" y="160"/>
                  </a:cubicBezTo>
                  <a:cubicBezTo>
                    <a:pt x="36" y="174"/>
                    <a:pt x="33" y="190"/>
                    <a:pt x="23" y="201"/>
                  </a:cubicBezTo>
                  <a:cubicBezTo>
                    <a:pt x="13" y="210"/>
                    <a:pt x="13" y="226"/>
                    <a:pt x="23" y="236"/>
                  </a:cubicBezTo>
                  <a:cubicBezTo>
                    <a:pt x="23" y="236"/>
                    <a:pt x="23" y="236"/>
                    <a:pt x="23" y="236"/>
                  </a:cubicBezTo>
                  <a:cubicBezTo>
                    <a:pt x="34" y="247"/>
                    <a:pt x="37" y="263"/>
                    <a:pt x="31" y="276"/>
                  </a:cubicBezTo>
                  <a:cubicBezTo>
                    <a:pt x="31" y="277"/>
                    <a:pt x="31" y="277"/>
                    <a:pt x="31" y="277"/>
                  </a:cubicBezTo>
                  <a:cubicBezTo>
                    <a:pt x="28" y="283"/>
                    <a:pt x="29" y="290"/>
                    <a:pt x="31" y="296"/>
                  </a:cubicBezTo>
                  <a:cubicBezTo>
                    <a:pt x="34" y="302"/>
                    <a:pt x="38" y="307"/>
                    <a:pt x="44" y="309"/>
                  </a:cubicBezTo>
                  <a:cubicBezTo>
                    <a:pt x="58" y="315"/>
                    <a:pt x="67" y="329"/>
                    <a:pt x="67" y="344"/>
                  </a:cubicBezTo>
                  <a:cubicBezTo>
                    <a:pt x="67" y="357"/>
                    <a:pt x="78" y="368"/>
                    <a:pt x="92" y="368"/>
                  </a:cubicBezTo>
                  <a:cubicBezTo>
                    <a:pt x="93" y="368"/>
                    <a:pt x="93" y="368"/>
                    <a:pt x="93" y="368"/>
                  </a:cubicBezTo>
                  <a:cubicBezTo>
                    <a:pt x="108" y="368"/>
                    <a:pt x="121" y="377"/>
                    <a:pt x="127" y="391"/>
                  </a:cubicBezTo>
                  <a:cubicBezTo>
                    <a:pt x="127" y="392"/>
                    <a:pt x="127" y="392"/>
                    <a:pt x="127" y="392"/>
                  </a:cubicBezTo>
                  <a:cubicBezTo>
                    <a:pt x="133" y="404"/>
                    <a:pt x="147" y="410"/>
                    <a:pt x="160" y="405"/>
                  </a:cubicBezTo>
                  <a:cubicBezTo>
                    <a:pt x="164" y="403"/>
                    <a:pt x="169" y="402"/>
                    <a:pt x="174" y="402"/>
                  </a:cubicBezTo>
                  <a:close/>
                  <a:moveTo>
                    <a:pt x="417" y="240"/>
                  </a:moveTo>
                  <a:cubicBezTo>
                    <a:pt x="417" y="240"/>
                    <a:pt x="417" y="240"/>
                    <a:pt x="417" y="24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300">
                  <a:latin typeface="Trebuchet MS" panose="020B0603020202020204"/>
                </a:defRPr>
              </a:pPr>
              <a:r>
                <a:rPr lang="en-IN" sz="1733"/>
                <a:t> </a:t>
              </a:r>
            </a:p>
          </p:txBody>
        </p:sp>
      </p:grpSp>
      <p:grpSp>
        <p:nvGrpSpPr>
          <p:cNvPr id="56" name="ZenIcon5">
            <a:extLst>
              <a:ext uri="{FF2B5EF4-FFF2-40B4-BE49-F238E27FC236}">
                <a16:creationId xmlns:a16="http://schemas.microsoft.com/office/drawing/2014/main" id="{826DD7B6-D8BF-7A55-1E95-520D3BEA9B86}"/>
              </a:ext>
            </a:extLst>
          </p:cNvPr>
          <p:cNvGrpSpPr>
            <a:grpSpLocks noChangeAspect="1"/>
          </p:cNvGrpSpPr>
          <p:nvPr>
            <p:custDataLst>
              <p:tags r:id="rId29"/>
            </p:custDataLst>
          </p:nvPr>
        </p:nvGrpSpPr>
        <p:grpSpPr>
          <a:xfrm>
            <a:off x="7942993" y="3992245"/>
            <a:ext cx="464939" cy="461068"/>
            <a:chOff x="6992938" y="4141788"/>
            <a:chExt cx="192088" cy="188913"/>
          </a:xfrm>
          <a:solidFill>
            <a:schemeClr val="tx1"/>
          </a:solidFill>
        </p:grpSpPr>
        <p:sp>
          <p:nvSpPr>
            <p:cNvPr id="57" name="Freeform 843">
              <a:extLst>
                <a:ext uri="{FF2B5EF4-FFF2-40B4-BE49-F238E27FC236}">
                  <a16:creationId xmlns:a16="http://schemas.microsoft.com/office/drawing/2014/main" id="{260EA1B6-2785-3928-94FE-CF748C00A7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72313" y="4141788"/>
              <a:ext cx="33338" cy="34925"/>
            </a:xfrm>
            <a:custGeom>
              <a:avLst/>
              <a:gdLst>
                <a:gd name="T0" fmla="*/ 39 w 78"/>
                <a:gd name="T1" fmla="*/ 79 h 79"/>
                <a:gd name="T2" fmla="*/ 0 w 78"/>
                <a:gd name="T3" fmla="*/ 40 h 79"/>
                <a:gd name="T4" fmla="*/ 39 w 78"/>
                <a:gd name="T5" fmla="*/ 0 h 79"/>
                <a:gd name="T6" fmla="*/ 78 w 78"/>
                <a:gd name="T7" fmla="*/ 40 h 79"/>
                <a:gd name="T8" fmla="*/ 39 w 78"/>
                <a:gd name="T9" fmla="*/ 79 h 79"/>
                <a:gd name="T10" fmla="*/ 39 w 78"/>
                <a:gd name="T11" fmla="*/ 13 h 79"/>
                <a:gd name="T12" fmla="*/ 12 w 78"/>
                <a:gd name="T13" fmla="*/ 40 h 79"/>
                <a:gd name="T14" fmla="*/ 39 w 78"/>
                <a:gd name="T15" fmla="*/ 66 h 79"/>
                <a:gd name="T16" fmla="*/ 66 w 78"/>
                <a:gd name="T17" fmla="*/ 40 h 79"/>
                <a:gd name="T18" fmla="*/ 39 w 78"/>
                <a:gd name="T19" fmla="*/ 13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8" h="79">
                  <a:moveTo>
                    <a:pt x="39" y="79"/>
                  </a:moveTo>
                  <a:cubicBezTo>
                    <a:pt x="17" y="79"/>
                    <a:pt x="0" y="61"/>
                    <a:pt x="0" y="40"/>
                  </a:cubicBezTo>
                  <a:cubicBezTo>
                    <a:pt x="0" y="18"/>
                    <a:pt x="17" y="0"/>
                    <a:pt x="39" y="0"/>
                  </a:cubicBezTo>
                  <a:cubicBezTo>
                    <a:pt x="60" y="0"/>
                    <a:pt x="78" y="18"/>
                    <a:pt x="78" y="40"/>
                  </a:cubicBezTo>
                  <a:cubicBezTo>
                    <a:pt x="78" y="61"/>
                    <a:pt x="60" y="79"/>
                    <a:pt x="39" y="79"/>
                  </a:cubicBezTo>
                  <a:close/>
                  <a:moveTo>
                    <a:pt x="39" y="13"/>
                  </a:moveTo>
                  <a:cubicBezTo>
                    <a:pt x="24" y="13"/>
                    <a:pt x="12" y="25"/>
                    <a:pt x="12" y="40"/>
                  </a:cubicBezTo>
                  <a:cubicBezTo>
                    <a:pt x="12" y="54"/>
                    <a:pt x="24" y="66"/>
                    <a:pt x="39" y="66"/>
                  </a:cubicBezTo>
                  <a:cubicBezTo>
                    <a:pt x="54" y="66"/>
                    <a:pt x="66" y="54"/>
                    <a:pt x="66" y="40"/>
                  </a:cubicBezTo>
                  <a:cubicBezTo>
                    <a:pt x="66" y="25"/>
                    <a:pt x="54" y="13"/>
                    <a:pt x="39" y="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300">
                  <a:latin typeface="Trebuchet MS" panose="020B0603020202020204"/>
                </a:defRPr>
              </a:pPr>
              <a:r>
                <a:rPr lang="en-IN" sz="1733"/>
                <a:t> </a:t>
              </a:r>
            </a:p>
          </p:txBody>
        </p:sp>
        <p:sp>
          <p:nvSpPr>
            <p:cNvPr id="58" name="Freeform 844">
              <a:extLst>
                <a:ext uri="{FF2B5EF4-FFF2-40B4-BE49-F238E27FC236}">
                  <a16:creationId xmlns:a16="http://schemas.microsoft.com/office/drawing/2014/main" id="{153CAF96-02CE-8829-E748-7004682E05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2938" y="4194176"/>
              <a:ext cx="61913" cy="136525"/>
            </a:xfrm>
            <a:custGeom>
              <a:avLst/>
              <a:gdLst>
                <a:gd name="T0" fmla="*/ 110 w 139"/>
                <a:gd name="T1" fmla="*/ 311 h 311"/>
                <a:gd name="T2" fmla="*/ 87 w 139"/>
                <a:gd name="T3" fmla="*/ 300 h 311"/>
                <a:gd name="T4" fmla="*/ 65 w 139"/>
                <a:gd name="T5" fmla="*/ 311 h 311"/>
                <a:gd name="T6" fmla="*/ 36 w 139"/>
                <a:gd name="T7" fmla="*/ 282 h 311"/>
                <a:gd name="T8" fmla="*/ 36 w 139"/>
                <a:gd name="T9" fmla="*/ 158 h 311"/>
                <a:gd name="T10" fmla="*/ 26 w 139"/>
                <a:gd name="T11" fmla="*/ 161 h 311"/>
                <a:gd name="T12" fmla="*/ 8 w 139"/>
                <a:gd name="T13" fmla="*/ 155 h 311"/>
                <a:gd name="T14" fmla="*/ 0 w 139"/>
                <a:gd name="T15" fmla="*/ 137 h 311"/>
                <a:gd name="T16" fmla="*/ 0 w 139"/>
                <a:gd name="T17" fmla="*/ 42 h 311"/>
                <a:gd name="T18" fmla="*/ 42 w 139"/>
                <a:gd name="T19" fmla="*/ 0 h 311"/>
                <a:gd name="T20" fmla="*/ 132 w 139"/>
                <a:gd name="T21" fmla="*/ 0 h 311"/>
                <a:gd name="T22" fmla="*/ 137 w 139"/>
                <a:gd name="T23" fmla="*/ 3 h 311"/>
                <a:gd name="T24" fmla="*/ 138 w 139"/>
                <a:gd name="T25" fmla="*/ 8 h 311"/>
                <a:gd name="T26" fmla="*/ 136 w 139"/>
                <a:gd name="T27" fmla="*/ 19 h 311"/>
                <a:gd name="T28" fmla="*/ 136 w 139"/>
                <a:gd name="T29" fmla="*/ 123 h 311"/>
                <a:gd name="T30" fmla="*/ 138 w 139"/>
                <a:gd name="T31" fmla="*/ 130 h 311"/>
                <a:gd name="T32" fmla="*/ 139 w 139"/>
                <a:gd name="T33" fmla="*/ 133 h 311"/>
                <a:gd name="T34" fmla="*/ 139 w 139"/>
                <a:gd name="T35" fmla="*/ 136 h 311"/>
                <a:gd name="T36" fmla="*/ 139 w 139"/>
                <a:gd name="T37" fmla="*/ 137 h 311"/>
                <a:gd name="T38" fmla="*/ 139 w 139"/>
                <a:gd name="T39" fmla="*/ 137 h 311"/>
                <a:gd name="T40" fmla="*/ 139 w 139"/>
                <a:gd name="T41" fmla="*/ 140 h 311"/>
                <a:gd name="T42" fmla="*/ 139 w 139"/>
                <a:gd name="T43" fmla="*/ 140 h 311"/>
                <a:gd name="T44" fmla="*/ 139 w 139"/>
                <a:gd name="T45" fmla="*/ 282 h 311"/>
                <a:gd name="T46" fmla="*/ 110 w 139"/>
                <a:gd name="T47" fmla="*/ 311 h 311"/>
                <a:gd name="T48" fmla="*/ 93 w 139"/>
                <a:gd name="T49" fmla="*/ 282 h 311"/>
                <a:gd name="T50" fmla="*/ 110 w 139"/>
                <a:gd name="T51" fmla="*/ 298 h 311"/>
                <a:gd name="T52" fmla="*/ 126 w 139"/>
                <a:gd name="T53" fmla="*/ 282 h 311"/>
                <a:gd name="T54" fmla="*/ 126 w 139"/>
                <a:gd name="T55" fmla="*/ 137 h 311"/>
                <a:gd name="T56" fmla="*/ 126 w 139"/>
                <a:gd name="T57" fmla="*/ 136 h 311"/>
                <a:gd name="T58" fmla="*/ 126 w 139"/>
                <a:gd name="T59" fmla="*/ 135 h 311"/>
                <a:gd name="T60" fmla="*/ 123 w 139"/>
                <a:gd name="T61" fmla="*/ 123 h 311"/>
                <a:gd name="T62" fmla="*/ 123 w 139"/>
                <a:gd name="T63" fmla="*/ 19 h 311"/>
                <a:gd name="T64" fmla="*/ 124 w 139"/>
                <a:gd name="T65" fmla="*/ 12 h 311"/>
                <a:gd name="T66" fmla="*/ 42 w 139"/>
                <a:gd name="T67" fmla="*/ 12 h 311"/>
                <a:gd name="T68" fmla="*/ 12 w 139"/>
                <a:gd name="T69" fmla="*/ 42 h 311"/>
                <a:gd name="T70" fmla="*/ 12 w 139"/>
                <a:gd name="T71" fmla="*/ 137 h 311"/>
                <a:gd name="T72" fmla="*/ 16 w 139"/>
                <a:gd name="T73" fmla="*/ 146 h 311"/>
                <a:gd name="T74" fmla="*/ 25 w 139"/>
                <a:gd name="T75" fmla="*/ 149 h 311"/>
                <a:gd name="T76" fmla="*/ 36 w 139"/>
                <a:gd name="T77" fmla="*/ 137 h 311"/>
                <a:gd name="T78" fmla="*/ 36 w 139"/>
                <a:gd name="T79" fmla="*/ 71 h 311"/>
                <a:gd name="T80" fmla="*/ 42 w 139"/>
                <a:gd name="T81" fmla="*/ 65 h 311"/>
                <a:gd name="T82" fmla="*/ 48 w 139"/>
                <a:gd name="T83" fmla="*/ 71 h 311"/>
                <a:gd name="T84" fmla="*/ 48 w 139"/>
                <a:gd name="T85" fmla="*/ 282 h 311"/>
                <a:gd name="T86" fmla="*/ 65 w 139"/>
                <a:gd name="T87" fmla="*/ 298 h 311"/>
                <a:gd name="T88" fmla="*/ 81 w 139"/>
                <a:gd name="T89" fmla="*/ 282 h 311"/>
                <a:gd name="T90" fmla="*/ 81 w 139"/>
                <a:gd name="T91" fmla="*/ 172 h 311"/>
                <a:gd name="T92" fmla="*/ 87 w 139"/>
                <a:gd name="T93" fmla="*/ 166 h 311"/>
                <a:gd name="T94" fmla="*/ 93 w 139"/>
                <a:gd name="T95" fmla="*/ 172 h 311"/>
                <a:gd name="T96" fmla="*/ 93 w 139"/>
                <a:gd name="T97" fmla="*/ 282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39" h="311">
                  <a:moveTo>
                    <a:pt x="110" y="311"/>
                  </a:moveTo>
                  <a:cubicBezTo>
                    <a:pt x="101" y="311"/>
                    <a:pt x="93" y="306"/>
                    <a:pt x="87" y="300"/>
                  </a:cubicBezTo>
                  <a:cubicBezTo>
                    <a:pt x="82" y="306"/>
                    <a:pt x="74" y="311"/>
                    <a:pt x="65" y="311"/>
                  </a:cubicBezTo>
                  <a:cubicBezTo>
                    <a:pt x="49" y="311"/>
                    <a:pt x="36" y="298"/>
                    <a:pt x="36" y="282"/>
                  </a:cubicBezTo>
                  <a:cubicBezTo>
                    <a:pt x="36" y="158"/>
                    <a:pt x="36" y="158"/>
                    <a:pt x="36" y="158"/>
                  </a:cubicBezTo>
                  <a:cubicBezTo>
                    <a:pt x="33" y="160"/>
                    <a:pt x="30" y="161"/>
                    <a:pt x="26" y="161"/>
                  </a:cubicBezTo>
                  <a:cubicBezTo>
                    <a:pt x="19" y="162"/>
                    <a:pt x="13" y="160"/>
                    <a:pt x="8" y="155"/>
                  </a:cubicBezTo>
                  <a:cubicBezTo>
                    <a:pt x="3" y="151"/>
                    <a:pt x="0" y="144"/>
                    <a:pt x="0" y="13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34" y="0"/>
                    <a:pt x="136" y="1"/>
                    <a:pt x="137" y="3"/>
                  </a:cubicBezTo>
                  <a:cubicBezTo>
                    <a:pt x="138" y="4"/>
                    <a:pt x="138" y="6"/>
                    <a:pt x="138" y="8"/>
                  </a:cubicBezTo>
                  <a:cubicBezTo>
                    <a:pt x="136" y="12"/>
                    <a:pt x="136" y="16"/>
                    <a:pt x="136" y="19"/>
                  </a:cubicBezTo>
                  <a:cubicBezTo>
                    <a:pt x="136" y="123"/>
                    <a:pt x="136" y="123"/>
                    <a:pt x="136" y="123"/>
                  </a:cubicBezTo>
                  <a:cubicBezTo>
                    <a:pt x="136" y="125"/>
                    <a:pt x="136" y="128"/>
                    <a:pt x="138" y="130"/>
                  </a:cubicBezTo>
                  <a:cubicBezTo>
                    <a:pt x="138" y="131"/>
                    <a:pt x="139" y="132"/>
                    <a:pt x="139" y="133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37"/>
                    <a:pt x="139" y="137"/>
                    <a:pt x="139" y="137"/>
                  </a:cubicBezTo>
                  <a:cubicBezTo>
                    <a:pt x="139" y="137"/>
                    <a:pt x="139" y="137"/>
                    <a:pt x="139" y="137"/>
                  </a:cubicBezTo>
                  <a:cubicBezTo>
                    <a:pt x="139" y="140"/>
                    <a:pt x="139" y="140"/>
                    <a:pt x="139" y="140"/>
                  </a:cubicBezTo>
                  <a:cubicBezTo>
                    <a:pt x="139" y="140"/>
                    <a:pt x="139" y="140"/>
                    <a:pt x="139" y="140"/>
                  </a:cubicBezTo>
                  <a:cubicBezTo>
                    <a:pt x="139" y="282"/>
                    <a:pt x="139" y="282"/>
                    <a:pt x="139" y="282"/>
                  </a:cubicBezTo>
                  <a:cubicBezTo>
                    <a:pt x="139" y="298"/>
                    <a:pt x="126" y="311"/>
                    <a:pt x="110" y="311"/>
                  </a:cubicBezTo>
                  <a:close/>
                  <a:moveTo>
                    <a:pt x="93" y="282"/>
                  </a:moveTo>
                  <a:cubicBezTo>
                    <a:pt x="93" y="291"/>
                    <a:pt x="101" y="298"/>
                    <a:pt x="110" y="298"/>
                  </a:cubicBezTo>
                  <a:cubicBezTo>
                    <a:pt x="119" y="298"/>
                    <a:pt x="126" y="291"/>
                    <a:pt x="126" y="282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26" y="137"/>
                    <a:pt x="126" y="136"/>
                    <a:pt x="126" y="136"/>
                  </a:cubicBezTo>
                  <a:cubicBezTo>
                    <a:pt x="126" y="136"/>
                    <a:pt x="126" y="135"/>
                    <a:pt x="126" y="135"/>
                  </a:cubicBezTo>
                  <a:cubicBezTo>
                    <a:pt x="124" y="131"/>
                    <a:pt x="123" y="127"/>
                    <a:pt x="123" y="123"/>
                  </a:cubicBezTo>
                  <a:cubicBezTo>
                    <a:pt x="123" y="19"/>
                    <a:pt x="123" y="19"/>
                    <a:pt x="123" y="19"/>
                  </a:cubicBezTo>
                  <a:cubicBezTo>
                    <a:pt x="123" y="17"/>
                    <a:pt x="124" y="15"/>
                    <a:pt x="124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25" y="12"/>
                    <a:pt x="12" y="26"/>
                    <a:pt x="12" y="42"/>
                  </a:cubicBezTo>
                  <a:cubicBezTo>
                    <a:pt x="12" y="137"/>
                    <a:pt x="12" y="137"/>
                    <a:pt x="12" y="137"/>
                  </a:cubicBezTo>
                  <a:cubicBezTo>
                    <a:pt x="12" y="141"/>
                    <a:pt x="13" y="144"/>
                    <a:pt x="16" y="146"/>
                  </a:cubicBezTo>
                  <a:cubicBezTo>
                    <a:pt x="18" y="148"/>
                    <a:pt x="22" y="150"/>
                    <a:pt x="25" y="149"/>
                  </a:cubicBezTo>
                  <a:cubicBezTo>
                    <a:pt x="31" y="149"/>
                    <a:pt x="36" y="143"/>
                    <a:pt x="36" y="137"/>
                  </a:cubicBezTo>
                  <a:cubicBezTo>
                    <a:pt x="36" y="71"/>
                    <a:pt x="36" y="71"/>
                    <a:pt x="36" y="71"/>
                  </a:cubicBezTo>
                  <a:cubicBezTo>
                    <a:pt x="36" y="68"/>
                    <a:pt x="39" y="65"/>
                    <a:pt x="42" y="65"/>
                  </a:cubicBezTo>
                  <a:cubicBezTo>
                    <a:pt x="45" y="65"/>
                    <a:pt x="48" y="68"/>
                    <a:pt x="48" y="71"/>
                  </a:cubicBezTo>
                  <a:cubicBezTo>
                    <a:pt x="48" y="282"/>
                    <a:pt x="48" y="282"/>
                    <a:pt x="48" y="282"/>
                  </a:cubicBezTo>
                  <a:cubicBezTo>
                    <a:pt x="48" y="291"/>
                    <a:pt x="55" y="298"/>
                    <a:pt x="65" y="298"/>
                  </a:cubicBezTo>
                  <a:cubicBezTo>
                    <a:pt x="74" y="298"/>
                    <a:pt x="81" y="291"/>
                    <a:pt x="81" y="282"/>
                  </a:cubicBezTo>
                  <a:cubicBezTo>
                    <a:pt x="81" y="172"/>
                    <a:pt x="81" y="172"/>
                    <a:pt x="81" y="172"/>
                  </a:cubicBezTo>
                  <a:cubicBezTo>
                    <a:pt x="81" y="169"/>
                    <a:pt x="84" y="166"/>
                    <a:pt x="87" y="166"/>
                  </a:cubicBezTo>
                  <a:cubicBezTo>
                    <a:pt x="91" y="166"/>
                    <a:pt x="93" y="169"/>
                    <a:pt x="93" y="172"/>
                  </a:cubicBezTo>
                  <a:lnTo>
                    <a:pt x="93" y="2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300">
                  <a:latin typeface="Trebuchet MS" panose="020B0603020202020204"/>
                </a:defRPr>
              </a:pPr>
              <a:r>
                <a:rPr lang="en-IN" sz="1733"/>
                <a:t> </a:t>
              </a:r>
            </a:p>
          </p:txBody>
        </p:sp>
        <p:sp>
          <p:nvSpPr>
            <p:cNvPr id="59" name="Freeform 845">
              <a:extLst>
                <a:ext uri="{FF2B5EF4-FFF2-40B4-BE49-F238E27FC236}">
                  <a16:creationId xmlns:a16="http://schemas.microsoft.com/office/drawing/2014/main" id="{44C1EF61-3FAC-3F96-21FD-6302FFA3B6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15163" y="4157663"/>
              <a:ext cx="31750" cy="31750"/>
            </a:xfrm>
            <a:custGeom>
              <a:avLst/>
              <a:gdLst>
                <a:gd name="T0" fmla="*/ 36 w 73"/>
                <a:gd name="T1" fmla="*/ 73 h 73"/>
                <a:gd name="T2" fmla="*/ 0 w 73"/>
                <a:gd name="T3" fmla="*/ 36 h 73"/>
                <a:gd name="T4" fmla="*/ 36 w 73"/>
                <a:gd name="T5" fmla="*/ 0 h 73"/>
                <a:gd name="T6" fmla="*/ 73 w 73"/>
                <a:gd name="T7" fmla="*/ 36 h 73"/>
                <a:gd name="T8" fmla="*/ 36 w 73"/>
                <a:gd name="T9" fmla="*/ 73 h 73"/>
                <a:gd name="T10" fmla="*/ 36 w 73"/>
                <a:gd name="T11" fmla="*/ 12 h 73"/>
                <a:gd name="T12" fmla="*/ 12 w 73"/>
                <a:gd name="T13" fmla="*/ 36 h 73"/>
                <a:gd name="T14" fmla="*/ 36 w 73"/>
                <a:gd name="T15" fmla="*/ 61 h 73"/>
                <a:gd name="T16" fmla="*/ 61 w 73"/>
                <a:gd name="T17" fmla="*/ 36 h 73"/>
                <a:gd name="T18" fmla="*/ 36 w 73"/>
                <a:gd name="T19" fmla="*/ 12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3" h="73">
                  <a:moveTo>
                    <a:pt x="36" y="73"/>
                  </a:moveTo>
                  <a:cubicBezTo>
                    <a:pt x="16" y="73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3" y="16"/>
                    <a:pt x="73" y="36"/>
                  </a:cubicBezTo>
                  <a:cubicBezTo>
                    <a:pt x="73" y="56"/>
                    <a:pt x="56" y="73"/>
                    <a:pt x="36" y="73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50"/>
                    <a:pt x="23" y="61"/>
                    <a:pt x="36" y="61"/>
                  </a:cubicBezTo>
                  <a:cubicBezTo>
                    <a:pt x="50" y="61"/>
                    <a:pt x="61" y="50"/>
                    <a:pt x="61" y="36"/>
                  </a:cubicBezTo>
                  <a:cubicBezTo>
                    <a:pt x="61" y="23"/>
                    <a:pt x="50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300">
                  <a:latin typeface="Trebuchet MS" panose="020B0603020202020204"/>
                </a:defRPr>
              </a:pPr>
              <a:r>
                <a:rPr lang="en-IN" sz="1733"/>
                <a:t> </a:t>
              </a:r>
            </a:p>
          </p:txBody>
        </p:sp>
        <p:sp>
          <p:nvSpPr>
            <p:cNvPr id="60" name="Freeform 846">
              <a:extLst>
                <a:ext uri="{FF2B5EF4-FFF2-40B4-BE49-F238E27FC236}">
                  <a16:creationId xmlns:a16="http://schemas.microsoft.com/office/drawing/2014/main" id="{08953D4F-EAA2-05C7-0281-260F452054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23113" y="4194176"/>
              <a:ext cx="61913" cy="136525"/>
            </a:xfrm>
            <a:custGeom>
              <a:avLst/>
              <a:gdLst>
                <a:gd name="T0" fmla="*/ 74 w 139"/>
                <a:gd name="T1" fmla="*/ 311 h 311"/>
                <a:gd name="T2" fmla="*/ 51 w 139"/>
                <a:gd name="T3" fmla="*/ 300 h 311"/>
                <a:gd name="T4" fmla="*/ 29 w 139"/>
                <a:gd name="T5" fmla="*/ 311 h 311"/>
                <a:gd name="T6" fmla="*/ 0 w 139"/>
                <a:gd name="T7" fmla="*/ 282 h 311"/>
                <a:gd name="T8" fmla="*/ 0 w 139"/>
                <a:gd name="T9" fmla="*/ 137 h 311"/>
                <a:gd name="T10" fmla="*/ 0 w 139"/>
                <a:gd name="T11" fmla="*/ 135 h 311"/>
                <a:gd name="T12" fmla="*/ 3 w 139"/>
                <a:gd name="T13" fmla="*/ 123 h 311"/>
                <a:gd name="T14" fmla="*/ 3 w 139"/>
                <a:gd name="T15" fmla="*/ 19 h 311"/>
                <a:gd name="T16" fmla="*/ 1 w 139"/>
                <a:gd name="T17" fmla="*/ 8 h 311"/>
                <a:gd name="T18" fmla="*/ 2 w 139"/>
                <a:gd name="T19" fmla="*/ 3 h 311"/>
                <a:gd name="T20" fmla="*/ 7 w 139"/>
                <a:gd name="T21" fmla="*/ 0 h 311"/>
                <a:gd name="T22" fmla="*/ 97 w 139"/>
                <a:gd name="T23" fmla="*/ 0 h 311"/>
                <a:gd name="T24" fmla="*/ 139 w 139"/>
                <a:gd name="T25" fmla="*/ 42 h 311"/>
                <a:gd name="T26" fmla="*/ 139 w 139"/>
                <a:gd name="T27" fmla="*/ 137 h 311"/>
                <a:gd name="T28" fmla="*/ 131 w 139"/>
                <a:gd name="T29" fmla="*/ 155 h 311"/>
                <a:gd name="T30" fmla="*/ 112 w 139"/>
                <a:gd name="T31" fmla="*/ 161 h 311"/>
                <a:gd name="T32" fmla="*/ 103 w 139"/>
                <a:gd name="T33" fmla="*/ 158 h 311"/>
                <a:gd name="T34" fmla="*/ 103 w 139"/>
                <a:gd name="T35" fmla="*/ 282 h 311"/>
                <a:gd name="T36" fmla="*/ 74 w 139"/>
                <a:gd name="T37" fmla="*/ 311 h 311"/>
                <a:gd name="T38" fmla="*/ 58 w 139"/>
                <a:gd name="T39" fmla="*/ 282 h 311"/>
                <a:gd name="T40" fmla="*/ 74 w 139"/>
                <a:gd name="T41" fmla="*/ 298 h 311"/>
                <a:gd name="T42" fmla="*/ 91 w 139"/>
                <a:gd name="T43" fmla="*/ 282 h 311"/>
                <a:gd name="T44" fmla="*/ 91 w 139"/>
                <a:gd name="T45" fmla="*/ 137 h 311"/>
                <a:gd name="T46" fmla="*/ 91 w 139"/>
                <a:gd name="T47" fmla="*/ 137 h 311"/>
                <a:gd name="T48" fmla="*/ 91 w 139"/>
                <a:gd name="T49" fmla="*/ 71 h 311"/>
                <a:gd name="T50" fmla="*/ 97 w 139"/>
                <a:gd name="T51" fmla="*/ 65 h 311"/>
                <a:gd name="T52" fmla="*/ 103 w 139"/>
                <a:gd name="T53" fmla="*/ 71 h 311"/>
                <a:gd name="T54" fmla="*/ 103 w 139"/>
                <a:gd name="T55" fmla="*/ 136 h 311"/>
                <a:gd name="T56" fmla="*/ 103 w 139"/>
                <a:gd name="T57" fmla="*/ 137 h 311"/>
                <a:gd name="T58" fmla="*/ 114 w 139"/>
                <a:gd name="T59" fmla="*/ 149 h 311"/>
                <a:gd name="T60" fmla="*/ 123 w 139"/>
                <a:gd name="T61" fmla="*/ 146 h 311"/>
                <a:gd name="T62" fmla="*/ 127 w 139"/>
                <a:gd name="T63" fmla="*/ 137 h 311"/>
                <a:gd name="T64" fmla="*/ 127 w 139"/>
                <a:gd name="T65" fmla="*/ 42 h 311"/>
                <a:gd name="T66" fmla="*/ 97 w 139"/>
                <a:gd name="T67" fmla="*/ 12 h 311"/>
                <a:gd name="T68" fmla="*/ 15 w 139"/>
                <a:gd name="T69" fmla="*/ 12 h 311"/>
                <a:gd name="T70" fmla="*/ 15 w 139"/>
                <a:gd name="T71" fmla="*/ 19 h 311"/>
                <a:gd name="T72" fmla="*/ 15 w 139"/>
                <a:gd name="T73" fmla="*/ 123 h 311"/>
                <a:gd name="T74" fmla="*/ 12 w 139"/>
                <a:gd name="T75" fmla="*/ 137 h 311"/>
                <a:gd name="T76" fmla="*/ 12 w 139"/>
                <a:gd name="T77" fmla="*/ 282 h 311"/>
                <a:gd name="T78" fmla="*/ 29 w 139"/>
                <a:gd name="T79" fmla="*/ 298 h 311"/>
                <a:gd name="T80" fmla="*/ 45 w 139"/>
                <a:gd name="T81" fmla="*/ 282 h 311"/>
                <a:gd name="T82" fmla="*/ 45 w 139"/>
                <a:gd name="T83" fmla="*/ 172 h 311"/>
                <a:gd name="T84" fmla="*/ 51 w 139"/>
                <a:gd name="T85" fmla="*/ 166 h 311"/>
                <a:gd name="T86" fmla="*/ 58 w 139"/>
                <a:gd name="T87" fmla="*/ 172 h 311"/>
                <a:gd name="T88" fmla="*/ 58 w 139"/>
                <a:gd name="T89" fmla="*/ 282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9" h="311">
                  <a:moveTo>
                    <a:pt x="74" y="311"/>
                  </a:moveTo>
                  <a:cubicBezTo>
                    <a:pt x="65" y="311"/>
                    <a:pt x="57" y="306"/>
                    <a:pt x="51" y="300"/>
                  </a:cubicBezTo>
                  <a:cubicBezTo>
                    <a:pt x="46" y="306"/>
                    <a:pt x="38" y="311"/>
                    <a:pt x="29" y="311"/>
                  </a:cubicBezTo>
                  <a:cubicBezTo>
                    <a:pt x="13" y="311"/>
                    <a:pt x="0" y="298"/>
                    <a:pt x="0" y="282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0" y="136"/>
                    <a:pt x="0" y="135"/>
                    <a:pt x="0" y="135"/>
                  </a:cubicBezTo>
                  <a:cubicBezTo>
                    <a:pt x="2" y="130"/>
                    <a:pt x="3" y="124"/>
                    <a:pt x="3" y="123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16"/>
                    <a:pt x="2" y="12"/>
                    <a:pt x="1" y="8"/>
                  </a:cubicBezTo>
                  <a:cubicBezTo>
                    <a:pt x="0" y="6"/>
                    <a:pt x="1" y="4"/>
                    <a:pt x="2" y="3"/>
                  </a:cubicBezTo>
                  <a:cubicBezTo>
                    <a:pt x="3" y="1"/>
                    <a:pt x="5" y="0"/>
                    <a:pt x="7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120" y="0"/>
                    <a:pt x="139" y="19"/>
                    <a:pt x="139" y="42"/>
                  </a:cubicBezTo>
                  <a:cubicBezTo>
                    <a:pt x="139" y="137"/>
                    <a:pt x="139" y="137"/>
                    <a:pt x="139" y="137"/>
                  </a:cubicBezTo>
                  <a:cubicBezTo>
                    <a:pt x="139" y="144"/>
                    <a:pt x="136" y="151"/>
                    <a:pt x="131" y="155"/>
                  </a:cubicBezTo>
                  <a:cubicBezTo>
                    <a:pt x="126" y="160"/>
                    <a:pt x="119" y="162"/>
                    <a:pt x="112" y="161"/>
                  </a:cubicBezTo>
                  <a:cubicBezTo>
                    <a:pt x="109" y="161"/>
                    <a:pt x="106" y="160"/>
                    <a:pt x="103" y="158"/>
                  </a:cubicBezTo>
                  <a:cubicBezTo>
                    <a:pt x="103" y="282"/>
                    <a:pt x="103" y="282"/>
                    <a:pt x="103" y="282"/>
                  </a:cubicBezTo>
                  <a:cubicBezTo>
                    <a:pt x="103" y="298"/>
                    <a:pt x="90" y="311"/>
                    <a:pt x="74" y="311"/>
                  </a:cubicBezTo>
                  <a:close/>
                  <a:moveTo>
                    <a:pt x="58" y="282"/>
                  </a:moveTo>
                  <a:cubicBezTo>
                    <a:pt x="58" y="291"/>
                    <a:pt x="65" y="298"/>
                    <a:pt x="74" y="298"/>
                  </a:cubicBezTo>
                  <a:cubicBezTo>
                    <a:pt x="83" y="298"/>
                    <a:pt x="91" y="291"/>
                    <a:pt x="91" y="282"/>
                  </a:cubicBezTo>
                  <a:cubicBezTo>
                    <a:pt x="91" y="137"/>
                    <a:pt x="91" y="137"/>
                    <a:pt x="91" y="137"/>
                  </a:cubicBezTo>
                  <a:cubicBezTo>
                    <a:pt x="91" y="137"/>
                    <a:pt x="91" y="137"/>
                    <a:pt x="91" y="137"/>
                  </a:cubicBezTo>
                  <a:cubicBezTo>
                    <a:pt x="91" y="71"/>
                    <a:pt x="91" y="71"/>
                    <a:pt x="91" y="71"/>
                  </a:cubicBezTo>
                  <a:cubicBezTo>
                    <a:pt x="91" y="68"/>
                    <a:pt x="93" y="65"/>
                    <a:pt x="97" y="65"/>
                  </a:cubicBezTo>
                  <a:cubicBezTo>
                    <a:pt x="100" y="65"/>
                    <a:pt x="103" y="68"/>
                    <a:pt x="103" y="71"/>
                  </a:cubicBezTo>
                  <a:cubicBezTo>
                    <a:pt x="103" y="136"/>
                    <a:pt x="103" y="136"/>
                    <a:pt x="103" y="136"/>
                  </a:cubicBezTo>
                  <a:cubicBezTo>
                    <a:pt x="103" y="136"/>
                    <a:pt x="103" y="136"/>
                    <a:pt x="103" y="137"/>
                  </a:cubicBezTo>
                  <a:cubicBezTo>
                    <a:pt x="103" y="143"/>
                    <a:pt x="108" y="149"/>
                    <a:pt x="114" y="149"/>
                  </a:cubicBezTo>
                  <a:cubicBezTo>
                    <a:pt x="117" y="149"/>
                    <a:pt x="120" y="148"/>
                    <a:pt x="123" y="146"/>
                  </a:cubicBezTo>
                  <a:cubicBezTo>
                    <a:pt x="125" y="144"/>
                    <a:pt x="127" y="141"/>
                    <a:pt x="127" y="137"/>
                  </a:cubicBezTo>
                  <a:cubicBezTo>
                    <a:pt x="127" y="42"/>
                    <a:pt x="127" y="42"/>
                    <a:pt x="127" y="42"/>
                  </a:cubicBezTo>
                  <a:cubicBezTo>
                    <a:pt x="127" y="26"/>
                    <a:pt x="113" y="12"/>
                    <a:pt x="97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5"/>
                    <a:pt x="15" y="17"/>
                    <a:pt x="15" y="19"/>
                  </a:cubicBezTo>
                  <a:cubicBezTo>
                    <a:pt x="15" y="123"/>
                    <a:pt x="15" y="123"/>
                    <a:pt x="15" y="123"/>
                  </a:cubicBezTo>
                  <a:cubicBezTo>
                    <a:pt x="15" y="127"/>
                    <a:pt x="13" y="134"/>
                    <a:pt x="12" y="137"/>
                  </a:cubicBezTo>
                  <a:cubicBezTo>
                    <a:pt x="12" y="282"/>
                    <a:pt x="12" y="282"/>
                    <a:pt x="12" y="282"/>
                  </a:cubicBezTo>
                  <a:cubicBezTo>
                    <a:pt x="12" y="291"/>
                    <a:pt x="20" y="298"/>
                    <a:pt x="29" y="298"/>
                  </a:cubicBezTo>
                  <a:cubicBezTo>
                    <a:pt x="38" y="298"/>
                    <a:pt x="45" y="291"/>
                    <a:pt x="45" y="282"/>
                  </a:cubicBezTo>
                  <a:cubicBezTo>
                    <a:pt x="45" y="172"/>
                    <a:pt x="45" y="172"/>
                    <a:pt x="45" y="172"/>
                  </a:cubicBezTo>
                  <a:cubicBezTo>
                    <a:pt x="45" y="169"/>
                    <a:pt x="48" y="166"/>
                    <a:pt x="51" y="166"/>
                  </a:cubicBezTo>
                  <a:cubicBezTo>
                    <a:pt x="55" y="166"/>
                    <a:pt x="58" y="169"/>
                    <a:pt x="58" y="172"/>
                  </a:cubicBezTo>
                  <a:lnTo>
                    <a:pt x="58" y="2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300">
                  <a:latin typeface="Trebuchet MS" panose="020B0603020202020204"/>
                </a:defRPr>
              </a:pPr>
              <a:r>
                <a:rPr lang="en-IN" sz="1733"/>
                <a:t> </a:t>
              </a:r>
            </a:p>
          </p:txBody>
        </p:sp>
        <p:sp>
          <p:nvSpPr>
            <p:cNvPr id="61" name="Freeform 847">
              <a:extLst>
                <a:ext uri="{FF2B5EF4-FFF2-40B4-BE49-F238E27FC236}">
                  <a16:creationId xmlns:a16="http://schemas.microsoft.com/office/drawing/2014/main" id="{BF7666FE-7C4D-BC94-706A-3695A35936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46913" y="4183063"/>
              <a:ext cx="82550" cy="147638"/>
            </a:xfrm>
            <a:custGeom>
              <a:avLst/>
              <a:gdLst>
                <a:gd name="T0" fmla="*/ 119 w 189"/>
                <a:gd name="T1" fmla="*/ 336 h 336"/>
                <a:gd name="T2" fmla="*/ 95 w 189"/>
                <a:gd name="T3" fmla="*/ 324 h 336"/>
                <a:gd name="T4" fmla="*/ 70 w 189"/>
                <a:gd name="T5" fmla="*/ 336 h 336"/>
                <a:gd name="T6" fmla="*/ 39 w 189"/>
                <a:gd name="T7" fmla="*/ 306 h 336"/>
                <a:gd name="T8" fmla="*/ 39 w 189"/>
                <a:gd name="T9" fmla="*/ 170 h 336"/>
                <a:gd name="T10" fmla="*/ 29 w 189"/>
                <a:gd name="T11" fmla="*/ 174 h 336"/>
                <a:gd name="T12" fmla="*/ 4 w 189"/>
                <a:gd name="T13" fmla="*/ 162 h 336"/>
                <a:gd name="T14" fmla="*/ 0 w 189"/>
                <a:gd name="T15" fmla="*/ 149 h 336"/>
                <a:gd name="T16" fmla="*/ 0 w 189"/>
                <a:gd name="T17" fmla="*/ 45 h 336"/>
                <a:gd name="T18" fmla="*/ 3 w 189"/>
                <a:gd name="T19" fmla="*/ 30 h 336"/>
                <a:gd name="T20" fmla="*/ 46 w 189"/>
                <a:gd name="T21" fmla="*/ 0 h 336"/>
                <a:gd name="T22" fmla="*/ 144 w 189"/>
                <a:gd name="T23" fmla="*/ 0 h 336"/>
                <a:gd name="T24" fmla="*/ 187 w 189"/>
                <a:gd name="T25" fmla="*/ 30 h 336"/>
                <a:gd name="T26" fmla="*/ 187 w 189"/>
                <a:gd name="T27" fmla="*/ 30 h 336"/>
                <a:gd name="T28" fmla="*/ 189 w 189"/>
                <a:gd name="T29" fmla="*/ 45 h 336"/>
                <a:gd name="T30" fmla="*/ 189 w 189"/>
                <a:gd name="T31" fmla="*/ 149 h 336"/>
                <a:gd name="T32" fmla="*/ 185 w 189"/>
                <a:gd name="T33" fmla="*/ 162 h 336"/>
                <a:gd name="T34" fmla="*/ 161 w 189"/>
                <a:gd name="T35" fmla="*/ 174 h 336"/>
                <a:gd name="T36" fmla="*/ 150 w 189"/>
                <a:gd name="T37" fmla="*/ 170 h 336"/>
                <a:gd name="T38" fmla="*/ 150 w 189"/>
                <a:gd name="T39" fmla="*/ 306 h 336"/>
                <a:gd name="T40" fmla="*/ 119 w 189"/>
                <a:gd name="T41" fmla="*/ 336 h 336"/>
                <a:gd name="T42" fmla="*/ 95 w 189"/>
                <a:gd name="T43" fmla="*/ 299 h 336"/>
                <a:gd name="T44" fmla="*/ 101 w 189"/>
                <a:gd name="T45" fmla="*/ 306 h 336"/>
                <a:gd name="T46" fmla="*/ 119 w 189"/>
                <a:gd name="T47" fmla="*/ 324 h 336"/>
                <a:gd name="T48" fmla="*/ 138 w 189"/>
                <a:gd name="T49" fmla="*/ 306 h 336"/>
                <a:gd name="T50" fmla="*/ 138 w 189"/>
                <a:gd name="T51" fmla="*/ 148 h 336"/>
                <a:gd name="T52" fmla="*/ 144 w 189"/>
                <a:gd name="T53" fmla="*/ 142 h 336"/>
                <a:gd name="T54" fmla="*/ 144 w 189"/>
                <a:gd name="T55" fmla="*/ 142 h 336"/>
                <a:gd name="T56" fmla="*/ 150 w 189"/>
                <a:gd name="T57" fmla="*/ 148 h 336"/>
                <a:gd name="T58" fmla="*/ 162 w 189"/>
                <a:gd name="T59" fmla="*/ 162 h 336"/>
                <a:gd name="T60" fmla="*/ 175 w 189"/>
                <a:gd name="T61" fmla="*/ 156 h 336"/>
                <a:gd name="T62" fmla="*/ 177 w 189"/>
                <a:gd name="T63" fmla="*/ 149 h 336"/>
                <a:gd name="T64" fmla="*/ 177 w 189"/>
                <a:gd name="T65" fmla="*/ 45 h 336"/>
                <a:gd name="T66" fmla="*/ 175 w 189"/>
                <a:gd name="T67" fmla="*/ 34 h 336"/>
                <a:gd name="T68" fmla="*/ 144 w 189"/>
                <a:gd name="T69" fmla="*/ 12 h 336"/>
                <a:gd name="T70" fmla="*/ 46 w 189"/>
                <a:gd name="T71" fmla="*/ 12 h 336"/>
                <a:gd name="T72" fmla="*/ 15 w 189"/>
                <a:gd name="T73" fmla="*/ 34 h 336"/>
                <a:gd name="T74" fmla="*/ 13 w 189"/>
                <a:gd name="T75" fmla="*/ 45 h 336"/>
                <a:gd name="T76" fmla="*/ 13 w 189"/>
                <a:gd name="T77" fmla="*/ 149 h 336"/>
                <a:gd name="T78" fmla="*/ 15 w 189"/>
                <a:gd name="T79" fmla="*/ 156 h 336"/>
                <a:gd name="T80" fmla="*/ 27 w 189"/>
                <a:gd name="T81" fmla="*/ 162 h 336"/>
                <a:gd name="T82" fmla="*/ 39 w 189"/>
                <a:gd name="T83" fmla="*/ 148 h 336"/>
                <a:gd name="T84" fmla="*/ 46 w 189"/>
                <a:gd name="T85" fmla="*/ 142 h 336"/>
                <a:gd name="T86" fmla="*/ 52 w 189"/>
                <a:gd name="T87" fmla="*/ 148 h 336"/>
                <a:gd name="T88" fmla="*/ 52 w 189"/>
                <a:gd name="T89" fmla="*/ 306 h 336"/>
                <a:gd name="T90" fmla="*/ 70 w 189"/>
                <a:gd name="T91" fmla="*/ 324 h 336"/>
                <a:gd name="T92" fmla="*/ 89 w 189"/>
                <a:gd name="T93" fmla="*/ 306 h 336"/>
                <a:gd name="T94" fmla="*/ 95 w 189"/>
                <a:gd name="T95" fmla="*/ 299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89" h="336">
                  <a:moveTo>
                    <a:pt x="119" y="336"/>
                  </a:moveTo>
                  <a:cubicBezTo>
                    <a:pt x="109" y="336"/>
                    <a:pt x="100" y="331"/>
                    <a:pt x="95" y="324"/>
                  </a:cubicBezTo>
                  <a:cubicBezTo>
                    <a:pt x="89" y="331"/>
                    <a:pt x="80" y="336"/>
                    <a:pt x="70" y="336"/>
                  </a:cubicBezTo>
                  <a:cubicBezTo>
                    <a:pt x="53" y="336"/>
                    <a:pt x="39" y="323"/>
                    <a:pt x="39" y="306"/>
                  </a:cubicBezTo>
                  <a:cubicBezTo>
                    <a:pt x="39" y="170"/>
                    <a:pt x="39" y="170"/>
                    <a:pt x="39" y="170"/>
                  </a:cubicBezTo>
                  <a:cubicBezTo>
                    <a:pt x="36" y="173"/>
                    <a:pt x="33" y="174"/>
                    <a:pt x="29" y="174"/>
                  </a:cubicBezTo>
                  <a:cubicBezTo>
                    <a:pt x="19" y="175"/>
                    <a:pt x="10" y="171"/>
                    <a:pt x="4" y="162"/>
                  </a:cubicBezTo>
                  <a:cubicBezTo>
                    <a:pt x="2" y="158"/>
                    <a:pt x="0" y="153"/>
                    <a:pt x="0" y="149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0"/>
                    <a:pt x="1" y="35"/>
                    <a:pt x="3" y="30"/>
                  </a:cubicBezTo>
                  <a:cubicBezTo>
                    <a:pt x="9" y="12"/>
                    <a:pt x="27" y="0"/>
                    <a:pt x="46" y="0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63" y="0"/>
                    <a:pt x="180" y="12"/>
                    <a:pt x="187" y="30"/>
                  </a:cubicBezTo>
                  <a:cubicBezTo>
                    <a:pt x="187" y="30"/>
                    <a:pt x="187" y="30"/>
                    <a:pt x="187" y="30"/>
                  </a:cubicBezTo>
                  <a:cubicBezTo>
                    <a:pt x="188" y="35"/>
                    <a:pt x="189" y="40"/>
                    <a:pt x="189" y="45"/>
                  </a:cubicBezTo>
                  <a:cubicBezTo>
                    <a:pt x="189" y="149"/>
                    <a:pt x="189" y="149"/>
                    <a:pt x="189" y="149"/>
                  </a:cubicBezTo>
                  <a:cubicBezTo>
                    <a:pt x="189" y="153"/>
                    <a:pt x="188" y="158"/>
                    <a:pt x="185" y="162"/>
                  </a:cubicBezTo>
                  <a:cubicBezTo>
                    <a:pt x="180" y="171"/>
                    <a:pt x="171" y="175"/>
                    <a:pt x="161" y="174"/>
                  </a:cubicBezTo>
                  <a:cubicBezTo>
                    <a:pt x="157" y="174"/>
                    <a:pt x="153" y="173"/>
                    <a:pt x="150" y="170"/>
                  </a:cubicBezTo>
                  <a:cubicBezTo>
                    <a:pt x="150" y="306"/>
                    <a:pt x="150" y="306"/>
                    <a:pt x="150" y="306"/>
                  </a:cubicBezTo>
                  <a:cubicBezTo>
                    <a:pt x="150" y="323"/>
                    <a:pt x="136" y="336"/>
                    <a:pt x="119" y="336"/>
                  </a:cubicBezTo>
                  <a:close/>
                  <a:moveTo>
                    <a:pt x="95" y="299"/>
                  </a:moveTo>
                  <a:cubicBezTo>
                    <a:pt x="98" y="299"/>
                    <a:pt x="101" y="302"/>
                    <a:pt x="101" y="306"/>
                  </a:cubicBezTo>
                  <a:cubicBezTo>
                    <a:pt x="101" y="316"/>
                    <a:pt x="109" y="324"/>
                    <a:pt x="119" y="324"/>
                  </a:cubicBezTo>
                  <a:cubicBezTo>
                    <a:pt x="130" y="324"/>
                    <a:pt x="138" y="316"/>
                    <a:pt x="138" y="306"/>
                  </a:cubicBezTo>
                  <a:cubicBezTo>
                    <a:pt x="138" y="148"/>
                    <a:pt x="138" y="148"/>
                    <a:pt x="138" y="148"/>
                  </a:cubicBezTo>
                  <a:cubicBezTo>
                    <a:pt x="138" y="145"/>
                    <a:pt x="141" y="142"/>
                    <a:pt x="144" y="142"/>
                  </a:cubicBezTo>
                  <a:cubicBezTo>
                    <a:pt x="144" y="142"/>
                    <a:pt x="144" y="142"/>
                    <a:pt x="144" y="142"/>
                  </a:cubicBezTo>
                  <a:cubicBezTo>
                    <a:pt x="147" y="142"/>
                    <a:pt x="150" y="144"/>
                    <a:pt x="150" y="148"/>
                  </a:cubicBezTo>
                  <a:cubicBezTo>
                    <a:pt x="150" y="155"/>
                    <a:pt x="156" y="161"/>
                    <a:pt x="162" y="162"/>
                  </a:cubicBezTo>
                  <a:cubicBezTo>
                    <a:pt x="167" y="163"/>
                    <a:pt x="172" y="160"/>
                    <a:pt x="175" y="156"/>
                  </a:cubicBezTo>
                  <a:cubicBezTo>
                    <a:pt x="176" y="154"/>
                    <a:pt x="177" y="151"/>
                    <a:pt x="177" y="149"/>
                  </a:cubicBezTo>
                  <a:cubicBezTo>
                    <a:pt x="177" y="45"/>
                    <a:pt x="177" y="45"/>
                    <a:pt x="177" y="45"/>
                  </a:cubicBezTo>
                  <a:cubicBezTo>
                    <a:pt x="177" y="42"/>
                    <a:pt x="176" y="38"/>
                    <a:pt x="175" y="34"/>
                  </a:cubicBezTo>
                  <a:cubicBezTo>
                    <a:pt x="170" y="21"/>
                    <a:pt x="158" y="12"/>
                    <a:pt x="144" y="12"/>
                  </a:cubicBezTo>
                  <a:cubicBezTo>
                    <a:pt x="46" y="12"/>
                    <a:pt x="46" y="12"/>
                    <a:pt x="46" y="12"/>
                  </a:cubicBezTo>
                  <a:cubicBezTo>
                    <a:pt x="32" y="12"/>
                    <a:pt x="19" y="21"/>
                    <a:pt x="15" y="34"/>
                  </a:cubicBezTo>
                  <a:cubicBezTo>
                    <a:pt x="13" y="38"/>
                    <a:pt x="13" y="42"/>
                    <a:pt x="13" y="45"/>
                  </a:cubicBezTo>
                  <a:cubicBezTo>
                    <a:pt x="13" y="149"/>
                    <a:pt x="13" y="149"/>
                    <a:pt x="13" y="149"/>
                  </a:cubicBezTo>
                  <a:cubicBezTo>
                    <a:pt x="13" y="151"/>
                    <a:pt x="13" y="154"/>
                    <a:pt x="15" y="156"/>
                  </a:cubicBezTo>
                  <a:cubicBezTo>
                    <a:pt x="17" y="160"/>
                    <a:pt x="22" y="163"/>
                    <a:pt x="27" y="162"/>
                  </a:cubicBezTo>
                  <a:cubicBezTo>
                    <a:pt x="34" y="161"/>
                    <a:pt x="39" y="155"/>
                    <a:pt x="39" y="148"/>
                  </a:cubicBezTo>
                  <a:cubicBezTo>
                    <a:pt x="39" y="144"/>
                    <a:pt x="42" y="142"/>
                    <a:pt x="46" y="142"/>
                  </a:cubicBezTo>
                  <a:cubicBezTo>
                    <a:pt x="49" y="142"/>
                    <a:pt x="52" y="144"/>
                    <a:pt x="52" y="148"/>
                  </a:cubicBezTo>
                  <a:cubicBezTo>
                    <a:pt x="52" y="306"/>
                    <a:pt x="52" y="306"/>
                    <a:pt x="52" y="306"/>
                  </a:cubicBezTo>
                  <a:cubicBezTo>
                    <a:pt x="52" y="316"/>
                    <a:pt x="60" y="324"/>
                    <a:pt x="70" y="324"/>
                  </a:cubicBezTo>
                  <a:cubicBezTo>
                    <a:pt x="80" y="324"/>
                    <a:pt x="89" y="316"/>
                    <a:pt x="89" y="306"/>
                  </a:cubicBezTo>
                  <a:cubicBezTo>
                    <a:pt x="89" y="302"/>
                    <a:pt x="91" y="299"/>
                    <a:pt x="95" y="29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300">
                  <a:latin typeface="Trebuchet MS" panose="020B0603020202020204"/>
                </a:defRPr>
              </a:pPr>
              <a:r>
                <a:rPr lang="en-IN" sz="1733"/>
                <a:t> </a:t>
              </a:r>
            </a:p>
          </p:txBody>
        </p:sp>
        <p:sp>
          <p:nvSpPr>
            <p:cNvPr id="62" name="Freeform 848">
              <a:extLst>
                <a:ext uri="{FF2B5EF4-FFF2-40B4-BE49-F238E27FC236}">
                  <a16:creationId xmlns:a16="http://schemas.microsoft.com/office/drawing/2014/main" id="{392D2ECD-713A-8A7D-C1CF-DDD0349B4E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29463" y="4157663"/>
              <a:ext cx="31750" cy="31750"/>
            </a:xfrm>
            <a:custGeom>
              <a:avLst/>
              <a:gdLst>
                <a:gd name="T0" fmla="*/ 36 w 73"/>
                <a:gd name="T1" fmla="*/ 73 h 73"/>
                <a:gd name="T2" fmla="*/ 0 w 73"/>
                <a:gd name="T3" fmla="*/ 36 h 73"/>
                <a:gd name="T4" fmla="*/ 36 w 73"/>
                <a:gd name="T5" fmla="*/ 0 h 73"/>
                <a:gd name="T6" fmla="*/ 73 w 73"/>
                <a:gd name="T7" fmla="*/ 36 h 73"/>
                <a:gd name="T8" fmla="*/ 36 w 73"/>
                <a:gd name="T9" fmla="*/ 73 h 73"/>
                <a:gd name="T10" fmla="*/ 36 w 73"/>
                <a:gd name="T11" fmla="*/ 12 h 73"/>
                <a:gd name="T12" fmla="*/ 12 w 73"/>
                <a:gd name="T13" fmla="*/ 36 h 73"/>
                <a:gd name="T14" fmla="*/ 36 w 73"/>
                <a:gd name="T15" fmla="*/ 61 h 73"/>
                <a:gd name="T16" fmla="*/ 61 w 73"/>
                <a:gd name="T17" fmla="*/ 36 h 73"/>
                <a:gd name="T18" fmla="*/ 36 w 73"/>
                <a:gd name="T19" fmla="*/ 12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3" h="73">
                  <a:moveTo>
                    <a:pt x="36" y="73"/>
                  </a:moveTo>
                  <a:cubicBezTo>
                    <a:pt x="16" y="73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7" y="0"/>
                    <a:pt x="73" y="16"/>
                    <a:pt x="73" y="36"/>
                  </a:cubicBezTo>
                  <a:cubicBezTo>
                    <a:pt x="73" y="56"/>
                    <a:pt x="57" y="73"/>
                    <a:pt x="36" y="73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50"/>
                    <a:pt x="23" y="61"/>
                    <a:pt x="36" y="61"/>
                  </a:cubicBezTo>
                  <a:cubicBezTo>
                    <a:pt x="50" y="61"/>
                    <a:pt x="61" y="50"/>
                    <a:pt x="61" y="36"/>
                  </a:cubicBezTo>
                  <a:cubicBezTo>
                    <a:pt x="61" y="23"/>
                    <a:pt x="50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300">
                  <a:latin typeface="Trebuchet MS" panose="020B0603020202020204"/>
                </a:defRPr>
              </a:pPr>
              <a:r>
                <a:rPr lang="en-IN" sz="1733"/>
                <a:t> </a:t>
              </a:r>
            </a:p>
          </p:txBody>
        </p:sp>
        <p:sp>
          <p:nvSpPr>
            <p:cNvPr id="63" name="Freeform 849">
              <a:extLst>
                <a:ext uri="{FF2B5EF4-FFF2-40B4-BE49-F238E27FC236}">
                  <a16:creationId xmlns:a16="http://schemas.microsoft.com/office/drawing/2014/main" id="{FD5D974B-A9AC-763B-5C5D-0BCFBB0B2BB9}"/>
                </a:ext>
              </a:extLst>
            </p:cNvPr>
            <p:cNvSpPr/>
            <p:nvPr/>
          </p:nvSpPr>
          <p:spPr bwMode="auto">
            <a:xfrm>
              <a:off x="7086600" y="4262438"/>
              <a:ext cx="4763" cy="57150"/>
            </a:xfrm>
            <a:custGeom>
              <a:avLst/>
              <a:gdLst>
                <a:gd name="T0" fmla="*/ 6 w 12"/>
                <a:gd name="T1" fmla="*/ 131 h 131"/>
                <a:gd name="T2" fmla="*/ 0 w 12"/>
                <a:gd name="T3" fmla="*/ 125 h 131"/>
                <a:gd name="T4" fmla="*/ 0 w 12"/>
                <a:gd name="T5" fmla="*/ 6 h 131"/>
                <a:gd name="T6" fmla="*/ 6 w 12"/>
                <a:gd name="T7" fmla="*/ 0 h 131"/>
                <a:gd name="T8" fmla="*/ 12 w 12"/>
                <a:gd name="T9" fmla="*/ 6 h 131"/>
                <a:gd name="T10" fmla="*/ 12 w 12"/>
                <a:gd name="T11" fmla="*/ 125 h 131"/>
                <a:gd name="T12" fmla="*/ 6 w 12"/>
                <a:gd name="T13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31">
                  <a:moveTo>
                    <a:pt x="6" y="131"/>
                  </a:moveTo>
                  <a:cubicBezTo>
                    <a:pt x="2" y="131"/>
                    <a:pt x="0" y="128"/>
                    <a:pt x="0" y="12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125"/>
                    <a:pt x="12" y="125"/>
                    <a:pt x="12" y="125"/>
                  </a:cubicBezTo>
                  <a:cubicBezTo>
                    <a:pt x="12" y="128"/>
                    <a:pt x="9" y="131"/>
                    <a:pt x="6" y="1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300">
                  <a:latin typeface="Trebuchet MS" panose="020B0603020202020204"/>
                </a:defRPr>
              </a:pPr>
              <a:r>
                <a:rPr lang="en-IN" sz="1733"/>
                <a:t> </a:t>
              </a:r>
            </a:p>
          </p:txBody>
        </p:sp>
        <p:sp>
          <p:nvSpPr>
            <p:cNvPr id="64" name="Freeform 850">
              <a:extLst>
                <a:ext uri="{FF2B5EF4-FFF2-40B4-BE49-F238E27FC236}">
                  <a16:creationId xmlns:a16="http://schemas.microsoft.com/office/drawing/2014/main" id="{DA05C495-093B-DCD7-64C3-32C6AB1B12A0}"/>
                </a:ext>
              </a:extLst>
            </p:cNvPr>
            <p:cNvSpPr/>
            <p:nvPr/>
          </p:nvSpPr>
          <p:spPr bwMode="auto">
            <a:xfrm>
              <a:off x="7064375" y="4210051"/>
              <a:ext cx="4763" cy="41275"/>
            </a:xfrm>
            <a:custGeom>
              <a:avLst/>
              <a:gdLst>
                <a:gd name="T0" fmla="*/ 7 w 13"/>
                <a:gd name="T1" fmla="*/ 93 h 93"/>
                <a:gd name="T2" fmla="*/ 0 w 13"/>
                <a:gd name="T3" fmla="*/ 87 h 93"/>
                <a:gd name="T4" fmla="*/ 0 w 13"/>
                <a:gd name="T5" fmla="*/ 6 h 93"/>
                <a:gd name="T6" fmla="*/ 7 w 13"/>
                <a:gd name="T7" fmla="*/ 0 h 93"/>
                <a:gd name="T8" fmla="*/ 13 w 13"/>
                <a:gd name="T9" fmla="*/ 6 h 93"/>
                <a:gd name="T10" fmla="*/ 13 w 13"/>
                <a:gd name="T11" fmla="*/ 87 h 93"/>
                <a:gd name="T12" fmla="*/ 7 w 13"/>
                <a:gd name="T13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93">
                  <a:moveTo>
                    <a:pt x="7" y="93"/>
                  </a:moveTo>
                  <a:cubicBezTo>
                    <a:pt x="3" y="93"/>
                    <a:pt x="0" y="90"/>
                    <a:pt x="0" y="8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0" y="0"/>
                    <a:pt x="13" y="3"/>
                    <a:pt x="13" y="6"/>
                  </a:cubicBezTo>
                  <a:cubicBezTo>
                    <a:pt x="13" y="87"/>
                    <a:pt x="13" y="87"/>
                    <a:pt x="13" y="87"/>
                  </a:cubicBezTo>
                  <a:cubicBezTo>
                    <a:pt x="13" y="90"/>
                    <a:pt x="10" y="93"/>
                    <a:pt x="7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300">
                  <a:latin typeface="Trebuchet MS" panose="020B0603020202020204"/>
                </a:defRPr>
              </a:pPr>
              <a:r>
                <a:rPr lang="en-IN" sz="1733"/>
                <a:t> </a:t>
              </a:r>
            </a:p>
          </p:txBody>
        </p:sp>
        <p:sp>
          <p:nvSpPr>
            <p:cNvPr id="65" name="Freeform 851">
              <a:extLst>
                <a:ext uri="{FF2B5EF4-FFF2-40B4-BE49-F238E27FC236}">
                  <a16:creationId xmlns:a16="http://schemas.microsoft.com/office/drawing/2014/main" id="{4182DD84-DB6A-9AA9-E092-7DE62A0DCDDD}"/>
                </a:ext>
              </a:extLst>
            </p:cNvPr>
            <p:cNvSpPr/>
            <p:nvPr/>
          </p:nvSpPr>
          <p:spPr bwMode="auto">
            <a:xfrm>
              <a:off x="7107238" y="4210051"/>
              <a:ext cx="6350" cy="41275"/>
            </a:xfrm>
            <a:custGeom>
              <a:avLst/>
              <a:gdLst>
                <a:gd name="T0" fmla="*/ 6 w 12"/>
                <a:gd name="T1" fmla="*/ 93 h 93"/>
                <a:gd name="T2" fmla="*/ 0 w 12"/>
                <a:gd name="T3" fmla="*/ 87 h 93"/>
                <a:gd name="T4" fmla="*/ 0 w 12"/>
                <a:gd name="T5" fmla="*/ 6 h 93"/>
                <a:gd name="T6" fmla="*/ 6 w 12"/>
                <a:gd name="T7" fmla="*/ 0 h 93"/>
                <a:gd name="T8" fmla="*/ 12 w 12"/>
                <a:gd name="T9" fmla="*/ 6 h 93"/>
                <a:gd name="T10" fmla="*/ 12 w 12"/>
                <a:gd name="T11" fmla="*/ 87 h 93"/>
                <a:gd name="T12" fmla="*/ 6 w 12"/>
                <a:gd name="T13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93">
                  <a:moveTo>
                    <a:pt x="6" y="93"/>
                  </a:moveTo>
                  <a:cubicBezTo>
                    <a:pt x="3" y="93"/>
                    <a:pt x="0" y="90"/>
                    <a:pt x="0" y="8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87"/>
                    <a:pt x="12" y="87"/>
                    <a:pt x="12" y="87"/>
                  </a:cubicBezTo>
                  <a:cubicBezTo>
                    <a:pt x="12" y="90"/>
                    <a:pt x="9" y="93"/>
                    <a:pt x="6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300">
                  <a:latin typeface="Trebuchet MS" panose="020B0603020202020204"/>
                </a:defRPr>
              </a:pPr>
              <a:r>
                <a:rPr lang="en-IN" sz="1733"/>
                <a:t> </a:t>
              </a:r>
            </a:p>
          </p:txBody>
        </p:sp>
      </p:grpSp>
      <p:sp>
        <p:nvSpPr>
          <p:cNvPr id="66" name="Google Shape;3642;p58">
            <a:extLst>
              <a:ext uri="{FF2B5EF4-FFF2-40B4-BE49-F238E27FC236}">
                <a16:creationId xmlns:a16="http://schemas.microsoft.com/office/drawing/2014/main" id="{65E004AE-F5CB-A87C-A04A-64AF2B7162E3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 flipH="1">
            <a:off x="4546820" y="1722417"/>
            <a:ext cx="35597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56" lvl="1" algn="ctr">
              <a:buClr>
                <a:schemeClr val="dk1"/>
              </a:buClr>
              <a:buSzPts val="2160"/>
              <a:defRPr sz="1300">
                <a:latin typeface="Trebuchet MS" panose="020B0603020202020204"/>
              </a:defRPr>
            </a:pPr>
            <a:r>
              <a:rPr lang="en-US" sz="12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Pilot team rollout will include alerts rollout to KAM field analytics team for a month</a:t>
            </a:r>
          </a:p>
        </p:txBody>
      </p:sp>
      <p:sp>
        <p:nvSpPr>
          <p:cNvPr id="67" name="Google Shape;3642;p58">
            <a:extLst>
              <a:ext uri="{FF2B5EF4-FFF2-40B4-BE49-F238E27FC236}">
                <a16:creationId xmlns:a16="http://schemas.microsoft.com/office/drawing/2014/main" id="{522A4306-5186-D982-3930-FE90B0B60633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 flipH="1">
            <a:off x="8683237" y="4272981"/>
            <a:ext cx="350876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56" lvl="1">
              <a:buClr>
                <a:schemeClr val="dk1"/>
              </a:buClr>
              <a:buSzPts val="2160"/>
              <a:defRPr sz="1300">
                <a:latin typeface="Trebuchet MS" panose="020B0603020202020204"/>
              </a:defRPr>
            </a:pPr>
            <a:r>
              <a:rPr lang="en-US" sz="12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Post Pilot team feedback, full field rollout</a:t>
            </a:r>
          </a:p>
        </p:txBody>
      </p:sp>
    </p:spTree>
    <p:extLst>
      <p:ext uri="{BB962C8B-B14F-4D97-AF65-F5344CB8AC3E}">
        <p14:creationId xmlns:p14="http://schemas.microsoft.com/office/powerpoint/2010/main" val="785031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E3780D-FE2E-4CC5-E6F0-93AF843A278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408736-AC58-AF86-B627-CE1258118F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5A8D5F-204D-9C00-D0B8-F3D2E432AD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anchor="ctr"/>
          <a:lstStyle/>
          <a:p>
            <a:r>
              <a:rPr lang="en-US" dirty="0" err="1"/>
              <a:t>XGBoost</a:t>
            </a:r>
            <a:r>
              <a:rPr lang="en-US" dirty="0"/>
              <a:t> for Patient Progression Prediction (1/2)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32B3EA-965A-59A5-B3D9-32476A58C893}"/>
              </a:ext>
            </a:extLst>
          </p:cNvPr>
          <p:cNvSpPr txBox="1"/>
          <p:nvPr/>
        </p:nvSpPr>
        <p:spPr bwMode="gray">
          <a:xfrm>
            <a:off x="957532" y="1570008"/>
            <a:ext cx="10455215" cy="44339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anchor="ctr">
            <a:noAutofit/>
          </a:bodyPr>
          <a:lstStyle/>
          <a:p>
            <a:pPr algn="ctr">
              <a:spcBef>
                <a:spcPts val="600"/>
              </a:spcBef>
              <a:buNone/>
            </a:pPr>
            <a:endParaRPr lang="en-US" b="1" i="0" dirty="0">
              <a:effectLst/>
              <a:latin typeface="fkGroteskNeue"/>
            </a:endParaRPr>
          </a:p>
          <a:p>
            <a:pPr>
              <a:spcBef>
                <a:spcPts val="600"/>
              </a:spcBef>
              <a:buNone/>
            </a:pPr>
            <a:r>
              <a:rPr lang="en-US" b="1" i="0" dirty="0">
                <a:effectLst/>
                <a:latin typeface="fkGroteskNeue"/>
              </a:rPr>
              <a:t>What is </a:t>
            </a:r>
            <a:r>
              <a:rPr lang="en-US" b="1" i="0" dirty="0" err="1">
                <a:effectLst/>
                <a:latin typeface="fkGroteskNeue"/>
              </a:rPr>
              <a:t>XGBoost</a:t>
            </a:r>
            <a:r>
              <a:rPr lang="en-US" b="1" i="0" dirty="0">
                <a:effectLst/>
                <a:latin typeface="fkGroteskNeue"/>
              </a:rPr>
              <a:t> and </a:t>
            </a:r>
            <a:r>
              <a:rPr lang="en-US" b="1" dirty="0">
                <a:latin typeface="fkGroteskNeue"/>
              </a:rPr>
              <a:t>How it works</a:t>
            </a:r>
            <a:r>
              <a:rPr lang="en-US" b="1" i="0" dirty="0">
                <a:effectLst/>
                <a:latin typeface="fkGroteskNeue"/>
              </a:rPr>
              <a:t>?</a:t>
            </a:r>
          </a:p>
          <a:p>
            <a:pPr algn="l">
              <a:buNone/>
            </a:pPr>
            <a:endParaRPr lang="en-US" b="1" i="0" dirty="0">
              <a:effectLst/>
              <a:latin typeface="fkGrotesk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  <a:latin typeface="fkGroteskNeue"/>
              </a:rPr>
              <a:t>XGBoost</a:t>
            </a:r>
            <a:r>
              <a:rPr lang="en-US" b="0" i="0" dirty="0">
                <a:effectLst/>
                <a:latin typeface="fkGroteskNeue"/>
              </a:rPr>
              <a:t> (Extreme Gradient Boosting) is a state-of-the-art machine learning algorithm designed for structured (tabular) data, like patient records</a:t>
            </a:r>
            <a:endParaRPr lang="en-US" dirty="0">
              <a:latin typeface="fkGroteskNeue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fkGroteskNeue"/>
              </a:rPr>
              <a:t>Ensemble of Decision Trees: </a:t>
            </a:r>
            <a:r>
              <a:rPr lang="en-US" dirty="0" err="1">
                <a:latin typeface="fkGroteskNeue"/>
              </a:rPr>
              <a:t>XGBoost</a:t>
            </a:r>
            <a:r>
              <a:rPr lang="en-US" dirty="0">
                <a:latin typeface="fkGroteskNeue"/>
              </a:rPr>
              <a:t> builds a series of decision trees, where each tree learns from the errors of the previous ones. Each tree splits the data based on feature values, asking “if-then” questions to predict outcomes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fkGroteskNeue"/>
              </a:rPr>
              <a:t>Handles Non-Linearity &amp; Feature Interactions: </a:t>
            </a:r>
            <a:r>
              <a:rPr lang="en-US" dirty="0" err="1">
                <a:latin typeface="fkGroteskNeue"/>
              </a:rPr>
              <a:t>XGBoost</a:t>
            </a:r>
            <a:r>
              <a:rPr lang="en-US" dirty="0">
                <a:latin typeface="fkGroteskNeue"/>
              </a:rPr>
              <a:t> can capture complex, non-linear patterns and interactions between multiple patient features, which are common in healthcare data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fkGroteskNeue"/>
              </a:rPr>
              <a:t>Feature</a:t>
            </a:r>
            <a:r>
              <a:rPr lang="en-US" dirty="0">
                <a:latin typeface="fkGroteskNeue"/>
              </a:rPr>
              <a:t> </a:t>
            </a:r>
            <a:r>
              <a:rPr lang="en-US" b="1" dirty="0">
                <a:latin typeface="fkGroteskNeue"/>
              </a:rPr>
              <a:t>Importance</a:t>
            </a:r>
            <a:r>
              <a:rPr lang="en-US" dirty="0">
                <a:latin typeface="fkGroteskNeue"/>
              </a:rPr>
              <a:t>: The model identifies which features are most predictive, helping understand key factors for progression</a:t>
            </a:r>
            <a:endParaRPr lang="en-US" dirty="0">
              <a:latin typeface="berkeleyMon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3408093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A2CD4-3C56-A5FC-DC7F-342FD757B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800C54-0D24-E163-38BD-55F175CFAAB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82FF64-39E4-D2C9-7C85-CA7E50654BF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anchor="ctr"/>
          <a:lstStyle/>
          <a:p>
            <a:r>
              <a:rPr lang="en-US" dirty="0" err="1"/>
              <a:t>XGBoost</a:t>
            </a:r>
            <a:r>
              <a:rPr lang="en-US" dirty="0"/>
              <a:t> for Patient Progression Prediction (2/2)</a:t>
            </a: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1FB96AF3-EF8A-5874-7C06-2C1BFF267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3" y="1335357"/>
            <a:ext cx="4850917" cy="493776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93232EE-F57F-BEDC-A9ED-C7387794E9BF}"/>
              </a:ext>
            </a:extLst>
          </p:cNvPr>
          <p:cNvSpPr/>
          <p:nvPr/>
        </p:nvSpPr>
        <p:spPr>
          <a:xfrm>
            <a:off x="715991" y="1475117"/>
            <a:ext cx="1250831" cy="543464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IN" sz="1200" b="1" dirty="0">
                <a:solidFill>
                  <a:schemeClr val="bg1"/>
                </a:solidFill>
              </a:rPr>
              <a:t>Training a </a:t>
            </a:r>
          </a:p>
          <a:p>
            <a:pPr algn="ctr">
              <a:lnSpc>
                <a:spcPct val="90000"/>
              </a:lnSpc>
            </a:pPr>
            <a:r>
              <a:rPr lang="en-IN" sz="1200" b="1" dirty="0">
                <a:solidFill>
                  <a:schemeClr val="bg1"/>
                </a:solidFill>
              </a:rPr>
              <a:t>XG Boost Tree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7434413-6085-6D5B-1A1D-C7EC399A4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2061" y="1335357"/>
            <a:ext cx="5882099" cy="493776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B6CB3E2-4AB2-2746-5645-E5E3AE0F86B7}"/>
              </a:ext>
            </a:extLst>
          </p:cNvPr>
          <p:cNvSpPr/>
          <p:nvPr/>
        </p:nvSpPr>
        <p:spPr>
          <a:xfrm>
            <a:off x="5785448" y="1475116"/>
            <a:ext cx="1771292" cy="54346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IN" sz="1200" b="1" dirty="0">
                <a:solidFill>
                  <a:schemeClr val="bg1"/>
                </a:solidFill>
              </a:rPr>
              <a:t>Predicting patient progression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7C84F2-48D9-11E1-DAEE-EEC497D3C80D}"/>
              </a:ext>
            </a:extLst>
          </p:cNvPr>
          <p:cNvSpPr txBox="1"/>
          <p:nvPr/>
        </p:nvSpPr>
        <p:spPr bwMode="gray">
          <a:xfrm>
            <a:off x="6211019" y="3545457"/>
            <a:ext cx="672860" cy="207034"/>
          </a:xfrm>
          <a:prstGeom prst="rect">
            <a:avLst/>
          </a:prstGeom>
          <a:solidFill>
            <a:srgbClr val="2B81AA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rtlCol="0" anchor="ctr">
            <a:normAutofit fontScale="47500" lnSpcReduction="20000"/>
          </a:bodyPr>
          <a:lstStyle/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Progressed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C134AC-957A-C587-AAEC-8C2F4CF63896}"/>
              </a:ext>
            </a:extLst>
          </p:cNvPr>
          <p:cNvSpPr txBox="1"/>
          <p:nvPr/>
        </p:nvSpPr>
        <p:spPr bwMode="gray">
          <a:xfrm>
            <a:off x="10253932" y="3540853"/>
            <a:ext cx="672860" cy="207034"/>
          </a:xfrm>
          <a:prstGeom prst="rect">
            <a:avLst/>
          </a:prstGeom>
          <a:solidFill>
            <a:srgbClr val="2B81AA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rtlCol="0" anchor="ctr">
            <a:normAutofit fontScale="47500" lnSpcReduction="20000"/>
          </a:bodyPr>
          <a:lstStyle/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Progressed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23B120-7E30-65A0-D824-38F9D421BB45}"/>
              </a:ext>
            </a:extLst>
          </p:cNvPr>
          <p:cNvSpPr txBox="1"/>
          <p:nvPr/>
        </p:nvSpPr>
        <p:spPr bwMode="gray">
          <a:xfrm>
            <a:off x="7606567" y="3540852"/>
            <a:ext cx="672860" cy="289275"/>
          </a:xfrm>
          <a:prstGeom prst="rect">
            <a:avLst/>
          </a:prstGeom>
          <a:solidFill>
            <a:srgbClr val="F88080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Not Progressed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28E169-B480-C761-E0D5-3A15D3FF65C1}"/>
              </a:ext>
            </a:extLst>
          </p:cNvPr>
          <p:cNvSpPr txBox="1"/>
          <p:nvPr/>
        </p:nvSpPr>
        <p:spPr bwMode="gray">
          <a:xfrm>
            <a:off x="8442386" y="4301706"/>
            <a:ext cx="672860" cy="207034"/>
          </a:xfrm>
          <a:prstGeom prst="rect">
            <a:avLst/>
          </a:prstGeom>
          <a:solidFill>
            <a:srgbClr val="2B81AA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rtlCol="0" anchor="ctr">
            <a:normAutofit fontScale="47500" lnSpcReduction="20000"/>
          </a:bodyPr>
          <a:lstStyle/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Progressed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73AE14-4AB8-382A-8B72-BE5758B868E2}"/>
              </a:ext>
            </a:extLst>
          </p:cNvPr>
          <p:cNvSpPr txBox="1"/>
          <p:nvPr/>
        </p:nvSpPr>
        <p:spPr bwMode="gray">
          <a:xfrm>
            <a:off x="8862590" y="1759789"/>
            <a:ext cx="672860" cy="146222"/>
          </a:xfrm>
          <a:prstGeom prst="rect">
            <a:avLst/>
          </a:prstGeom>
          <a:solidFill>
            <a:srgbClr val="2B81AA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rtlCol="0" anchor="ctr">
            <a:normAutofit lnSpcReduction="10000"/>
          </a:bodyPr>
          <a:lstStyle/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Feature 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4FC632-C972-BAB3-5F3F-D1157BBF4C5B}"/>
              </a:ext>
            </a:extLst>
          </p:cNvPr>
          <p:cNvSpPr txBox="1"/>
          <p:nvPr/>
        </p:nvSpPr>
        <p:spPr bwMode="gray">
          <a:xfrm>
            <a:off x="8862590" y="1906011"/>
            <a:ext cx="672860" cy="146222"/>
          </a:xfrm>
          <a:prstGeom prst="rect">
            <a:avLst/>
          </a:prstGeom>
          <a:solidFill>
            <a:srgbClr val="2B81AA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rtlCol="0" anchor="ctr">
            <a:normAutofit lnSpcReduction="10000"/>
          </a:bodyPr>
          <a:lstStyle/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Feature B</a:t>
            </a:r>
          </a:p>
        </p:txBody>
      </p:sp>
    </p:spTree>
    <p:extLst>
      <p:ext uri="{BB962C8B-B14F-4D97-AF65-F5344CB8AC3E}">
        <p14:creationId xmlns:p14="http://schemas.microsoft.com/office/powerpoint/2010/main" val="964561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2A2CE2-32F3-57F4-97CB-E94BCA2809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1CE3E4-2C14-30BF-A33D-6C44E962FE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B394CE-EF3D-F7B5-8421-7FF84A62604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Feature importance</a:t>
            </a:r>
            <a:endParaRPr lang="en-IN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0624E02-CA09-BA35-B6BE-3D038503E1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9353188"/>
              </p:ext>
            </p:extLst>
          </p:nvPr>
        </p:nvGraphicFramePr>
        <p:xfrm>
          <a:off x="367675" y="1322479"/>
          <a:ext cx="9571758" cy="4813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33109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459F8A-90DF-8356-125C-AA60A9DE417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DFA46-C541-7EC7-0AA9-6A098FA13F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D37FC5-00BC-063C-378B-C40123B866F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" y="233650"/>
            <a:ext cx="11266098" cy="790173"/>
          </a:xfrm>
        </p:spPr>
        <p:txBody>
          <a:bodyPr anchor="ctr">
            <a:normAutofit fontScale="85000" lnSpcReduction="10000"/>
          </a:bodyPr>
          <a:lstStyle/>
          <a:p>
            <a:r>
              <a:rPr lang="en-US" dirty="0"/>
              <a:t>RS− patients remain on first-line therapy 25% less time than RS+ patients, indicating faster disease progression or lower response to initial treatment</a:t>
            </a:r>
            <a:endParaRPr lang="en-IN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7943FED-4725-5127-38D7-2DFEDA51A2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5678061"/>
              </p:ext>
            </p:extLst>
          </p:nvPr>
        </p:nvGraphicFramePr>
        <p:xfrm>
          <a:off x="609601" y="1625280"/>
          <a:ext cx="3047999" cy="3843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8E02611-4B11-41CD-BAA3-6FB5D52500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0220016"/>
              </p:ext>
            </p:extLst>
          </p:nvPr>
        </p:nvGraphicFramePr>
        <p:xfrm>
          <a:off x="3833962" y="1625279"/>
          <a:ext cx="3932687" cy="3843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D3FD669-A14B-BB5A-B19A-815596837163}"/>
              </a:ext>
            </a:extLst>
          </p:cNvPr>
          <p:cNvSpPr txBox="1"/>
          <p:nvPr/>
        </p:nvSpPr>
        <p:spPr bwMode="gray">
          <a:xfrm>
            <a:off x="4592193" y="2309003"/>
            <a:ext cx="586597" cy="241539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rtlCol="0">
            <a:normAutofit/>
          </a:bodyPr>
          <a:lstStyle/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8.9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7C201B-1771-2BF5-B003-15CD36729A9F}"/>
              </a:ext>
            </a:extLst>
          </p:cNvPr>
          <p:cNvSpPr txBox="1"/>
          <p:nvPr/>
        </p:nvSpPr>
        <p:spPr bwMode="gray">
          <a:xfrm>
            <a:off x="5650302" y="2309003"/>
            <a:ext cx="586597" cy="241539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rtlCol="0">
            <a:normAutofit/>
          </a:bodyPr>
          <a:lstStyle/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8.8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10140E-6237-83F4-3245-225220A4F024}"/>
              </a:ext>
            </a:extLst>
          </p:cNvPr>
          <p:cNvSpPr txBox="1"/>
          <p:nvPr/>
        </p:nvSpPr>
        <p:spPr bwMode="gray">
          <a:xfrm>
            <a:off x="6778872" y="2309003"/>
            <a:ext cx="586597" cy="241539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rtlCol="0">
            <a:normAutofit/>
          </a:bodyPr>
          <a:lstStyle/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9.3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AC3D7A0B-AA27-6D22-7EF0-2BE93A97F7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984810"/>
              </p:ext>
            </p:extLst>
          </p:nvPr>
        </p:nvGraphicFramePr>
        <p:xfrm>
          <a:off x="7943011" y="1625279"/>
          <a:ext cx="3932687" cy="3843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21F00FB-8E65-25F9-66FD-1397446BB8AD}"/>
              </a:ext>
            </a:extLst>
          </p:cNvPr>
          <p:cNvSpPr txBox="1"/>
          <p:nvPr/>
        </p:nvSpPr>
        <p:spPr bwMode="gray">
          <a:xfrm>
            <a:off x="8701242" y="2309003"/>
            <a:ext cx="586597" cy="241539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rtlCol="0">
            <a:normAutofit/>
          </a:bodyPr>
          <a:lstStyle/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lang="en-IN" sz="1400" b="1" dirty="0">
                <a:solidFill>
                  <a:srgbClr val="003B5C"/>
                </a:solidFill>
                <a:latin typeface="Source Sans Pro"/>
              </a:rPr>
              <a:t>11.3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003B5C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26FFD1-6979-185F-5A1C-8FF8DC95DCF7}"/>
              </a:ext>
            </a:extLst>
          </p:cNvPr>
          <p:cNvSpPr txBox="1"/>
          <p:nvPr/>
        </p:nvSpPr>
        <p:spPr bwMode="gray">
          <a:xfrm>
            <a:off x="9759351" y="2309003"/>
            <a:ext cx="586597" cy="241539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rtlCol="0">
            <a:normAutofit/>
          </a:bodyPr>
          <a:lstStyle/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11.4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CB8F23-FF19-7843-62D7-58014D5DF5E1}"/>
              </a:ext>
            </a:extLst>
          </p:cNvPr>
          <p:cNvSpPr txBox="1"/>
          <p:nvPr/>
        </p:nvSpPr>
        <p:spPr bwMode="gray">
          <a:xfrm>
            <a:off x="10887921" y="2309003"/>
            <a:ext cx="586597" cy="241539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rtlCol="0">
            <a:normAutofit/>
          </a:bodyPr>
          <a:lstStyle/>
          <a:p>
            <a:pPr marL="9525" marR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5EB8"/>
              </a:buClr>
              <a:buSzPct val="100000"/>
              <a:tabLst/>
            </a:pPr>
            <a:r>
              <a:rPr lang="en-IN" sz="1400" b="1" dirty="0">
                <a:solidFill>
                  <a:srgbClr val="003B5C"/>
                </a:solidFill>
                <a:latin typeface="Source Sans Pro"/>
              </a:rPr>
              <a:t>11.3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003B5C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8024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3B67-1682-8A20-A639-3326D79567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Appendix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B33BB5-7FE1-7EDF-03C6-C7B1E8C737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283318-18A2-7829-651A-947E8E9CC7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z="1000" spc="100"/>
              <a:t>CONFIDENTIAL</a:t>
            </a:r>
            <a:r>
              <a:rPr lang="en-US" sz="1000"/>
              <a:t>  </a:t>
            </a:r>
            <a:r>
              <a:rPr lang="en-US"/>
              <a:t>|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65983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5A1C26-6C55-B018-90F5-3E474FD0221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085677-D085-01EE-4BE7-218453D2EF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7667C5-43AE-4536-1604-547E4EEE7C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anchor="ctr"/>
          <a:lstStyle/>
          <a:p>
            <a:r>
              <a:rPr lang="en-IN" dirty="0"/>
              <a:t>Patient eligibility for Rytelo Alerts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0735AB7-46B4-6B71-81FC-E95EA3F5A44B}"/>
              </a:ext>
            </a:extLst>
          </p:cNvPr>
          <p:cNvGraphicFramePr>
            <a:graphicFrameLocks noGrp="1"/>
          </p:cNvGraphicFramePr>
          <p:nvPr/>
        </p:nvGraphicFramePr>
        <p:xfrm>
          <a:off x="166255" y="1012641"/>
          <a:ext cx="6942211" cy="541992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28277">
                  <a:extLst>
                    <a:ext uri="{9D8B030D-6E8A-4147-A177-3AD203B41FA5}">
                      <a16:colId xmlns:a16="http://schemas.microsoft.com/office/drawing/2014/main" val="2664461682"/>
                    </a:ext>
                  </a:extLst>
                </a:gridCol>
                <a:gridCol w="4267240">
                  <a:extLst>
                    <a:ext uri="{9D8B030D-6E8A-4147-A177-3AD203B41FA5}">
                      <a16:colId xmlns:a16="http://schemas.microsoft.com/office/drawing/2014/main" val="2163733693"/>
                    </a:ext>
                  </a:extLst>
                </a:gridCol>
                <a:gridCol w="1246694">
                  <a:extLst>
                    <a:ext uri="{9D8B030D-6E8A-4147-A177-3AD203B41FA5}">
                      <a16:colId xmlns:a16="http://schemas.microsoft.com/office/drawing/2014/main" val="2601706963"/>
                    </a:ext>
                  </a:extLst>
                </a:gridCol>
              </a:tblGrid>
              <a:tr h="737843">
                <a:tc>
                  <a:txBody>
                    <a:bodyPr/>
                    <a:lstStyle/>
                    <a:p>
                      <a:r>
                        <a:rPr lang="en-IN" sz="1400" dirty="0"/>
                        <a:t>Patient Cohort within No del(5q)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Eligible Patient Scenarios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NCCN Guideline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5027011"/>
                  </a:ext>
                </a:extLst>
              </a:tr>
              <a:tr h="9865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dirty="0"/>
                        <a:t>RS –</a:t>
                      </a:r>
                      <a:r>
                        <a:rPr lang="en-IN" sz="1200" b="0" dirty="0" err="1"/>
                        <a:t>ve</a:t>
                      </a:r>
                      <a:r>
                        <a:rPr lang="en-IN" sz="1200" b="0" dirty="0"/>
                        <a:t> (ESA refractory or relapse)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Second-line therapy</a:t>
                      </a:r>
                      <a:r>
                        <a:rPr lang="en-US" sz="1200" dirty="0"/>
                        <a:t> for those with serum EPO levels ≤500 </a:t>
                      </a:r>
                      <a:r>
                        <a:rPr lang="en-US" sz="1200" dirty="0" err="1"/>
                        <a:t>mU</a:t>
                      </a:r>
                      <a:r>
                        <a:rPr lang="en-US" sz="1200" dirty="0"/>
                        <a:t>/mL 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who have not responded to or have lost response </a:t>
                      </a:r>
                      <a:r>
                        <a:rPr lang="en-US" sz="1200" dirty="0"/>
                        <a:t>to erythropoiesis-stimulating agents (ESAs)</a:t>
                      </a:r>
                      <a:endParaRPr lang="en-IN" sz="1200" b="0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0" dirty="0"/>
                        <a:t>Category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267733"/>
                  </a:ext>
                </a:extLst>
              </a:tr>
              <a:tr h="12183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dirty="0"/>
                        <a:t>RS –</a:t>
                      </a:r>
                      <a:r>
                        <a:rPr lang="en-IN" sz="1200" b="0" dirty="0" err="1"/>
                        <a:t>ve</a:t>
                      </a:r>
                      <a:r>
                        <a:rPr lang="en-IN" sz="1200" b="0" dirty="0"/>
                        <a:t> (post ESA and </a:t>
                      </a:r>
                      <a:r>
                        <a:rPr lang="en-US" sz="1200" dirty="0"/>
                        <a:t>Luspatercept)</a:t>
                      </a:r>
                      <a:endParaRPr lang="en-IN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Third-line therapy</a:t>
                      </a:r>
                      <a:r>
                        <a:rPr lang="en-US" sz="1200" dirty="0"/>
                        <a:t> for those with serum erythropoietin (EPO) levels ≤500 </a:t>
                      </a:r>
                      <a:r>
                        <a:rPr lang="en-US" sz="1200" dirty="0" err="1"/>
                        <a:t>mU</a:t>
                      </a:r>
                      <a:r>
                        <a:rPr lang="en-US" sz="1200" dirty="0"/>
                        <a:t>/mL after inadequate response to erythropoiesis-stimulating agents (ESAs) and Luspatercept</a:t>
                      </a:r>
                      <a:endParaRPr lang="en-IN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dirty="0"/>
                        <a:t>Category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6521631"/>
                  </a:ext>
                </a:extLst>
              </a:tr>
              <a:tr h="10943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dirty="0"/>
                        <a:t>RS +</a:t>
                      </a:r>
                      <a:r>
                        <a:rPr lang="en-IN" sz="1200" b="0" dirty="0" err="1"/>
                        <a:t>ve</a:t>
                      </a:r>
                      <a:endParaRPr lang="en-IN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Second-line therapy</a:t>
                      </a:r>
                      <a:r>
                        <a:rPr lang="en-US" sz="1200" dirty="0"/>
                        <a:t> for those with serum EPO levels ≤500 </a:t>
                      </a:r>
                      <a:r>
                        <a:rPr lang="en-US" sz="1200" dirty="0" err="1"/>
                        <a:t>mU</a:t>
                      </a:r>
                      <a:r>
                        <a:rPr lang="en-US" sz="1200" dirty="0"/>
                        <a:t>/mL 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who have not responded to or have lost response </a:t>
                      </a:r>
                      <a:r>
                        <a:rPr lang="en-US" sz="1200" dirty="0"/>
                        <a:t>to Luspatercept</a:t>
                      </a:r>
                      <a:endParaRPr lang="en-IN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dirty="0"/>
                        <a:t>Category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8716288"/>
                  </a:ext>
                </a:extLst>
              </a:tr>
              <a:tr h="6812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dirty="0"/>
                        <a:t>RS –</a:t>
                      </a:r>
                      <a:r>
                        <a:rPr lang="en-IN" sz="1200" b="0" dirty="0" err="1"/>
                        <a:t>ve</a:t>
                      </a:r>
                      <a:r>
                        <a:rPr lang="en-IN" sz="1200" b="0" dirty="0"/>
                        <a:t> (ESA Ineligible)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First-line therapy</a:t>
                      </a:r>
                      <a:r>
                        <a:rPr lang="en-US" sz="1200" dirty="0"/>
                        <a:t> for individuals with serum EPO levels &gt;500 </a:t>
                      </a:r>
                      <a:r>
                        <a:rPr lang="en-US" sz="1200" dirty="0" err="1"/>
                        <a:t>mU</a:t>
                      </a:r>
                      <a:r>
                        <a:rPr lang="en-US" sz="1200" dirty="0"/>
                        <a:t>/mL who are unlikely to benefit from immunosuppressive therapy</a:t>
                      </a:r>
                      <a:endParaRPr lang="en-IN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0" dirty="0"/>
                        <a:t>Category 2A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0998519"/>
                  </a:ext>
                </a:extLst>
              </a:tr>
              <a:tr h="701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dirty="0"/>
                        <a:t>RS +</a:t>
                      </a:r>
                      <a:r>
                        <a:rPr lang="en-IN" sz="1200" b="0" dirty="0" err="1"/>
                        <a:t>ve</a:t>
                      </a:r>
                      <a:r>
                        <a:rPr lang="en-IN" sz="1200" b="0" dirty="0"/>
                        <a:t> (ESA Ineligible)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First-line therapy</a:t>
                      </a:r>
                      <a:r>
                        <a:rPr lang="en-US" sz="1200" dirty="0"/>
                        <a:t> for those with serum EPO levels &gt;500 </a:t>
                      </a:r>
                      <a:r>
                        <a:rPr lang="en-US" sz="1200" dirty="0" err="1"/>
                        <a:t>mU</a:t>
                      </a:r>
                      <a:r>
                        <a:rPr lang="en-US" sz="1200" dirty="0"/>
                        <a:t>/mL (Ineligible for ESAs)</a:t>
                      </a:r>
                      <a:endParaRPr lang="en-IN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0" dirty="0"/>
                        <a:t>Category 2A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99734"/>
                  </a:ext>
                </a:extLst>
              </a:tr>
            </a:tbl>
          </a:graphicData>
        </a:graphic>
      </p:graphicFrame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B3641147-5B52-B6B8-D060-06A9F45B098F}"/>
              </a:ext>
            </a:extLst>
          </p:cNvPr>
          <p:cNvSpPr/>
          <p:nvPr/>
        </p:nvSpPr>
        <p:spPr>
          <a:xfrm rot="5400000">
            <a:off x="6902750" y="2127910"/>
            <a:ext cx="944628" cy="266368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BDD303-ABB0-FC02-FC9D-92ED4E7F7818}"/>
              </a:ext>
            </a:extLst>
          </p:cNvPr>
          <p:cNvSpPr txBox="1"/>
          <p:nvPr/>
        </p:nvSpPr>
        <p:spPr>
          <a:xfrm>
            <a:off x="7808181" y="1788780"/>
            <a:ext cx="4150581" cy="944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Patients currently on ESAs as first-line therapy and showing signs of no response or </a:t>
            </a:r>
            <a:r>
              <a:rPr lang="en-IN" sz="1100" dirty="0"/>
              <a:t>about to </a:t>
            </a:r>
            <a:r>
              <a:rPr lang="en-IN" sz="1100" b="1" i="1" dirty="0"/>
              <a:t>progress to next line</a:t>
            </a:r>
          </a:p>
          <a:p>
            <a:endParaRPr lang="en-IN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Patients who previously received ESAs as first-line therapy and are </a:t>
            </a:r>
            <a:r>
              <a:rPr lang="en-US" sz="1100" b="1" i="1" dirty="0"/>
              <a:t>approaching relapse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A5384A-2A65-60C0-000E-D5A5256A0481}"/>
              </a:ext>
            </a:extLst>
          </p:cNvPr>
          <p:cNvSpPr txBox="1"/>
          <p:nvPr/>
        </p:nvSpPr>
        <p:spPr>
          <a:xfrm>
            <a:off x="7808180" y="1000094"/>
            <a:ext cx="4150582" cy="72136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>
            <a:noAutofit/>
          </a:bodyPr>
          <a:lstStyle/>
          <a:p>
            <a:pPr algn="ctr"/>
            <a:r>
              <a:rPr lang="en-IN" sz="1400" b="1" dirty="0">
                <a:solidFill>
                  <a:schemeClr val="bg1"/>
                </a:solidFill>
              </a:rPr>
              <a:t>Predictive Triggers from patient claims data</a:t>
            </a:r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E4C3C5FB-C08C-DFCC-0B31-CEE03256D11E}"/>
              </a:ext>
            </a:extLst>
          </p:cNvPr>
          <p:cNvSpPr/>
          <p:nvPr/>
        </p:nvSpPr>
        <p:spPr>
          <a:xfrm rot="5400000">
            <a:off x="6818317" y="3233815"/>
            <a:ext cx="1113493" cy="266368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A80B37-0328-099C-75F8-6968CE39FC69}"/>
              </a:ext>
            </a:extLst>
          </p:cNvPr>
          <p:cNvSpPr txBox="1"/>
          <p:nvPr/>
        </p:nvSpPr>
        <p:spPr>
          <a:xfrm>
            <a:off x="7808179" y="2800731"/>
            <a:ext cx="4150581" cy="11594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Patients who have received ESAs and Luspatercept in any sequence as first- and second-line therapy </a:t>
            </a:r>
            <a:r>
              <a:rPr lang="en-IN" sz="1200" dirty="0"/>
              <a:t>and are about to </a:t>
            </a:r>
            <a:r>
              <a:rPr lang="en-IN" sz="1200" b="1" i="1" dirty="0"/>
              <a:t>progress to next line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Patients who have received ESAs and Luspatercept in any sequence as first- and second-line therapy </a:t>
            </a:r>
            <a:r>
              <a:rPr lang="en-IN" sz="1200" dirty="0"/>
              <a:t>and approaching relapse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623256F-657E-1F4E-9340-82548C5CD0CB}"/>
              </a:ext>
            </a:extLst>
          </p:cNvPr>
          <p:cNvSpPr/>
          <p:nvPr/>
        </p:nvSpPr>
        <p:spPr>
          <a:xfrm>
            <a:off x="7498080" y="1794053"/>
            <a:ext cx="288000" cy="28800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i="1" dirty="0"/>
              <a:t>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D364B21-0D5A-E18C-17B4-0FB613449F0C}"/>
              </a:ext>
            </a:extLst>
          </p:cNvPr>
          <p:cNvSpPr/>
          <p:nvPr/>
        </p:nvSpPr>
        <p:spPr>
          <a:xfrm>
            <a:off x="7498080" y="2766069"/>
            <a:ext cx="288000" cy="28800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i="1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D66BE0-7FF1-341F-E115-1AD51BEB3C47}"/>
              </a:ext>
            </a:extLst>
          </p:cNvPr>
          <p:cNvSpPr txBox="1"/>
          <p:nvPr/>
        </p:nvSpPr>
        <p:spPr>
          <a:xfrm>
            <a:off x="7808179" y="5037877"/>
            <a:ext cx="4150581" cy="13946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Difficult to predict qualifying patients from claims data given there is no treatment history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8875AF5-2F23-E4C9-2057-0584AB88F230}"/>
              </a:ext>
            </a:extLst>
          </p:cNvPr>
          <p:cNvSpPr/>
          <p:nvPr/>
        </p:nvSpPr>
        <p:spPr>
          <a:xfrm>
            <a:off x="7497659" y="3960143"/>
            <a:ext cx="288000" cy="28800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i="1" dirty="0"/>
              <a:t>3</a:t>
            </a:r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272EE906-0E8E-A074-8A42-40618397CBBB}"/>
              </a:ext>
            </a:extLst>
          </p:cNvPr>
          <p:cNvSpPr/>
          <p:nvPr/>
        </p:nvSpPr>
        <p:spPr>
          <a:xfrm rot="5400000">
            <a:off x="6703732" y="5643060"/>
            <a:ext cx="1349854" cy="307932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B6F477-4518-8F59-D0D1-DFAFA8236711}"/>
              </a:ext>
            </a:extLst>
          </p:cNvPr>
          <p:cNvSpPr txBox="1"/>
          <p:nvPr/>
        </p:nvSpPr>
        <p:spPr>
          <a:xfrm>
            <a:off x="7808179" y="4027801"/>
            <a:ext cx="4150581" cy="944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Patients currently on Luspatercept as first-line therapy and showing signs of no response or </a:t>
            </a:r>
            <a:r>
              <a:rPr lang="en-IN" sz="1100" dirty="0"/>
              <a:t>about to </a:t>
            </a:r>
            <a:r>
              <a:rPr lang="en-IN" sz="1100" b="1" i="1" dirty="0"/>
              <a:t>progress to next line</a:t>
            </a:r>
            <a:endParaRPr lang="en-IN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Patients who previously received Luspatercept as first-line therapy and are </a:t>
            </a:r>
            <a:r>
              <a:rPr lang="en-US" sz="1100" b="1" i="1" dirty="0"/>
              <a:t>approaching relapse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2E7579E-9E72-D8FB-2C61-B513D4DB232A}"/>
              </a:ext>
            </a:extLst>
          </p:cNvPr>
          <p:cNvSpPr/>
          <p:nvPr/>
        </p:nvSpPr>
        <p:spPr>
          <a:xfrm>
            <a:off x="7520179" y="5036508"/>
            <a:ext cx="288000" cy="28800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i="1" dirty="0"/>
              <a:t>4</a:t>
            </a:r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980893A7-0EF7-8080-C0CC-C0F396C68A55}"/>
              </a:ext>
            </a:extLst>
          </p:cNvPr>
          <p:cNvSpPr/>
          <p:nvPr/>
        </p:nvSpPr>
        <p:spPr>
          <a:xfrm rot="5400000">
            <a:off x="6831878" y="4397120"/>
            <a:ext cx="1113493" cy="288000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9733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D0080-6259-7B94-9DC4-57B96BE48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AD0D33-3F03-932D-CA06-B500B6B1549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57620D-B194-89A4-F809-784DFC6796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1521E5-1C5C-10D4-6702-D83FBC8549D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anchor="ctr"/>
          <a:lstStyle/>
          <a:p>
            <a:r>
              <a:rPr lang="en-IN" dirty="0"/>
              <a:t>Patient eligibility for Rytelo Alerts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EBAD182-B796-7668-D5D3-EDF84C6B7CCF}"/>
              </a:ext>
            </a:extLst>
          </p:cNvPr>
          <p:cNvGraphicFramePr>
            <a:graphicFrameLocks noGrp="1"/>
          </p:cNvGraphicFramePr>
          <p:nvPr/>
        </p:nvGraphicFramePr>
        <p:xfrm>
          <a:off x="166255" y="1012641"/>
          <a:ext cx="6942211" cy="541992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28277">
                  <a:extLst>
                    <a:ext uri="{9D8B030D-6E8A-4147-A177-3AD203B41FA5}">
                      <a16:colId xmlns:a16="http://schemas.microsoft.com/office/drawing/2014/main" val="2664461682"/>
                    </a:ext>
                  </a:extLst>
                </a:gridCol>
                <a:gridCol w="4267240">
                  <a:extLst>
                    <a:ext uri="{9D8B030D-6E8A-4147-A177-3AD203B41FA5}">
                      <a16:colId xmlns:a16="http://schemas.microsoft.com/office/drawing/2014/main" val="2163733693"/>
                    </a:ext>
                  </a:extLst>
                </a:gridCol>
                <a:gridCol w="1246694">
                  <a:extLst>
                    <a:ext uri="{9D8B030D-6E8A-4147-A177-3AD203B41FA5}">
                      <a16:colId xmlns:a16="http://schemas.microsoft.com/office/drawing/2014/main" val="2601706963"/>
                    </a:ext>
                  </a:extLst>
                </a:gridCol>
              </a:tblGrid>
              <a:tr h="737843">
                <a:tc>
                  <a:txBody>
                    <a:bodyPr/>
                    <a:lstStyle/>
                    <a:p>
                      <a:r>
                        <a:rPr lang="en-IN" sz="1400" dirty="0"/>
                        <a:t>Patient Cohort within No del(5q)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Eligible Patient Scenarios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NCCN Guideline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5027011"/>
                  </a:ext>
                </a:extLst>
              </a:tr>
              <a:tr h="9865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dirty="0"/>
                        <a:t>RS –</a:t>
                      </a:r>
                      <a:r>
                        <a:rPr lang="en-IN" sz="1200" b="0" dirty="0" err="1"/>
                        <a:t>ve</a:t>
                      </a:r>
                      <a:r>
                        <a:rPr lang="en-IN" sz="1200" b="0" dirty="0"/>
                        <a:t> (ESA refractory or relapse)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Second-line therapy</a:t>
                      </a:r>
                      <a:r>
                        <a:rPr lang="en-US" sz="1200" dirty="0"/>
                        <a:t> for those with serum EPO levels ≤500 </a:t>
                      </a:r>
                      <a:r>
                        <a:rPr lang="en-US" sz="1200" dirty="0" err="1"/>
                        <a:t>mU</a:t>
                      </a:r>
                      <a:r>
                        <a:rPr lang="en-US" sz="1200" dirty="0"/>
                        <a:t>/mL 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who have not responded to or have lost response </a:t>
                      </a:r>
                      <a:r>
                        <a:rPr lang="en-US" sz="1200" dirty="0"/>
                        <a:t>to erythropoiesis-stimulating agents (ESAs)</a:t>
                      </a:r>
                      <a:endParaRPr lang="en-IN" sz="1200" b="0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0" dirty="0"/>
                        <a:t>Category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267733"/>
                  </a:ext>
                </a:extLst>
              </a:tr>
              <a:tr h="12183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dirty="0"/>
                        <a:t>RS –</a:t>
                      </a:r>
                      <a:r>
                        <a:rPr lang="en-IN" sz="1200" b="0" dirty="0" err="1"/>
                        <a:t>ve</a:t>
                      </a:r>
                      <a:r>
                        <a:rPr lang="en-IN" sz="1200" b="0" dirty="0"/>
                        <a:t> (post ESA and </a:t>
                      </a:r>
                      <a:r>
                        <a:rPr lang="en-US" sz="1200" dirty="0"/>
                        <a:t>Luspatercept)</a:t>
                      </a:r>
                      <a:endParaRPr lang="en-IN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Third-line therapy</a:t>
                      </a:r>
                      <a:r>
                        <a:rPr lang="en-US" sz="1200" dirty="0"/>
                        <a:t> for those with serum erythropoietin (EPO) levels ≤500 </a:t>
                      </a:r>
                      <a:r>
                        <a:rPr lang="en-US" sz="1200" dirty="0" err="1"/>
                        <a:t>mU</a:t>
                      </a:r>
                      <a:r>
                        <a:rPr lang="en-US" sz="1200" dirty="0"/>
                        <a:t>/mL after inadequate response to erythropoiesis-stimulating agents (ESAs) and Luspatercept</a:t>
                      </a:r>
                      <a:endParaRPr lang="en-IN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dirty="0"/>
                        <a:t>Category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6521631"/>
                  </a:ext>
                </a:extLst>
              </a:tr>
              <a:tr h="10943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dirty="0"/>
                        <a:t>RS +</a:t>
                      </a:r>
                      <a:r>
                        <a:rPr lang="en-IN" sz="1200" b="0" dirty="0" err="1"/>
                        <a:t>ve</a:t>
                      </a:r>
                      <a:endParaRPr lang="en-IN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Second-line therapy</a:t>
                      </a:r>
                      <a:r>
                        <a:rPr lang="en-US" sz="1200" dirty="0"/>
                        <a:t> for those with serum EPO levels ≤500 </a:t>
                      </a:r>
                      <a:r>
                        <a:rPr lang="en-US" sz="1200" dirty="0" err="1"/>
                        <a:t>mU</a:t>
                      </a:r>
                      <a:r>
                        <a:rPr lang="en-US" sz="1200" dirty="0"/>
                        <a:t>/mL 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who have not responded to or have lost response </a:t>
                      </a:r>
                      <a:r>
                        <a:rPr lang="en-US" sz="1200" dirty="0"/>
                        <a:t>to Luspatercept</a:t>
                      </a:r>
                      <a:endParaRPr lang="en-IN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dirty="0"/>
                        <a:t>Category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8716288"/>
                  </a:ext>
                </a:extLst>
              </a:tr>
              <a:tr h="6812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dirty="0"/>
                        <a:t>RS –</a:t>
                      </a:r>
                      <a:r>
                        <a:rPr lang="en-IN" sz="1200" b="0" dirty="0" err="1"/>
                        <a:t>ve</a:t>
                      </a:r>
                      <a:r>
                        <a:rPr lang="en-IN" sz="1200" b="0" dirty="0"/>
                        <a:t> (ESA Ineligible)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First-line therapy</a:t>
                      </a:r>
                      <a:r>
                        <a:rPr lang="en-US" sz="1200" dirty="0"/>
                        <a:t> for individuals with serum EPO levels &gt;500 </a:t>
                      </a:r>
                      <a:r>
                        <a:rPr lang="en-US" sz="1200" dirty="0" err="1"/>
                        <a:t>mU</a:t>
                      </a:r>
                      <a:r>
                        <a:rPr lang="en-US" sz="1200" dirty="0"/>
                        <a:t>/mL who are unlikely to benefit from immunosuppressive therapy</a:t>
                      </a:r>
                      <a:endParaRPr lang="en-IN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0" dirty="0"/>
                        <a:t>Category 2A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0998519"/>
                  </a:ext>
                </a:extLst>
              </a:tr>
              <a:tr h="701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dirty="0"/>
                        <a:t>RS +</a:t>
                      </a:r>
                      <a:r>
                        <a:rPr lang="en-IN" sz="1200" b="0" dirty="0" err="1"/>
                        <a:t>ve</a:t>
                      </a:r>
                      <a:r>
                        <a:rPr lang="en-IN" sz="1200" b="0" dirty="0"/>
                        <a:t> (ESA Ineligible)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First-line therapy</a:t>
                      </a:r>
                      <a:r>
                        <a:rPr lang="en-US" sz="1200" dirty="0"/>
                        <a:t> for those with serum EPO levels &gt;500 </a:t>
                      </a:r>
                      <a:r>
                        <a:rPr lang="en-US" sz="1200" dirty="0" err="1"/>
                        <a:t>mU</a:t>
                      </a:r>
                      <a:r>
                        <a:rPr lang="en-US" sz="1200" dirty="0"/>
                        <a:t>/mL (Ineligible for ESAs)</a:t>
                      </a:r>
                      <a:endParaRPr lang="en-IN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0" dirty="0"/>
                        <a:t>Category 2A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99734"/>
                  </a:ext>
                </a:extLst>
              </a:tr>
            </a:tbl>
          </a:graphicData>
        </a:graphic>
      </p:graphicFrame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1EA45DD-B220-A9FA-363A-3AE7F1BFC4AC}"/>
              </a:ext>
            </a:extLst>
          </p:cNvPr>
          <p:cNvSpPr/>
          <p:nvPr/>
        </p:nvSpPr>
        <p:spPr>
          <a:xfrm rot="5400000">
            <a:off x="6902750" y="2127910"/>
            <a:ext cx="944628" cy="266368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7E76BC-DFE7-CACB-753C-EBA7A4077EFF}"/>
              </a:ext>
            </a:extLst>
          </p:cNvPr>
          <p:cNvSpPr txBox="1"/>
          <p:nvPr/>
        </p:nvSpPr>
        <p:spPr>
          <a:xfrm>
            <a:off x="7808181" y="1788780"/>
            <a:ext cx="4150581" cy="944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Patients currently on ESAs as first-line therapy and showing signs of no response or </a:t>
            </a:r>
            <a:r>
              <a:rPr lang="en-IN" sz="1100" dirty="0"/>
              <a:t>about to </a:t>
            </a:r>
            <a:r>
              <a:rPr lang="en-IN" sz="1100" b="1" i="1" dirty="0"/>
              <a:t>progress to next line</a:t>
            </a:r>
          </a:p>
          <a:p>
            <a:endParaRPr lang="en-IN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Patients who previously received ESAs as first-line therapy and are </a:t>
            </a:r>
            <a:r>
              <a:rPr lang="en-US" sz="1100" b="1" i="1" dirty="0"/>
              <a:t>approaching relapse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68E781-45EA-7A96-111E-342A3C800842}"/>
              </a:ext>
            </a:extLst>
          </p:cNvPr>
          <p:cNvSpPr txBox="1"/>
          <p:nvPr/>
        </p:nvSpPr>
        <p:spPr>
          <a:xfrm>
            <a:off x="7808180" y="1000094"/>
            <a:ext cx="4150582" cy="72136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>
            <a:noAutofit/>
          </a:bodyPr>
          <a:lstStyle/>
          <a:p>
            <a:pPr algn="ctr"/>
            <a:r>
              <a:rPr lang="en-IN" sz="1400" b="1" dirty="0">
                <a:solidFill>
                  <a:schemeClr val="bg1"/>
                </a:solidFill>
              </a:rPr>
              <a:t>Predictive Triggers from patient claims data</a:t>
            </a:r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CD51BA34-A37B-6168-AB43-E0B9A8BE411B}"/>
              </a:ext>
            </a:extLst>
          </p:cNvPr>
          <p:cNvSpPr/>
          <p:nvPr/>
        </p:nvSpPr>
        <p:spPr>
          <a:xfrm rot="5400000">
            <a:off x="6818317" y="3233815"/>
            <a:ext cx="1113493" cy="266368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6C7FC7-9CB0-C414-3800-7C21BB26E7F4}"/>
              </a:ext>
            </a:extLst>
          </p:cNvPr>
          <p:cNvSpPr txBox="1"/>
          <p:nvPr/>
        </p:nvSpPr>
        <p:spPr>
          <a:xfrm>
            <a:off x="7808179" y="2800731"/>
            <a:ext cx="4150581" cy="11594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Patients who have received ESAs and Luspatercept in any sequence as first- and second-line therapy </a:t>
            </a:r>
            <a:r>
              <a:rPr lang="en-IN" sz="1200" dirty="0"/>
              <a:t>and are about to </a:t>
            </a:r>
            <a:r>
              <a:rPr lang="en-IN" sz="1200" b="1" i="1" dirty="0"/>
              <a:t>progress to next line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Patients who have received ESAs and Luspatercept in any sequence as first- and second-line therapy </a:t>
            </a:r>
            <a:r>
              <a:rPr lang="en-IN" sz="1200" dirty="0"/>
              <a:t>and approaching relapse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1B7E044-8657-6270-2DF6-1486402D3781}"/>
              </a:ext>
            </a:extLst>
          </p:cNvPr>
          <p:cNvSpPr/>
          <p:nvPr/>
        </p:nvSpPr>
        <p:spPr>
          <a:xfrm>
            <a:off x="7498080" y="1794053"/>
            <a:ext cx="288000" cy="28800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i="1" dirty="0"/>
              <a:t>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F885B20-B35B-43D0-300F-9EB24954C962}"/>
              </a:ext>
            </a:extLst>
          </p:cNvPr>
          <p:cNvSpPr/>
          <p:nvPr/>
        </p:nvSpPr>
        <p:spPr>
          <a:xfrm>
            <a:off x="7498080" y="2766069"/>
            <a:ext cx="288000" cy="28800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i="1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D2E940-5D0C-CC69-30DD-376045DE4080}"/>
              </a:ext>
            </a:extLst>
          </p:cNvPr>
          <p:cNvSpPr txBox="1"/>
          <p:nvPr/>
        </p:nvSpPr>
        <p:spPr>
          <a:xfrm>
            <a:off x="7808179" y="5037877"/>
            <a:ext cx="4150581" cy="13946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Difficult to predict qualifying patients from claims data given there is no treatment history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6E530E5-F52D-3186-B457-0DD2709D6407}"/>
              </a:ext>
            </a:extLst>
          </p:cNvPr>
          <p:cNvSpPr/>
          <p:nvPr/>
        </p:nvSpPr>
        <p:spPr>
          <a:xfrm>
            <a:off x="7497659" y="3960143"/>
            <a:ext cx="288000" cy="28800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i="1" dirty="0"/>
              <a:t>3</a:t>
            </a:r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35C5068E-8AFF-A307-387B-9DEDC868DDF3}"/>
              </a:ext>
            </a:extLst>
          </p:cNvPr>
          <p:cNvSpPr/>
          <p:nvPr/>
        </p:nvSpPr>
        <p:spPr>
          <a:xfrm rot="5400000">
            <a:off x="6703732" y="5643060"/>
            <a:ext cx="1349854" cy="307932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7CA774-0B06-9DB0-1772-67EBBC4CB01B}"/>
              </a:ext>
            </a:extLst>
          </p:cNvPr>
          <p:cNvSpPr txBox="1"/>
          <p:nvPr/>
        </p:nvSpPr>
        <p:spPr>
          <a:xfrm>
            <a:off x="7808179" y="4027801"/>
            <a:ext cx="4150581" cy="944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Patients currently on Luspatercept as first-line therapy and showing signs of no response or </a:t>
            </a:r>
            <a:r>
              <a:rPr lang="en-IN" sz="1100" dirty="0"/>
              <a:t>about to </a:t>
            </a:r>
            <a:r>
              <a:rPr lang="en-IN" sz="1100" b="1" i="1" dirty="0"/>
              <a:t>progress to next line</a:t>
            </a:r>
            <a:endParaRPr lang="en-IN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Patients who previously received Luspatercept as first-line therapy and are </a:t>
            </a:r>
            <a:r>
              <a:rPr lang="en-US" sz="1100" b="1" i="1" dirty="0"/>
              <a:t>approaching relapse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C73D586-8644-36B8-CB87-DF6E516B756C}"/>
              </a:ext>
            </a:extLst>
          </p:cNvPr>
          <p:cNvSpPr/>
          <p:nvPr/>
        </p:nvSpPr>
        <p:spPr>
          <a:xfrm>
            <a:off x="7520179" y="5036508"/>
            <a:ext cx="288000" cy="28800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i="1" dirty="0"/>
              <a:t>4</a:t>
            </a:r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D4D12A4A-26B2-9436-2143-7C3404098789}"/>
              </a:ext>
            </a:extLst>
          </p:cNvPr>
          <p:cNvSpPr/>
          <p:nvPr/>
        </p:nvSpPr>
        <p:spPr>
          <a:xfrm rot="5400000">
            <a:off x="6831878" y="4397120"/>
            <a:ext cx="1113493" cy="288000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Speech Bubble: Rectangle 32">
            <a:extLst>
              <a:ext uri="{FF2B5EF4-FFF2-40B4-BE49-F238E27FC236}">
                <a16:creationId xmlns:a16="http://schemas.microsoft.com/office/drawing/2014/main" id="{C4610EF3-8D3C-81C5-513F-4D0260879F94}"/>
              </a:ext>
            </a:extLst>
          </p:cNvPr>
          <p:cNvSpPr/>
          <p:nvPr/>
        </p:nvSpPr>
        <p:spPr>
          <a:xfrm>
            <a:off x="7808179" y="233649"/>
            <a:ext cx="4150581" cy="698787"/>
          </a:xfrm>
          <a:prstGeom prst="wedgeRectCallout">
            <a:avLst>
              <a:gd name="adj1" fmla="val 16959"/>
              <a:gd name="adj2" fmla="val 17419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chemeClr val="tx2">
                    <a:lumMod val="10000"/>
                  </a:schemeClr>
                </a:solidFill>
              </a:rPr>
              <a:t>New patient starts on ESAs in 1L are declining, Reblozyl initiations are on the rise</a:t>
            </a:r>
            <a:endParaRPr lang="en-IN" sz="1400" b="1" dirty="0" err="1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34" name="Speech Bubble: Rectangle 33">
            <a:extLst>
              <a:ext uri="{FF2B5EF4-FFF2-40B4-BE49-F238E27FC236}">
                <a16:creationId xmlns:a16="http://schemas.microsoft.com/office/drawing/2014/main" id="{09E18CF7-2D9E-8B82-AA99-DC1696195AB1}"/>
              </a:ext>
            </a:extLst>
          </p:cNvPr>
          <p:cNvSpPr/>
          <p:nvPr/>
        </p:nvSpPr>
        <p:spPr>
          <a:xfrm>
            <a:off x="7785659" y="4087719"/>
            <a:ext cx="4150581" cy="698787"/>
          </a:xfrm>
          <a:prstGeom prst="wedgeRectCallout">
            <a:avLst>
              <a:gd name="adj1" fmla="val 16191"/>
              <a:gd name="adj2" fmla="val -90564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chemeClr val="tx2">
                    <a:lumMod val="10000"/>
                  </a:schemeClr>
                </a:solidFill>
              </a:rPr>
              <a:t>Significant amount of new patient starts in 3L+ with no prior usage of ESA in 1Land Reblozyl in 1L and 2L and vice-versa</a:t>
            </a:r>
            <a:endParaRPr lang="en-IN" sz="1400" b="1" dirty="0" err="1">
              <a:solidFill>
                <a:schemeClr val="tx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862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DBAC98-7E0C-6629-184D-028E2025914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23CE8C2-DC5B-108F-EF0B-004DC8F28206}"/>
              </a:ext>
            </a:extLst>
          </p:cNvPr>
          <p:cNvSpPr txBox="1">
            <a:spLocks/>
          </p:cNvSpPr>
          <p:nvPr/>
        </p:nvSpPr>
        <p:spPr>
          <a:xfrm>
            <a:off x="384695" y="238539"/>
            <a:ext cx="11422612" cy="58349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1" i="0" kern="1200">
                <a:solidFill>
                  <a:schemeClr val="accent1"/>
                </a:solidFill>
                <a:latin typeface="Avenir Next LT Pro" panose="020B0504020202020204" pitchFamily="34" charset="77"/>
                <a:ea typeface="+mj-ea"/>
                <a:cs typeface="+mj-cs"/>
              </a:defRPr>
            </a:lvl1pPr>
          </a:lstStyle>
          <a:p>
            <a:r>
              <a:rPr lang="en-US" sz="2000" dirty="0"/>
              <a:t>~1,000 LR MDS patients either initiate treatment or undergo treatment changes each month. While new patient starts on ESAs are declining, Reblozyl initiations are on the rise</a:t>
            </a:r>
            <a:endParaRPr lang="en-IN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27B828-6002-F22B-B724-D317CE9CFD98}"/>
              </a:ext>
            </a:extLst>
          </p:cNvPr>
          <p:cNvSpPr txBox="1"/>
          <p:nvPr/>
        </p:nvSpPr>
        <p:spPr>
          <a:xfrm>
            <a:off x="1289436" y="6568753"/>
            <a:ext cx="96131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Cambria" panose="02040503050406030204" pitchFamily="18" charset="0"/>
                <a:cs typeface="+mn-cs"/>
              </a:rPr>
              <a:t>Source: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IQVIA claims informed file updated in </a:t>
            </a:r>
            <a:r>
              <a:rPr lang="en-US" sz="1000" i="1" dirty="0">
                <a:solidFill>
                  <a:srgbClr val="54565B"/>
                </a:solidFill>
                <a:latin typeface="+mj-lt"/>
              </a:rPr>
              <a:t>May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’25; Analysis Period: </a:t>
            </a:r>
            <a:r>
              <a:rPr lang="en-US" sz="1000" i="1" dirty="0">
                <a:solidFill>
                  <a:srgbClr val="54565B"/>
                </a:solidFill>
                <a:latin typeface="+mj-lt"/>
              </a:rPr>
              <a:t>July’24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to </a:t>
            </a:r>
            <a:r>
              <a:rPr lang="en-US" sz="1000" i="1" dirty="0">
                <a:solidFill>
                  <a:srgbClr val="54565B"/>
                </a:solidFill>
                <a:latin typeface="+mj-lt"/>
              </a:rPr>
              <a:t>Feb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’25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FC4E4D66-080B-C3AE-9EEE-BD80A21EE978}"/>
              </a:ext>
            </a:extLst>
          </p:cNvPr>
          <p:cNvGraphicFramePr/>
          <p:nvPr/>
        </p:nvGraphicFramePr>
        <p:xfrm>
          <a:off x="345382" y="1349236"/>
          <a:ext cx="5711306" cy="2504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A32CD61A-AC1C-4244-946F-5697385C5B67}"/>
              </a:ext>
            </a:extLst>
          </p:cNvPr>
          <p:cNvSpPr/>
          <p:nvPr/>
        </p:nvSpPr>
        <p:spPr>
          <a:xfrm>
            <a:off x="1159264" y="3353877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960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7B646A-37D9-3BEB-683C-CFB308538A3E}"/>
              </a:ext>
            </a:extLst>
          </p:cNvPr>
          <p:cNvSpPr/>
          <p:nvPr/>
        </p:nvSpPr>
        <p:spPr>
          <a:xfrm>
            <a:off x="1973146" y="3353877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984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F7C160-9785-69AA-D74B-81BAB47A8006}"/>
              </a:ext>
            </a:extLst>
          </p:cNvPr>
          <p:cNvSpPr/>
          <p:nvPr/>
        </p:nvSpPr>
        <p:spPr>
          <a:xfrm>
            <a:off x="2781783" y="3343243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974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870E1F8-6CF7-5437-A3EB-7EEDEA73E84F}"/>
              </a:ext>
            </a:extLst>
          </p:cNvPr>
          <p:cNvSpPr/>
          <p:nvPr/>
        </p:nvSpPr>
        <p:spPr>
          <a:xfrm>
            <a:off x="3590420" y="3343243"/>
            <a:ext cx="439632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1048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83784C-21E8-DFBB-BA3B-0B3ED2C2BA75}"/>
              </a:ext>
            </a:extLst>
          </p:cNvPr>
          <p:cNvSpPr/>
          <p:nvPr/>
        </p:nvSpPr>
        <p:spPr>
          <a:xfrm>
            <a:off x="4370147" y="3357420"/>
            <a:ext cx="439632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978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2A4101-315C-EBCF-B741-418D9DCCAE5C}"/>
              </a:ext>
            </a:extLst>
          </p:cNvPr>
          <p:cNvSpPr/>
          <p:nvPr/>
        </p:nvSpPr>
        <p:spPr>
          <a:xfrm>
            <a:off x="5149874" y="3369824"/>
            <a:ext cx="439632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990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AC76F0-4BE6-F49D-8E44-AA7ABFDB8429}"/>
              </a:ext>
            </a:extLst>
          </p:cNvPr>
          <p:cNvSpPr/>
          <p:nvPr/>
        </p:nvSpPr>
        <p:spPr>
          <a:xfrm>
            <a:off x="9920167" y="4012"/>
            <a:ext cx="2271833" cy="2385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600" b="1" dirty="0">
                <a:solidFill>
                  <a:schemeClr val="bg1"/>
                </a:solidFill>
              </a:rPr>
              <a:t>Unprojected patients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876D318-7EDC-E09A-B95E-ACCED4DA7BE5}"/>
              </a:ext>
            </a:extLst>
          </p:cNvPr>
          <p:cNvGraphicFramePr/>
          <p:nvPr/>
        </p:nvGraphicFramePr>
        <p:xfrm>
          <a:off x="6182426" y="1357703"/>
          <a:ext cx="5711306" cy="2504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64222983-4786-635B-7161-8144F9F54B43}"/>
              </a:ext>
            </a:extLst>
          </p:cNvPr>
          <p:cNvSpPr/>
          <p:nvPr/>
        </p:nvSpPr>
        <p:spPr>
          <a:xfrm>
            <a:off x="6998063" y="3353003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526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DA676D-5CFC-E0DA-EC21-CE59F111A2EB}"/>
              </a:ext>
            </a:extLst>
          </p:cNvPr>
          <p:cNvSpPr/>
          <p:nvPr/>
        </p:nvSpPr>
        <p:spPr>
          <a:xfrm>
            <a:off x="7771083" y="3349469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535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AB452C-3E43-C12F-5B87-A82C2F7F44E7}"/>
              </a:ext>
            </a:extLst>
          </p:cNvPr>
          <p:cNvSpPr/>
          <p:nvPr/>
        </p:nvSpPr>
        <p:spPr>
          <a:xfrm>
            <a:off x="8592193" y="3349469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521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087664-A37B-C86F-1F7D-924AAFD1C362}"/>
              </a:ext>
            </a:extLst>
          </p:cNvPr>
          <p:cNvSpPr/>
          <p:nvPr/>
        </p:nvSpPr>
        <p:spPr>
          <a:xfrm>
            <a:off x="9413303" y="3349469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507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817462-4ADE-1AE3-9999-05D561CFCE24}"/>
              </a:ext>
            </a:extLst>
          </p:cNvPr>
          <p:cNvSpPr/>
          <p:nvPr/>
        </p:nvSpPr>
        <p:spPr>
          <a:xfrm>
            <a:off x="10234413" y="3349469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385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837470-97C3-1967-E7F4-BF805F7A18F6}"/>
              </a:ext>
            </a:extLst>
          </p:cNvPr>
          <p:cNvSpPr/>
          <p:nvPr/>
        </p:nvSpPr>
        <p:spPr>
          <a:xfrm>
            <a:off x="10980362" y="3349469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369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F26CEF7C-D687-35D0-35FF-DD43B4FE899C}"/>
              </a:ext>
            </a:extLst>
          </p:cNvPr>
          <p:cNvGraphicFramePr/>
          <p:nvPr/>
        </p:nvGraphicFramePr>
        <p:xfrm>
          <a:off x="2880887" y="4015861"/>
          <a:ext cx="5711306" cy="2504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E8178F6E-A99B-C660-F4D9-89C319050D80}"/>
              </a:ext>
            </a:extLst>
          </p:cNvPr>
          <p:cNvSpPr/>
          <p:nvPr/>
        </p:nvSpPr>
        <p:spPr>
          <a:xfrm>
            <a:off x="3696524" y="6011161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89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7E29CD-B98F-7DAA-1495-70ADBD38F23B}"/>
              </a:ext>
            </a:extLst>
          </p:cNvPr>
          <p:cNvSpPr/>
          <p:nvPr/>
        </p:nvSpPr>
        <p:spPr>
          <a:xfrm>
            <a:off x="4469544" y="6007627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99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9A1614-9E0B-4054-96A7-F67F2BF63D40}"/>
              </a:ext>
            </a:extLst>
          </p:cNvPr>
          <p:cNvSpPr/>
          <p:nvPr/>
        </p:nvSpPr>
        <p:spPr>
          <a:xfrm>
            <a:off x="5290654" y="6007627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102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953243-1FBD-FA02-220F-6DAAEBCB6CD8}"/>
              </a:ext>
            </a:extLst>
          </p:cNvPr>
          <p:cNvSpPr/>
          <p:nvPr/>
        </p:nvSpPr>
        <p:spPr>
          <a:xfrm>
            <a:off x="6111764" y="6007627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193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C4F9F0-DF52-C87B-E837-D31CEC86F120}"/>
              </a:ext>
            </a:extLst>
          </p:cNvPr>
          <p:cNvSpPr/>
          <p:nvPr/>
        </p:nvSpPr>
        <p:spPr>
          <a:xfrm>
            <a:off x="6932874" y="6007627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208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A459191-CC3F-84C8-0EBA-5A3A661E5519}"/>
              </a:ext>
            </a:extLst>
          </p:cNvPr>
          <p:cNvSpPr/>
          <p:nvPr/>
        </p:nvSpPr>
        <p:spPr>
          <a:xfrm>
            <a:off x="7678823" y="6007627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232</a:t>
            </a:r>
          </a:p>
        </p:txBody>
      </p:sp>
    </p:spTree>
    <p:extLst>
      <p:ext uri="{BB962C8B-B14F-4D97-AF65-F5344CB8AC3E}">
        <p14:creationId xmlns:p14="http://schemas.microsoft.com/office/powerpoint/2010/main" val="1491267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BF9C5-EFFD-9A2A-5133-9BCDC4CD1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2F7B96-7074-7463-74F0-494FA7C0946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9EF0B29-16CD-A2C5-FB92-4CC63CA3AD49}"/>
              </a:ext>
            </a:extLst>
          </p:cNvPr>
          <p:cNvSpPr txBox="1">
            <a:spLocks/>
          </p:cNvSpPr>
          <p:nvPr/>
        </p:nvSpPr>
        <p:spPr>
          <a:xfrm>
            <a:off x="384695" y="238538"/>
            <a:ext cx="11422612" cy="800501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1" i="0" kern="1200">
                <a:solidFill>
                  <a:schemeClr val="accent1"/>
                </a:solidFill>
                <a:latin typeface="Avenir Next LT Pro" panose="020B0504020202020204" pitchFamily="34" charset="77"/>
                <a:ea typeface="+mj-ea"/>
                <a:cs typeface="+mj-cs"/>
              </a:defRPr>
            </a:lvl1pPr>
          </a:lstStyle>
          <a:p>
            <a:r>
              <a:rPr lang="en-US" sz="1800" dirty="0"/>
              <a:t>A good proportion of 1L LR MDS patients are progressing to 2L within 6 months of their 1L initiation</a:t>
            </a:r>
          </a:p>
          <a:p>
            <a:pPr>
              <a:spcBef>
                <a:spcPts val="600"/>
              </a:spcBef>
            </a:pPr>
            <a:r>
              <a:rPr lang="en-US" sz="1400" b="0" dirty="0">
                <a:solidFill>
                  <a:schemeClr val="tx2">
                    <a:lumMod val="10000"/>
                  </a:schemeClr>
                </a:solidFill>
              </a:rPr>
              <a:t>For 2022 cohort having a look forward period of 2 years: ~60% of patients progressed to 2L within a year and ~35% within 6 months</a:t>
            </a:r>
            <a:endParaRPr lang="en-IN" sz="1400" b="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AFA7A8-87D1-76E9-72DC-6E87C1D18261}"/>
              </a:ext>
            </a:extLst>
          </p:cNvPr>
          <p:cNvSpPr txBox="1"/>
          <p:nvPr/>
        </p:nvSpPr>
        <p:spPr>
          <a:xfrm>
            <a:off x="1289436" y="6568753"/>
            <a:ext cx="96131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Cambria" panose="02040503050406030204" pitchFamily="18" charset="0"/>
                <a:cs typeface="+mn-cs"/>
              </a:rPr>
              <a:t>Source: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IQVIA claims informed file updated in </a:t>
            </a:r>
            <a:r>
              <a:rPr lang="en-US" sz="1000" i="1" dirty="0">
                <a:solidFill>
                  <a:srgbClr val="54565B"/>
                </a:solidFill>
                <a:latin typeface="+mj-lt"/>
              </a:rPr>
              <a:t>May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’25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C6D764FC-C7AC-8B0F-B014-70353CC1E840}"/>
              </a:ext>
            </a:extLst>
          </p:cNvPr>
          <p:cNvGraphicFramePr/>
          <p:nvPr/>
        </p:nvGraphicFramePr>
        <p:xfrm>
          <a:off x="384694" y="1349236"/>
          <a:ext cx="5671993" cy="2504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555AC00-6A2B-7F88-34F6-B1A8737A90BA}"/>
              </a:ext>
            </a:extLst>
          </p:cNvPr>
          <p:cNvSpPr/>
          <p:nvPr/>
        </p:nvSpPr>
        <p:spPr>
          <a:xfrm>
            <a:off x="9920167" y="4012"/>
            <a:ext cx="2271833" cy="2385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600" b="1" dirty="0">
                <a:solidFill>
                  <a:schemeClr val="bg1"/>
                </a:solidFill>
              </a:rPr>
              <a:t>Unprojected patients</a:t>
            </a:r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E1F30C61-AFC5-FC94-D981-1427CFDE88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6614123"/>
              </p:ext>
            </p:extLst>
          </p:nvPr>
        </p:nvGraphicFramePr>
        <p:xfrm>
          <a:off x="6135314" y="1349235"/>
          <a:ext cx="5711306" cy="2504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A943AE11-EE41-6846-D618-C33931167423}"/>
              </a:ext>
            </a:extLst>
          </p:cNvPr>
          <p:cNvGraphicFramePr>
            <a:graphicFrameLocks noGrp="1"/>
          </p:cNvGraphicFramePr>
          <p:nvPr/>
        </p:nvGraphicFramePr>
        <p:xfrm>
          <a:off x="384695" y="4163920"/>
          <a:ext cx="11501239" cy="2047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7848">
                  <a:extLst>
                    <a:ext uri="{9D8B030D-6E8A-4147-A177-3AD203B41FA5}">
                      <a16:colId xmlns:a16="http://schemas.microsoft.com/office/drawing/2014/main" val="2728138283"/>
                    </a:ext>
                  </a:extLst>
                </a:gridCol>
                <a:gridCol w="1712361">
                  <a:extLst>
                    <a:ext uri="{9D8B030D-6E8A-4147-A177-3AD203B41FA5}">
                      <a16:colId xmlns:a16="http://schemas.microsoft.com/office/drawing/2014/main" val="4104403157"/>
                    </a:ext>
                  </a:extLst>
                </a:gridCol>
                <a:gridCol w="1197290">
                  <a:extLst>
                    <a:ext uri="{9D8B030D-6E8A-4147-A177-3AD203B41FA5}">
                      <a16:colId xmlns:a16="http://schemas.microsoft.com/office/drawing/2014/main" val="3145767210"/>
                    </a:ext>
                  </a:extLst>
                </a:gridCol>
                <a:gridCol w="1197290">
                  <a:extLst>
                    <a:ext uri="{9D8B030D-6E8A-4147-A177-3AD203B41FA5}">
                      <a16:colId xmlns:a16="http://schemas.microsoft.com/office/drawing/2014/main" val="2949308558"/>
                    </a:ext>
                  </a:extLst>
                </a:gridCol>
                <a:gridCol w="1197290">
                  <a:extLst>
                    <a:ext uri="{9D8B030D-6E8A-4147-A177-3AD203B41FA5}">
                      <a16:colId xmlns:a16="http://schemas.microsoft.com/office/drawing/2014/main" val="2466911343"/>
                    </a:ext>
                  </a:extLst>
                </a:gridCol>
                <a:gridCol w="1197290">
                  <a:extLst>
                    <a:ext uri="{9D8B030D-6E8A-4147-A177-3AD203B41FA5}">
                      <a16:colId xmlns:a16="http://schemas.microsoft.com/office/drawing/2014/main" val="1616792247"/>
                    </a:ext>
                  </a:extLst>
                </a:gridCol>
                <a:gridCol w="1197290">
                  <a:extLst>
                    <a:ext uri="{9D8B030D-6E8A-4147-A177-3AD203B41FA5}">
                      <a16:colId xmlns:a16="http://schemas.microsoft.com/office/drawing/2014/main" val="1585399017"/>
                    </a:ext>
                  </a:extLst>
                </a:gridCol>
                <a:gridCol w="1197290">
                  <a:extLst>
                    <a:ext uri="{9D8B030D-6E8A-4147-A177-3AD203B41FA5}">
                      <a16:colId xmlns:a16="http://schemas.microsoft.com/office/drawing/2014/main" val="2516749674"/>
                    </a:ext>
                  </a:extLst>
                </a:gridCol>
                <a:gridCol w="1197290">
                  <a:extLst>
                    <a:ext uri="{9D8B030D-6E8A-4147-A177-3AD203B41FA5}">
                      <a16:colId xmlns:a16="http://schemas.microsoft.com/office/drawing/2014/main" val="3558728930"/>
                    </a:ext>
                  </a:extLst>
                </a:gridCol>
              </a:tblGrid>
              <a:tr h="409591">
                <a:tc rowSpan="2"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Year of 1L Initiation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#Patients progressed from 1L to 2L</a:t>
                      </a:r>
                    </a:p>
                  </a:txBody>
                  <a:tcPr marL="9525" marR="9525" marT="9525" marB="0" anchor="ctr"/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Time to Progression from 1L to 2L (in months)</a:t>
                      </a: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45189332"/>
                  </a:ext>
                </a:extLst>
              </a:tr>
              <a:tr h="40959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(0-6]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(6-12]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(12-18]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(18-24]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(24-32]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(32-38]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&gt;38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56737895"/>
                  </a:ext>
                </a:extLst>
              </a:tr>
              <a:tr h="409591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57519442"/>
                  </a:ext>
                </a:extLst>
              </a:tr>
              <a:tr h="409591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7272850"/>
                  </a:ext>
                </a:extLst>
              </a:tr>
              <a:tr h="409591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52486102"/>
                  </a:ext>
                </a:extLst>
              </a:tr>
            </a:tbl>
          </a:graphicData>
        </a:graphic>
      </p:graphicFrame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2A9003B-0429-58BA-324E-FFF9A9EBB59C}"/>
              </a:ext>
            </a:extLst>
          </p:cNvPr>
          <p:cNvSpPr/>
          <p:nvPr/>
        </p:nvSpPr>
        <p:spPr>
          <a:xfrm>
            <a:off x="3725613" y="4960409"/>
            <a:ext cx="733032" cy="450422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IN" b="1" dirty="0" err="1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9616E7F-8795-1538-E713-B99FD8AED03C}"/>
              </a:ext>
            </a:extLst>
          </p:cNvPr>
          <p:cNvSpPr/>
          <p:nvPr/>
        </p:nvSpPr>
        <p:spPr>
          <a:xfrm>
            <a:off x="2251993" y="5410831"/>
            <a:ext cx="787191" cy="801044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IN" b="1" dirty="0" err="1"/>
          </a:p>
        </p:txBody>
      </p:sp>
      <p:sp>
        <p:nvSpPr>
          <p:cNvPr id="33" name="Speech Bubble: Rectangle 32">
            <a:extLst>
              <a:ext uri="{FF2B5EF4-FFF2-40B4-BE49-F238E27FC236}">
                <a16:creationId xmlns:a16="http://schemas.microsoft.com/office/drawing/2014/main" id="{13C206D0-E418-664B-DFE5-BD0C4DDA04FB}"/>
              </a:ext>
            </a:extLst>
          </p:cNvPr>
          <p:cNvSpPr/>
          <p:nvPr/>
        </p:nvSpPr>
        <p:spPr>
          <a:xfrm>
            <a:off x="3166393" y="6207320"/>
            <a:ext cx="1518962" cy="314748"/>
          </a:xfrm>
          <a:prstGeom prst="wedgeRectCallout">
            <a:avLst>
              <a:gd name="adj1" fmla="val -57898"/>
              <a:gd name="adj2" fmla="val -142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IN" sz="1000" dirty="0">
                <a:solidFill>
                  <a:schemeClr val="tx2">
                    <a:lumMod val="10000"/>
                  </a:schemeClr>
                </a:solidFill>
              </a:rPr>
              <a:t>Early to comment on overall progression rate</a:t>
            </a:r>
          </a:p>
        </p:txBody>
      </p:sp>
    </p:spTree>
    <p:extLst>
      <p:ext uri="{BB962C8B-B14F-4D97-AF65-F5344CB8AC3E}">
        <p14:creationId xmlns:p14="http://schemas.microsoft.com/office/powerpoint/2010/main" val="25961835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2BDF54-3C2E-D039-43BD-64ED9C85D60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FC67A-8E31-7311-1D8C-85AB345951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4C63B4-20D7-6535-4B53-D7F23A691C8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 err="1"/>
              <a:t>LoT</a:t>
            </a:r>
            <a:r>
              <a:rPr lang="en-US" dirty="0"/>
              <a:t> data to Model cohort data conversion</a:t>
            </a:r>
            <a:endParaRPr lang="en-IN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0E930A7-28A8-4BAE-2F64-E357630DCFF5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2205990"/>
          <a:ext cx="2920408" cy="1653441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584082">
                  <a:extLst>
                    <a:ext uri="{9D8B030D-6E8A-4147-A177-3AD203B41FA5}">
                      <a16:colId xmlns:a16="http://schemas.microsoft.com/office/drawing/2014/main" val="3562057240"/>
                    </a:ext>
                  </a:extLst>
                </a:gridCol>
                <a:gridCol w="834402">
                  <a:extLst>
                    <a:ext uri="{9D8B030D-6E8A-4147-A177-3AD203B41FA5}">
                      <a16:colId xmlns:a16="http://schemas.microsoft.com/office/drawing/2014/main" val="2006550543"/>
                    </a:ext>
                  </a:extLst>
                </a:gridCol>
                <a:gridCol w="750962">
                  <a:extLst>
                    <a:ext uri="{9D8B030D-6E8A-4147-A177-3AD203B41FA5}">
                      <a16:colId xmlns:a16="http://schemas.microsoft.com/office/drawing/2014/main" val="3415410475"/>
                    </a:ext>
                  </a:extLst>
                </a:gridCol>
                <a:gridCol w="750962">
                  <a:extLst>
                    <a:ext uri="{9D8B030D-6E8A-4147-A177-3AD203B41FA5}">
                      <a16:colId xmlns:a16="http://schemas.microsoft.com/office/drawing/2014/main" val="4204488988"/>
                    </a:ext>
                  </a:extLst>
                </a:gridCol>
              </a:tblGrid>
              <a:tr h="5716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Patient ID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Line of Therapy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Line Start Date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Line End 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1391818"/>
                  </a:ext>
                </a:extLst>
              </a:tr>
              <a:tr h="3377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Jan’20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May’20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555371"/>
                  </a:ext>
                </a:extLst>
              </a:tr>
              <a:tr h="3377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June’20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Sep’20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8396589"/>
                  </a:ext>
                </a:extLst>
              </a:tr>
              <a:tr h="3377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Oct’20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Dec’20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452941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FAFC614-FCF0-4FCE-ACCC-66CC084A93D7}"/>
              </a:ext>
            </a:extLst>
          </p:cNvPr>
          <p:cNvGraphicFramePr>
            <a:graphicFrameLocks noGrp="1"/>
          </p:cNvGraphicFramePr>
          <p:nvPr/>
        </p:nvGraphicFramePr>
        <p:xfrm>
          <a:off x="3870250" y="1473707"/>
          <a:ext cx="7712152" cy="4585356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46923">
                  <a:extLst>
                    <a:ext uri="{9D8B030D-6E8A-4147-A177-3AD203B41FA5}">
                      <a16:colId xmlns:a16="http://schemas.microsoft.com/office/drawing/2014/main" val="3562057240"/>
                    </a:ext>
                  </a:extLst>
                </a:gridCol>
                <a:gridCol w="731249">
                  <a:extLst>
                    <a:ext uri="{9D8B030D-6E8A-4147-A177-3AD203B41FA5}">
                      <a16:colId xmlns:a16="http://schemas.microsoft.com/office/drawing/2014/main" val="1071548072"/>
                    </a:ext>
                  </a:extLst>
                </a:gridCol>
                <a:gridCol w="864757">
                  <a:extLst>
                    <a:ext uri="{9D8B030D-6E8A-4147-A177-3AD203B41FA5}">
                      <a16:colId xmlns:a16="http://schemas.microsoft.com/office/drawing/2014/main" val="2006550543"/>
                    </a:ext>
                  </a:extLst>
                </a:gridCol>
                <a:gridCol w="1171466">
                  <a:extLst>
                    <a:ext uri="{9D8B030D-6E8A-4147-A177-3AD203B41FA5}">
                      <a16:colId xmlns:a16="http://schemas.microsoft.com/office/drawing/2014/main" val="3415410475"/>
                    </a:ext>
                  </a:extLst>
                </a:gridCol>
                <a:gridCol w="529269">
                  <a:extLst>
                    <a:ext uri="{9D8B030D-6E8A-4147-A177-3AD203B41FA5}">
                      <a16:colId xmlns:a16="http://schemas.microsoft.com/office/drawing/2014/main" val="119525712"/>
                    </a:ext>
                  </a:extLst>
                </a:gridCol>
                <a:gridCol w="917122">
                  <a:extLst>
                    <a:ext uri="{9D8B030D-6E8A-4147-A177-3AD203B41FA5}">
                      <a16:colId xmlns:a16="http://schemas.microsoft.com/office/drawing/2014/main" val="3187677693"/>
                    </a:ext>
                  </a:extLst>
                </a:gridCol>
                <a:gridCol w="917122">
                  <a:extLst>
                    <a:ext uri="{9D8B030D-6E8A-4147-A177-3AD203B41FA5}">
                      <a16:colId xmlns:a16="http://schemas.microsoft.com/office/drawing/2014/main" val="2344091443"/>
                    </a:ext>
                  </a:extLst>
                </a:gridCol>
                <a:gridCol w="917122">
                  <a:extLst>
                    <a:ext uri="{9D8B030D-6E8A-4147-A177-3AD203B41FA5}">
                      <a16:colId xmlns:a16="http://schemas.microsoft.com/office/drawing/2014/main" val="2501914411"/>
                    </a:ext>
                  </a:extLst>
                </a:gridCol>
                <a:gridCol w="917122">
                  <a:extLst>
                    <a:ext uri="{9D8B030D-6E8A-4147-A177-3AD203B41FA5}">
                      <a16:colId xmlns:a16="http://schemas.microsoft.com/office/drawing/2014/main" val="1319241002"/>
                    </a:ext>
                  </a:extLst>
                </a:gridCol>
              </a:tblGrid>
              <a:tr h="858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Patient ID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Month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Line of Therapy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Progressed in  next 3 months (Y/N)?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Duration in Current Line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Duration of previous line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Count of drugs in the current line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Drugs in the current 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1391818"/>
                  </a:ext>
                </a:extLst>
              </a:tr>
              <a:tr h="2982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Jan’20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555371"/>
                  </a:ext>
                </a:extLst>
              </a:tr>
              <a:tr h="2982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Feb’20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8396589"/>
                  </a:ext>
                </a:extLst>
              </a:tr>
              <a:tr h="2982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Mar’20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4529418"/>
                  </a:ext>
                </a:extLst>
              </a:tr>
              <a:tr h="2982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Apr’20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4141904"/>
                  </a:ext>
                </a:extLst>
              </a:tr>
              <a:tr h="2982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May’20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7129976"/>
                  </a:ext>
                </a:extLst>
              </a:tr>
              <a:tr h="2982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Jun’20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7515742"/>
                  </a:ext>
                </a:extLst>
              </a:tr>
              <a:tr h="2982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Jul’20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1867516"/>
                  </a:ext>
                </a:extLst>
              </a:tr>
              <a:tr h="2982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Aug’20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3910405"/>
                  </a:ext>
                </a:extLst>
              </a:tr>
              <a:tr h="2982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Sep’20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0700"/>
                  </a:ext>
                </a:extLst>
              </a:tr>
              <a:tr h="2982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Oct’20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261934"/>
                  </a:ext>
                </a:extLst>
              </a:tr>
              <a:tr h="2982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Nov’20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677929"/>
                  </a:ext>
                </a:extLst>
              </a:tr>
              <a:tr h="2982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Dec’20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329619"/>
                  </a:ext>
                </a:extLst>
              </a:tr>
            </a:tbl>
          </a:graphicData>
        </a:graphic>
      </p:graphicFrame>
      <p:sp>
        <p:nvSpPr>
          <p:cNvPr id="15" name="Arrow: Right 14">
            <a:extLst>
              <a:ext uri="{FF2B5EF4-FFF2-40B4-BE49-F238E27FC236}">
                <a16:creationId xmlns:a16="http://schemas.microsoft.com/office/drawing/2014/main" id="{B6358989-B860-08D5-AD3B-6587D93D34C2}"/>
              </a:ext>
            </a:extLst>
          </p:cNvPr>
          <p:cNvSpPr/>
          <p:nvPr/>
        </p:nvSpPr>
        <p:spPr>
          <a:xfrm>
            <a:off x="3230293" y="2903454"/>
            <a:ext cx="430400" cy="634000"/>
          </a:xfrm>
          <a:prstGeom prst="rightArrow">
            <a:avLst/>
          </a:prstGeom>
          <a:solidFill>
            <a:srgbClr val="B0008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6E1E95-A81C-8C38-F2C0-C26129CDF051}"/>
              </a:ext>
            </a:extLst>
          </p:cNvPr>
          <p:cNvSpPr txBox="1"/>
          <p:nvPr/>
        </p:nvSpPr>
        <p:spPr>
          <a:xfrm>
            <a:off x="152399" y="1809750"/>
            <a:ext cx="329873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685800">
              <a:buClr>
                <a:srgbClr val="FF585D"/>
              </a:buClr>
            </a:pPr>
            <a:r>
              <a:rPr lang="en-US" sz="1400" b="1" dirty="0" err="1">
                <a:solidFill>
                  <a:srgbClr val="000000"/>
                </a:solidFill>
                <a:latin typeface="Trebuchet MS" panose="020B0603020202020204"/>
              </a:rPr>
              <a:t>LoT</a:t>
            </a:r>
            <a:r>
              <a:rPr lang="en-US" sz="1400" b="1" dirty="0">
                <a:solidFill>
                  <a:srgbClr val="000000"/>
                </a:solidFill>
                <a:latin typeface="Trebuchet MS" panose="020B0603020202020204"/>
              </a:rPr>
              <a:t>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78C44D-CA20-9FD7-EAD3-8F6C53FA7A56}"/>
              </a:ext>
            </a:extLst>
          </p:cNvPr>
          <p:cNvSpPr txBox="1"/>
          <p:nvPr/>
        </p:nvSpPr>
        <p:spPr>
          <a:xfrm>
            <a:off x="3230293" y="1118036"/>
            <a:ext cx="329873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685800">
              <a:buClr>
                <a:srgbClr val="FF585D"/>
              </a:buClr>
            </a:pPr>
            <a:r>
              <a:rPr lang="en-US" sz="1400" b="1" dirty="0">
                <a:solidFill>
                  <a:srgbClr val="000000"/>
                </a:solidFill>
                <a:latin typeface="Trebuchet MS" panose="020B0603020202020204"/>
              </a:rPr>
              <a:t>Model Cohort data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AC3DEF8E-FF36-F7E4-2484-F059462F893D}"/>
              </a:ext>
            </a:extLst>
          </p:cNvPr>
          <p:cNvSpPr/>
          <p:nvPr/>
        </p:nvSpPr>
        <p:spPr>
          <a:xfrm rot="16200000">
            <a:off x="9072649" y="-1036046"/>
            <a:ext cx="257936" cy="4761567"/>
          </a:xfrm>
          <a:prstGeom prst="rightBrace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CE2FFF-FB91-67F8-C97F-07479AE47BB3}"/>
              </a:ext>
            </a:extLst>
          </p:cNvPr>
          <p:cNvSpPr txBox="1"/>
          <p:nvPr/>
        </p:nvSpPr>
        <p:spPr>
          <a:xfrm>
            <a:off x="7361073" y="928593"/>
            <a:ext cx="329873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685800">
              <a:buClr>
                <a:srgbClr val="FF585D"/>
              </a:buClr>
            </a:pPr>
            <a:r>
              <a:rPr lang="en-US" sz="1400" b="1" dirty="0">
                <a:solidFill>
                  <a:srgbClr val="000000"/>
                </a:solidFill>
                <a:latin typeface="Trebuchet MS" panose="020B0603020202020204"/>
              </a:rPr>
              <a:t>Example of features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38F3C0-5133-990A-3A87-46CB699FACAA}"/>
              </a:ext>
            </a:extLst>
          </p:cNvPr>
          <p:cNvSpPr/>
          <p:nvPr/>
        </p:nvSpPr>
        <p:spPr>
          <a:xfrm>
            <a:off x="152399" y="1425813"/>
            <a:ext cx="2271833" cy="2385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600" b="1" dirty="0">
                <a:solidFill>
                  <a:schemeClr val="bg1"/>
                </a:solidFill>
              </a:rPr>
              <a:t>Illustrative</a:t>
            </a:r>
          </a:p>
        </p:txBody>
      </p:sp>
    </p:spTree>
    <p:extLst>
      <p:ext uri="{BB962C8B-B14F-4D97-AF65-F5344CB8AC3E}">
        <p14:creationId xmlns:p14="http://schemas.microsoft.com/office/powerpoint/2010/main" val="1406545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BA127-38A6-D8DE-02D5-07D665631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92F2FB-291D-CB37-8F39-0ABB3D824D3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107B356-5339-98D8-110E-97529C560C8E}"/>
              </a:ext>
            </a:extLst>
          </p:cNvPr>
          <p:cNvSpPr txBox="1">
            <a:spLocks/>
          </p:cNvSpPr>
          <p:nvPr/>
        </p:nvSpPr>
        <p:spPr>
          <a:xfrm>
            <a:off x="384695" y="238539"/>
            <a:ext cx="11422612" cy="58349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1" i="0" kern="1200">
                <a:solidFill>
                  <a:schemeClr val="accent1"/>
                </a:solidFill>
                <a:latin typeface="Avenir Next LT Pro" panose="020B0504020202020204" pitchFamily="34" charset="77"/>
                <a:ea typeface="+mj-ea"/>
                <a:cs typeface="+mj-cs"/>
              </a:defRPr>
            </a:lvl1pPr>
          </a:lstStyle>
          <a:p>
            <a:r>
              <a:rPr lang="en-US" sz="2000" dirty="0"/>
              <a:t>~1,000 LR MDS patients either have their treatment initiations or treatment changes every month, ESA new patient starts are declining while Reblozyl on the raise</a:t>
            </a:r>
            <a:endParaRPr lang="en-IN" sz="32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FFE61E-A202-FA2D-09F1-9D9699FF7665}"/>
              </a:ext>
            </a:extLst>
          </p:cNvPr>
          <p:cNvSpPr txBox="1"/>
          <p:nvPr/>
        </p:nvSpPr>
        <p:spPr>
          <a:xfrm>
            <a:off x="1289436" y="6568753"/>
            <a:ext cx="96131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Cambria" panose="02040503050406030204" pitchFamily="18" charset="0"/>
                <a:cs typeface="+mn-cs"/>
              </a:rPr>
              <a:t>Source: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IQVIA claims informed file updated in </a:t>
            </a:r>
            <a:r>
              <a:rPr lang="en-US" sz="1000" i="1" dirty="0">
                <a:solidFill>
                  <a:srgbClr val="54565B"/>
                </a:solidFill>
                <a:latin typeface="+mj-lt"/>
              </a:rPr>
              <a:t>May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’25; Analysis Period: </a:t>
            </a:r>
            <a:r>
              <a:rPr lang="en-US" sz="1000" i="1" dirty="0">
                <a:solidFill>
                  <a:srgbClr val="54565B"/>
                </a:solidFill>
                <a:latin typeface="+mj-lt"/>
              </a:rPr>
              <a:t>July’24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to </a:t>
            </a:r>
            <a:r>
              <a:rPr lang="en-US" sz="1000" i="1" dirty="0">
                <a:solidFill>
                  <a:srgbClr val="54565B"/>
                </a:solidFill>
                <a:latin typeface="+mj-lt"/>
              </a:rPr>
              <a:t>Feb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’25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D90294-CD68-FBB0-96B3-A6F8E54515AB}"/>
              </a:ext>
            </a:extLst>
          </p:cNvPr>
          <p:cNvSpPr/>
          <p:nvPr/>
        </p:nvSpPr>
        <p:spPr>
          <a:xfrm>
            <a:off x="9920167" y="4012"/>
            <a:ext cx="2271833" cy="2385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600" b="1" dirty="0">
                <a:solidFill>
                  <a:schemeClr val="bg1"/>
                </a:solidFill>
              </a:rPr>
              <a:t>Unprojected patients</a:t>
            </a:r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5BA230C6-C1F3-0631-F2FF-3D6C524B49A8}"/>
              </a:ext>
            </a:extLst>
          </p:cNvPr>
          <p:cNvGraphicFramePr/>
          <p:nvPr/>
        </p:nvGraphicFramePr>
        <p:xfrm>
          <a:off x="364109" y="1357703"/>
          <a:ext cx="5711306" cy="2504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C7A8A03D-1DE6-6DEF-F542-C15DBF44C774}"/>
              </a:ext>
            </a:extLst>
          </p:cNvPr>
          <p:cNvGraphicFramePr/>
          <p:nvPr/>
        </p:nvGraphicFramePr>
        <p:xfrm>
          <a:off x="6182426" y="1357703"/>
          <a:ext cx="5711306" cy="2504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18A04E9E-7269-711A-B5E1-A06A1FB14568}"/>
              </a:ext>
            </a:extLst>
          </p:cNvPr>
          <p:cNvGraphicFramePr/>
          <p:nvPr/>
        </p:nvGraphicFramePr>
        <p:xfrm>
          <a:off x="364109" y="3967461"/>
          <a:ext cx="5711306" cy="2504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A6168437-5D21-2563-E372-7816D055FD88}"/>
              </a:ext>
            </a:extLst>
          </p:cNvPr>
          <p:cNvGraphicFramePr/>
          <p:nvPr/>
        </p:nvGraphicFramePr>
        <p:xfrm>
          <a:off x="6182426" y="3967461"/>
          <a:ext cx="5711306" cy="2504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5571744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844A3-9E41-F13A-4121-F7B92C27E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94D0E7-EAE1-94D5-26B9-789847DACD3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56ABEEC-9E7F-D14F-F1DB-AE3C056074EF}"/>
              </a:ext>
            </a:extLst>
          </p:cNvPr>
          <p:cNvSpPr txBox="1">
            <a:spLocks/>
          </p:cNvSpPr>
          <p:nvPr/>
        </p:nvSpPr>
        <p:spPr>
          <a:xfrm>
            <a:off x="384695" y="238539"/>
            <a:ext cx="11422612" cy="58349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1" i="0" kern="1200">
                <a:solidFill>
                  <a:schemeClr val="accent1"/>
                </a:solidFill>
                <a:latin typeface="Avenir Next LT Pro" panose="020B0504020202020204" pitchFamily="34" charset="77"/>
                <a:ea typeface="+mj-ea"/>
                <a:cs typeface="+mj-cs"/>
              </a:defRPr>
            </a:lvl1pPr>
          </a:lstStyle>
          <a:p>
            <a:r>
              <a:rPr lang="en-US" sz="2000" dirty="0"/>
              <a:t>~1,000 MDS patients either start their treatment </a:t>
            </a:r>
            <a:r>
              <a:rPr lang="en-US" sz="2000"/>
              <a:t>or change </a:t>
            </a:r>
            <a:r>
              <a:rPr lang="en-US" sz="2000" dirty="0"/>
              <a:t>every month, the majority (~800) belong to the RS- cohort</a:t>
            </a:r>
            <a:endParaRPr lang="en-IN" sz="32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32FCB4-41F4-30A4-9F69-6938FFE68C34}"/>
              </a:ext>
            </a:extLst>
          </p:cNvPr>
          <p:cNvSpPr txBox="1"/>
          <p:nvPr/>
        </p:nvSpPr>
        <p:spPr>
          <a:xfrm>
            <a:off x="1289436" y="6568753"/>
            <a:ext cx="96131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Cambria" panose="02040503050406030204" pitchFamily="18" charset="0"/>
                <a:cs typeface="+mn-cs"/>
              </a:rPr>
              <a:t>Source: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IQVIA claims informed file updated in </a:t>
            </a:r>
            <a:r>
              <a:rPr lang="en-US" sz="1000" i="1" dirty="0">
                <a:solidFill>
                  <a:srgbClr val="54565B"/>
                </a:solidFill>
                <a:latin typeface="+mj-lt"/>
              </a:rPr>
              <a:t>May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’25; Analysis Period: </a:t>
            </a:r>
            <a:r>
              <a:rPr lang="en-US" sz="1000" i="1" dirty="0">
                <a:solidFill>
                  <a:srgbClr val="54565B"/>
                </a:solidFill>
                <a:latin typeface="+mj-lt"/>
              </a:rPr>
              <a:t>July’24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to </a:t>
            </a:r>
            <a:r>
              <a:rPr lang="en-US" sz="1000" i="1" dirty="0">
                <a:solidFill>
                  <a:srgbClr val="54565B"/>
                </a:solidFill>
                <a:latin typeface="+mj-lt"/>
              </a:rPr>
              <a:t>Feb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’25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A17B6FCF-73A7-022E-8C82-320593FEE1E8}"/>
              </a:ext>
            </a:extLst>
          </p:cNvPr>
          <p:cNvGraphicFramePr/>
          <p:nvPr/>
        </p:nvGraphicFramePr>
        <p:xfrm>
          <a:off x="3162693" y="1110697"/>
          <a:ext cx="5711306" cy="2504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BDC61453-B454-FEBE-5D65-58B40A8DD772}"/>
              </a:ext>
            </a:extLst>
          </p:cNvPr>
          <p:cNvGraphicFramePr/>
          <p:nvPr/>
        </p:nvGraphicFramePr>
        <p:xfrm>
          <a:off x="307039" y="3744663"/>
          <a:ext cx="5478125" cy="2599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C3C65A69-773E-6B15-535A-51A840FCC8F2}"/>
              </a:ext>
            </a:extLst>
          </p:cNvPr>
          <p:cNvGraphicFramePr/>
          <p:nvPr/>
        </p:nvGraphicFramePr>
        <p:xfrm>
          <a:off x="6018346" y="3742924"/>
          <a:ext cx="5711306" cy="2599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B8CF5E21-2120-FCAB-69B5-6FF8F6851541}"/>
              </a:ext>
            </a:extLst>
          </p:cNvPr>
          <p:cNvSpPr/>
          <p:nvPr/>
        </p:nvSpPr>
        <p:spPr>
          <a:xfrm>
            <a:off x="3976575" y="3115338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960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910A58-828A-DB23-2700-86340B9EDC68}"/>
              </a:ext>
            </a:extLst>
          </p:cNvPr>
          <p:cNvSpPr/>
          <p:nvPr/>
        </p:nvSpPr>
        <p:spPr>
          <a:xfrm>
            <a:off x="4790457" y="3115338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984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685371-C655-B0B0-6C0F-B8DB36AED56D}"/>
              </a:ext>
            </a:extLst>
          </p:cNvPr>
          <p:cNvSpPr/>
          <p:nvPr/>
        </p:nvSpPr>
        <p:spPr>
          <a:xfrm>
            <a:off x="5599094" y="3104704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974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0F9544-746D-B08D-FC1E-D168440BF88F}"/>
              </a:ext>
            </a:extLst>
          </p:cNvPr>
          <p:cNvSpPr/>
          <p:nvPr/>
        </p:nvSpPr>
        <p:spPr>
          <a:xfrm>
            <a:off x="6407731" y="3104704"/>
            <a:ext cx="439632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1048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B7BB15-7766-8423-5B5D-A8A3FF01458F}"/>
              </a:ext>
            </a:extLst>
          </p:cNvPr>
          <p:cNvSpPr/>
          <p:nvPr/>
        </p:nvSpPr>
        <p:spPr>
          <a:xfrm>
            <a:off x="7187458" y="3118881"/>
            <a:ext cx="439632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978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7C7A05-F469-0EF3-9B16-AF63D21B4E59}"/>
              </a:ext>
            </a:extLst>
          </p:cNvPr>
          <p:cNvSpPr/>
          <p:nvPr/>
        </p:nvSpPr>
        <p:spPr>
          <a:xfrm>
            <a:off x="7967185" y="3131285"/>
            <a:ext cx="439632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990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7FFFC7-183A-2457-160B-55066A827919}"/>
              </a:ext>
            </a:extLst>
          </p:cNvPr>
          <p:cNvSpPr/>
          <p:nvPr/>
        </p:nvSpPr>
        <p:spPr>
          <a:xfrm>
            <a:off x="1103366" y="5862081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164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07F9346-D6AB-248E-8F95-29A7521AEA15}"/>
              </a:ext>
            </a:extLst>
          </p:cNvPr>
          <p:cNvSpPr/>
          <p:nvPr/>
        </p:nvSpPr>
        <p:spPr>
          <a:xfrm>
            <a:off x="1899693" y="5862081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188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C5EC4DD-199E-0C56-F735-76F75741BAE5}"/>
              </a:ext>
            </a:extLst>
          </p:cNvPr>
          <p:cNvSpPr/>
          <p:nvPr/>
        </p:nvSpPr>
        <p:spPr>
          <a:xfrm>
            <a:off x="2673961" y="5862081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172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9399FE-1C0A-6AB6-41F5-4A7181267ABF}"/>
              </a:ext>
            </a:extLst>
          </p:cNvPr>
          <p:cNvSpPr/>
          <p:nvPr/>
        </p:nvSpPr>
        <p:spPr>
          <a:xfrm>
            <a:off x="3421521" y="5862081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195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09758E4-B683-759C-60FB-BD02A9F78CFC}"/>
              </a:ext>
            </a:extLst>
          </p:cNvPr>
          <p:cNvSpPr/>
          <p:nvPr/>
        </p:nvSpPr>
        <p:spPr>
          <a:xfrm>
            <a:off x="4194541" y="5862081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167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90CEE0E-CBB8-5980-D37E-7C49953A8B19}"/>
              </a:ext>
            </a:extLst>
          </p:cNvPr>
          <p:cNvSpPr/>
          <p:nvPr/>
        </p:nvSpPr>
        <p:spPr>
          <a:xfrm>
            <a:off x="4951609" y="5862081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164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0D2B0F-3B83-F9DA-3D98-DEDCD5656860}"/>
              </a:ext>
            </a:extLst>
          </p:cNvPr>
          <p:cNvSpPr/>
          <p:nvPr/>
        </p:nvSpPr>
        <p:spPr>
          <a:xfrm>
            <a:off x="588198" y="1348966"/>
            <a:ext cx="2271833" cy="238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600" b="1" dirty="0">
                <a:solidFill>
                  <a:schemeClr val="tx2">
                    <a:lumMod val="10000"/>
                  </a:schemeClr>
                </a:solidFill>
              </a:rPr>
              <a:t>Unprojected patients</a:t>
            </a:r>
          </a:p>
        </p:txBody>
      </p:sp>
    </p:spTree>
    <p:extLst>
      <p:ext uri="{BB962C8B-B14F-4D97-AF65-F5344CB8AC3E}">
        <p14:creationId xmlns:p14="http://schemas.microsoft.com/office/powerpoint/2010/main" val="39936829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A4D56-2224-2672-961C-5F2BBF973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D454EB-52CA-4BA1-22C6-782565A9078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F21B48-A8D3-2A34-4B5C-5DFCB2629FE5}"/>
              </a:ext>
            </a:extLst>
          </p:cNvPr>
          <p:cNvSpPr txBox="1"/>
          <p:nvPr/>
        </p:nvSpPr>
        <p:spPr>
          <a:xfrm>
            <a:off x="1289436" y="6568753"/>
            <a:ext cx="96131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Cambria" panose="02040503050406030204" pitchFamily="18" charset="0"/>
                <a:cs typeface="+mn-cs"/>
              </a:rPr>
              <a:t>Source: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IQVIA claims informed file updated in </a:t>
            </a:r>
            <a:r>
              <a:rPr lang="en-US" sz="1000" i="1" dirty="0">
                <a:solidFill>
                  <a:srgbClr val="54565B"/>
                </a:solidFill>
                <a:latin typeface="+mj-lt"/>
              </a:rPr>
              <a:t>May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’25; Analysis Period: </a:t>
            </a:r>
            <a:r>
              <a:rPr lang="en-US" sz="1000" i="1" dirty="0">
                <a:solidFill>
                  <a:srgbClr val="54565B"/>
                </a:solidFill>
                <a:latin typeface="+mj-lt"/>
              </a:rPr>
              <a:t>July’24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to </a:t>
            </a:r>
            <a:r>
              <a:rPr lang="en-US" sz="1000" i="1" dirty="0">
                <a:solidFill>
                  <a:srgbClr val="54565B"/>
                </a:solidFill>
                <a:latin typeface="+mj-lt"/>
              </a:rPr>
              <a:t>Feb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’25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CCAACD4D-A478-383A-2B3A-1676964339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5695780"/>
              </p:ext>
            </p:extLst>
          </p:nvPr>
        </p:nvGraphicFramePr>
        <p:xfrm>
          <a:off x="3162693" y="1190903"/>
          <a:ext cx="5711306" cy="2504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B62A41EA-D434-F1CA-BABB-CF8BF94E96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8202434"/>
              </p:ext>
            </p:extLst>
          </p:nvPr>
        </p:nvGraphicFramePr>
        <p:xfrm>
          <a:off x="307039" y="3792195"/>
          <a:ext cx="5496232" cy="2504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2D4D0782-96C8-5AA4-A4CB-739825A501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7672276"/>
              </p:ext>
            </p:extLst>
          </p:nvPr>
        </p:nvGraphicFramePr>
        <p:xfrm>
          <a:off x="6018346" y="3792194"/>
          <a:ext cx="5711306" cy="2504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B94ECC83-A354-1B0A-BE53-78A94CE8644B}"/>
              </a:ext>
            </a:extLst>
          </p:cNvPr>
          <p:cNvSpPr/>
          <p:nvPr/>
        </p:nvSpPr>
        <p:spPr>
          <a:xfrm>
            <a:off x="3978330" y="3186203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526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CB64E8-FA81-F03A-9780-F0577774230B}"/>
              </a:ext>
            </a:extLst>
          </p:cNvPr>
          <p:cNvSpPr/>
          <p:nvPr/>
        </p:nvSpPr>
        <p:spPr>
          <a:xfrm>
            <a:off x="4751350" y="3182669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535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491948-9155-BFF3-1420-82A5AE55D8D3}"/>
              </a:ext>
            </a:extLst>
          </p:cNvPr>
          <p:cNvSpPr/>
          <p:nvPr/>
        </p:nvSpPr>
        <p:spPr>
          <a:xfrm>
            <a:off x="5572460" y="3182669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521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3EC249-99C3-E6C5-E150-8F0AA4059683}"/>
              </a:ext>
            </a:extLst>
          </p:cNvPr>
          <p:cNvSpPr/>
          <p:nvPr/>
        </p:nvSpPr>
        <p:spPr>
          <a:xfrm>
            <a:off x="6393570" y="3182669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507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E818C9-F5A5-3FB6-9F8B-23630F95851D}"/>
              </a:ext>
            </a:extLst>
          </p:cNvPr>
          <p:cNvSpPr/>
          <p:nvPr/>
        </p:nvSpPr>
        <p:spPr>
          <a:xfrm>
            <a:off x="7214680" y="3182669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385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77C408A-6858-B12E-B264-08D3E36CC626}"/>
              </a:ext>
            </a:extLst>
          </p:cNvPr>
          <p:cNvSpPr/>
          <p:nvPr/>
        </p:nvSpPr>
        <p:spPr>
          <a:xfrm>
            <a:off x="7960629" y="3182669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369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6DEA8D6-4E23-F91F-A548-E25B6629C264}"/>
              </a:ext>
            </a:extLst>
          </p:cNvPr>
          <p:cNvSpPr/>
          <p:nvPr/>
        </p:nvSpPr>
        <p:spPr>
          <a:xfrm>
            <a:off x="1128169" y="5854992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85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5232CE-3AB0-E7CF-2699-19CB81836F33}"/>
              </a:ext>
            </a:extLst>
          </p:cNvPr>
          <p:cNvSpPr/>
          <p:nvPr/>
        </p:nvSpPr>
        <p:spPr>
          <a:xfrm>
            <a:off x="1924496" y="5854992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102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AA58ED-00FE-9098-4D05-7FA222B61D43}"/>
              </a:ext>
            </a:extLst>
          </p:cNvPr>
          <p:cNvSpPr/>
          <p:nvPr/>
        </p:nvSpPr>
        <p:spPr>
          <a:xfrm>
            <a:off x="2698764" y="5854992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83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7EEF0D-2E5A-13FC-0C5B-9EABED4BBD95}"/>
              </a:ext>
            </a:extLst>
          </p:cNvPr>
          <p:cNvSpPr/>
          <p:nvPr/>
        </p:nvSpPr>
        <p:spPr>
          <a:xfrm>
            <a:off x="3446324" y="5854992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77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925C89-6CAC-96DC-1D6B-3B84C45B2962}"/>
              </a:ext>
            </a:extLst>
          </p:cNvPr>
          <p:cNvSpPr/>
          <p:nvPr/>
        </p:nvSpPr>
        <p:spPr>
          <a:xfrm>
            <a:off x="4219344" y="5854992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51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BCB4C35-9222-D3EC-491E-68A6526E0BAD}"/>
              </a:ext>
            </a:extLst>
          </p:cNvPr>
          <p:cNvSpPr/>
          <p:nvPr/>
        </p:nvSpPr>
        <p:spPr>
          <a:xfrm>
            <a:off x="4976412" y="5854992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46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CC403E6-6079-0676-3026-5873FBCE0DAC}"/>
              </a:ext>
            </a:extLst>
          </p:cNvPr>
          <p:cNvSpPr/>
          <p:nvPr/>
        </p:nvSpPr>
        <p:spPr>
          <a:xfrm>
            <a:off x="6790274" y="5784117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441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262C6E5-30BA-AFFB-7CEA-C8C54EF88F85}"/>
              </a:ext>
            </a:extLst>
          </p:cNvPr>
          <p:cNvSpPr/>
          <p:nvPr/>
        </p:nvSpPr>
        <p:spPr>
          <a:xfrm>
            <a:off x="7602046" y="5784117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433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C4006A4-251C-23CA-14FA-7328FA0A6906}"/>
              </a:ext>
            </a:extLst>
          </p:cNvPr>
          <p:cNvSpPr/>
          <p:nvPr/>
        </p:nvSpPr>
        <p:spPr>
          <a:xfrm>
            <a:off x="8381773" y="5784117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438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EFF5E0D-4AF9-7295-2CC4-CF13DEA4D340}"/>
              </a:ext>
            </a:extLst>
          </p:cNvPr>
          <p:cNvSpPr/>
          <p:nvPr/>
        </p:nvSpPr>
        <p:spPr>
          <a:xfrm>
            <a:off x="9199809" y="5784117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430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6D7DF1C-C82E-691D-335A-F480A3B7C561}"/>
              </a:ext>
            </a:extLst>
          </p:cNvPr>
          <p:cNvSpPr/>
          <p:nvPr/>
        </p:nvSpPr>
        <p:spPr>
          <a:xfrm>
            <a:off x="10059483" y="5784117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334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FA46306-AB87-41D5-EB5C-6AD0A5C64FF6}"/>
              </a:ext>
            </a:extLst>
          </p:cNvPr>
          <p:cNvSpPr/>
          <p:nvPr/>
        </p:nvSpPr>
        <p:spPr>
          <a:xfrm>
            <a:off x="10877519" y="5784117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324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80CF92C-E5C1-633F-F806-2EF74D38A579}"/>
              </a:ext>
            </a:extLst>
          </p:cNvPr>
          <p:cNvSpPr txBox="1">
            <a:spLocks/>
          </p:cNvSpPr>
          <p:nvPr/>
        </p:nvSpPr>
        <p:spPr>
          <a:xfrm>
            <a:off x="384695" y="238539"/>
            <a:ext cx="11422612" cy="58349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1" i="0" kern="1200">
                <a:solidFill>
                  <a:schemeClr val="accent1"/>
                </a:solidFill>
                <a:latin typeface="Avenir Next LT Pro" panose="020B0504020202020204" pitchFamily="34" charset="77"/>
                <a:ea typeface="+mj-ea"/>
                <a:cs typeface="+mj-cs"/>
              </a:defRPr>
            </a:lvl1pPr>
          </a:lstStyle>
          <a:p>
            <a:r>
              <a:rPr lang="en-US" sz="2000" dirty="0"/>
              <a:t>ESA New Patient Starts (Monthly Average) Show Sharp Decline in Recent Semesters of 2024</a:t>
            </a:r>
            <a:endParaRPr lang="en-IN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629022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F69A9-D0F0-AE39-AE57-B6A2A4CC1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355D76-F848-8CBE-0756-79F092C4952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348EB1-E3E8-BC0A-CA45-89F777D8FBC0}"/>
              </a:ext>
            </a:extLst>
          </p:cNvPr>
          <p:cNvSpPr txBox="1"/>
          <p:nvPr/>
        </p:nvSpPr>
        <p:spPr>
          <a:xfrm>
            <a:off x="1289436" y="6568753"/>
            <a:ext cx="96131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Cambria" panose="02040503050406030204" pitchFamily="18" charset="0"/>
                <a:cs typeface="+mn-cs"/>
              </a:rPr>
              <a:t>Source: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IQVIA claims informed file updated in </a:t>
            </a:r>
            <a:r>
              <a:rPr lang="en-US" sz="1000" i="1" dirty="0">
                <a:solidFill>
                  <a:srgbClr val="54565B"/>
                </a:solidFill>
                <a:latin typeface="+mj-lt"/>
              </a:rPr>
              <a:t>May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’25; Analysis Period: </a:t>
            </a:r>
            <a:r>
              <a:rPr lang="en-US" sz="1000" i="1" dirty="0">
                <a:solidFill>
                  <a:srgbClr val="54565B"/>
                </a:solidFill>
                <a:latin typeface="+mj-lt"/>
              </a:rPr>
              <a:t>July’24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to </a:t>
            </a:r>
            <a:r>
              <a:rPr lang="en-US" sz="1000" i="1" dirty="0">
                <a:solidFill>
                  <a:srgbClr val="54565B"/>
                </a:solidFill>
                <a:latin typeface="+mj-lt"/>
              </a:rPr>
              <a:t>Feb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’25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F9535D7C-D1A6-20D9-3A9A-0FDB0BDF96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9035397"/>
              </p:ext>
            </p:extLst>
          </p:nvPr>
        </p:nvGraphicFramePr>
        <p:xfrm>
          <a:off x="3162693" y="1190903"/>
          <a:ext cx="5711306" cy="2504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8D7D3D26-C9AB-E378-9B9B-775A0EAE1E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0576734"/>
              </p:ext>
            </p:extLst>
          </p:nvPr>
        </p:nvGraphicFramePr>
        <p:xfrm>
          <a:off x="307039" y="3792195"/>
          <a:ext cx="5496232" cy="2504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C1B9F059-860C-174C-1135-5AC39400B2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7919515"/>
              </p:ext>
            </p:extLst>
          </p:nvPr>
        </p:nvGraphicFramePr>
        <p:xfrm>
          <a:off x="6018346" y="3792194"/>
          <a:ext cx="5711306" cy="2504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883B109-3465-8219-475C-535A628698AC}"/>
              </a:ext>
            </a:extLst>
          </p:cNvPr>
          <p:cNvSpPr/>
          <p:nvPr/>
        </p:nvSpPr>
        <p:spPr>
          <a:xfrm>
            <a:off x="3978330" y="3186203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89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ACFF1B-9FD9-ABDC-3FB3-83E402D1E902}"/>
              </a:ext>
            </a:extLst>
          </p:cNvPr>
          <p:cNvSpPr/>
          <p:nvPr/>
        </p:nvSpPr>
        <p:spPr>
          <a:xfrm>
            <a:off x="4751350" y="3182669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99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2A4E3C-109B-D7D5-D0C4-F10655376FF5}"/>
              </a:ext>
            </a:extLst>
          </p:cNvPr>
          <p:cNvSpPr/>
          <p:nvPr/>
        </p:nvSpPr>
        <p:spPr>
          <a:xfrm>
            <a:off x="5572460" y="3182669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102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5AF0DA-A3FE-76CC-88BF-E10007857C36}"/>
              </a:ext>
            </a:extLst>
          </p:cNvPr>
          <p:cNvSpPr/>
          <p:nvPr/>
        </p:nvSpPr>
        <p:spPr>
          <a:xfrm>
            <a:off x="6393570" y="3182669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193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EE681E-B59D-5717-B3BC-DEC94EE72F7B}"/>
              </a:ext>
            </a:extLst>
          </p:cNvPr>
          <p:cNvSpPr/>
          <p:nvPr/>
        </p:nvSpPr>
        <p:spPr>
          <a:xfrm>
            <a:off x="7214680" y="3182669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208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92942B-FDD4-9E01-9ECD-84A5A4C0A019}"/>
              </a:ext>
            </a:extLst>
          </p:cNvPr>
          <p:cNvSpPr/>
          <p:nvPr/>
        </p:nvSpPr>
        <p:spPr>
          <a:xfrm>
            <a:off x="7960629" y="3182669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232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E32BF4-5AA2-CB77-BB68-B172D9376699}"/>
              </a:ext>
            </a:extLst>
          </p:cNvPr>
          <p:cNvSpPr/>
          <p:nvPr/>
        </p:nvSpPr>
        <p:spPr>
          <a:xfrm>
            <a:off x="1128169" y="5854992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50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5069E4-0A0A-2C20-47A6-E99F2078F50B}"/>
              </a:ext>
            </a:extLst>
          </p:cNvPr>
          <p:cNvSpPr/>
          <p:nvPr/>
        </p:nvSpPr>
        <p:spPr>
          <a:xfrm>
            <a:off x="1924496" y="5854992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54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EAC9F9-6DFE-BC3F-2822-7DC1829CA856}"/>
              </a:ext>
            </a:extLst>
          </p:cNvPr>
          <p:cNvSpPr/>
          <p:nvPr/>
        </p:nvSpPr>
        <p:spPr>
          <a:xfrm>
            <a:off x="2698764" y="5854992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57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2247BB-32F2-346D-EDA8-CBDF6697A997}"/>
              </a:ext>
            </a:extLst>
          </p:cNvPr>
          <p:cNvSpPr/>
          <p:nvPr/>
        </p:nvSpPr>
        <p:spPr>
          <a:xfrm>
            <a:off x="3446324" y="5854992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86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F7CD20-7EC5-1815-6AD4-FAADD85D4267}"/>
              </a:ext>
            </a:extLst>
          </p:cNvPr>
          <p:cNvSpPr/>
          <p:nvPr/>
        </p:nvSpPr>
        <p:spPr>
          <a:xfrm>
            <a:off x="4219344" y="5854992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78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142A11-301D-6B75-880C-A46027D09538}"/>
              </a:ext>
            </a:extLst>
          </p:cNvPr>
          <p:cNvSpPr/>
          <p:nvPr/>
        </p:nvSpPr>
        <p:spPr>
          <a:xfrm>
            <a:off x="4976412" y="5854992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76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530313-E821-6FB6-D5E6-0C025C6E6E3F}"/>
              </a:ext>
            </a:extLst>
          </p:cNvPr>
          <p:cNvSpPr/>
          <p:nvPr/>
        </p:nvSpPr>
        <p:spPr>
          <a:xfrm>
            <a:off x="6790274" y="5784117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39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A47275-CE84-7040-8722-F9EDF431C428}"/>
              </a:ext>
            </a:extLst>
          </p:cNvPr>
          <p:cNvSpPr/>
          <p:nvPr/>
        </p:nvSpPr>
        <p:spPr>
          <a:xfrm>
            <a:off x="7602046" y="5784117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45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05DA27-74AA-0936-D459-B11AEF8FEA0C}"/>
              </a:ext>
            </a:extLst>
          </p:cNvPr>
          <p:cNvSpPr/>
          <p:nvPr/>
        </p:nvSpPr>
        <p:spPr>
          <a:xfrm>
            <a:off x="8381773" y="5784117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45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DB70EE-AEF8-5840-D5C8-AE3333EAB678}"/>
              </a:ext>
            </a:extLst>
          </p:cNvPr>
          <p:cNvSpPr/>
          <p:nvPr/>
        </p:nvSpPr>
        <p:spPr>
          <a:xfrm>
            <a:off x="9199809" y="5784117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108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BD12B3-C05C-14C8-988F-A467EA557B6B}"/>
              </a:ext>
            </a:extLst>
          </p:cNvPr>
          <p:cNvSpPr/>
          <p:nvPr/>
        </p:nvSpPr>
        <p:spPr>
          <a:xfrm>
            <a:off x="10059483" y="5784117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130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4AFBCD-5B1B-2399-C384-12DA2BCDFDEE}"/>
              </a:ext>
            </a:extLst>
          </p:cNvPr>
          <p:cNvSpPr/>
          <p:nvPr/>
        </p:nvSpPr>
        <p:spPr>
          <a:xfrm>
            <a:off x="10877519" y="5784117"/>
            <a:ext cx="372140" cy="1594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900" b="1" dirty="0">
                <a:solidFill>
                  <a:schemeClr val="tx2">
                    <a:lumMod val="10000"/>
                  </a:schemeClr>
                </a:solidFill>
              </a:rPr>
              <a:t>155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5E3B750-214D-55D2-2046-CAFC979B95BF}"/>
              </a:ext>
            </a:extLst>
          </p:cNvPr>
          <p:cNvSpPr txBox="1">
            <a:spLocks/>
          </p:cNvSpPr>
          <p:nvPr/>
        </p:nvSpPr>
        <p:spPr>
          <a:xfrm>
            <a:off x="384695" y="238539"/>
            <a:ext cx="11422612" cy="58349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1" i="0" kern="1200">
                <a:solidFill>
                  <a:schemeClr val="accent1"/>
                </a:solidFill>
                <a:latin typeface="Avenir Next LT Pro" panose="020B0504020202020204" pitchFamily="34" charset="77"/>
                <a:ea typeface="+mj-ea"/>
                <a:cs typeface="+mj-cs"/>
              </a:defRPr>
            </a:lvl1pPr>
          </a:lstStyle>
          <a:p>
            <a:r>
              <a:rPr lang="en-US" sz="2000" dirty="0"/>
              <a:t>Significant Uptick in Reblozyl Initiations (Monthly Avg) Post S2 2023</a:t>
            </a:r>
            <a:endParaRPr lang="en-IN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682779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25D2C-03DC-7268-D597-C65450FA2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6C7FBF-6285-AB77-F6CA-8F99C0B5B4F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FFA5648-6CC9-A72A-D52E-0FCDBF9DB362}"/>
              </a:ext>
            </a:extLst>
          </p:cNvPr>
          <p:cNvSpPr txBox="1">
            <a:spLocks/>
          </p:cNvSpPr>
          <p:nvPr/>
        </p:nvSpPr>
        <p:spPr>
          <a:xfrm>
            <a:off x="384695" y="75658"/>
            <a:ext cx="11422612" cy="58349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1" i="0" kern="1200">
                <a:solidFill>
                  <a:schemeClr val="accent1"/>
                </a:solidFill>
                <a:latin typeface="Avenir Next LT Pro" panose="020B0504020202020204" pitchFamily="34" charset="77"/>
                <a:ea typeface="+mj-ea"/>
                <a:cs typeface="+mj-cs"/>
              </a:defRPr>
            </a:lvl1pPr>
          </a:lstStyle>
          <a:p>
            <a:r>
              <a:rPr lang="en-US" sz="2000" dirty="0"/>
              <a:t>2L New Patient Starts (Monthly Average) with Prior ESA Use in 1L Declined in S2 2024 vs. S1 2022</a:t>
            </a:r>
            <a:endParaRPr lang="en-IN" sz="32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125CAE-7531-E93B-38B8-CDB4267BFD56}"/>
              </a:ext>
            </a:extLst>
          </p:cNvPr>
          <p:cNvSpPr txBox="1"/>
          <p:nvPr/>
        </p:nvSpPr>
        <p:spPr>
          <a:xfrm>
            <a:off x="1289436" y="6568753"/>
            <a:ext cx="96131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Cambria" panose="02040503050406030204" pitchFamily="18" charset="0"/>
                <a:cs typeface="+mn-cs"/>
              </a:rPr>
              <a:t>Source: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IQVIA claims informed file updated in </a:t>
            </a:r>
            <a:r>
              <a:rPr lang="en-US" sz="1000" i="1" dirty="0">
                <a:solidFill>
                  <a:srgbClr val="54565B"/>
                </a:solidFill>
                <a:latin typeface="+mj-lt"/>
              </a:rPr>
              <a:t>May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’25; Analysis Period: </a:t>
            </a:r>
            <a:r>
              <a:rPr lang="en-US" sz="1000" i="1" dirty="0">
                <a:solidFill>
                  <a:srgbClr val="54565B"/>
                </a:solidFill>
                <a:latin typeface="+mj-lt"/>
              </a:rPr>
              <a:t>July’24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to </a:t>
            </a:r>
            <a:r>
              <a:rPr lang="en-US" sz="1000" i="1" dirty="0">
                <a:solidFill>
                  <a:srgbClr val="54565B"/>
                </a:solidFill>
                <a:latin typeface="+mj-lt"/>
              </a:rPr>
              <a:t>Feb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’25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89A918B4-E7BD-4261-9C2F-221AD44D21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1039047"/>
              </p:ext>
            </p:extLst>
          </p:nvPr>
        </p:nvGraphicFramePr>
        <p:xfrm>
          <a:off x="3162693" y="1190903"/>
          <a:ext cx="5711306" cy="2504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5D02440-14ED-277F-59C2-D5D2CE579D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5721479"/>
              </p:ext>
            </p:extLst>
          </p:nvPr>
        </p:nvGraphicFramePr>
        <p:xfrm>
          <a:off x="138226" y="3792193"/>
          <a:ext cx="5711306" cy="2504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F187AA6-BC36-5956-64BD-0799D68FCF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3623400"/>
              </p:ext>
            </p:extLst>
          </p:nvPr>
        </p:nvGraphicFramePr>
        <p:xfrm>
          <a:off x="6096001" y="3792192"/>
          <a:ext cx="5711306" cy="2504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Google Shape;489;p16">
            <a:extLst>
              <a:ext uri="{FF2B5EF4-FFF2-40B4-BE49-F238E27FC236}">
                <a16:creationId xmlns:a16="http://schemas.microsoft.com/office/drawing/2014/main" id="{64E2999E-00A7-D5D8-0431-869278DF4CBF}"/>
              </a:ext>
            </a:extLst>
          </p:cNvPr>
          <p:cNvSpPr/>
          <p:nvPr/>
        </p:nvSpPr>
        <p:spPr>
          <a:xfrm>
            <a:off x="3308468" y="746790"/>
            <a:ext cx="5419755" cy="3257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lang="en-US" sz="1400" b="1" i="1" u="none" strike="noStrike" cap="none" dirty="0">
                <a:solidFill>
                  <a:srgbClr val="FFFFFF"/>
                </a:solidFill>
                <a:latin typeface="+mj-lt"/>
                <a:ea typeface="Trebuchet MS"/>
                <a:cs typeface="Trebuchet MS"/>
                <a:sym typeface="Trebuchet MS"/>
              </a:rPr>
              <a:t>2L new patient starts with prior usage of ESA in 1L</a:t>
            </a:r>
            <a:endParaRPr sz="1400" b="1" i="1" u="none" strike="noStrike" cap="none" dirty="0">
              <a:solidFill>
                <a:srgbClr val="FFFFFF"/>
              </a:solidFill>
              <a:latin typeface="+mj-lt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8156173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C1D2B-3FF4-7D95-ADC8-742C3434C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7047EA-23D3-4AA2-23E8-6E455AC5EA9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36A746E-686E-0A0B-E258-6EA57D496748}"/>
              </a:ext>
            </a:extLst>
          </p:cNvPr>
          <p:cNvSpPr txBox="1">
            <a:spLocks/>
          </p:cNvSpPr>
          <p:nvPr/>
        </p:nvSpPr>
        <p:spPr>
          <a:xfrm>
            <a:off x="384695" y="238539"/>
            <a:ext cx="11422612" cy="58349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1" i="0" kern="1200">
                <a:solidFill>
                  <a:schemeClr val="accent1"/>
                </a:solidFill>
                <a:latin typeface="Avenir Next LT Pro" panose="020B0504020202020204" pitchFamily="34" charset="77"/>
                <a:ea typeface="+mj-ea"/>
                <a:cs typeface="+mj-cs"/>
              </a:defRPr>
            </a:lvl1pPr>
          </a:lstStyle>
          <a:p>
            <a:endParaRPr lang="en-IN" sz="20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3B281F-DFB5-E302-DA8B-DC5507453662}"/>
              </a:ext>
            </a:extLst>
          </p:cNvPr>
          <p:cNvSpPr txBox="1"/>
          <p:nvPr/>
        </p:nvSpPr>
        <p:spPr>
          <a:xfrm>
            <a:off x="1289436" y="6568753"/>
            <a:ext cx="96131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Cambria" panose="02040503050406030204" pitchFamily="18" charset="0"/>
                <a:cs typeface="+mn-cs"/>
              </a:rPr>
              <a:t>Source: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IQVIA claims informed file updated in </a:t>
            </a:r>
            <a:r>
              <a:rPr lang="en-US" sz="1000" i="1" dirty="0">
                <a:solidFill>
                  <a:srgbClr val="54565B"/>
                </a:solidFill>
                <a:latin typeface="+mj-lt"/>
              </a:rPr>
              <a:t>May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’25; Analysis Period: </a:t>
            </a:r>
            <a:r>
              <a:rPr lang="en-US" sz="1000" i="1" dirty="0">
                <a:solidFill>
                  <a:srgbClr val="54565B"/>
                </a:solidFill>
                <a:latin typeface="+mj-lt"/>
              </a:rPr>
              <a:t>July’24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to </a:t>
            </a:r>
            <a:r>
              <a:rPr lang="en-US" sz="1000" i="1" dirty="0">
                <a:solidFill>
                  <a:srgbClr val="54565B"/>
                </a:solidFill>
                <a:latin typeface="+mj-lt"/>
              </a:rPr>
              <a:t>Feb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’25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7F8790D6-0782-8DED-2355-1BE2FB1D4F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7970492"/>
              </p:ext>
            </p:extLst>
          </p:nvPr>
        </p:nvGraphicFramePr>
        <p:xfrm>
          <a:off x="3162693" y="1190903"/>
          <a:ext cx="5711306" cy="2504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2DACE56-F7B5-686F-A6B3-EDD60E500D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9004519"/>
              </p:ext>
            </p:extLst>
          </p:nvPr>
        </p:nvGraphicFramePr>
        <p:xfrm>
          <a:off x="170127" y="3792193"/>
          <a:ext cx="5711306" cy="2504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93CAD1D-F569-4761-784C-A2FACFE8BE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013530"/>
              </p:ext>
            </p:extLst>
          </p:nvPr>
        </p:nvGraphicFramePr>
        <p:xfrm>
          <a:off x="6096001" y="3792192"/>
          <a:ext cx="5711306" cy="2504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00B53246-D0B7-B5B5-3D3D-1E59D381E9BC}"/>
              </a:ext>
            </a:extLst>
          </p:cNvPr>
          <p:cNvSpPr txBox="1">
            <a:spLocks/>
          </p:cNvSpPr>
          <p:nvPr/>
        </p:nvSpPr>
        <p:spPr>
          <a:xfrm>
            <a:off x="384695" y="75658"/>
            <a:ext cx="11422612" cy="58349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1" i="0" kern="1200">
                <a:solidFill>
                  <a:schemeClr val="accent1"/>
                </a:solidFill>
                <a:latin typeface="Avenir Next LT Pro" panose="020B0504020202020204" pitchFamily="34" charset="77"/>
                <a:ea typeface="+mj-ea"/>
                <a:cs typeface="+mj-cs"/>
              </a:defRPr>
            </a:lvl1pPr>
          </a:lstStyle>
          <a:p>
            <a:r>
              <a:rPr lang="en-US" sz="2000" dirty="0"/>
              <a:t>3L+ New Patient Starts (Monthly Average) with Prior ESA Use in 1L or 2L Nearly Doubled in S2 2024 vs. S1 2022</a:t>
            </a:r>
            <a:endParaRPr lang="en-IN" sz="3200" dirty="0">
              <a:latin typeface="+mj-lt"/>
            </a:endParaRPr>
          </a:p>
        </p:txBody>
      </p:sp>
      <p:sp>
        <p:nvSpPr>
          <p:cNvPr id="7" name="Google Shape;489;p16">
            <a:extLst>
              <a:ext uri="{FF2B5EF4-FFF2-40B4-BE49-F238E27FC236}">
                <a16:creationId xmlns:a16="http://schemas.microsoft.com/office/drawing/2014/main" id="{5A286152-2C7B-7919-23CD-388167CD4370}"/>
              </a:ext>
            </a:extLst>
          </p:cNvPr>
          <p:cNvSpPr/>
          <p:nvPr/>
        </p:nvSpPr>
        <p:spPr>
          <a:xfrm>
            <a:off x="3308468" y="746790"/>
            <a:ext cx="5419755" cy="3257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lang="en-US" sz="1400" b="1" i="1" dirty="0">
                <a:solidFill>
                  <a:srgbClr val="FFFFFF"/>
                </a:solidFill>
                <a:latin typeface="+mj-lt"/>
                <a:ea typeface="Trebuchet MS"/>
                <a:cs typeface="Trebuchet MS"/>
                <a:sym typeface="Trebuchet MS"/>
              </a:rPr>
              <a:t>3</a:t>
            </a:r>
            <a:r>
              <a:rPr lang="en-US" sz="1400" b="1" i="1" u="none" strike="noStrike" cap="none" dirty="0">
                <a:solidFill>
                  <a:srgbClr val="FFFFFF"/>
                </a:solidFill>
                <a:latin typeface="+mj-lt"/>
                <a:ea typeface="Trebuchet MS"/>
                <a:cs typeface="Trebuchet MS"/>
                <a:sym typeface="Trebuchet MS"/>
              </a:rPr>
              <a:t>L+ new patient starts with prior usage of ESA in 1L or 2L</a:t>
            </a:r>
            <a:endParaRPr sz="1400" b="1" i="1" u="none" strike="noStrike" cap="none" dirty="0">
              <a:solidFill>
                <a:srgbClr val="FFFFFF"/>
              </a:solidFill>
              <a:latin typeface="+mj-lt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9717927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78AFA-1F2B-039C-452B-91140905D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8303B6-8D2F-BED2-242B-A7FF445202C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154632-EB27-DF60-551C-9551AD861331}"/>
              </a:ext>
            </a:extLst>
          </p:cNvPr>
          <p:cNvSpPr txBox="1"/>
          <p:nvPr/>
        </p:nvSpPr>
        <p:spPr>
          <a:xfrm>
            <a:off x="1289436" y="6568753"/>
            <a:ext cx="96131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Cambria" panose="02040503050406030204" pitchFamily="18" charset="0"/>
                <a:cs typeface="+mn-cs"/>
              </a:rPr>
              <a:t>Source: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IQVIA claims informed file updated in </a:t>
            </a:r>
            <a:r>
              <a:rPr lang="en-US" sz="1000" i="1" dirty="0">
                <a:solidFill>
                  <a:srgbClr val="54565B"/>
                </a:solidFill>
                <a:latin typeface="+mj-lt"/>
              </a:rPr>
              <a:t>May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’25; Analysis Period: </a:t>
            </a:r>
            <a:r>
              <a:rPr lang="en-US" sz="1000" i="1" dirty="0">
                <a:solidFill>
                  <a:srgbClr val="54565B"/>
                </a:solidFill>
                <a:latin typeface="+mj-lt"/>
              </a:rPr>
              <a:t>July’24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to </a:t>
            </a:r>
            <a:r>
              <a:rPr lang="en-US" sz="1000" i="1" dirty="0">
                <a:solidFill>
                  <a:srgbClr val="54565B"/>
                </a:solidFill>
                <a:latin typeface="+mj-lt"/>
              </a:rPr>
              <a:t>Feb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’25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E566F211-67CA-C14C-4F4D-1CBBD1DF3C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3899542"/>
              </p:ext>
            </p:extLst>
          </p:nvPr>
        </p:nvGraphicFramePr>
        <p:xfrm>
          <a:off x="3162693" y="1190903"/>
          <a:ext cx="5711306" cy="2504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BE337A5-0EA2-DCFD-DE08-BE56F546F3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5744702"/>
              </p:ext>
            </p:extLst>
          </p:nvPr>
        </p:nvGraphicFramePr>
        <p:xfrm>
          <a:off x="180758" y="3792193"/>
          <a:ext cx="5711306" cy="2504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0474D07-D061-D987-8419-F7C066E66D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0636930"/>
              </p:ext>
            </p:extLst>
          </p:nvPr>
        </p:nvGraphicFramePr>
        <p:xfrm>
          <a:off x="6096001" y="3792192"/>
          <a:ext cx="5711306" cy="2504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FDA9CCCF-BB84-1AFD-9BE9-7178A519DFE7}"/>
              </a:ext>
            </a:extLst>
          </p:cNvPr>
          <p:cNvSpPr txBox="1">
            <a:spLocks/>
          </p:cNvSpPr>
          <p:nvPr/>
        </p:nvSpPr>
        <p:spPr>
          <a:xfrm>
            <a:off x="384695" y="75658"/>
            <a:ext cx="11422612" cy="58349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1" i="0" kern="1200">
                <a:solidFill>
                  <a:schemeClr val="accent1"/>
                </a:solidFill>
                <a:latin typeface="Avenir Next LT Pro" panose="020B0504020202020204" pitchFamily="34" charset="77"/>
                <a:ea typeface="+mj-ea"/>
                <a:cs typeface="+mj-cs"/>
              </a:defRPr>
            </a:lvl1pPr>
          </a:lstStyle>
          <a:p>
            <a:r>
              <a:rPr lang="en-US" sz="2000" dirty="0"/>
              <a:t>3L+ New Patient Starts (Monthly Average) with ESA in 1L and Reblozyl in 2L Nearly Quadrupled in S2 2024 vs. S1 2022</a:t>
            </a:r>
            <a:endParaRPr lang="en-IN" sz="3200" dirty="0">
              <a:latin typeface="+mj-lt"/>
            </a:endParaRPr>
          </a:p>
        </p:txBody>
      </p:sp>
      <p:sp>
        <p:nvSpPr>
          <p:cNvPr id="7" name="Google Shape;489;p16">
            <a:extLst>
              <a:ext uri="{FF2B5EF4-FFF2-40B4-BE49-F238E27FC236}">
                <a16:creationId xmlns:a16="http://schemas.microsoft.com/office/drawing/2014/main" id="{5286B943-1557-702F-CC1D-6CD3F39D73F6}"/>
              </a:ext>
            </a:extLst>
          </p:cNvPr>
          <p:cNvSpPr/>
          <p:nvPr/>
        </p:nvSpPr>
        <p:spPr>
          <a:xfrm>
            <a:off x="3396200" y="701358"/>
            <a:ext cx="5399597" cy="4349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lang="en-US" sz="1400" b="1" i="1" dirty="0">
                <a:solidFill>
                  <a:srgbClr val="FFFFFF"/>
                </a:solidFill>
                <a:latin typeface="+mj-lt"/>
                <a:ea typeface="Trebuchet MS"/>
                <a:cs typeface="Trebuchet MS"/>
                <a:sym typeface="Trebuchet MS"/>
              </a:rPr>
              <a:t>3</a:t>
            </a:r>
            <a:r>
              <a:rPr lang="en-US" sz="1400" b="1" i="1" u="none" strike="noStrike" cap="none" dirty="0">
                <a:solidFill>
                  <a:srgbClr val="FFFFFF"/>
                </a:solidFill>
                <a:latin typeface="+mj-lt"/>
                <a:ea typeface="Trebuchet MS"/>
                <a:cs typeface="Trebuchet MS"/>
                <a:sym typeface="Trebuchet MS"/>
              </a:rPr>
              <a:t>L+ new patient starts with prior usage of ESA in 1L  and Reblozyl in 2L</a:t>
            </a:r>
            <a:endParaRPr sz="1400" b="1" i="1" u="none" strike="noStrike" cap="none" dirty="0">
              <a:solidFill>
                <a:srgbClr val="FFFFFF"/>
              </a:solidFill>
              <a:latin typeface="+mj-lt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3738022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37CC3-A989-0079-D499-973533D96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3254E0-B221-DB73-D2D5-9F404F307B8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kumimoji="0" lang="en-US" sz="1000" b="0" i="0" u="none" strike="noStrike" kern="1200" cap="none" spc="10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3B5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0D0C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0D0C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D4C547-7345-8749-D861-D50EC6C3BD52}"/>
              </a:ext>
            </a:extLst>
          </p:cNvPr>
          <p:cNvSpPr txBox="1"/>
          <p:nvPr/>
        </p:nvSpPr>
        <p:spPr>
          <a:xfrm>
            <a:off x="1289436" y="6568753"/>
            <a:ext cx="96131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Cambria" panose="02040503050406030204" pitchFamily="18" charset="0"/>
                <a:cs typeface="+mn-cs"/>
              </a:rPr>
              <a:t>Source: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IQVIA claims informed file updated in </a:t>
            </a:r>
            <a:r>
              <a:rPr lang="en-US" sz="1000" i="1" dirty="0">
                <a:solidFill>
                  <a:srgbClr val="54565B"/>
                </a:solidFill>
                <a:latin typeface="+mj-lt"/>
              </a:rPr>
              <a:t>May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’25; Analysis Period: </a:t>
            </a:r>
            <a:r>
              <a:rPr lang="en-US" sz="1000" i="1" dirty="0">
                <a:solidFill>
                  <a:srgbClr val="54565B"/>
                </a:solidFill>
                <a:latin typeface="+mj-lt"/>
              </a:rPr>
              <a:t>July’24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to </a:t>
            </a:r>
            <a:r>
              <a:rPr lang="en-US" sz="1000" i="1" dirty="0">
                <a:solidFill>
                  <a:srgbClr val="54565B"/>
                </a:solidFill>
                <a:latin typeface="+mj-lt"/>
              </a:rPr>
              <a:t>Feb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54565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’25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EDCCD807-8267-B731-18FB-10A77704F6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1426782"/>
              </p:ext>
            </p:extLst>
          </p:nvPr>
        </p:nvGraphicFramePr>
        <p:xfrm>
          <a:off x="3162693" y="1190903"/>
          <a:ext cx="5711306" cy="2504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6214027-2B60-3A8E-5A77-D9DAA83B35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5550702"/>
              </p:ext>
            </p:extLst>
          </p:nvPr>
        </p:nvGraphicFramePr>
        <p:xfrm>
          <a:off x="148862" y="3792193"/>
          <a:ext cx="5711306" cy="2504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1EE6908-D054-76E8-4B7E-7EF71E8802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7344569"/>
              </p:ext>
            </p:extLst>
          </p:nvPr>
        </p:nvGraphicFramePr>
        <p:xfrm>
          <a:off x="6096001" y="3792192"/>
          <a:ext cx="5711306" cy="2504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0F0E89D8-48D1-1211-8CFB-2C5D477799FD}"/>
              </a:ext>
            </a:extLst>
          </p:cNvPr>
          <p:cNvSpPr txBox="1">
            <a:spLocks/>
          </p:cNvSpPr>
          <p:nvPr/>
        </p:nvSpPr>
        <p:spPr>
          <a:xfrm>
            <a:off x="384695" y="75658"/>
            <a:ext cx="11422612" cy="58349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1" i="0" kern="1200">
                <a:solidFill>
                  <a:schemeClr val="accent1"/>
                </a:solidFill>
                <a:latin typeface="Avenir Next LT Pro" panose="020B0504020202020204" pitchFamily="34" charset="77"/>
                <a:ea typeface="+mj-ea"/>
                <a:cs typeface="+mj-cs"/>
              </a:defRPr>
            </a:lvl1pPr>
          </a:lstStyle>
          <a:p>
            <a:r>
              <a:rPr lang="en-US" sz="2000" dirty="0"/>
              <a:t>3L+ New Patient Starts (Monthly Average) with Reblozyl in 1L and ESA in 2L Remain Minimal</a:t>
            </a:r>
            <a:endParaRPr lang="en-IN" sz="3200" dirty="0">
              <a:latin typeface="+mj-lt"/>
            </a:endParaRPr>
          </a:p>
        </p:txBody>
      </p:sp>
      <p:sp>
        <p:nvSpPr>
          <p:cNvPr id="7" name="Google Shape;489;p16">
            <a:extLst>
              <a:ext uri="{FF2B5EF4-FFF2-40B4-BE49-F238E27FC236}">
                <a16:creationId xmlns:a16="http://schemas.microsoft.com/office/drawing/2014/main" id="{CE71924F-580A-3B34-BCBA-A9C069D9E22B}"/>
              </a:ext>
            </a:extLst>
          </p:cNvPr>
          <p:cNvSpPr/>
          <p:nvPr/>
        </p:nvSpPr>
        <p:spPr>
          <a:xfrm>
            <a:off x="3396200" y="701358"/>
            <a:ext cx="5399597" cy="4349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lang="en-US" sz="1400" b="1" i="1" dirty="0">
                <a:solidFill>
                  <a:srgbClr val="FFFFFF"/>
                </a:solidFill>
                <a:latin typeface="+mj-lt"/>
                <a:ea typeface="Trebuchet MS"/>
                <a:cs typeface="Trebuchet MS"/>
                <a:sym typeface="Trebuchet MS"/>
              </a:rPr>
              <a:t>3</a:t>
            </a:r>
            <a:r>
              <a:rPr lang="en-US" sz="1400" b="1" i="1" u="none" strike="noStrike" cap="none" dirty="0">
                <a:solidFill>
                  <a:srgbClr val="FFFFFF"/>
                </a:solidFill>
                <a:latin typeface="+mj-lt"/>
                <a:ea typeface="Trebuchet MS"/>
                <a:cs typeface="Trebuchet MS"/>
                <a:sym typeface="Trebuchet MS"/>
              </a:rPr>
              <a:t>L+ new patient starts with prior usage of ESA in 2L  and Reblozyl in 1L</a:t>
            </a:r>
            <a:endParaRPr sz="1400" b="1" i="1" u="none" strike="noStrike" cap="none" dirty="0">
              <a:solidFill>
                <a:srgbClr val="FFFFFF"/>
              </a:solidFill>
              <a:latin typeface="+mj-lt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1924315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f8a2c59d-3c31-4639-a389-b23bf6877fc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75ede700-3235-4d25-bfc3-7b7d35b4330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5d15ff4b-fda0-4e9c-8bb7-9c3090b488f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aef47b50-30ba-4634-951e-b3e495171ba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2d806d6c-6315-4d90-b174-a9fd442063fb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de76423a-6b9a-42de-a03f-afc6739c4ce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3a9b902d-9ee7-4610-aa5a-c1768f50756b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77b05b5a-f231-41c2-a210-5cef7d5d8bb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e1221be4-15d8-4e3c-88d7-e99cb0f71fd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4e7ab53a-c6c6-4f53-9cf7-aac8a381659f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16d18156-6d41-4aae-a0cc-034cb735b17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377be985-58e0-46f7-b76e-87777b303e1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024dd66b-7259-411f-a224-1c93510382d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8997b041-d7f1-4d1e-bb70-668a80a597b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8003c398-cb20-4bbb-b292-bd2fe8dc773f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02bd87bc-4ecc-428e-9f69-550cd1e81f4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cd6ffc76-ec07-4292-a248-e6720ebb5a2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a3e5ac62-86fb-421a-ac57-e1b87fa8cf3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6a0a20e0-9daf-4354-8994-1ed94e65370f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75481ffc-3560-4a5d-9b52-239b8c19727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9a6ab5fe-37d5-4d60-bb44-3063a2b4386f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0170f5aa-ab51-4854-8798-f5ff70c0e4bb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a179d78a-3893-44c0-8393-0749d12169c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c0f661ca-9361-4656-be18-6a3249c37d4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8946f821-fff3-47a5-bf7f-203099b60de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257d8aba-a76a-467c-8c55-0cd94624bfe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6f90767f-60c3-4951-9474-1cc7a1baa6a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9ab17a4b-c760-471d-b4fc-aff6f28aa17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b93806b9-66af-4f4f-bba3-aecc04db242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6a0a20e0-9daf-4354-8994-1ed94e65370f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0170f5aa-ab51-4854-8798-f5ff70c0e4bb"/>
</p:tagLst>
</file>

<file path=ppt/theme/theme1.xml><?xml version="1.0" encoding="utf-8"?>
<a:theme xmlns:a="http://schemas.openxmlformats.org/drawingml/2006/main" name="Geron_2023_PowerPoint Template">
  <a:themeElements>
    <a:clrScheme name="Geron_2023">
      <a:dk1>
        <a:srgbClr val="003B5C"/>
      </a:dk1>
      <a:lt1>
        <a:srgbClr val="FFFFFF"/>
      </a:lt1>
      <a:dk2>
        <a:srgbClr val="D0D0CE"/>
      </a:dk2>
      <a:lt2>
        <a:srgbClr val="FFFFFF"/>
      </a:lt2>
      <a:accent1>
        <a:srgbClr val="005EB8"/>
      </a:accent1>
      <a:accent2>
        <a:srgbClr val="05C3DD"/>
      </a:accent2>
      <a:accent3>
        <a:srgbClr val="003B5C"/>
      </a:accent3>
      <a:accent4>
        <a:srgbClr val="FFA300"/>
      </a:accent4>
      <a:accent5>
        <a:srgbClr val="8F1A95"/>
      </a:accent5>
      <a:accent6>
        <a:srgbClr val="F9413A"/>
      </a:accent6>
      <a:hlink>
        <a:srgbClr val="005EB8"/>
      </a:hlink>
      <a:folHlink>
        <a:srgbClr val="05C3DD"/>
      </a:folHlink>
    </a:clrScheme>
    <a:fontScheme name="Geron">
      <a:majorFont>
        <a:latin typeface="Avenir Next LT Pro"/>
        <a:ea typeface=""/>
        <a:cs typeface=""/>
      </a:majorFont>
      <a:minorFont>
        <a:latin typeface="Source Sans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lnSpc>
            <a:spcPct val="90000"/>
          </a:lnSpc>
          <a:defRPr b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noFill/>
        <a:ln w="12700" cap="rnd">
          <a:solidFill>
            <a:schemeClr val="tx2"/>
          </a:solidFill>
          <a:prstDash val="solid"/>
          <a:round/>
          <a:headEnd/>
          <a:tailEnd/>
        </a:ln>
        <a:effectLst/>
      </a:spPr>
      <a:bodyPr/>
      <a:lstStyle/>
    </a:lnDef>
    <a:txDef>
      <a:spPr bwMode="gray">
        <a:noFill/>
        <a:ln w="28575" cap="flat" cmpd="sng" algn="ctr">
          <a:noFill/>
          <a:prstDash val="solid"/>
          <a:miter lim="800000"/>
          <a:headEnd type="none" w="med" len="med"/>
          <a:tailEnd type="none" w="med" len="med"/>
        </a:ln>
        <a:effectLst/>
      </a:spPr>
      <a:bodyPr wrap="square" lIns="0" tIns="0" rIns="0" bIns="0" rtlCol="0">
        <a:normAutofit fontScale="92500" lnSpcReduction="10000"/>
      </a:bodyPr>
      <a:lstStyle>
        <a:defPPr marL="236538" marR="0" indent="-227013" algn="l" defTabSz="914400" rtl="0" eaLnBrk="1" fontAlgn="auto" latinLnBrk="0" hangingPunct="1">
          <a:lnSpc>
            <a:spcPct val="100000"/>
          </a:lnSpc>
          <a:spcBef>
            <a:spcPts val="300"/>
          </a:spcBef>
          <a:spcAft>
            <a:spcPts val="0"/>
          </a:spcAft>
          <a:buClr>
            <a:srgbClr val="005EB8"/>
          </a:buClr>
          <a:buSzPct val="100000"/>
          <a:buFont typeface="Arial" panose="020B0604020202020204" pitchFamily="34" charset="0"/>
          <a:buChar char="•"/>
          <a:tabLst/>
          <a:defRPr kumimoji="0" sz="2200" b="0" i="0" u="none" strike="noStrike" kern="1200" cap="none" spc="0" normalizeH="0" baseline="0" noProof="0" dirty="0" smtClean="0">
            <a:ln>
              <a:noFill/>
            </a:ln>
            <a:solidFill>
              <a:srgbClr val="003B5C"/>
            </a:solidFill>
            <a:effectLst/>
            <a:uLnTx/>
            <a:uFillTx/>
            <a:latin typeface="Source Sans Pro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Geron_2023_PowerPoint Template" id="{CBA8AD38-CE7D-FE45-B150-14628243C388}" vid="{9C0772C6-BCB3-144B-8A6E-02928051E63A}"/>
    </a:ext>
  </a:extLst>
</a:theme>
</file>

<file path=ppt/theme/theme2.xml><?xml version="1.0" encoding="utf-8"?>
<a:theme xmlns:a="http://schemas.openxmlformats.org/drawingml/2006/main" name="Office Theme">
  <a:themeElements>
    <a:clrScheme name="Geron">
      <a:dk1>
        <a:srgbClr val="000000"/>
      </a:dk1>
      <a:lt1>
        <a:srgbClr val="FFFFFF"/>
      </a:lt1>
      <a:dk2>
        <a:srgbClr val="FFBE49"/>
      </a:dk2>
      <a:lt2>
        <a:srgbClr val="EDEDED"/>
      </a:lt2>
      <a:accent1>
        <a:srgbClr val="006CB3"/>
      </a:accent1>
      <a:accent2>
        <a:srgbClr val="00B5CE"/>
      </a:accent2>
      <a:accent3>
        <a:srgbClr val="FF8700"/>
      </a:accent3>
      <a:accent4>
        <a:srgbClr val="82ACD6"/>
      </a:accent4>
      <a:accent5>
        <a:srgbClr val="7D7F7D"/>
      </a:accent5>
      <a:accent6>
        <a:srgbClr val="DE4A00"/>
      </a:accent6>
      <a:hlink>
        <a:srgbClr val="0B4C9F"/>
      </a:hlink>
      <a:folHlink>
        <a:srgbClr val="7D7F7D"/>
      </a:folHlink>
    </a:clrScheme>
    <a:fontScheme name="Geron">
      <a:majorFont>
        <a:latin typeface="Tw Cen MT"/>
        <a:ea typeface=""/>
        <a:cs typeface=""/>
      </a:majorFont>
      <a:minorFont>
        <a:latin typeface="Rockwel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lnSpc>
            <a:spcPct val="90000"/>
          </a:lnSpc>
          <a:defRPr b="1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noFill/>
        <a:ln w="25400" cap="rnd">
          <a:solidFill>
            <a:schemeClr val="accent3"/>
          </a:solidFill>
          <a:prstDash val="sysDot"/>
          <a:round/>
          <a:headEnd/>
          <a:tailEnd/>
        </a:ln>
        <a:effectLst/>
      </a:spPr>
      <a:bodyPr/>
      <a:lstStyle/>
    </a:lnDef>
    <a:txDef>
      <a:spPr>
        <a:noFill/>
      </a:spPr>
      <a:bodyPr wrap="square" rtlCol="0">
        <a:noAutofit/>
      </a:bodyPr>
      <a:lstStyle>
        <a:defPPr marL="173736" indent="-173736" algn="l">
          <a:lnSpc>
            <a:spcPct val="90000"/>
          </a:lnSpc>
          <a:spcBef>
            <a:spcPts val="1000"/>
          </a:spcBef>
          <a:buClr>
            <a:schemeClr val="accent3"/>
          </a:buClr>
          <a:buFont typeface="Arial" panose="020B0604020202020204" pitchFamily="34" charset="0"/>
          <a:buChar char="●"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eron_Master Handout">
      <a:dk1>
        <a:srgbClr val="003B5C"/>
      </a:dk1>
      <a:lt1>
        <a:srgbClr val="FFFFFF"/>
      </a:lt1>
      <a:dk2>
        <a:srgbClr val="D0D0CE"/>
      </a:dk2>
      <a:lt2>
        <a:srgbClr val="FFFFFF"/>
      </a:lt2>
      <a:accent1>
        <a:srgbClr val="005EB8"/>
      </a:accent1>
      <a:accent2>
        <a:srgbClr val="05C3DD"/>
      </a:accent2>
      <a:accent3>
        <a:srgbClr val="003B5C"/>
      </a:accent3>
      <a:accent4>
        <a:srgbClr val="FFA300"/>
      </a:accent4>
      <a:accent5>
        <a:srgbClr val="8F1A95"/>
      </a:accent5>
      <a:accent6>
        <a:srgbClr val="F9413A"/>
      </a:accent6>
      <a:hlink>
        <a:srgbClr val="005EB8"/>
      </a:hlink>
      <a:folHlink>
        <a:srgbClr val="05C3D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lnSpc>
            <a:spcPct val="90000"/>
          </a:lnSpc>
          <a:defRPr b="1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noFill/>
        <a:ln w="25400" cap="rnd">
          <a:solidFill>
            <a:schemeClr val="accent3"/>
          </a:solidFill>
          <a:prstDash val="sysDot"/>
          <a:round/>
          <a:headEnd/>
          <a:tailEnd/>
        </a:ln>
        <a:effectLst/>
      </a:spPr>
      <a:bodyPr/>
      <a:lstStyle/>
    </a:lnDef>
    <a:txDef>
      <a:spPr>
        <a:noFill/>
      </a:spPr>
      <a:bodyPr wrap="square" rtlCol="0">
        <a:noAutofit/>
      </a:bodyPr>
      <a:lstStyle>
        <a:defPPr marL="173736" indent="-173736" algn="l">
          <a:lnSpc>
            <a:spcPct val="90000"/>
          </a:lnSpc>
          <a:spcBef>
            <a:spcPts val="1000"/>
          </a:spcBef>
          <a:buClr>
            <a:schemeClr val="accent3"/>
          </a:buClr>
          <a:buFont typeface="Arial" panose="020B0604020202020204" pitchFamily="34" charset="0"/>
          <a:buChar char="●"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3C5E1D0D08E64B9FBE35622E4260F7" ma:contentTypeVersion="3" ma:contentTypeDescription="Create a new document." ma:contentTypeScope="" ma:versionID="01015f3ab009d713eb24ed5f83d20430">
  <xsd:schema xmlns:xsd="http://www.w3.org/2001/XMLSchema" xmlns:xs="http://www.w3.org/2001/XMLSchema" xmlns:p="http://schemas.microsoft.com/office/2006/metadata/properties" xmlns:ns2="354ad903-a14a-432c-a539-f157f10c2235" targetNamespace="http://schemas.microsoft.com/office/2006/metadata/properties" ma:root="true" ma:fieldsID="5feab38e5eab1e4da4a3a061b8a0d079" ns2:_="">
    <xsd:import namespace="354ad903-a14a-432c-a539-f157f10c22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4ad903-a14a-432c-a539-f157f10c22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203786-5E50-4C6C-9EBC-20DB001F21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54ad903-a14a-432c-a539-f157f10c22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27E280D-3A89-435F-8221-F290E8565B61}">
  <ds:schemaRefs>
    <ds:schemaRef ds:uri="http://purl.org/dc/elements/1.1/"/>
    <ds:schemaRef ds:uri="http://schemas.microsoft.com/office/infopath/2007/PartnerControls"/>
    <ds:schemaRef ds:uri="354ad903-a14a-432c-a539-f157f10c2235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dcmitype/"/>
    <ds:schemaRef ds:uri="http://purl.org/dc/terms/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3BEB94D6-F177-4FD4-9EFA-EBADAD87B0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Geron_2023_PowerPoint Template</Template>
  <TotalTime>44713</TotalTime>
  <Words>4156</Words>
  <Application>Microsoft Office PowerPoint</Application>
  <PresentationFormat>Widescreen</PresentationFormat>
  <Paragraphs>838</Paragraphs>
  <Slides>34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50" baseType="lpstr">
      <vt:lpstr>.Apple SD Gothic NeoI Regular</vt:lpstr>
      <vt:lpstr>Arial</vt:lpstr>
      <vt:lpstr>Arial Narrow</vt:lpstr>
      <vt:lpstr>Avenir Next LT Pro</vt:lpstr>
      <vt:lpstr>berkeleyMono</vt:lpstr>
      <vt:lpstr>Calibri</vt:lpstr>
      <vt:lpstr>fkGroteskNeue</vt:lpstr>
      <vt:lpstr>Segoe Sans</vt:lpstr>
      <vt:lpstr>Source Sans Pro</vt:lpstr>
      <vt:lpstr>Symbol</vt:lpstr>
      <vt:lpstr>System Font Regular</vt:lpstr>
      <vt:lpstr>Times New Roman</vt:lpstr>
      <vt:lpstr>Trebuchet MS</vt:lpstr>
      <vt:lpstr>Tw Cen MT</vt:lpstr>
      <vt:lpstr>Wingdings</vt:lpstr>
      <vt:lpstr>Geron_2023_PowerPoint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P115590_JPM 2022 Slides</dc:title>
  <dc:subject>Call @ 866-237-5433</dc:subject>
  <dc:creator>eSlide</dc:creator>
  <cp:keywords>Widescreen (16:9)</cp:keywords>
  <dc:description>template = P115644_Geron_PowerPoint TEMPLATE</dc:description>
  <cp:lastModifiedBy>Ganadhar Reddy</cp:lastModifiedBy>
  <cp:revision>885</cp:revision>
  <cp:lastPrinted>2022-09-07T13:48:43Z</cp:lastPrinted>
  <dcterms:created xsi:type="dcterms:W3CDTF">2021-01-25T21:24:19Z</dcterms:created>
  <dcterms:modified xsi:type="dcterms:W3CDTF">2025-10-28T06:09:16Z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1235839</vt:lpwstr>
  </property>
  <property fmtid="{D5CDD505-2E9C-101B-9397-08002B2CF9AE}" pid="3" name="NXPowerLiteSettings">
    <vt:lpwstr>C880073804F000</vt:lpwstr>
  </property>
  <property fmtid="{D5CDD505-2E9C-101B-9397-08002B2CF9AE}" pid="4" name="NXPowerLiteVersion">
    <vt:lpwstr>D9.0.2</vt:lpwstr>
  </property>
  <property fmtid="{D5CDD505-2E9C-101B-9397-08002B2CF9AE}" pid="5" name="ContentTypeId">
    <vt:lpwstr>0x010100713C5E1D0D08E64B9FBE35622E4260F7</vt:lpwstr>
  </property>
</Properties>
</file>